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of 34 | about 0.5 min | running total 0.5 min]
SAY: Good morning. I asked how well machine learning can forecast hazardous air quality days in Delhi. The answer I want to build to is on the right: the number of alarms a health authority is willing to raise matters many times more than which model produces the forecast.
POINT TO: the strip along the bottom: the last year of the data, one bar a day. The orange days are the ones the project is about.
TRANSITION: First, why the question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of 34 | about 1.25 min | running total 1.75 min]
SAY: Sustained PM2.5 exposure is linked to cardiopulmonary and all-cause mortality, so I forecast a health threshold, not a round number: 121 µg/m³, the CPCB 'Very Poor' boundary. At my monitor 29.7 percent of days exceed it. Existing Delhi machine learning studies report R squared, RMSE and MAE; neither evaluates a warning system. I grew up in India, so this is not an abstract statistic for me.
POINT TO: the four stat cards, then the takeaway.
IF ASKED: 121 is the CPCB National Air Quality Index boundary of the category below 'Severe', for the 24-hour mean.
TRANSITION: That gap gives me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of 34 | about 1.25 min | running total 3 min]
SAY: One: how accurately can concentrations be forecast one to three days ahead by machine learning, against classical and naive benchmarks. Two: forecast the concentration then threshold it, or classify the exceedance directly. Three: as a warning system, what hit rate and false alarm rate does each approach achieve, and how does the decision threshold trade them off. The answers are on the cards; I will earn each one with evidence.
POINT TO: the bold answer on each card, RQ3 in vermillion.
TRANSITION: First, one picture that holds the whole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of 34 | about 0.75 min | running total 3.75 min]
SAY: Think of a smoke alarm. There are two things you can change: which detector you buy, and how sensitive you set the dial. On the left I swap the forecasting model at a fixed budget of 100 alarms a year: hit rates 0.82 to 0.87. On the right I keep the best model and turn the dial from 40 to 100 alarms a year: 0.38 to 0.88. Same axis. The rest of the talk is the evidence for this picture, and the care taken not to fool myself.
POINT TO: the left panel is almost flat; the right panel climbs. Same vertical scale.
IF ASKED: Both panels are one day ahead, from Table 4.7. The left uses four representative models at 100 alarms (as in the report's Figure 4.5); the weak lag-7 seasonal-naive benchmark would be lower, 0.758. The right uses the best model at each budget.
TRANSITION: Here is the route to that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of 34 | about 0.5 min | running total 4.25 min]
SAY: Roughly seven minutes on the data and what was wrong with it, five on the models and how they are tested, eleven on results against the three questions, then limits and conclusions. Keep one question in mind: how much does the model matter, compared with the number of alarms you allow?
TRANSITION: Start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of 34 | about 1.25 min | running total 5.5 min]
SAY: Data come from OpenAQ. I compared five stations within 25 km on coverage rather than nominal record length and found every CPCB station serves data only from 19 February 2025, about eighteen months, although the metadata advertises 2016. Only location 8118 returns the full record. The cost, stated plainly: it is an AirNow feed, almost certainly a US diplomatic post monitor, so every number describes one site, not Delhi.
POINT TO: the table, then the cost box on the right.
IF ASKED: Four independent stations sharing an identical cutoff points to a limit of the measurements endpoint, not coincidence.
TRANSITION: That series had two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of 34 | about 1.5 min | running total 7 min]
SAY: First, impossible values: five negatives, and 1990 appearing three times identically, one on 2 September in the monsoon between neighbours of 42 and 178. That is a clipped instrument ceiling. Second, the coverage statistic divided observation count by 24, but the sensor was half-hourly until 2024, so half a day of a polluted afternoon was scored as a complete day. Days at 50 to 75 percent true coverage gave implausible values about seven times as often as days above 90. I took the cadence from the data instead.
POINT TO: left: sensor cadence against the assumed 24. right: implausible rate by true coverage.
IF ASKED: 1,085 of 3,467 days fall below 75 percent true coverage, far more than the 268 with no value at all. 1000 is a judgement; sensitivity check in the robustness slide.
TRANSITION: With clean data, what does the series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of 34 | about 1 min | running total 8 min]
SAY: The cleaned series, with days above the threshold shaded. They come in winter episodes, not isolated days, which is why persistence turns out to be a strong forecast. The distribution is strongly right skewed, skewness 2.17 and excess kurtosis 8.31, so every model is fitted to the logarithm; annual Fourier terms explain 69 percent of the variance of the log.
POINT TO: the shaded episodes, then the four skew statistics.
TRANSITION: The same data as a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of 34 | about 0.5 min | running total 8.5 min]
SAY: Another view of the same data. Each cell is a month; darker means more of its days were above 121. The pattern repeats every year: October to February is dark, June to September is almost clear. This regularity is the annual cycle the models carry, and it is why a calendar-only forecast, climatology, is a surprisingly strong baseline.
POINT TO: the dark columns, then the pale monsoon months.
IF ASKED: Months with fewer than 15 usable days are left blank. 2016 starts in November and 2026 ends in August.
TRANSITION: Is there any other seasonality, say weekly?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of 34 | about 1.5 min | running total 10 min]
SAY: The proposal assumed a weekly cycle alongside the annual one and treated two seasonal periods as the central difficulty. I tested it three ways. The periodogram's dominant periods are the annual cycle and harmonics, nothing near seven days. The autocorrelation at lag 7 sits on the decay curve between lags 6 and 8. Day of week gives a 6.5 percent spread with p = 0.34 and a rank test p = 0.77. Three tests with different assumptions agreeing is what makes the absence convincing.
POINT TO: 7 days on the periodogram; the circled lags; zero inside every interval.
IF ASKED: A weekly rhythm is a traffic signature; 8118 is in a diplomatic enclave, not roadside like ITO or Anand Vihar.
TRANSITION: So the annual cycle is the only seasonality to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of 34 | about 1.5 min | running total 11.5 min]
SAY: The annual cycle is the opposite: high in winter, low in the monsoon, which is what makes the missing weekly cycle credible. The benchmark is ARIMA on the log series with four annual Fourier pairs as exogenous regressors. The order was chosen by AIC over a 24-candidate grid: (1,1,1) scores 1892.5, the next, (1,1,2), 1893.6, a gap of 1.1, too small to call, so parsimony decides. Fitted phi 0.581, theta minus 0.987, which is 0.013 inside the invertibility boundary.
POINT TO: the equation: AR and MA part, then the Fourier sum.
IF ASKED: In the rolling refits theta crosses the boundary at 3 of 28 refits, each with fewer than 1,700 training days; the optimiser is unconstrained so the forecast is still produced and scored. Backup B5.
TRANSITION: Around that benchmark, the model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of 34 | about 0.75 min | running total 12.25 min]
SAY: Classical and naive: persistence, climatology, seasonal naive at lag 7, and ARIMA. Machine learning: ridge, random forest and histogram gradient boosting, the trees each on the level and on the change from the origin. Deep learning: a GRU, an LSTM and a transformer, each over ten seeds. Dr Tian asked for machine learning rather than relying on ARIMA, and several methods tried; ARIMA stays as the reference point.
IF ASKED: A Kolmogorov-Arnold-LSTM hybrid, which Dr Tian named, was tried as a bounded check only.
TRANSITION: Two lines on the regressors, then the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of 34 | about 1.25 min | running total 13.5 min]
SAY: Ridge shrinks coefficients and has a closed form: X transpose X plus lambda I is positive definite for any lambda above zero, so a unique solution exists even with collinear lags. A random forest averages B trees; the variance of the average is rho sigma squared plus one minus rho over B sigma squared. The second term vanishes as B grows, the first is a floor, and random feature subsets lower rho. Boosting fits each tree to the pseudo-residual, the negative gradient of the loss, which is descent in function space.
POINT TO: the three formulas, left to right.
IF ASKED: Trees were fitted to level and change because a tree cannot extrapolate beyond the targets it saw, and this series drifts across the decade. Missing values are never imputed; histogram boosting accepts them natively.
TRANSITION: Now the deep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of 34 | about 1.25 min | running total 14.75 min]
SAY: The GRU has two gates and no separate memory cell; the LSTM three gates and an explicit cell state; the transformer replaces recurrence with self-attention. All three read the same 30-day window of six channels and predict the change in log concentration, with Adam on absolute error and early stopping, over ten seeds. The LSTM and transformer were added only after Dr Tian's feedback challenged the GRU-over-LSTM and small-data arguments, so I tested them rather than assuming.
POINT TO: the parameter column: 2,329, 3,097, 3,409, 3,288, confirmed by counting the fitted objects.
IF ASKED: Recurrent nets need a value at every timestep, so gaps are forward-filled with a missingness flag; the transformer reuses that as an implementation choice, not a necessity.
TRANSITION: How do we score them without fooling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of 34 | about 1.25 min | running total 16 min]
SAY: Every model is scored at 2,303 origins over 6.8 years after a three-year burn-in, refitted every 90 days, the networks every 180. The invariant is that at origin t a model may use observations up to and including day t and nothing else. Nothing fails visibly when that breaks; the numbers just improve. So it is tested: corrupt the series from a chosen date, rerun, and require that no earlier forecast changes. A single split would have misled me: ARIMA scored 0.903 on one calm block and 0.940 under the rolling harness.
POINT TO: the timeline, then 0.903 to 0.940.
IF ASKED: The label on feature row t' is the value at t' + h, so the training set ends at t minus h; hence one model per horizon.
TRANSITION: Now the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of 34 | about 1 min | running total 17 min]
SAY: Accuracy is relative MAE against persistence on identical rows, so 1.000 is persistence. I report it rather than MASE alone because MASE divides by the training period's volatility, so it can fall for every model on a calmer block. The warning measures come from one contingency table: hit rate, false alarm rate, and alarms per year, the unit an operator actually budgets in. I never report plain accuracy, because with hazardous days a minority a model that never alarms scores high.
POINT TO: the four cards; then the takeaway.
IF ASKED: Diebold-Mariano with the Harvey-Leybourne-Newbold small-sample correction and absolute-error loss, run once per seed.
TRANSITION: Now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of 34 | about 1.75 min | running total 18.75 min]
SAY: Table 4.1 drawn. Left to right, one, two and three days; rMAE, lower is better, persistence at 1.0. The three networks are bars because each is a range over ten seeds. At one day they run 0.910 to 0.939 against ARIMA at 0.940, so they win. At three days the best network seed, 0.831, and ARIMA, 0.832, are separated by a few parts in ten thousand: a tie. And all five machine learning regressors sit behind ARIMA at every horizon, which fits the M4 competition result that flexible learners do not reliably beat classical benchmarks on a few thousand observations.
POINT TO: ARIMA diamond against the coloured bars, panel by panel.
IF ASKED: The full Table 4.1 is backup B1.
TRANSITION: What do the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of 34 | about 0.5 min | running total 19.25 min]
SAY: One representative winter, November 2024 to February 2025. Both models track the shape of each episode, not only its level, and the gap between them is visible mainly on the sharpest rises, exactly where a short-range nonlinear model would earn an edge. The GRU line is seed 0 alone, for illustration only; every quantitative claim uses all ten.
TRANSITION: But a single seed can mislead, as the next slide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of 34 | about 1 min | running total 20.25 min]
SAY: This is why I report ranges. The GRU's ten-seed spread is 0.029, 0.028 and 0.048 at the three horizons; at three days that is wider than the gap separating ARIMA from two other models, so a single seed could be reported as beating them or losing to them at the analyst's convenience. Even tree models moved by 0.004 between two machines. And rerunning the same seed on the same machine moved the GRU almost as much as a new seed, so I doubled the sample from five to ten.
POINT TO: the dashed floor of 0.004 against the bars.
IF ASKED: Thread-order floating point in the OpenMP-parallel gradient boosting explains the 0.004; for networks, training accumulates small floating-point differences.
TRANSITION: Then are the one-day wins statistically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of 34 | about 1 min | running total 21.25 min]
SAY: A Diebold-Mariano test against ARIMA for each seed. At one day the statistic favours the network in all ten seeds for the GRU but is significant in only four; five for the LSTM, seven for the transformer. At two and three days no network reaches significance, bar one GRU seed at three days, in ARIMA's favour. For the five ML regressors, all fifteen comparisons favour ARIMA and fourteen reach p below 0.05. A limitation I want to state myself: twenty-seven tests with no correction; after Bonferroni only six survive and none of the plain GRU, LSTM or transformer, so read beyond one day as suggestive.
POINT TO: the shaded one-day column; then 6 of 27.
IF ASKED: Wilson 95% interval for 4 of 10 is 0.17 to 0.69; bootstrapping the statistic for heavy tails was not done.
TRANSITION: Now two arguments I made and then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of 34 | about 1 min | running total 22.25 min]
SAY: In the literature review I argued for the GRU on two grounds: fewer parameters, and too little data for a transformer. I tested both under the identical protocol, on Dr Tian's feedback. The LSTM beats the GRU at every horizon, by 0.005, 0.008 and 0.013, despite a third more parameters. Dr Tian said the series, counting every evaluation block, is some four thousand days, which clears the bar for a transformer. The ten-seed run bears him out: the transformer beats the GRU in eight of ten matched seeds at every horizon and has the strongest formal significance at one day. One caveat: its four settings were inherited, not tuned.
TRANSITION: Next: does adding weather change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of 34 | about 1.25 min | running total 23.5 min]
SAY: I added observed wind speed and temperature; a calm, stagnant air mass is the physical candidate that the calendar-only Fourier terms cannot represent. At one day the weather network separates cleanly from the plain one; at two and three the ranges overlap. Gradient boosting improves everywhere, the random forest gets worse at three days, so weather is not a free improvement. Important: under the first five seeds two and three days both looked like wins. Doubling the seeds overturned that.
POINT TO: blue bars (with weather) against orange (plain), relative to the ARIMA line.
IF ASKED: The weather record ends 202 days before the PM2.5 series; I repeated the comparison inside the fully observed window and the picture held.
TRANSITION: Does that accuracy gain matter once it meets the alarm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of 34 | about 0.5 min | running total 24 min]
SAY: The test that matters. I reran the threshold sweep with the weather models as extra candidates. Where they win, the gain is at most 1.2 points of hit rate; elsewhere they are not even the best option. Compare that with the fifty points the budget buys. A forecast that is 8 points more accurate in rMAE buys at most a little over a point.
POINT TO: the shaded cells: the largest gains.
TRANSITION: Now the second research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24 of 34 | about 1.25 min | running total 25.25 min]
SAY: To compare fairly I matched each classifier to the regressor built on the same algorithm, so the training objective is the only thing that varies. Across three pairs, three horizons and four budgets, 36 comparisons: forecast-then-threshold wins 21, classification 11, four ties. The median gap is 0.011 of hit rate, the largest 0.056. The edge shrinks as the budget loosens: 8 of 9 at a budget of 40, but classification wins 6 of 9 at 100. I prefer forecast-then-threshold also because it yields a concentration that can be rethresholded for any future health policy without refitting.
POINT TO: shaded cells: the better arm in each column.
IF ASKED: All three horizons are backup B6.
TRANSITION: Now the central result, RQ3, starting with what a budget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of 34 | about 1 min | running total 26.25 min]
SAY: Translate the dial into something you can feel. Each grid is 100 hazardous days; orange dots are the ones the best model caught at one day ahead. At 40 alarms a year, one alarm about every nine days, it catches 38 of 100. At 100 alarms, one about every four days, it catches 88. Nothing changed except the dial. This is a policy choice about how many alarms the public will tolerate, not a modelling choice.
POINT TO: left to right, the orange fills up.
IF ASKED: Hit rates are Table 4.7, best model at one day ahead (0.379, 0.567, 0.735, 0.881), rounded to whole days out of 100. Alarms every N days is 365.25 divided by the budget.
TRANSITION: Now let me show how this comes out of the model comparison,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of 34 | about 0.5 min | running total 26.75 min]
SAY: Now the chart the project is built around. Horizontal: alarms raised per year, the dial. Vertical: the share of hazardous days caught. This is one model, ARIMA. As the budget rises, so does the hit rate. That is true by construction, so on its own it proves nothing about models. The question is what happens when I change the model.
POINT TO: the two axes, then the single navy curve.
TRANSITION: Add three very different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of 34 | about 0.5 min | running total 27.25 min]
SAY: Now add gradient boosting, persistence, which just repeats yesterday, and climatology, which uses only the calendar. Four very different forecasters, one almost identical curve. I have not separated them for legibility, because the overlap is the finding.
POINT TO: how closely the four lines lie on top of one another.
TRANSITION: Now quantify the two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of 34 | about 1.25 min | running total 28.5 min]
SAY: Now the two effects. Along the dial, from 40 to 100 alarms a year, the best hit rate goes from 0.379 to 0.881: fifty points. At a fixed 100 alarms, switching the model moves it from about 0.82 to 0.88: about five. At three days and 40 alarms a year, persistence, which just repeats yesterday, is the best model in the whole study, 0.359. At 100 alarms a climatological forecast comes within a hundredth of the best, 0.816 against 0.827.
POINT TO: the vermillion arrow on the left, then the blue bracket at 100 alarms.
IF ASKED: A bigger budget raising the hit rate is true by construction, which is exactly why every model comparison is made at a fixed budget. The finding is the size of the two effects, not that the first exists. How big is the model effect exactly? The report says about five points; recomputed from the sweep it averages 7 across all ten models (2 to 12 by horizon and budget) and 4 without the lag-7 benchmark. Full Table 4.7 is backup B7.
TRANSITION: Why this happens: episodes. Then what I checked, and what I cannot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29 of 34 | about 1 min | running total 29.5 min]
SAY: The 1000 cleaning ceiling is a judgement, so I restored the seven removed days and refitted everything. ARIMA barely moves, 0.935 against 0.940, because logs and differencing absorb the contamination. The ML models are not protected: ridge goes from a near tie with persistence to a clear loss, 0.997 to 1.118. So RQ1 strengthens. The bounded checks on the GRU show its three-day configuration is the one I can least defend: a 45-day window, four Fourier harmonics, and SGD each improve it by two to four points. I did not rerun the full evaluation with those, so Table 4.1 is unchanged.
POINT TO: the first and last rows.
TRANSITION: And the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30 of 34 | about 0.75 min | running total 30.25 min]
SAY: Limits, stated plainly. One monitor in one city, a diplomatic enclave. Observed weather, not forecast weather, so an operational system might do better. The LSTM and transformer were not given weather or the threshold sweep. Tree grids were small, so ML results are a lower bound. The significance tests are uncorrected with best-seed selection. And network training is not bit-reproducible even at a fixed seed. None of these overturns the central finding.
IF ASKED: Why none overturns it: the finding rests on several independent sources agreeing, not on one p-value.
TRANSITION: So what does the project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31 of 34 | about 1 min | running total 31.25 min]
SAY: Four things. A warning-system evaluation with an explicit alarm budget, which the Delhi studies I found do not do. A leakage-tested rolling-origin comparison from classical to deep models, with the networks reported as ten-seed ranges. Two defects in the source monitor diagnosed and corrected. And three priors tested instead of assumed: no weekly cycle, the GRU over the LSTM, and the small-data argument against a transformer.
TRANSITION: Back to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32 of 34 | about 1.25 min | running total 32.5 min]
SAY: RQ1: ARIMA beats every ML regressor at every horizon, with a Diebold-Mariano test at each comparison; the networks beat it only at one day ahead, as ranges across ten seeds. RQ2: neither arm dominates, 21, 11 and 4; I prefer forecast-then-threshold because a concentration can be rethresholded. RQ3: the budget moves hit rate by fifty points, the model by about five. Dr Tian's instruction to try several methods rather than default to ARIMA was right: it is what makes the negative result at two and three days credible, and what surfaces the one-day result.
TRANSITION: What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33 of 34 | about 1 min | running total 33.5 min]
SAY: The recommendation: design a hazardous air quality warning system around the alarm budget its operator can justify, with the forecasting model a secondary refinement. Six extensions follow from the report: a real numerical weather forecast; boundary layer height from a reanalysis such as ERA5; the GRU with four Fourier harmonics under the full ten-seed evaluation; a second, independent station; completing the LSTM and transformer with weather and the threshold sweep; and a full ten-seed evaluation of the Kolmogorov-Arnold-LSTM. Thank you; I am happy to take questions.
TRANSITION: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34 of 34 | about 0 min | running total 33.5 min]
SAY: Thank you. Happy to take questions. If asked something detailed, the backup slides B1 to B7 hold the full tables; B8 and B9 hold the questions I expect; B10 is the glossary.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Full accuracy table. Networks are ranges over ten seeds; everything else is a single fit. Bias is at h = 1 and its units are µg/m³.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3.4. Four orders did not converge to a stable estimate on the training block and are marked. (1,1,1) is chosen; the next best is 1.1 AIC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Tables 4.2 and 4.3. Negative statistic favours the network; for the regressor table a positive statistic favours ARIMA. All 15 regressor pairings favour ARIMA and 14 reach p below 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Table 5.1 and Figure 5.1. Mean rMAE across the same three seeds. At one and two days the default sits near the best; at three days it is the worst of six architecture settings. Single split, three seeds: nothing in Table 4.1 changed on this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3.6: phi drifts upward; theta oscillates near the invertibility boundary and crosses it at three of 28 refits, each with fewer than 1,700 training days. The optimiser is unconstrained, so a forecast is still produced there. Figure 5.2: all four architectures' bounded checks; the KAN hybrid sits among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Figure 4.4 extends Table 4.6 to all horizons. Above zero, forecast-then-threshold wins. It wins 8 of 12 matched comparisons at one day, 7 of 12 at two, 6 of 12 at three: an edge that narrows rather than changing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The principal table. Persistence and climatology at h = 3 are the two models the discussion names, so those claims can be checked against a printed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Answers are short on purpose; the evidence is in the report section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Cue sheet for questions,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not timed]
SAY: Glossary. Useful if an audience member is outside statistics: every term the talk uses, in one line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5"/>
        </a:solidFill>
      </p:bgPr>
    </p:bg>
    <p:spTree>
      <p:nvGrpSpPr>
        <p:cNvPr id="1" name=""/>
        <p:cNvGrpSpPr/>
        <p:nvPr/>
      </p:nvGrpSpPr>
      <p:grpSpPr>
        <a:xfrm>
          <a:off x="0" y="0"/>
          <a:ext cx="0" cy="0"/>
          <a:chOff x="0" y="0"/>
          <a:chExt cx="0" cy="0"/>
        </a:xfrm>
      </p:grpSpPr>
      <p:sp>
        <p:nvSpPr>
          <p:cNvPr id="2" name="Shape 0"/>
          <p:cNvSpPr/>
          <p:nvPr/>
        </p:nvSpPr>
        <p:spPr>
          <a:xfrm>
            <a:off x="7680960" y="0"/>
            <a:ext cx="4510735" cy="6858000"/>
          </a:xfrm>
          <a:prstGeom prst="rect">
            <a:avLst/>
          </a:prstGeom>
          <a:solidFill>
            <a:srgbClr val="FFFFFF"/>
          </a:solidFill>
          <a:ln w="12700">
            <a:solidFill>
              <a:srgbClr val="FFFFFF"/>
            </a:solidFill>
            <a:prstDash val="solid"/>
          </a:ln>
        </p:spPr>
      </p:sp>
      <p:pic>
        <p:nvPicPr>
          <p:cNvPr id="3" name="Image 0" descr="Monash University logo">    </p:cNvPr>
          <p:cNvPicPr>
            <a:picLocks noChangeAspect="1"/>
          </p:cNvPicPr>
          <p:nvPr/>
        </p:nvPicPr>
        <p:blipFill>
          <a:blip r:embed="rId1"/>
          <a:stretch>
            <a:fillRect/>
          </a:stretch>
        </p:blipFill>
        <p:spPr>
          <a:xfrm>
            <a:off x="8138160" y="502920"/>
            <a:ext cx="3200400" cy="936171"/>
          </a:xfrm>
          <a:prstGeom prst="rect">
            <a:avLst/>
          </a:prstGeom>
        </p:spPr>
      </p:pic>
      <p:sp>
        <p:nvSpPr>
          <p:cNvPr id="4" name="Text 1"/>
          <p:cNvSpPr/>
          <p:nvPr/>
        </p:nvSpPr>
        <p:spPr>
          <a:xfrm>
            <a:off x="548640" y="640080"/>
            <a:ext cx="6766560" cy="320040"/>
          </a:xfrm>
          <a:prstGeom prst="rect">
            <a:avLst/>
          </a:prstGeom>
          <a:noFill/>
          <a:ln/>
        </p:spPr>
        <p:txBody>
          <a:bodyPr wrap="square" lIns="0" tIns="0" rIns="0" bIns="0" rtlCol="0" anchor="ctr"/>
          <a:lstStyle/>
          <a:p>
            <a:pPr indent="0" marL="0">
              <a:buNone/>
            </a:pPr>
            <a:r>
              <a:rPr lang="en-US" sz="1200" b="1" spc="200" kern="0" dirty="0">
                <a:solidFill>
                  <a:srgbClr val="8FC3E8"/>
                </a:solidFill>
                <a:latin typeface="Calibri" pitchFamily="34" charset="0"/>
                <a:ea typeface="Calibri" pitchFamily="34" charset="-122"/>
                <a:cs typeface="Calibri" pitchFamily="34" charset="-120"/>
              </a:rPr>
              <a:t>MTH5000 MASTERS RESEARCH PROJECT  |  ORAL PRESENTATION</a:t>
            </a:r>
            <a:endParaRPr lang="en-US" sz="1200" dirty="0"/>
          </a:p>
        </p:txBody>
      </p:sp>
      <p:sp>
        <p:nvSpPr>
          <p:cNvPr id="5" name="Text 2"/>
          <p:cNvSpPr/>
          <p:nvPr/>
        </p:nvSpPr>
        <p:spPr>
          <a:xfrm>
            <a:off x="548640" y="1188720"/>
            <a:ext cx="6766560" cy="21945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Machine Learning for Forecasting Hazardous Air Quality Days in Indian Cities</a:t>
            </a:r>
            <a:endParaRPr lang="en-US" sz="3800" dirty="0"/>
          </a:p>
        </p:txBody>
      </p:sp>
      <p:sp>
        <p:nvSpPr>
          <p:cNvPr id="6" name="Text 3"/>
          <p:cNvSpPr/>
          <p:nvPr/>
        </p:nvSpPr>
        <p:spPr>
          <a:xfrm>
            <a:off x="548640" y="3520440"/>
            <a:ext cx="6766560" cy="1371600"/>
          </a:xfrm>
          <a:prstGeom prst="rect">
            <a:avLst/>
          </a:prstGeom>
          <a:noFill/>
          <a:ln/>
        </p:spPr>
        <p:txBody>
          <a:bodyPr wrap="square" lIns="0" tIns="0" rIns="0" bIns="0" rtlCol="0" anchor="t"/>
          <a:lstStyle/>
          <a:p>
            <a:pPr indent="0" marL="0">
              <a:spcAft>
                <a:spcPts val="400"/>
              </a:spcAft>
              <a:buNone/>
            </a:pPr>
            <a:r>
              <a:rPr lang="en-US" sz="1600" b="1" dirty="0">
                <a:solidFill>
                  <a:srgbClr val="C9DCEC"/>
                </a:solidFill>
                <a:latin typeface="Calibri" pitchFamily="34" charset="0"/>
                <a:ea typeface="Calibri" pitchFamily="34" charset="-122"/>
                <a:cs typeface="Calibri" pitchFamily="34" charset="-120"/>
              </a:rPr>
              <a:t>Jaykumar Vinodbhai Chauhan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Student ID 34710280  |  Master of Mathematics</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Supervisor: Dr Tianhai Tian</a:t>
            </a:r>
            <a:endParaRPr lang="en-US" sz="1600" dirty="0"/>
          </a:p>
          <a:p>
            <a:pPr indent="0" marL="0">
              <a:spcAft>
                <a:spcPts val="400"/>
              </a:spcAft>
              <a:buNone/>
            </a:pPr>
            <a:r>
              <a:rPr lang="en-US" sz="1600" dirty="0">
                <a:solidFill>
                  <a:srgbClr val="C9DCEC"/>
                </a:solidFill>
                <a:latin typeface="Calibri" pitchFamily="34" charset="0"/>
                <a:ea typeface="Calibri" pitchFamily="34" charset="-122"/>
                <a:cs typeface="Calibri" pitchFamily="34" charset="-120"/>
              </a:rPr>
              <a:t>School of Mathematics, Monash University  |  November 2026</a:t>
            </a:r>
            <a:endParaRPr lang="en-US" sz="1600" dirty="0"/>
          </a:p>
        </p:txBody>
      </p:sp>
      <p:pic>
        <p:nvPicPr>
          <p:cNvPr id="7" name="Image 1" descr="The last 365 days of the dataset, one bar per day, hazardous days in vermillion.">    </p:cNvPr>
          <p:cNvPicPr>
            <a:picLocks noChangeAspect="1"/>
          </p:cNvPicPr>
          <p:nvPr/>
        </p:nvPicPr>
        <p:blipFill>
          <a:blip r:embed="rId2"/>
          <a:stretch>
            <a:fillRect/>
          </a:stretch>
        </p:blipFill>
        <p:spPr>
          <a:xfrm>
            <a:off x="0" y="5440680"/>
            <a:ext cx="7680960" cy="1371600"/>
          </a:xfrm>
          <a:prstGeom prst="rect">
            <a:avLst/>
          </a:prstGeom>
        </p:spPr>
      </p:pic>
      <p:sp>
        <p:nvSpPr>
          <p:cNvPr id="8" name="Text 4"/>
          <p:cNvSpPr/>
          <p:nvPr/>
        </p:nvSpPr>
        <p:spPr>
          <a:xfrm>
            <a:off x="548640" y="5029200"/>
            <a:ext cx="6949440" cy="274320"/>
          </a:xfrm>
          <a:prstGeom prst="rect">
            <a:avLst/>
          </a:prstGeom>
          <a:noFill/>
          <a:ln/>
        </p:spPr>
        <p:txBody>
          <a:bodyPr wrap="square" lIns="0" tIns="0" rIns="0" bIns="0" rtlCol="0" anchor="ctr"/>
          <a:lstStyle/>
          <a:p>
            <a:pPr indent="0" marL="0">
              <a:buNone/>
            </a:pPr>
            <a:r>
              <a:rPr lang="en-US" sz="1150" i="1" dirty="0">
                <a:solidFill>
                  <a:srgbClr val="8FA6BD"/>
                </a:solidFill>
                <a:latin typeface="Calibri" pitchFamily="34" charset="0"/>
                <a:ea typeface="Calibri" pitchFamily="34" charset="-122"/>
                <a:cs typeface="Calibri" pitchFamily="34" charset="-120"/>
              </a:rPr>
              <a:t>The last 365 days of the dataset: one bar a day, vermillion above the 121 threshold.</a:t>
            </a:r>
            <a:endParaRPr lang="en-US" sz="1150" dirty="0"/>
          </a:p>
        </p:txBody>
      </p:sp>
      <p:sp>
        <p:nvSpPr>
          <p:cNvPr id="9" name="Text 5"/>
          <p:cNvSpPr/>
          <p:nvPr/>
        </p:nvSpPr>
        <p:spPr>
          <a:xfrm>
            <a:off x="8138160" y="2377440"/>
            <a:ext cx="35661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THE FINDING IN TWO NUMBERS</a:t>
            </a:r>
            <a:endParaRPr lang="en-US" sz="1100" dirty="0"/>
          </a:p>
        </p:txBody>
      </p:sp>
      <p:sp>
        <p:nvSpPr>
          <p:cNvPr id="10" name="Text 6"/>
          <p:cNvSpPr/>
          <p:nvPr/>
        </p:nvSpPr>
        <p:spPr>
          <a:xfrm>
            <a:off x="8138160" y="2697480"/>
            <a:ext cx="3566160" cy="685800"/>
          </a:xfrm>
          <a:prstGeom prst="rect">
            <a:avLst/>
          </a:prstGeom>
          <a:noFill/>
          <a:ln/>
        </p:spPr>
        <p:txBody>
          <a:bodyPr wrap="square" lIns="0" tIns="0" rIns="0" bIns="0" rtlCol="0" anchor="ctr"/>
          <a:lstStyle/>
          <a:p>
            <a:pPr indent="0" marL="0">
              <a:buNone/>
            </a:pPr>
            <a:r>
              <a:rPr lang="en-US" sz="3600" b="1" dirty="0">
                <a:solidFill>
                  <a:srgbClr val="D55E00"/>
                </a:solidFill>
                <a:latin typeface="Calibri" pitchFamily="34" charset="0"/>
                <a:ea typeface="Calibri" pitchFamily="34" charset="-122"/>
                <a:cs typeface="Calibri" pitchFamily="34" charset="-120"/>
              </a:rPr>
              <a:t>0.379 to 0.881</a:t>
            </a:r>
            <a:endParaRPr lang="en-US" sz="3600" dirty="0"/>
          </a:p>
        </p:txBody>
      </p:sp>
      <p:sp>
        <p:nvSpPr>
          <p:cNvPr id="11" name="Text 7"/>
          <p:cNvSpPr/>
          <p:nvPr/>
        </p:nvSpPr>
        <p:spPr>
          <a:xfrm>
            <a:off x="8138160" y="338328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hit rate at one day ahead as the alarm budget moves from 40 to 100 alarms a year</a:t>
            </a:r>
            <a:endParaRPr lang="en-US" sz="1400" dirty="0"/>
          </a:p>
        </p:txBody>
      </p:sp>
      <p:sp>
        <p:nvSpPr>
          <p:cNvPr id="12" name="Text 8"/>
          <p:cNvSpPr/>
          <p:nvPr/>
        </p:nvSpPr>
        <p:spPr>
          <a:xfrm>
            <a:off x="8138160" y="4343400"/>
            <a:ext cx="3566160" cy="685800"/>
          </a:xfrm>
          <a:prstGeom prst="rect">
            <a:avLst/>
          </a:prstGeom>
          <a:noFill/>
          <a:ln/>
        </p:spPr>
        <p:txBody>
          <a:bodyPr wrap="square" lIns="0" tIns="0" rIns="0" bIns="0" rtlCol="0" anchor="ctr"/>
          <a:lstStyle/>
          <a:p>
            <a:pPr indent="0" marL="0">
              <a:buNone/>
            </a:pPr>
            <a:r>
              <a:rPr lang="en-US" sz="3600" b="1" dirty="0">
                <a:solidFill>
                  <a:srgbClr val="006CAB"/>
                </a:solidFill>
                <a:latin typeface="Calibri" pitchFamily="34" charset="0"/>
                <a:ea typeface="Calibri" pitchFamily="34" charset="-122"/>
                <a:cs typeface="Calibri" pitchFamily="34" charset="-120"/>
              </a:rPr>
              <a:t>about 5 points</a:t>
            </a:r>
            <a:endParaRPr lang="en-US" sz="3600" dirty="0"/>
          </a:p>
        </p:txBody>
      </p:sp>
      <p:sp>
        <p:nvSpPr>
          <p:cNvPr id="13" name="Text 9"/>
          <p:cNvSpPr/>
          <p:nvPr/>
        </p:nvSpPr>
        <p:spPr>
          <a:xfrm>
            <a:off x="8138160" y="5029200"/>
            <a:ext cx="3566160" cy="685800"/>
          </a:xfrm>
          <a:prstGeom prst="rect">
            <a:avLst/>
          </a:prstGeom>
          <a:noFill/>
          <a:ln/>
        </p:spPr>
        <p:txBody>
          <a:bodyPr wrap="square" lIns="0" tIns="0" rIns="0" bIns="0" rtlCol="0" anchor="t"/>
          <a:lstStyle/>
          <a:p>
            <a:pPr indent="0" marL="0">
              <a:buNone/>
            </a:pPr>
            <a:r>
              <a:rPr lang="en-US" sz="1400" dirty="0">
                <a:solidFill>
                  <a:srgbClr val="5B6B7A"/>
                </a:solidFill>
                <a:latin typeface="Calibri" pitchFamily="34" charset="0"/>
                <a:ea typeface="Calibri" pitchFamily="34" charset="-122"/>
                <a:cs typeface="Calibri" pitchFamily="34" charset="-120"/>
              </a:rPr>
              <a:t>what changing the model moves it by, at a fixed budget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forecast is only useful if it arrives before the hazardous day does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 / 34</a:t>
            </a:r>
            <a:endParaRPr lang="en-US" sz="1000" dirty="0"/>
          </a:p>
        </p:txBody>
      </p:sp>
      <p:sp>
        <p:nvSpPr>
          <p:cNvPr id="13" name="Text 10"/>
          <p:cNvSpPr/>
          <p:nvPr/>
        </p:nvSpPr>
        <p:spPr>
          <a:xfrm>
            <a:off x="548640" y="1691640"/>
            <a:ext cx="6583680" cy="3840480"/>
          </a:xfrm>
          <a:prstGeom prst="rect">
            <a:avLst/>
          </a:prstGeom>
          <a:noFill/>
          <a:ln/>
        </p:spPr>
        <p:txBody>
          <a:bodyPr wrap="square" lIns="0" tIns="0" rIns="0" bIns="0" rtlCol="0" anchor="t"/>
          <a:lstStyle/>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Health basis.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PM2.5 exposure is linked to cardiopulmonary and all-cause mortality (Pope and Dockery 2006; Chen and Hoek 2020).</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event.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A day above 121 µg/m³, the CPCB 'Very Poor' boundary.</a:t>
            </a:r>
            <a:endParaRPr lang="en-US" sz="2000" dirty="0"/>
          </a:p>
          <a:p>
            <a:pPr marL="228600" indent="-228600">
              <a:lnSpc>
                <a:spcPct val="105000"/>
              </a:lnSpc>
              <a:buSzPct val="100000"/>
              <a:buChar char="•"/>
            </a:pPr>
            <a:r>
              <a:rPr lang="en-US" sz="2000" b="1" dirty="0">
                <a:solidFill>
                  <a:srgbClr val="0B2545"/>
                </a:solidFill>
                <a:latin typeface="Calibri" pitchFamily="34" charset="0"/>
                <a:ea typeface="Calibri" pitchFamily="34" charset="-122"/>
                <a:cs typeface="Calibri" pitchFamily="34" charset="-120"/>
              </a:rPr>
              <a:t>The gap. </a:t>
            </a:r>
            <a:pPr indent="0" marL="0">
              <a:lnSpc>
                <a:spcPct val="105000"/>
              </a:lnSpc>
              <a:spcAft>
                <a:spcPts val="1400"/>
              </a:spcAft>
              <a:buNone/>
            </a:pPr>
            <a:r>
              <a:rPr lang="en-US" sz="2000" dirty="0">
                <a:solidFill>
                  <a:srgbClr val="1B2733"/>
                </a:solidFill>
                <a:latin typeface="Calibri" pitchFamily="34" charset="0"/>
                <a:ea typeface="Calibri" pitchFamily="34" charset="-122"/>
                <a:cs typeface="Calibri" pitchFamily="34" charset="-120"/>
              </a:rPr>
              <a:t>Two Delhi machine learning studies (Masood and Ahmad 2020; Singh and Srivastava 2025) report R², RMSE and MAE. Neither evaluates a warning system with an explicit alarm budget.</a:t>
            </a:r>
            <a:endParaRPr lang="en-US" sz="2000" dirty="0"/>
          </a:p>
        </p:txBody>
      </p:sp>
      <p:sp>
        <p:nvSpPr>
          <p:cNvPr id="14" name="Shape 11"/>
          <p:cNvSpPr/>
          <p:nvPr/>
        </p:nvSpPr>
        <p:spPr>
          <a:xfrm>
            <a:off x="758952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5" name="Text 12"/>
          <p:cNvSpPr/>
          <p:nvPr/>
        </p:nvSpPr>
        <p:spPr>
          <a:xfrm>
            <a:off x="7726680" y="1764792"/>
            <a:ext cx="1691640" cy="80010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29.7%</a:t>
            </a:r>
            <a:endParaRPr lang="en-US" sz="3200" dirty="0"/>
          </a:p>
        </p:txBody>
      </p:sp>
      <p:sp>
        <p:nvSpPr>
          <p:cNvPr id="16" name="Text 13"/>
          <p:cNvSpPr/>
          <p:nvPr/>
        </p:nvSpPr>
        <p:spPr>
          <a:xfrm>
            <a:off x="772668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days exceed 121 µg/m³ (920 of 3,093)</a:t>
            </a:r>
            <a:endParaRPr lang="en-US" sz="1350" dirty="0"/>
          </a:p>
        </p:txBody>
      </p:sp>
      <p:sp>
        <p:nvSpPr>
          <p:cNvPr id="17" name="Shape 14"/>
          <p:cNvSpPr/>
          <p:nvPr/>
        </p:nvSpPr>
        <p:spPr>
          <a:xfrm>
            <a:off x="9692640" y="169164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9829800" y="176479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9.8 yrs</a:t>
            </a:r>
            <a:endParaRPr lang="en-US" sz="3200" dirty="0"/>
          </a:p>
        </p:txBody>
      </p:sp>
      <p:sp>
        <p:nvSpPr>
          <p:cNvPr id="19" name="Text 16"/>
          <p:cNvSpPr/>
          <p:nvPr/>
        </p:nvSpPr>
        <p:spPr>
          <a:xfrm>
            <a:off x="9829800" y="258775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of daily data, Nov 2016 to Aug 2026</a:t>
            </a:r>
            <a:endParaRPr lang="en-US" sz="1350" dirty="0"/>
          </a:p>
        </p:txBody>
      </p:sp>
      <p:sp>
        <p:nvSpPr>
          <p:cNvPr id="20" name="Shape 17"/>
          <p:cNvSpPr/>
          <p:nvPr/>
        </p:nvSpPr>
        <p:spPr>
          <a:xfrm>
            <a:off x="758952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772668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 to 3</a:t>
            </a:r>
            <a:endParaRPr lang="en-US" sz="3200" dirty="0"/>
          </a:p>
        </p:txBody>
      </p:sp>
      <p:sp>
        <p:nvSpPr>
          <p:cNvPr id="22" name="Text 19"/>
          <p:cNvSpPr/>
          <p:nvPr/>
        </p:nvSpPr>
        <p:spPr>
          <a:xfrm>
            <a:off x="772668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days ahead: the forecast horizons</a:t>
            </a:r>
            <a:endParaRPr lang="en-US" sz="1350" dirty="0"/>
          </a:p>
        </p:txBody>
      </p:sp>
      <p:sp>
        <p:nvSpPr>
          <p:cNvPr id="23" name="Shape 20"/>
          <p:cNvSpPr/>
          <p:nvPr/>
        </p:nvSpPr>
        <p:spPr>
          <a:xfrm>
            <a:off x="9692640" y="3474720"/>
            <a:ext cx="1965960" cy="1600200"/>
          </a:xfrm>
          <a:prstGeom prst="roundRect">
            <a:avLst>
              <a:gd name="adj" fmla="val 457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1"/>
          <p:cNvSpPr/>
          <p:nvPr/>
        </p:nvSpPr>
        <p:spPr>
          <a:xfrm>
            <a:off x="9829800" y="3547872"/>
            <a:ext cx="1691640" cy="80010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12</a:t>
            </a:r>
            <a:endParaRPr lang="en-US" sz="3200" dirty="0"/>
          </a:p>
        </p:txBody>
      </p:sp>
      <p:sp>
        <p:nvSpPr>
          <p:cNvPr id="25" name="Text 22"/>
          <p:cNvSpPr/>
          <p:nvPr/>
        </p:nvSpPr>
        <p:spPr>
          <a:xfrm>
            <a:off x="9829800" y="4370832"/>
            <a:ext cx="1691640" cy="672084"/>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model specifications compared</a:t>
            </a:r>
            <a:endParaRPr lang="en-US" sz="1350" dirty="0"/>
          </a:p>
        </p:txBody>
      </p:sp>
      <p:sp>
        <p:nvSpPr>
          <p:cNvPr id="26" name="Shape 23"/>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5"/>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model with good average error can still miss the extreme days that are the only ones anyone cares about.</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research questions, and the third turned out to dominate the other two</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 / 34</a:t>
            </a:r>
            <a:endParaRPr lang="en-US" sz="1000" dirty="0"/>
          </a:p>
        </p:txBody>
      </p:sp>
      <p:sp>
        <p:nvSpPr>
          <p:cNvPr id="13" name="Shape 10"/>
          <p:cNvSpPr/>
          <p:nvPr/>
        </p:nvSpPr>
        <p:spPr>
          <a:xfrm>
            <a:off x="54864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RQ1</a:t>
            </a:r>
            <a:endParaRPr lang="en-US" sz="2600" dirty="0"/>
          </a:p>
        </p:txBody>
      </p:sp>
      <p:sp>
        <p:nvSpPr>
          <p:cNvPr id="15" name="Text 12"/>
          <p:cNvSpPr/>
          <p:nvPr/>
        </p:nvSpPr>
        <p:spPr>
          <a:xfrm>
            <a:off x="173736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ACCURACY</a:t>
            </a:r>
            <a:endParaRPr lang="en-US" sz="1100" dirty="0"/>
          </a:p>
        </p:txBody>
      </p:sp>
      <p:sp>
        <p:nvSpPr>
          <p:cNvPr id="16" name="Text 13"/>
          <p:cNvSpPr/>
          <p:nvPr/>
        </p:nvSpPr>
        <p:spPr>
          <a:xfrm>
            <a:off x="77724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How accurately can daily concentrations be forecast 1 to 3 days ahead by machine learning, against classical and naive benchmarks?</a:t>
            </a:r>
            <a:endParaRPr lang="en-US" sz="1600" dirty="0"/>
          </a:p>
        </p:txBody>
      </p:sp>
      <p:sp>
        <p:nvSpPr>
          <p:cNvPr id="17" name="Shape 14"/>
          <p:cNvSpPr/>
          <p:nvPr/>
        </p:nvSpPr>
        <p:spPr>
          <a:xfrm>
            <a:off x="777240" y="3703320"/>
            <a:ext cx="3063240" cy="18288"/>
          </a:xfrm>
          <a:prstGeom prst="rect">
            <a:avLst/>
          </a:prstGeom>
          <a:solidFill>
            <a:srgbClr val="D3DCE6"/>
          </a:solidFill>
          <a:ln w="12700">
            <a:solidFill>
              <a:srgbClr val="D3DCE6"/>
            </a:solidFill>
            <a:prstDash val="solid"/>
          </a:ln>
        </p:spPr>
      </p:sp>
      <p:sp>
        <p:nvSpPr>
          <p:cNvPr id="18" name="Text 15"/>
          <p:cNvSpPr/>
          <p:nvPr/>
        </p:nvSpPr>
        <p:spPr>
          <a:xfrm>
            <a:off x="77724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19" name="Text 16"/>
          <p:cNvSpPr/>
          <p:nvPr/>
        </p:nvSpPr>
        <p:spPr>
          <a:xfrm>
            <a:off x="77724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classical model (ARIMA) beats every ML regressor at every horizon. The deep networks beat it only at one day ahead.</a:t>
            </a:r>
            <a:endParaRPr lang="en-US" sz="1650" dirty="0"/>
          </a:p>
        </p:txBody>
      </p:sp>
      <p:sp>
        <p:nvSpPr>
          <p:cNvPr id="20" name="Shape 17"/>
          <p:cNvSpPr/>
          <p:nvPr/>
        </p:nvSpPr>
        <p:spPr>
          <a:xfrm>
            <a:off x="425196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8"/>
          <p:cNvSpPr/>
          <p:nvPr/>
        </p:nvSpPr>
        <p:spPr>
          <a:xfrm>
            <a:off x="4480560" y="1755648"/>
            <a:ext cx="1097280" cy="457200"/>
          </a:xfrm>
          <a:prstGeom prst="rect">
            <a:avLst/>
          </a:prstGeom>
          <a:noFill/>
          <a:ln/>
        </p:spPr>
        <p:txBody>
          <a:bodyPr wrap="square" lIns="0" tIns="0" rIns="0" bIns="0" rtlCol="0" anchor="ctr"/>
          <a:lstStyle/>
          <a:p>
            <a:pPr indent="0" marL="0">
              <a:buNone/>
            </a:pPr>
            <a:r>
              <a:rPr lang="en-US" sz="2600" b="1" dirty="0">
                <a:solidFill>
                  <a:srgbClr val="006CAB"/>
                </a:solidFill>
                <a:latin typeface="Calibri" pitchFamily="34" charset="0"/>
                <a:ea typeface="Calibri" pitchFamily="34" charset="-122"/>
                <a:cs typeface="Calibri" pitchFamily="34" charset="-120"/>
              </a:rPr>
              <a:t>RQ2</a:t>
            </a:r>
            <a:endParaRPr lang="en-US" sz="2600" dirty="0"/>
          </a:p>
        </p:txBody>
      </p:sp>
      <p:sp>
        <p:nvSpPr>
          <p:cNvPr id="22" name="Text 19"/>
          <p:cNvSpPr/>
          <p:nvPr/>
        </p:nvSpPr>
        <p:spPr>
          <a:xfrm>
            <a:off x="544068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TWO ARMS</a:t>
            </a:r>
            <a:endParaRPr lang="en-US" sz="1100" dirty="0"/>
          </a:p>
        </p:txBody>
      </p:sp>
      <p:sp>
        <p:nvSpPr>
          <p:cNvPr id="23" name="Text 20"/>
          <p:cNvSpPr/>
          <p:nvPr/>
        </p:nvSpPr>
        <p:spPr>
          <a:xfrm>
            <a:off x="448056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Is it better to forecast the concentration and then threshold it, or to classify the exceedance event directly?</a:t>
            </a:r>
            <a:endParaRPr lang="en-US" sz="1600" dirty="0"/>
          </a:p>
        </p:txBody>
      </p:sp>
      <p:sp>
        <p:nvSpPr>
          <p:cNvPr id="24" name="Shape 21"/>
          <p:cNvSpPr/>
          <p:nvPr/>
        </p:nvSpPr>
        <p:spPr>
          <a:xfrm>
            <a:off x="4480560" y="3703320"/>
            <a:ext cx="3063240" cy="18288"/>
          </a:xfrm>
          <a:prstGeom prst="rect">
            <a:avLst/>
          </a:prstGeom>
          <a:solidFill>
            <a:srgbClr val="D3DCE6"/>
          </a:solidFill>
          <a:ln w="12700">
            <a:solidFill>
              <a:srgbClr val="D3DCE6"/>
            </a:solidFill>
            <a:prstDash val="solid"/>
          </a:ln>
        </p:spPr>
      </p:sp>
      <p:sp>
        <p:nvSpPr>
          <p:cNvPr id="25" name="Text 22"/>
          <p:cNvSpPr/>
          <p:nvPr/>
        </p:nvSpPr>
        <p:spPr>
          <a:xfrm>
            <a:off x="448056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26" name="Text 23"/>
          <p:cNvSpPr/>
          <p:nvPr/>
        </p:nvSpPr>
        <p:spPr>
          <a:xfrm>
            <a:off x="448056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Neither dominates: 21 / 11 / 4 across 36 matched comparisons. Forecast-then-threshold is preferred.</a:t>
            </a:r>
            <a:endParaRPr lang="en-US" sz="1650" dirty="0"/>
          </a:p>
        </p:txBody>
      </p:sp>
      <p:sp>
        <p:nvSpPr>
          <p:cNvPr id="27" name="Shape 24"/>
          <p:cNvSpPr/>
          <p:nvPr/>
        </p:nvSpPr>
        <p:spPr>
          <a:xfrm>
            <a:off x="7955280" y="1645920"/>
            <a:ext cx="3520440" cy="3840480"/>
          </a:xfrm>
          <a:prstGeom prst="roundRect">
            <a:avLst>
              <a:gd name="adj" fmla="val 20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8" name="Text 25"/>
          <p:cNvSpPr/>
          <p:nvPr/>
        </p:nvSpPr>
        <p:spPr>
          <a:xfrm>
            <a:off x="8183880" y="1755648"/>
            <a:ext cx="1097280" cy="457200"/>
          </a:xfrm>
          <a:prstGeom prst="rect">
            <a:avLst/>
          </a:prstGeom>
          <a:noFill/>
          <a:ln/>
        </p:spPr>
        <p:txBody>
          <a:bodyPr wrap="square" lIns="0" tIns="0" rIns="0" bIns="0" rtlCol="0" anchor="ctr"/>
          <a:lstStyle/>
          <a:p>
            <a:pPr indent="0" marL="0">
              <a:buNone/>
            </a:pPr>
            <a:r>
              <a:rPr lang="en-US" sz="2600" b="1" dirty="0">
                <a:solidFill>
                  <a:srgbClr val="D55E00"/>
                </a:solidFill>
                <a:latin typeface="Calibri" pitchFamily="34" charset="0"/>
                <a:ea typeface="Calibri" pitchFamily="34" charset="-122"/>
                <a:cs typeface="Calibri" pitchFamily="34" charset="-120"/>
              </a:rPr>
              <a:t>RQ3</a:t>
            </a:r>
            <a:endParaRPr lang="en-US" sz="2600" dirty="0"/>
          </a:p>
        </p:txBody>
      </p:sp>
      <p:sp>
        <p:nvSpPr>
          <p:cNvPr id="29" name="Text 26"/>
          <p:cNvSpPr/>
          <p:nvPr/>
        </p:nvSpPr>
        <p:spPr>
          <a:xfrm>
            <a:off x="9144000" y="1801368"/>
            <a:ext cx="2148840" cy="365760"/>
          </a:xfrm>
          <a:prstGeom prst="rect">
            <a:avLst/>
          </a:prstGeom>
          <a:noFill/>
          <a:ln/>
        </p:spPr>
        <p:txBody>
          <a:bodyPr wrap="square" lIns="0" tIns="0" rIns="0" bIns="0" rtlCol="0" anchor="ctr"/>
          <a:lstStyle/>
          <a:p>
            <a:pPr indent="0" marL="0">
              <a:buNone/>
            </a:pPr>
            <a:r>
              <a:rPr lang="en-US" sz="1100" b="1" spc="200" kern="0" dirty="0">
                <a:solidFill>
                  <a:srgbClr val="5B6B7A"/>
                </a:solidFill>
                <a:latin typeface="Calibri" pitchFamily="34" charset="0"/>
                <a:ea typeface="Calibri" pitchFamily="34" charset="-122"/>
                <a:cs typeface="Calibri" pitchFamily="34" charset="-120"/>
              </a:rPr>
              <a:t>WARNING SYSTEM</a:t>
            </a:r>
            <a:endParaRPr lang="en-US" sz="1100" dirty="0"/>
          </a:p>
        </p:txBody>
      </p:sp>
      <p:sp>
        <p:nvSpPr>
          <p:cNvPr id="30" name="Text 27"/>
          <p:cNvSpPr/>
          <p:nvPr/>
        </p:nvSpPr>
        <p:spPr>
          <a:xfrm>
            <a:off x="8183880" y="2286000"/>
            <a:ext cx="3063240" cy="137160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As a warning system, what hit rate and false alarm rate does each approach achieve, and how does the threshold trade them off?</a:t>
            </a:r>
            <a:endParaRPr lang="en-US" sz="1600" dirty="0"/>
          </a:p>
        </p:txBody>
      </p:sp>
      <p:sp>
        <p:nvSpPr>
          <p:cNvPr id="31" name="Shape 28"/>
          <p:cNvSpPr/>
          <p:nvPr/>
        </p:nvSpPr>
        <p:spPr>
          <a:xfrm>
            <a:off x="8183880" y="3703320"/>
            <a:ext cx="3063240" cy="18288"/>
          </a:xfrm>
          <a:prstGeom prst="rect">
            <a:avLst/>
          </a:prstGeom>
          <a:solidFill>
            <a:srgbClr val="D3DCE6"/>
          </a:solidFill>
          <a:ln w="12700">
            <a:solidFill>
              <a:srgbClr val="D3DCE6"/>
            </a:solidFill>
            <a:prstDash val="solid"/>
          </a:ln>
        </p:spPr>
      </p:sp>
      <p:sp>
        <p:nvSpPr>
          <p:cNvPr id="32" name="Text 29"/>
          <p:cNvSpPr/>
          <p:nvPr/>
        </p:nvSpPr>
        <p:spPr>
          <a:xfrm>
            <a:off x="8183880" y="3794760"/>
            <a:ext cx="306324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HEADLINE ANSWER</a:t>
            </a:r>
            <a:endParaRPr lang="en-US" sz="1050" dirty="0"/>
          </a:p>
        </p:txBody>
      </p:sp>
      <p:sp>
        <p:nvSpPr>
          <p:cNvPr id="33" name="Text 30"/>
          <p:cNvSpPr/>
          <p:nvPr/>
        </p:nvSpPr>
        <p:spPr>
          <a:xfrm>
            <a:off x="8183880" y="4096512"/>
            <a:ext cx="3063240" cy="132588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The alarm budget moves hit rate by 50 points. The model moves it by about 5.</a:t>
            </a:r>
            <a:endParaRPr lang="en-US" sz="1650" dirty="0"/>
          </a:p>
        </p:txBody>
      </p:sp>
      <p:sp>
        <p:nvSpPr>
          <p:cNvPr id="34" name="Shape 31"/>
          <p:cNvSpPr/>
          <p:nvPr/>
        </p:nvSpPr>
        <p:spPr>
          <a:xfrm>
            <a:off x="548640" y="5669280"/>
            <a:ext cx="1371600" cy="685800"/>
          </a:xfrm>
          <a:prstGeom prst="rect">
            <a:avLst/>
          </a:prstGeom>
          <a:solidFill>
            <a:srgbClr val="0B2545"/>
          </a:solidFill>
          <a:ln w="12700">
            <a:solidFill>
              <a:srgbClr val="0B2545"/>
            </a:solidFill>
            <a:prstDash val="solid"/>
          </a:ln>
        </p:spPr>
      </p:sp>
      <p:sp>
        <p:nvSpPr>
          <p:cNvPr id="35" name="Text 3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6" name="Shape 33"/>
          <p:cNvSpPr/>
          <p:nvPr/>
        </p:nvSpPr>
        <p:spPr>
          <a:xfrm>
            <a:off x="1920240" y="5669280"/>
            <a:ext cx="9722815" cy="685800"/>
          </a:xfrm>
          <a:prstGeom prst="rect">
            <a:avLst/>
          </a:prstGeom>
          <a:solidFill>
            <a:srgbClr val="DCEAF5"/>
          </a:solidFill>
          <a:ln w="12700">
            <a:solidFill>
              <a:srgbClr val="DCEAF5"/>
            </a:solidFill>
            <a:prstDash val="solid"/>
          </a:ln>
        </p:spPr>
      </p:sp>
      <p:sp>
        <p:nvSpPr>
          <p:cNvPr id="37" name="Text 3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third question turns out to dominate the other two, and the talk is organised around it.</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idea in one picture: the detector matters little, the dial matters a lot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 / 34</a:t>
            </a:r>
            <a:endParaRPr lang="en-US" sz="1000" dirty="0"/>
          </a:p>
        </p:txBody>
      </p:sp>
      <p:pic>
        <p:nvPicPr>
          <p:cNvPr id="13" name="Image 0" descr="Two bar charts on one axis: swapping the model at 100 alarms a year gives hit rates 0.821 to 0.873, while turning the budget from 40 to 100 alarms gives 0.379 to 0.881.">    </p:cNvPr>
          <p:cNvPicPr>
            <a:picLocks noChangeAspect="1"/>
          </p:cNvPicPr>
          <p:nvPr/>
        </p:nvPicPr>
        <p:blipFill>
          <a:blip r:embed="rId1"/>
          <a:stretch>
            <a:fillRect/>
          </a:stretch>
        </p:blipFill>
        <p:spPr>
          <a:xfrm>
            <a:off x="2154887" y="1600200"/>
            <a:ext cx="7881921" cy="3337560"/>
          </a:xfrm>
          <a:prstGeom prst="rect">
            <a:avLst/>
          </a:prstGeom>
        </p:spPr>
      </p:pic>
      <p:sp>
        <p:nvSpPr>
          <p:cNvPr id="14" name="Text 10"/>
          <p:cNvSpPr/>
          <p:nvPr/>
        </p:nvSpPr>
        <p:spPr>
          <a:xfrm>
            <a:off x="548640" y="5074920"/>
            <a:ext cx="10515600" cy="45720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Hit rate (the share of hazardous days caught) at one day ahead, Table 4.7. Four representative models; the weak lag-7 seasonal-naive benchmark would sit lower, at 0.758 (B8).</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Like a smoke alarm: swapping the brand moves the hit rate from 0.82 to 0.87; turning the sensitivity dial moves it from 0.38 to 0.88.</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MOTIVATION</a:t>
            </a:r>
            <a:endParaRPr lang="en-US" sz="1100" dirty="0"/>
          </a:p>
        </p:txBody>
      </p:sp>
      <p:sp>
        <p:nvSpPr>
          <p:cNvPr id="3" name="Shape 1"/>
          <p:cNvSpPr/>
          <p:nvPr/>
        </p:nvSpPr>
        <p:spPr>
          <a:xfrm>
            <a:off x="8442655" y="329184"/>
            <a:ext cx="457200" cy="64008"/>
          </a:xfrm>
          <a:prstGeom prst="roundRect">
            <a:avLst>
              <a:gd name="adj" fmla="val 42857"/>
            </a:avLst>
          </a:prstGeom>
          <a:solidFill>
            <a:srgbClr val="006CAB"/>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D3DCE6"/>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route: from the data, through the models, to the alarm budget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 / 34</a:t>
            </a:r>
            <a:endParaRPr lang="en-US" sz="1000" dirty="0"/>
          </a:p>
        </p:txBody>
      </p:sp>
      <p:sp>
        <p:nvSpPr>
          <p:cNvPr id="13" name="Shape 10"/>
          <p:cNvSpPr/>
          <p:nvPr/>
        </p:nvSpPr>
        <p:spPr>
          <a:xfrm>
            <a:off x="548640"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48640" cy="548640"/>
          </a:xfrm>
          <a:prstGeom prst="ellipse">
            <a:avLst/>
          </a:prstGeom>
          <a:solidFill>
            <a:srgbClr val="006CAB"/>
          </a:solidFill>
          <a:ln w="12700">
            <a:solidFill>
              <a:srgbClr val="FFFFFF"/>
            </a:solidFill>
            <a:prstDash val="solid"/>
          </a:ln>
        </p:spPr>
      </p:sp>
      <p:sp>
        <p:nvSpPr>
          <p:cNvPr id="15" name="Text 12"/>
          <p:cNvSpPr/>
          <p:nvPr/>
        </p:nvSpPr>
        <p:spPr>
          <a:xfrm>
            <a:off x="777240"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6" name="Text 13"/>
          <p:cNvSpPr/>
          <p:nvPr/>
        </p:nvSpPr>
        <p:spPr>
          <a:xfrm>
            <a:off x="777240"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Data</a:t>
            </a:r>
            <a:endParaRPr lang="en-US" sz="2000" dirty="0"/>
          </a:p>
        </p:txBody>
      </p:sp>
      <p:sp>
        <p:nvSpPr>
          <p:cNvPr id="17" name="Text 14"/>
          <p:cNvSpPr/>
          <p:nvPr/>
        </p:nvSpPr>
        <p:spPr>
          <a:xfrm>
            <a:off x="777240"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7.25 min</a:t>
            </a:r>
            <a:endParaRPr lang="en-US" sz="1300" dirty="0"/>
          </a:p>
        </p:txBody>
      </p:sp>
      <p:sp>
        <p:nvSpPr>
          <p:cNvPr id="18" name="Text 15"/>
          <p:cNvSpPr/>
          <p:nvPr/>
        </p:nvSpPr>
        <p:spPr>
          <a:xfrm>
            <a:off x="777240"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one station, two defects, no weekly cycle</a:t>
            </a:r>
            <a:endParaRPr lang="en-US" sz="1500" dirty="0"/>
          </a:p>
        </p:txBody>
      </p:sp>
      <p:sp>
        <p:nvSpPr>
          <p:cNvPr id="19" name="Shape 16"/>
          <p:cNvSpPr/>
          <p:nvPr/>
        </p:nvSpPr>
        <p:spPr>
          <a:xfrm>
            <a:off x="2798064"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Shape 17"/>
          <p:cNvSpPr/>
          <p:nvPr/>
        </p:nvSpPr>
        <p:spPr>
          <a:xfrm>
            <a:off x="3026664" y="1965960"/>
            <a:ext cx="548640" cy="548640"/>
          </a:xfrm>
          <a:prstGeom prst="ellipse">
            <a:avLst/>
          </a:prstGeom>
          <a:solidFill>
            <a:srgbClr val="006CAB"/>
          </a:solidFill>
          <a:ln w="12700">
            <a:solidFill>
              <a:srgbClr val="FFFFFF"/>
            </a:solidFill>
            <a:prstDash val="solid"/>
          </a:ln>
        </p:spPr>
      </p:sp>
      <p:sp>
        <p:nvSpPr>
          <p:cNvPr id="21" name="Text 18"/>
          <p:cNvSpPr/>
          <p:nvPr/>
        </p:nvSpPr>
        <p:spPr>
          <a:xfrm>
            <a:off x="3026664"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22" name="Text 19"/>
          <p:cNvSpPr/>
          <p:nvPr/>
        </p:nvSpPr>
        <p:spPr>
          <a:xfrm>
            <a:off x="3026664"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Methods</a:t>
            </a:r>
            <a:endParaRPr lang="en-US" sz="2000" dirty="0"/>
          </a:p>
        </p:txBody>
      </p:sp>
      <p:sp>
        <p:nvSpPr>
          <p:cNvPr id="23" name="Text 20"/>
          <p:cNvSpPr/>
          <p:nvPr/>
        </p:nvSpPr>
        <p:spPr>
          <a:xfrm>
            <a:off x="3026664"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5.5 min</a:t>
            </a:r>
            <a:endParaRPr lang="en-US" sz="1300" dirty="0"/>
          </a:p>
        </p:txBody>
      </p:sp>
      <p:sp>
        <p:nvSpPr>
          <p:cNvPr id="24" name="Text 21"/>
          <p:cNvSpPr/>
          <p:nvPr/>
        </p:nvSpPr>
        <p:spPr>
          <a:xfrm>
            <a:off x="3026664"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twelve models, rolling-origin tests, warning measures</a:t>
            </a:r>
            <a:endParaRPr lang="en-US" sz="1500" dirty="0"/>
          </a:p>
        </p:txBody>
      </p:sp>
      <p:sp>
        <p:nvSpPr>
          <p:cNvPr id="25" name="Shape 22"/>
          <p:cNvSpPr/>
          <p:nvPr/>
        </p:nvSpPr>
        <p:spPr>
          <a:xfrm>
            <a:off x="5047488"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Shape 23"/>
          <p:cNvSpPr/>
          <p:nvPr/>
        </p:nvSpPr>
        <p:spPr>
          <a:xfrm>
            <a:off x="5276088" y="1965960"/>
            <a:ext cx="548640" cy="548640"/>
          </a:xfrm>
          <a:prstGeom prst="ellipse">
            <a:avLst/>
          </a:prstGeom>
          <a:solidFill>
            <a:srgbClr val="D55E00"/>
          </a:solidFill>
          <a:ln w="12700">
            <a:solidFill>
              <a:srgbClr val="FFFFFF"/>
            </a:solidFill>
            <a:prstDash val="solid"/>
          </a:ln>
        </p:spPr>
      </p:sp>
      <p:sp>
        <p:nvSpPr>
          <p:cNvPr id="27" name="Text 24"/>
          <p:cNvSpPr/>
          <p:nvPr/>
        </p:nvSpPr>
        <p:spPr>
          <a:xfrm>
            <a:off x="5276088"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8" name="Text 25"/>
          <p:cNvSpPr/>
          <p:nvPr/>
        </p:nvSpPr>
        <p:spPr>
          <a:xfrm>
            <a:off x="5276088"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Results</a:t>
            </a:r>
            <a:endParaRPr lang="en-US" sz="2000" dirty="0"/>
          </a:p>
        </p:txBody>
      </p:sp>
      <p:sp>
        <p:nvSpPr>
          <p:cNvPr id="29" name="Text 26"/>
          <p:cNvSpPr/>
          <p:nvPr/>
        </p:nvSpPr>
        <p:spPr>
          <a:xfrm>
            <a:off x="5276088" y="3108960"/>
            <a:ext cx="1737360" cy="274320"/>
          </a:xfrm>
          <a:prstGeom prst="rect">
            <a:avLst/>
          </a:prstGeom>
          <a:noFill/>
          <a:ln/>
        </p:spPr>
        <p:txBody>
          <a:bodyPr wrap="square" lIns="0" tIns="0" rIns="0" bIns="0" rtlCol="0" anchor="ctr"/>
          <a:lstStyle/>
          <a:p>
            <a:pPr indent="0" marL="0">
              <a:buNone/>
            </a:pPr>
            <a:r>
              <a:rPr lang="en-US" sz="1300" b="1" dirty="0">
                <a:solidFill>
                  <a:srgbClr val="D55E00"/>
                </a:solidFill>
                <a:latin typeface="Calibri" pitchFamily="34" charset="0"/>
                <a:ea typeface="Calibri" pitchFamily="34" charset="-122"/>
                <a:cs typeface="Calibri" pitchFamily="34" charset="-120"/>
              </a:rPr>
              <a:t>about 11.5 min</a:t>
            </a:r>
            <a:endParaRPr lang="en-US" sz="1300" dirty="0"/>
          </a:p>
        </p:txBody>
      </p:sp>
      <p:sp>
        <p:nvSpPr>
          <p:cNvPr id="30" name="Text 27"/>
          <p:cNvSpPr/>
          <p:nvPr/>
        </p:nvSpPr>
        <p:spPr>
          <a:xfrm>
            <a:off x="5276088"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RQ1 accuracy, RQ2 two arms, RQ3 the alarm budget</a:t>
            </a:r>
            <a:endParaRPr lang="en-US" sz="1500" dirty="0"/>
          </a:p>
        </p:txBody>
      </p:sp>
      <p:sp>
        <p:nvSpPr>
          <p:cNvPr id="31" name="Shape 28"/>
          <p:cNvSpPr/>
          <p:nvPr/>
        </p:nvSpPr>
        <p:spPr>
          <a:xfrm>
            <a:off x="7296912"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2" name="Shape 29"/>
          <p:cNvSpPr/>
          <p:nvPr/>
        </p:nvSpPr>
        <p:spPr>
          <a:xfrm>
            <a:off x="7525512" y="1965960"/>
            <a:ext cx="548640" cy="548640"/>
          </a:xfrm>
          <a:prstGeom prst="ellipse">
            <a:avLst/>
          </a:prstGeom>
          <a:solidFill>
            <a:srgbClr val="006CAB"/>
          </a:solidFill>
          <a:ln w="12700">
            <a:solidFill>
              <a:srgbClr val="FFFFFF"/>
            </a:solidFill>
            <a:prstDash val="solid"/>
          </a:ln>
        </p:spPr>
      </p:sp>
      <p:sp>
        <p:nvSpPr>
          <p:cNvPr id="33" name="Text 30"/>
          <p:cNvSpPr/>
          <p:nvPr/>
        </p:nvSpPr>
        <p:spPr>
          <a:xfrm>
            <a:off x="7525512"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34" name="Text 31"/>
          <p:cNvSpPr/>
          <p:nvPr/>
        </p:nvSpPr>
        <p:spPr>
          <a:xfrm>
            <a:off x="7525512"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Discussion</a:t>
            </a:r>
            <a:endParaRPr lang="en-US" sz="2000" dirty="0"/>
          </a:p>
        </p:txBody>
      </p:sp>
      <p:sp>
        <p:nvSpPr>
          <p:cNvPr id="35" name="Text 32"/>
          <p:cNvSpPr/>
          <p:nvPr/>
        </p:nvSpPr>
        <p:spPr>
          <a:xfrm>
            <a:off x="7525512"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1.75 min</a:t>
            </a:r>
            <a:endParaRPr lang="en-US" sz="1300" dirty="0"/>
          </a:p>
        </p:txBody>
      </p:sp>
      <p:sp>
        <p:nvSpPr>
          <p:cNvPr id="36" name="Text 33"/>
          <p:cNvSpPr/>
          <p:nvPr/>
        </p:nvSpPr>
        <p:spPr>
          <a:xfrm>
            <a:off x="7525512"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robustness checks and limits</a:t>
            </a:r>
            <a:endParaRPr lang="en-US" sz="1500" dirty="0"/>
          </a:p>
        </p:txBody>
      </p:sp>
      <p:sp>
        <p:nvSpPr>
          <p:cNvPr id="37" name="Shape 34"/>
          <p:cNvSpPr/>
          <p:nvPr/>
        </p:nvSpPr>
        <p:spPr>
          <a:xfrm>
            <a:off x="9546336" y="1783080"/>
            <a:ext cx="2103120" cy="310896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38" name="Shape 35"/>
          <p:cNvSpPr/>
          <p:nvPr/>
        </p:nvSpPr>
        <p:spPr>
          <a:xfrm>
            <a:off x="9774936" y="1965960"/>
            <a:ext cx="548640" cy="548640"/>
          </a:xfrm>
          <a:prstGeom prst="ellipse">
            <a:avLst/>
          </a:prstGeom>
          <a:solidFill>
            <a:srgbClr val="006CAB"/>
          </a:solidFill>
          <a:ln w="12700">
            <a:solidFill>
              <a:srgbClr val="FFFFFF"/>
            </a:solidFill>
            <a:prstDash val="solid"/>
          </a:ln>
        </p:spPr>
      </p:sp>
      <p:sp>
        <p:nvSpPr>
          <p:cNvPr id="39" name="Text 36"/>
          <p:cNvSpPr/>
          <p:nvPr/>
        </p:nvSpPr>
        <p:spPr>
          <a:xfrm>
            <a:off x="9774936" y="19659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0" name="Text 37"/>
          <p:cNvSpPr/>
          <p:nvPr/>
        </p:nvSpPr>
        <p:spPr>
          <a:xfrm>
            <a:off x="9774936" y="2697480"/>
            <a:ext cx="1737360" cy="411480"/>
          </a:xfrm>
          <a:prstGeom prst="rect">
            <a:avLst/>
          </a:prstGeom>
          <a:noFill/>
          <a:ln/>
        </p:spPr>
        <p:txBody>
          <a:bodyPr wrap="square" lIns="0" tIns="0" rIns="0" bIns="0" rtlCol="0" anchor="ctr"/>
          <a:lstStyle/>
          <a:p>
            <a:pPr indent="0" marL="0">
              <a:buNone/>
            </a:pPr>
            <a:r>
              <a:rPr lang="en-US" sz="2000" b="1" dirty="0">
                <a:solidFill>
                  <a:srgbClr val="0B2545"/>
                </a:solidFill>
                <a:latin typeface="Calibri" pitchFamily="34" charset="0"/>
                <a:ea typeface="Calibri" pitchFamily="34" charset="-122"/>
                <a:cs typeface="Calibri" pitchFamily="34" charset="-120"/>
              </a:rPr>
              <a:t>Conclusion</a:t>
            </a:r>
            <a:endParaRPr lang="en-US" sz="2000" dirty="0"/>
          </a:p>
        </p:txBody>
      </p:sp>
      <p:sp>
        <p:nvSpPr>
          <p:cNvPr id="41" name="Text 38"/>
          <p:cNvSpPr/>
          <p:nvPr/>
        </p:nvSpPr>
        <p:spPr>
          <a:xfrm>
            <a:off x="9774936" y="3108960"/>
            <a:ext cx="1737360" cy="274320"/>
          </a:xfrm>
          <a:prstGeom prst="rect">
            <a:avLst/>
          </a:prstGeom>
          <a:noFill/>
          <a:ln/>
        </p:spPr>
        <p:txBody>
          <a:bodyPr wrap="square" lIns="0" tIns="0" rIns="0" bIns="0" rtlCol="0" anchor="ctr"/>
          <a:lstStyle/>
          <a:p>
            <a:pPr indent="0" marL="0">
              <a:buNone/>
            </a:pPr>
            <a:r>
              <a:rPr lang="en-US" sz="1300" b="1" dirty="0">
                <a:solidFill>
                  <a:srgbClr val="006CAB"/>
                </a:solidFill>
                <a:latin typeface="Calibri" pitchFamily="34" charset="0"/>
                <a:ea typeface="Calibri" pitchFamily="34" charset="-122"/>
                <a:cs typeface="Calibri" pitchFamily="34" charset="-120"/>
              </a:rPr>
              <a:t>about 3.25 min</a:t>
            </a:r>
            <a:endParaRPr lang="en-US" sz="1300" dirty="0"/>
          </a:p>
        </p:txBody>
      </p:sp>
      <p:sp>
        <p:nvSpPr>
          <p:cNvPr id="42" name="Text 39"/>
          <p:cNvSpPr/>
          <p:nvPr/>
        </p:nvSpPr>
        <p:spPr>
          <a:xfrm>
            <a:off x="9774936" y="3474720"/>
            <a:ext cx="1691640" cy="128016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contributions and the recommendation</a:t>
            </a:r>
            <a:endParaRPr lang="en-US" sz="1500" dirty="0"/>
          </a:p>
        </p:txBody>
      </p:sp>
      <p:sp>
        <p:nvSpPr>
          <p:cNvPr id="43" name="Text 40"/>
          <p:cNvSpPr/>
          <p:nvPr/>
        </p:nvSpPr>
        <p:spPr>
          <a:xfrm>
            <a:off x="548640" y="5029200"/>
            <a:ext cx="2194560" cy="320040"/>
          </a:xfrm>
          <a:prstGeom prst="rect">
            <a:avLst/>
          </a:prstGeom>
          <a:noFill/>
          <a:ln/>
        </p:spPr>
        <p:txBody>
          <a:bodyPr wrap="square" lIns="0" tIns="0" rIns="0" bIns="0" rtlCol="0" anchor="ctr"/>
          <a:lstStyle/>
          <a:p>
            <a:pPr indent="0" marL="0">
              <a:buNone/>
            </a:pPr>
            <a:r>
              <a:rPr lang="en-US" sz="1300" b="1" dirty="0">
                <a:solidFill>
                  <a:srgbClr val="5B6B7A"/>
                </a:solidFill>
                <a:latin typeface="Calibri" pitchFamily="34" charset="0"/>
                <a:ea typeface="Calibri" pitchFamily="34" charset="-122"/>
                <a:cs typeface="Calibri" pitchFamily="34" charset="-120"/>
              </a:rPr>
              <a:t>How to read the colours:</a:t>
            </a:r>
            <a:endParaRPr lang="en-US" sz="1300" dirty="0"/>
          </a:p>
        </p:txBody>
      </p:sp>
      <p:sp>
        <p:nvSpPr>
          <p:cNvPr id="44" name="Shape 41"/>
          <p:cNvSpPr/>
          <p:nvPr/>
        </p:nvSpPr>
        <p:spPr>
          <a:xfrm>
            <a:off x="2834640" y="5074920"/>
            <a:ext cx="411480" cy="228600"/>
          </a:xfrm>
          <a:prstGeom prst="roundRect">
            <a:avLst>
              <a:gd name="adj" fmla="val 20000"/>
            </a:avLst>
          </a:prstGeom>
          <a:solidFill>
            <a:srgbClr val="006CAB"/>
          </a:solidFill>
          <a:ln w="12700">
            <a:solidFill>
              <a:srgbClr val="006CAB"/>
            </a:solidFill>
            <a:prstDash val="solid"/>
          </a:ln>
        </p:spPr>
      </p:sp>
      <p:sp>
        <p:nvSpPr>
          <p:cNvPr id="45" name="Text 42"/>
          <p:cNvSpPr/>
          <p:nvPr/>
        </p:nvSpPr>
        <p:spPr>
          <a:xfrm>
            <a:off x="333756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data and models</a:t>
            </a:r>
            <a:endParaRPr lang="en-US" sz="1300" dirty="0"/>
          </a:p>
        </p:txBody>
      </p:sp>
      <p:sp>
        <p:nvSpPr>
          <p:cNvPr id="46" name="Shape 43"/>
          <p:cNvSpPr/>
          <p:nvPr/>
        </p:nvSpPr>
        <p:spPr>
          <a:xfrm>
            <a:off x="5669280" y="5074920"/>
            <a:ext cx="411480" cy="228600"/>
          </a:xfrm>
          <a:prstGeom prst="roundRect">
            <a:avLst>
              <a:gd name="adj" fmla="val 20000"/>
            </a:avLst>
          </a:prstGeom>
          <a:solidFill>
            <a:srgbClr val="0B2545"/>
          </a:solidFill>
          <a:ln w="12700">
            <a:solidFill>
              <a:srgbClr val="0B2545"/>
            </a:solidFill>
            <a:prstDash val="solid"/>
          </a:ln>
        </p:spPr>
      </p:sp>
      <p:sp>
        <p:nvSpPr>
          <p:cNvPr id="47" name="Text 44"/>
          <p:cNvSpPr/>
          <p:nvPr/>
        </p:nvSpPr>
        <p:spPr>
          <a:xfrm>
            <a:off x="617220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ARIMA, the benchmark</a:t>
            </a:r>
            <a:endParaRPr lang="en-US" sz="1300" dirty="0"/>
          </a:p>
        </p:txBody>
      </p:sp>
      <p:sp>
        <p:nvSpPr>
          <p:cNvPr id="48" name="Shape 45"/>
          <p:cNvSpPr/>
          <p:nvPr/>
        </p:nvSpPr>
        <p:spPr>
          <a:xfrm>
            <a:off x="8503920" y="5074920"/>
            <a:ext cx="411480" cy="228600"/>
          </a:xfrm>
          <a:prstGeom prst="roundRect">
            <a:avLst>
              <a:gd name="adj" fmla="val 20000"/>
            </a:avLst>
          </a:prstGeom>
          <a:solidFill>
            <a:srgbClr val="D55E00"/>
          </a:solidFill>
          <a:ln w="12700">
            <a:solidFill>
              <a:srgbClr val="D55E00"/>
            </a:solidFill>
            <a:prstDash val="solid"/>
          </a:ln>
        </p:spPr>
      </p:sp>
      <p:sp>
        <p:nvSpPr>
          <p:cNvPr id="49" name="Text 46"/>
          <p:cNvSpPr/>
          <p:nvPr/>
        </p:nvSpPr>
        <p:spPr>
          <a:xfrm>
            <a:off x="9006840" y="5029200"/>
            <a:ext cx="2194560" cy="320040"/>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number to remember</a:t>
            </a:r>
            <a:endParaRPr lang="en-US" sz="1300" dirty="0"/>
          </a:p>
        </p:txBody>
      </p:sp>
      <p:sp>
        <p:nvSpPr>
          <p:cNvPr id="50" name="Shape 47"/>
          <p:cNvSpPr/>
          <p:nvPr/>
        </p:nvSpPr>
        <p:spPr>
          <a:xfrm>
            <a:off x="548640" y="5669280"/>
            <a:ext cx="1371600" cy="685800"/>
          </a:xfrm>
          <a:prstGeom prst="rect">
            <a:avLst/>
          </a:prstGeom>
          <a:solidFill>
            <a:srgbClr val="0B2545"/>
          </a:solidFill>
          <a:ln w="12700">
            <a:solidFill>
              <a:srgbClr val="0B2545"/>
            </a:solidFill>
            <a:prstDash val="solid"/>
          </a:ln>
        </p:spPr>
      </p:sp>
      <p:sp>
        <p:nvSpPr>
          <p:cNvPr id="51" name="Text 4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52" name="Shape 49"/>
          <p:cNvSpPr/>
          <p:nvPr/>
        </p:nvSpPr>
        <p:spPr>
          <a:xfrm>
            <a:off x="1920240" y="5669280"/>
            <a:ext cx="9722815" cy="685800"/>
          </a:xfrm>
          <a:prstGeom prst="rect">
            <a:avLst/>
          </a:prstGeom>
          <a:solidFill>
            <a:srgbClr val="DCEAF5"/>
          </a:solidFill>
          <a:ln w="12700">
            <a:solidFill>
              <a:srgbClr val="DCEAF5"/>
            </a:solidFill>
            <a:prstDash val="solid"/>
          </a:ln>
        </p:spPr>
      </p:sp>
      <p:sp>
        <p:nvSpPr>
          <p:cNvPr id="53" name="Text 5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Hold one question in mind: how much does the model matter, compared with the number of alarms you allow?</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One well-characterised Delhi monitor, nearly ten years of daily PM2.5</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 / 34</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897880" cy="914400"/>
        </p:xfrm>
        <a:graphic>
          <a:graphicData uri="http://schemas.openxmlformats.org/drawingml/2006/table">
            <a:tbl>
              <a:tblPr/>
              <a:tblGrid>
                <a:gridCol w="2468880"/>
                <a:gridCol w="3429000"/>
              </a:tblGrid>
              <a:tr h="42976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Quantity</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Value after cleaning</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Source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OpenAQ location 8118, sensor 23534, AirNow</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Period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2016-11-09 to 2026-08-27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Calendar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3,579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Usable daily means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3,093 (86.4% of calendar)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Longest gap</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 consecutive days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Mean, median, maximum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102.7, 71.7, 896.0 µg/m³</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29768">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Days above 121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920 (29.7%)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4" name="Text 10"/>
          <p:cNvSpPr/>
          <p:nvPr/>
        </p:nvSpPr>
        <p:spPr>
          <a:xfrm>
            <a:off x="548640" y="521208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3.1.</a:t>
            </a:r>
            <a:endParaRPr lang="en-US" sz="1200" dirty="0"/>
          </a:p>
        </p:txBody>
      </p:sp>
      <p:sp>
        <p:nvSpPr>
          <p:cNvPr id="15" name="Shape 11"/>
          <p:cNvSpPr/>
          <p:nvPr/>
        </p:nvSpPr>
        <p:spPr>
          <a:xfrm>
            <a:off x="7040880" y="1691640"/>
            <a:ext cx="4617720" cy="361188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7269480" y="1801368"/>
            <a:ext cx="420624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Why station 8118, and what it costs</a:t>
            </a:r>
            <a:endParaRPr lang="en-US" sz="1800" dirty="0"/>
          </a:p>
        </p:txBody>
      </p:sp>
      <p:sp>
        <p:nvSpPr>
          <p:cNvPr id="17" name="Text 13"/>
          <p:cNvSpPr/>
          <p:nvPr/>
        </p:nvSpPr>
        <p:spPr>
          <a:xfrm>
            <a:off x="7269480" y="2286000"/>
            <a:ext cx="4206240" cy="292608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Five stations compared on coverage, not nominal record length.</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Every CPCB station serves data only from 19 Feb 2025 (about 18 months).</a:t>
            </a:r>
            <a:endParaRPr lang="en-US" sz="1600" dirty="0"/>
          </a:p>
          <a:p>
            <a:pPr marL="228600" indent="-228600">
              <a:lnSpc>
                <a:spcPct val="105000"/>
              </a:lnSpc>
              <a:spcAft>
                <a:spcPts val="900"/>
              </a:spcAft>
              <a:buSzPct val="100000"/>
              <a:buChar char="•"/>
            </a:pPr>
            <a:r>
              <a:rPr lang="en-US" sz="1600" dirty="0">
                <a:solidFill>
                  <a:srgbClr val="1B2733"/>
                </a:solidFill>
                <a:latin typeface="Calibri" pitchFamily="34" charset="0"/>
                <a:ea typeface="Calibri" pitchFamily="34" charset="-122"/>
                <a:cs typeface="Calibri" pitchFamily="34" charset="-120"/>
              </a:rPr>
              <a:t>Only 8118 returns the full record.</a:t>
            </a:r>
            <a:endParaRPr lang="en-US" sz="1600" dirty="0"/>
          </a:p>
          <a:p>
            <a:pPr marL="228600" indent="-228600">
              <a:lnSpc>
                <a:spcPct val="105000"/>
              </a:lnSpc>
              <a:buSzPct val="100000"/>
              <a:buChar char="•"/>
            </a:pPr>
            <a:r>
              <a:rPr lang="en-US" sz="1600" b="1" dirty="0">
                <a:solidFill>
                  <a:srgbClr val="0B2545"/>
                </a:solidFill>
                <a:latin typeface="Calibri" pitchFamily="34" charset="0"/>
                <a:ea typeface="Calibri" pitchFamily="34" charset="-122"/>
                <a:cs typeface="Calibri" pitchFamily="34" charset="-120"/>
              </a:rPr>
              <a:t>Cost: </a:t>
            </a:r>
            <a:pPr indent="0" marL="0">
              <a:lnSpc>
                <a:spcPct val="105000"/>
              </a:lnSpc>
              <a:spcAft>
                <a:spcPts val="900"/>
              </a:spcAft>
              <a:buNone/>
            </a:pPr>
            <a:r>
              <a:rPr lang="en-US" sz="1600" dirty="0">
                <a:solidFill>
                  <a:srgbClr val="1B2733"/>
                </a:solidFill>
                <a:latin typeface="Calibri" pitchFamily="34" charset="0"/>
                <a:ea typeface="Calibri" pitchFamily="34" charset="-122"/>
                <a:cs typeface="Calibri" pitchFamily="34" charset="-120"/>
              </a:rPr>
              <a:t>an AirNow feed, almost certainly a US diplomatic post monitor. Results describe one site.</a:t>
            </a:r>
            <a:endParaRPr lang="en-US" sz="1600" dirty="0"/>
          </a:p>
        </p:txBody>
      </p:sp>
      <p:sp>
        <p:nvSpPr>
          <p:cNvPr id="18" name="Shape 14"/>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6"/>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 reference site with a full decade of record: good for comparing methods, not a claim about all of Delhi.</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defects in the source data were found and corrected before any model was fitted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 / 34</a:t>
            </a:r>
            <a:endParaRPr lang="en-US" sz="1000" dirty="0"/>
          </a:p>
        </p:txBody>
      </p:sp>
      <p:sp>
        <p:nvSpPr>
          <p:cNvPr id="13" name="Text 10"/>
          <p:cNvSpPr/>
          <p:nvPr/>
        </p:nvSpPr>
        <p:spPr>
          <a:xfrm>
            <a:off x="548640" y="1463040"/>
            <a:ext cx="548640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 What the sensor really reports</a:t>
            </a:r>
            <a:endParaRPr lang="en-US" sz="1400" dirty="0"/>
          </a:p>
        </p:txBody>
      </p:sp>
      <p:sp>
        <p:nvSpPr>
          <p:cNvPr id="14" name="Text 11"/>
          <p:cNvSpPr/>
          <p:nvPr/>
        </p:nvSpPr>
        <p:spPr>
          <a:xfrm>
            <a:off x="6309360" y="1463040"/>
            <a:ext cx="5303520" cy="2743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(b) Implausible values, by true coverage</a:t>
            </a:r>
            <a:endParaRPr lang="en-US" sz="1400" dirty="0"/>
          </a:p>
        </p:txBody>
      </p:sp>
      <p:sp>
        <p:nvSpPr>
          <p:cNvPr id="15" name="Shape 12"/>
          <p:cNvSpPr/>
          <p:nvPr/>
        </p:nvSpPr>
        <p:spPr>
          <a:xfrm>
            <a:off x="642751" y="1810512"/>
            <a:ext cx="5298179"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6" name="Image 0" descr="Line chart: the sensor produced 48 readings a day until 2024 and 24 a day after, against the fixed 24 the coverage statistic assumed.">    </p:cNvPr>
          <p:cNvPicPr>
            <a:picLocks noChangeAspect="1"/>
          </p:cNvPicPr>
          <p:nvPr/>
        </p:nvPicPr>
        <p:blipFill>
          <a:blip r:embed="rId1"/>
          <a:stretch>
            <a:fillRect/>
          </a:stretch>
        </p:blipFill>
        <p:spPr>
          <a:xfrm>
            <a:off x="752479" y="1920240"/>
            <a:ext cx="5078723" cy="2194560"/>
          </a:xfrm>
          <a:prstGeom prst="rect">
            <a:avLst/>
          </a:prstGeom>
        </p:spPr>
      </p:pic>
      <p:sp>
        <p:nvSpPr>
          <p:cNvPr id="17" name="Shape 13"/>
          <p:cNvSpPr/>
          <p:nvPr/>
        </p:nvSpPr>
        <p:spPr>
          <a:xfrm>
            <a:off x="6409030" y="1810512"/>
            <a:ext cx="5149901" cy="2414016"/>
          </a:xfrm>
          <a:prstGeom prst="roundRect">
            <a:avLst>
              <a:gd name="adj" fmla="val 3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8" name="Image 1" descr="Bar chart of implausible values per 1000 days by true coverage: 18.5, 14.9 and 15.2 below 90 percent coverage, 2.1 above.">    </p:cNvPr>
          <p:cNvPicPr>
            <a:picLocks noChangeAspect="1"/>
          </p:cNvPicPr>
          <p:nvPr/>
        </p:nvPicPr>
        <p:blipFill>
          <a:blip r:embed="rId2"/>
          <a:stretch>
            <a:fillRect/>
          </a:stretch>
        </p:blipFill>
        <p:spPr>
          <a:xfrm>
            <a:off x="6518758" y="1920240"/>
            <a:ext cx="4930445" cy="2194560"/>
          </a:xfrm>
          <a:prstGeom prst="rect">
            <a:avLst/>
          </a:prstGeom>
        </p:spPr>
      </p:pic>
      <p:sp>
        <p:nvSpPr>
          <p:cNvPr id="19" name="Shape 14"/>
          <p:cNvSpPr/>
          <p:nvPr/>
        </p:nvSpPr>
        <p:spPr>
          <a:xfrm>
            <a:off x="54864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5"/>
          <p:cNvSpPr/>
          <p:nvPr/>
        </p:nvSpPr>
        <p:spPr>
          <a:xfrm>
            <a:off x="73152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clipped ceiling. </a:t>
            </a:r>
            <a:pPr indent="0" marL="0">
              <a:buNone/>
            </a:pPr>
            <a:r>
              <a:rPr lang="en-US" sz="1450" dirty="0">
                <a:solidFill>
                  <a:srgbClr val="1B2733"/>
                </a:solidFill>
                <a:latin typeface="Calibri" pitchFamily="34" charset="0"/>
                <a:ea typeface="Calibri" pitchFamily="34" charset="-122"/>
                <a:cs typeface="Calibri" pitchFamily="34" charset="-120"/>
              </a:rPr>
              <a:t>1990 appears three times identically, once on 2 September, in the monsoon, between days of 42 and 178. Five negatives too.</a:t>
            </a:r>
            <a:endParaRPr lang="en-US" sz="1450" dirty="0"/>
          </a:p>
        </p:txBody>
      </p:sp>
      <p:sp>
        <p:nvSpPr>
          <p:cNvPr id="21" name="Shape 16"/>
          <p:cNvSpPr/>
          <p:nvPr/>
        </p:nvSpPr>
        <p:spPr>
          <a:xfrm>
            <a:off x="6172200" y="4343400"/>
            <a:ext cx="548640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6355080" y="4343400"/>
            <a:ext cx="5120640" cy="1188720"/>
          </a:xfrm>
          <a:prstGeom prst="rect">
            <a:avLst/>
          </a:prstGeom>
          <a:noFill/>
          <a:ln/>
        </p:spPr>
        <p:txBody>
          <a:bodyPr wrap="square" lIns="0" tIns="0" rIns="0" bIns="0" rtlCol="0" anchor="ctr"/>
          <a:lstStyle/>
          <a:p>
            <a:pPr indent="0" marL="0">
              <a:buNone/>
            </a:pPr>
            <a:r>
              <a:rPr lang="en-US" sz="1450" b="1" dirty="0">
                <a:solidFill>
                  <a:srgbClr val="D55E00"/>
                </a:solidFill>
                <a:latin typeface="Calibri" pitchFamily="34" charset="0"/>
                <a:ea typeface="Calibri" pitchFamily="34" charset="-122"/>
                <a:cs typeface="Calibri" pitchFamily="34" charset="-120"/>
              </a:rPr>
              <a:t>A wrong denominator. </a:t>
            </a:r>
            <a:pPr indent="0" marL="0">
              <a:buNone/>
            </a:pPr>
            <a:r>
              <a:rPr lang="en-US" sz="1450" dirty="0">
                <a:solidFill>
                  <a:srgbClr val="1B2733"/>
                </a:solidFill>
                <a:latin typeface="Calibri" pitchFamily="34" charset="0"/>
                <a:ea typeface="Calibri" pitchFamily="34" charset="-122"/>
                <a:cs typeface="Calibri" pitchFamily="34" charset="-120"/>
              </a:rPr>
              <a:t>Completeness assumed 24 readings a day. 1,085 of 3,467 days are below 75% true coverage; only 268 have no value at all.</a:t>
            </a:r>
            <a:endParaRPr lang="en-US" sz="1450" dirty="0"/>
          </a:p>
        </p:txBody>
      </p:sp>
      <p:sp>
        <p:nvSpPr>
          <p:cNvPr id="23" name="Shape 18"/>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1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0"/>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Rules: below 0 (5 days), coverage below 50% (270), above 1000 (7): 282 of 3,375 removed, and the exceedance rate moves only 30.0% to 27.0%.</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Exceedances arrive as multi-day winter episodes, and that is the structure worth forecasting</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 / 34</a:t>
            </a:r>
            <a:endParaRPr lang="en-US" sz="1000" dirty="0"/>
          </a:p>
        </p:txBody>
      </p:sp>
      <p:sp>
        <p:nvSpPr>
          <p:cNvPr id="13" name="Shape 10"/>
          <p:cNvSpPr/>
          <p:nvPr/>
        </p:nvSpPr>
        <p:spPr>
          <a:xfrm>
            <a:off x="1026426" y="1581912"/>
            <a:ext cx="10138842" cy="2825496"/>
          </a:xfrm>
          <a:prstGeom prst="roundRect">
            <a:avLst>
              <a:gd name="adj" fmla="val 2589"/>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Daily PM2.5 at the Delhi monitor, 2016 to 2026, with days above the 121 threshold shaded; winter peaks, maximum 896 on 8 November 2017.">    </p:cNvPr>
          <p:cNvPicPr>
            <a:picLocks noChangeAspect="1"/>
          </p:cNvPicPr>
          <p:nvPr/>
        </p:nvPicPr>
        <p:blipFill>
          <a:blip r:embed="rId1"/>
          <a:stretch>
            <a:fillRect/>
          </a:stretch>
        </p:blipFill>
        <p:spPr>
          <a:xfrm>
            <a:off x="1136154" y="1691640"/>
            <a:ext cx="9919386" cy="2606040"/>
          </a:xfrm>
          <a:prstGeom prst="rect">
            <a:avLst/>
          </a:prstGeom>
        </p:spPr>
      </p:pic>
      <p:sp>
        <p:nvSpPr>
          <p:cNvPr id="15" name="Text 11"/>
          <p:cNvSpPr/>
          <p:nvPr/>
        </p:nvSpPr>
        <p:spPr>
          <a:xfrm>
            <a:off x="548640" y="4462272"/>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The cleaned daily series (report Figure 3.2, redrawn); days above the hazard threshold are shaded. Maximum 896.0 on 2017-11-08.</a:t>
            </a:r>
            <a:endParaRPr lang="en-US" sz="1200" dirty="0"/>
          </a:p>
        </p:txBody>
      </p:sp>
      <p:sp>
        <p:nvSpPr>
          <p:cNvPr id="16" name="Shape 12"/>
          <p:cNvSpPr/>
          <p:nvPr/>
        </p:nvSpPr>
        <p:spPr>
          <a:xfrm>
            <a:off x="548640"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3"/>
          <p:cNvSpPr/>
          <p:nvPr/>
        </p:nvSpPr>
        <p:spPr>
          <a:xfrm>
            <a:off x="731520"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102.7</a:t>
            </a:r>
            <a:endParaRPr lang="en-US" sz="2800" dirty="0"/>
          </a:p>
        </p:txBody>
      </p:sp>
      <p:sp>
        <p:nvSpPr>
          <p:cNvPr id="18" name="Text 14"/>
          <p:cNvSpPr/>
          <p:nvPr/>
        </p:nvSpPr>
        <p:spPr>
          <a:xfrm>
            <a:off x="1965960"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mean µg/m³</a:t>
            </a:r>
            <a:endParaRPr lang="en-US" sz="1400" dirty="0"/>
          </a:p>
        </p:txBody>
      </p:sp>
      <p:sp>
        <p:nvSpPr>
          <p:cNvPr id="19" name="Shape 15"/>
          <p:cNvSpPr/>
          <p:nvPr/>
        </p:nvSpPr>
        <p:spPr>
          <a:xfrm>
            <a:off x="3346704"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6"/>
          <p:cNvSpPr/>
          <p:nvPr/>
        </p:nvSpPr>
        <p:spPr>
          <a:xfrm>
            <a:off x="3529584"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71.7</a:t>
            </a:r>
            <a:endParaRPr lang="en-US" sz="2800" dirty="0"/>
          </a:p>
        </p:txBody>
      </p:sp>
      <p:sp>
        <p:nvSpPr>
          <p:cNvPr id="21" name="Text 17"/>
          <p:cNvSpPr/>
          <p:nvPr/>
        </p:nvSpPr>
        <p:spPr>
          <a:xfrm>
            <a:off x="4764024"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median</a:t>
            </a:r>
            <a:endParaRPr lang="en-US" sz="1400" dirty="0"/>
          </a:p>
        </p:txBody>
      </p:sp>
      <p:sp>
        <p:nvSpPr>
          <p:cNvPr id="22" name="Shape 18"/>
          <p:cNvSpPr/>
          <p:nvPr/>
        </p:nvSpPr>
        <p:spPr>
          <a:xfrm>
            <a:off x="6144768"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19"/>
          <p:cNvSpPr/>
          <p:nvPr/>
        </p:nvSpPr>
        <p:spPr>
          <a:xfrm>
            <a:off x="6327648"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2.17</a:t>
            </a:r>
            <a:endParaRPr lang="en-US" sz="2800" dirty="0"/>
          </a:p>
        </p:txBody>
      </p:sp>
      <p:sp>
        <p:nvSpPr>
          <p:cNvPr id="24" name="Text 20"/>
          <p:cNvSpPr/>
          <p:nvPr/>
        </p:nvSpPr>
        <p:spPr>
          <a:xfrm>
            <a:off x="7562088"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skewness</a:t>
            </a:r>
            <a:endParaRPr lang="en-US" sz="1400" dirty="0"/>
          </a:p>
        </p:txBody>
      </p:sp>
      <p:sp>
        <p:nvSpPr>
          <p:cNvPr id="25" name="Shape 21"/>
          <p:cNvSpPr/>
          <p:nvPr/>
        </p:nvSpPr>
        <p:spPr>
          <a:xfrm>
            <a:off x="8942832" y="4800600"/>
            <a:ext cx="2651760" cy="777240"/>
          </a:xfrm>
          <a:prstGeom prst="roundRect">
            <a:avLst>
              <a:gd name="adj" fmla="val 941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2"/>
          <p:cNvSpPr/>
          <p:nvPr/>
        </p:nvSpPr>
        <p:spPr>
          <a:xfrm>
            <a:off x="9125712" y="4800600"/>
            <a:ext cx="1280160" cy="777240"/>
          </a:xfrm>
          <a:prstGeom prst="rect">
            <a:avLst/>
          </a:prstGeom>
          <a:noFill/>
          <a:ln/>
        </p:spPr>
        <p:txBody>
          <a:bodyPr wrap="square" lIns="0" tIns="0" rIns="0" bIns="0" rtlCol="0" anchor="ctr"/>
          <a:lstStyle/>
          <a:p>
            <a:pPr indent="0" marL="0">
              <a:buNone/>
            </a:pPr>
            <a:r>
              <a:rPr lang="en-US" sz="2800" b="1" dirty="0">
                <a:solidFill>
                  <a:srgbClr val="006CAB"/>
                </a:solidFill>
                <a:latin typeface="Calibri" pitchFamily="34" charset="0"/>
                <a:ea typeface="Calibri" pitchFamily="34" charset="-122"/>
                <a:cs typeface="Calibri" pitchFamily="34" charset="-120"/>
              </a:rPr>
              <a:t>8.31</a:t>
            </a:r>
            <a:endParaRPr lang="en-US" sz="2800" dirty="0"/>
          </a:p>
        </p:txBody>
      </p:sp>
      <p:sp>
        <p:nvSpPr>
          <p:cNvPr id="27" name="Text 23"/>
          <p:cNvSpPr/>
          <p:nvPr/>
        </p:nvSpPr>
        <p:spPr>
          <a:xfrm>
            <a:off x="10360152" y="4800600"/>
            <a:ext cx="1234440" cy="777240"/>
          </a:xfrm>
          <a:prstGeom prst="rect">
            <a:avLst/>
          </a:prstGeom>
          <a:noFill/>
          <a:ln/>
        </p:spPr>
        <p:txBody>
          <a:bodyPr wrap="square" lIns="0" tIns="0" rIns="0" bIns="0" rtlCol="0" anchor="ctr"/>
          <a:lstStyle/>
          <a:p>
            <a:pPr indent="0" marL="0">
              <a:buNone/>
            </a:pPr>
            <a:r>
              <a:rPr lang="en-US" sz="1400" dirty="0">
                <a:solidFill>
                  <a:srgbClr val="5B6B7A"/>
                </a:solidFill>
                <a:latin typeface="Calibri" pitchFamily="34" charset="0"/>
                <a:ea typeface="Calibri" pitchFamily="34" charset="-122"/>
                <a:cs typeface="Calibri" pitchFamily="34" charset="-120"/>
              </a:rPr>
              <a:t>excess kurtosis</a:t>
            </a:r>
            <a:endParaRPr lang="en-US" sz="1400" dirty="0"/>
          </a:p>
        </p:txBody>
      </p:sp>
      <p:sp>
        <p:nvSpPr>
          <p:cNvPr id="28" name="Shape 24"/>
          <p:cNvSpPr/>
          <p:nvPr/>
        </p:nvSpPr>
        <p:spPr>
          <a:xfrm>
            <a:off x="548640" y="5669280"/>
            <a:ext cx="1371600" cy="685800"/>
          </a:xfrm>
          <a:prstGeom prst="rect">
            <a:avLst/>
          </a:prstGeom>
          <a:solidFill>
            <a:srgbClr val="0B2545"/>
          </a:solidFill>
          <a:ln w="12700">
            <a:solidFill>
              <a:srgbClr val="0B2545"/>
            </a:solidFill>
            <a:prstDash val="solid"/>
          </a:ln>
        </p:spPr>
      </p:sp>
      <p:sp>
        <p:nvSpPr>
          <p:cNvPr id="29" name="Text 25"/>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0" name="Shape 26"/>
          <p:cNvSpPr/>
          <p:nvPr/>
        </p:nvSpPr>
        <p:spPr>
          <a:xfrm>
            <a:off x="1920240" y="5669280"/>
            <a:ext cx="9722815" cy="685800"/>
          </a:xfrm>
          <a:prstGeom prst="rect">
            <a:avLst/>
          </a:prstGeom>
          <a:solidFill>
            <a:srgbClr val="DCEAF5"/>
          </a:solidFill>
          <a:ln w="12700">
            <a:solidFill>
              <a:srgbClr val="DCEAF5"/>
            </a:solidFill>
            <a:prstDash val="solid"/>
          </a:ln>
        </p:spPr>
      </p:sp>
      <p:sp>
        <p:nvSpPr>
          <p:cNvPr id="31" name="Text 27"/>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Episodes make persistence a strong forecast, and the heavy right tail is why every model is fitted to log PM2.5.</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Every year, the same months: hazardous days gather from October to February</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 / 34</a:t>
            </a:r>
            <a:endParaRPr lang="en-US" sz="1000" dirty="0"/>
          </a:p>
        </p:txBody>
      </p:sp>
      <p:sp>
        <p:nvSpPr>
          <p:cNvPr id="13" name="Shape 10"/>
          <p:cNvSpPr/>
          <p:nvPr/>
        </p:nvSpPr>
        <p:spPr>
          <a:xfrm>
            <a:off x="438912" y="1632103"/>
            <a:ext cx="7168896" cy="3868114"/>
          </a:xfrm>
          <a:prstGeom prst="roundRect">
            <a:avLst>
              <a:gd name="adj" fmla="val 189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Calendar heat map of the share of days above 121 by year and month: dark from October to February every year, almost clear from June to September.">    </p:cNvPr>
          <p:cNvPicPr>
            <a:picLocks noChangeAspect="1"/>
          </p:cNvPicPr>
          <p:nvPr/>
        </p:nvPicPr>
        <p:blipFill>
          <a:blip r:embed="rId1"/>
          <a:stretch>
            <a:fillRect/>
          </a:stretch>
        </p:blipFill>
        <p:spPr>
          <a:xfrm>
            <a:off x="548640" y="1741831"/>
            <a:ext cx="6949440" cy="3648658"/>
          </a:xfrm>
          <a:prstGeom prst="rect">
            <a:avLst/>
          </a:prstGeom>
        </p:spPr>
      </p:pic>
      <p:sp>
        <p:nvSpPr>
          <p:cNvPr id="15" name="Text 11"/>
          <p:cNvSpPr/>
          <p:nvPr/>
        </p:nvSpPr>
        <p:spPr>
          <a:xfrm>
            <a:off x="7772400" y="1737360"/>
            <a:ext cx="3886200" cy="374904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Each cell is a month;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the darker, the larger the share of its days above 121.</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The pattern repeats every year: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October to February is dark; the monsoon months are almost clear.</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That regularity </a:t>
            </a:r>
            <a:pPr indent="0" marL="0">
              <a:lnSpc>
                <a:spcPct val="105000"/>
              </a:lnSpc>
              <a:spcAft>
                <a:spcPts val="1200"/>
              </a:spcAft>
              <a:buNone/>
            </a:pPr>
            <a:r>
              <a:rPr lang="en-US" sz="1700" dirty="0">
                <a:solidFill>
                  <a:srgbClr val="1B2733"/>
                </a:solidFill>
                <a:latin typeface="Calibri" pitchFamily="34" charset="0"/>
                <a:ea typeface="Calibri" pitchFamily="34" charset="-122"/>
                <a:cs typeface="Calibri" pitchFamily="34" charset="-120"/>
              </a:rPr>
              <a:t>is the annual cycle the models carry, and why a calendar-only forecast (climatology) is a strong baseline.</a:t>
            </a: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Hazard is seasonal and arrives in episodes, so the calendar alone is already a strong baseline that a model has to beat.</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An assumption from the approved proposal fails: there is no weekly cycle at this station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 / 34</a:t>
            </a:r>
            <a:endParaRPr lang="en-US" sz="1000" dirty="0"/>
          </a:p>
        </p:txBody>
      </p:sp>
      <p:sp>
        <p:nvSpPr>
          <p:cNvPr id="13" name="Shape 10"/>
          <p:cNvSpPr/>
          <p:nvPr/>
        </p:nvSpPr>
        <p:spPr>
          <a:xfrm>
            <a:off x="54864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Periodogram</a:t>
            </a:r>
            <a:endParaRPr lang="en-US" sz="1600" dirty="0"/>
          </a:p>
        </p:txBody>
      </p:sp>
      <p:pic>
        <p:nvPicPr>
          <p:cNvPr id="15" name="Image 0" descr="Periodogram: peaks only at the annual cycle and its harmonics, nothing at 7 days.">    </p:cNvPr>
          <p:cNvPicPr>
            <a:picLocks noChangeAspect="1"/>
          </p:cNvPicPr>
          <p:nvPr/>
        </p:nvPicPr>
        <p:blipFill>
          <a:blip r:embed="rId1"/>
          <a:stretch>
            <a:fillRect/>
          </a:stretch>
        </p:blipFill>
        <p:spPr>
          <a:xfrm>
            <a:off x="964004" y="2103120"/>
            <a:ext cx="2781152" cy="2240280"/>
          </a:xfrm>
          <a:prstGeom prst="rect">
            <a:avLst/>
          </a:prstGeom>
        </p:spPr>
      </p:pic>
      <p:sp>
        <p:nvSpPr>
          <p:cNvPr id="16" name="Text 12"/>
          <p:cNvSpPr/>
          <p:nvPr/>
        </p:nvSpPr>
        <p:spPr>
          <a:xfrm>
            <a:off x="73152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Dominant periods 357.9, 178.9, 188.4, 397.7, 325.4, 60.7 days. None near 7.</a:t>
            </a:r>
            <a:endParaRPr lang="en-US" sz="1450" dirty="0"/>
          </a:p>
        </p:txBody>
      </p:sp>
      <p:sp>
        <p:nvSpPr>
          <p:cNvPr id="17" name="Shape 13"/>
          <p:cNvSpPr/>
          <p:nvPr/>
        </p:nvSpPr>
        <p:spPr>
          <a:xfrm>
            <a:off x="429768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448056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Autocorrelation</a:t>
            </a:r>
            <a:endParaRPr lang="en-US" sz="1600" dirty="0"/>
          </a:p>
        </p:txBody>
      </p:sp>
      <p:pic>
        <p:nvPicPr>
          <p:cNvPr id="19" name="Image 1" descr="Autocorrelation to lag 21: lags 7, 14 and 21 sit on the smooth decay, not above it.">    </p:cNvPr>
          <p:cNvPicPr>
            <a:picLocks noChangeAspect="1"/>
          </p:cNvPicPr>
          <p:nvPr/>
        </p:nvPicPr>
        <p:blipFill>
          <a:blip r:embed="rId2"/>
          <a:stretch>
            <a:fillRect/>
          </a:stretch>
        </p:blipFill>
        <p:spPr>
          <a:xfrm>
            <a:off x="4472656" y="2103120"/>
            <a:ext cx="3261928" cy="2240280"/>
          </a:xfrm>
          <a:prstGeom prst="rect">
            <a:avLst/>
          </a:prstGeom>
        </p:spPr>
      </p:pic>
      <p:sp>
        <p:nvSpPr>
          <p:cNvPr id="20" name="Text 15"/>
          <p:cNvSpPr/>
          <p:nvPr/>
        </p:nvSpPr>
        <p:spPr>
          <a:xfrm>
            <a:off x="448056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Lag 7 = 0.173, between lag 6 (0.179) and lag 8 (0.153): on the decay, not above it.</a:t>
            </a:r>
            <a:endParaRPr lang="en-US" sz="1450" dirty="0"/>
          </a:p>
        </p:txBody>
      </p:sp>
      <p:sp>
        <p:nvSpPr>
          <p:cNvPr id="21" name="Shape 16"/>
          <p:cNvSpPr/>
          <p:nvPr/>
        </p:nvSpPr>
        <p:spPr>
          <a:xfrm>
            <a:off x="8046720" y="1645920"/>
            <a:ext cx="3611880" cy="388620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7"/>
          <p:cNvSpPr/>
          <p:nvPr/>
        </p:nvSpPr>
        <p:spPr>
          <a:xfrm>
            <a:off x="8229600" y="1719072"/>
            <a:ext cx="3246120" cy="320040"/>
          </a:xfrm>
          <a:prstGeom prst="rect">
            <a:avLst/>
          </a:prstGeom>
          <a:noFill/>
          <a:ln/>
        </p:spPr>
        <p:txBody>
          <a:bodyPr wrap="square" lIns="0" tIns="0" rIns="0" bIns="0" rtlCol="0" anchor="ctr"/>
          <a:lstStyle/>
          <a:p>
            <a:pPr indent="0" marL="0">
              <a:buNone/>
            </a:pPr>
            <a:r>
              <a:rPr lang="en-US" sz="1600" b="1" dirty="0">
                <a:solidFill>
                  <a:srgbClr val="006CAB"/>
                </a:solidFill>
                <a:latin typeface="Calibri" pitchFamily="34" charset="0"/>
                <a:ea typeface="Calibri" pitchFamily="34" charset="-122"/>
                <a:cs typeface="Calibri" pitchFamily="34" charset="-120"/>
              </a:rPr>
              <a:t>Day of week</a:t>
            </a:r>
            <a:endParaRPr lang="en-US" sz="1600" dirty="0"/>
          </a:p>
        </p:txBody>
      </p:sp>
      <p:pic>
        <p:nvPicPr>
          <p:cNvPr id="23" name="Image 2" descr="Day-of-week effect on concentration: every one of the seven intervals contains zero.">    </p:cNvPr>
          <p:cNvPicPr>
            <a:picLocks noChangeAspect="1"/>
          </p:cNvPicPr>
          <p:nvPr/>
        </p:nvPicPr>
        <p:blipFill>
          <a:blip r:embed="rId3"/>
          <a:stretch>
            <a:fillRect/>
          </a:stretch>
        </p:blipFill>
        <p:spPr>
          <a:xfrm>
            <a:off x="8296817" y="2103120"/>
            <a:ext cx="3111685" cy="2240280"/>
          </a:xfrm>
          <a:prstGeom prst="rect">
            <a:avLst/>
          </a:prstGeom>
        </p:spPr>
      </p:pic>
      <p:sp>
        <p:nvSpPr>
          <p:cNvPr id="24" name="Text 18"/>
          <p:cNvSpPr/>
          <p:nvPr/>
        </p:nvSpPr>
        <p:spPr>
          <a:xfrm>
            <a:off x="8229600" y="4434840"/>
            <a:ext cx="3246120" cy="1005840"/>
          </a:xfrm>
          <a:prstGeom prst="rect">
            <a:avLst/>
          </a:prstGeom>
          <a:noFill/>
          <a:ln/>
        </p:spPr>
        <p:txBody>
          <a:bodyPr wrap="square" lIns="0" tIns="0" rIns="0" bIns="0" rtlCol="0" anchor="t"/>
          <a:lstStyle/>
          <a:p>
            <a:pPr indent="0" marL="0">
              <a:buNone/>
            </a:pPr>
            <a:r>
              <a:rPr lang="en-US" sz="1450" dirty="0">
                <a:solidFill>
                  <a:srgbClr val="1B2733"/>
                </a:solidFill>
                <a:latin typeface="Calibri" pitchFamily="34" charset="0"/>
                <a:ea typeface="Calibri" pitchFamily="34" charset="-122"/>
                <a:cs typeface="Calibri" pitchFamily="34" charset="-120"/>
              </a:rPr>
              <a:t>6.5% spread. ANOVA F = 1.13, p = 0.34. Kruskal-Wallis p = 0.77.</a:t>
            </a:r>
            <a:endParaRPr lang="en-US" sz="1450" dirty="0"/>
          </a:p>
        </p:txBody>
      </p:sp>
      <p:sp>
        <p:nvSpPr>
          <p:cNvPr id="25" name="Shape 19"/>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0"/>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1"/>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2"/>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Three independent tests agree: ARIMA carries the annual cycle only, with no weekly seasonal order.</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DATA</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06CAB"/>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D3DCE6"/>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annual cycle is unmistakable, so ARIMA carries it with Fourier terms and no weekly order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 / 34</a:t>
            </a:r>
            <a:endParaRPr lang="en-US" sz="1000" dirty="0"/>
          </a:p>
        </p:txBody>
      </p:sp>
      <p:sp>
        <p:nvSpPr>
          <p:cNvPr id="13" name="Shape 10"/>
          <p:cNvSpPr/>
          <p:nvPr/>
        </p:nvSpPr>
        <p:spPr>
          <a:xfrm>
            <a:off x="438912" y="1829481"/>
            <a:ext cx="4974336" cy="3336198"/>
          </a:xfrm>
          <a:prstGeom prst="roundRect">
            <a:avLst>
              <a:gd name="adj" fmla="val 219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Monthly median PM2.5 with interquartile band: high from November to January, lowest in the monsoon, crossing the 121 threshold in autumn and spring.">    </p:cNvPr>
          <p:cNvPicPr>
            <a:picLocks noChangeAspect="1"/>
          </p:cNvPicPr>
          <p:nvPr/>
        </p:nvPicPr>
        <p:blipFill>
          <a:blip r:embed="rId1"/>
          <a:stretch>
            <a:fillRect/>
          </a:stretch>
        </p:blipFill>
        <p:spPr>
          <a:xfrm>
            <a:off x="548640" y="1939209"/>
            <a:ext cx="4754880" cy="3116742"/>
          </a:xfrm>
          <a:prstGeom prst="rect">
            <a:avLst/>
          </a:prstGeom>
        </p:spPr>
      </p:pic>
      <p:sp>
        <p:nvSpPr>
          <p:cNvPr id="15" name="Text 11"/>
          <p:cNvSpPr/>
          <p:nvPr/>
        </p:nvSpPr>
        <p:spPr>
          <a:xfrm>
            <a:off x="548640" y="5349240"/>
            <a:ext cx="47548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Monthly median with interquartile range (report Figure 3.5, redrawn).</a:t>
            </a:r>
            <a:endParaRPr lang="en-US" sz="1200" dirty="0"/>
          </a:p>
        </p:txBody>
      </p:sp>
      <p:sp>
        <p:nvSpPr>
          <p:cNvPr id="16" name="Shape 12"/>
          <p:cNvSpPr/>
          <p:nvPr/>
        </p:nvSpPr>
        <p:spPr>
          <a:xfrm>
            <a:off x="5669280" y="1691640"/>
            <a:ext cx="5989320" cy="1097280"/>
          </a:xfrm>
          <a:prstGeom prst="roundRect">
            <a:avLst>
              <a:gd name="adj" fmla="val 6667"/>
            </a:avLst>
          </a:prstGeom>
          <a:solidFill>
            <a:srgbClr val="FFFFFF"/>
          </a:solidFill>
          <a:ln w="9525">
            <a:solidFill>
              <a:srgbClr val="D3DCE6"/>
            </a:solidFill>
            <a:prstDash val="solid"/>
          </a:ln>
        </p:spPr>
      </p:sp>
      <p:sp>
        <p:nvSpPr>
          <p:cNvPr id="17" name="Text 13"/>
          <p:cNvSpPr/>
          <p:nvPr/>
        </p:nvSpPr>
        <p:spPr>
          <a:xfrm>
            <a:off x="5760720" y="1691640"/>
            <a:ext cx="5806440" cy="109728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(1 − ϕ₁B)(1 − B) yₜ = c + (1 + θ₁B) εₜ</a:t>
            </a:r>
            <a:endParaRPr lang="en-US" sz="1600" dirty="0"/>
          </a:p>
          <a:p>
            <a:pPr algn="ctr" indent="0" marL="0">
              <a:buNone/>
            </a:pPr>
            <a:r>
              <a:rPr lang="en-US" sz="1600" dirty="0">
                <a:solidFill>
                  <a:srgbClr val="0B2545"/>
                </a:solidFill>
                <a:latin typeface="Cambria Math" pitchFamily="34" charset="0"/>
                <a:ea typeface="Cambria Math" pitchFamily="34" charset="-122"/>
                <a:cs typeface="Cambria Math" pitchFamily="34" charset="-120"/>
              </a:rPr>
              <a:t>+ Σₖ₌₁⁴ [ αₖ sin(2πkt/365.25) + βₖ cos(2πkt/365.25) ]</a:t>
            </a:r>
            <a:endParaRPr lang="en-US" sz="1600" dirty="0"/>
          </a:p>
        </p:txBody>
      </p:sp>
      <p:sp>
        <p:nvSpPr>
          <p:cNvPr id="18" name="Text 14"/>
          <p:cNvSpPr/>
          <p:nvPr/>
        </p:nvSpPr>
        <p:spPr>
          <a:xfrm>
            <a:off x="5669280" y="2852928"/>
            <a:ext cx="5989320" cy="320040"/>
          </a:xfrm>
          <a:prstGeom prst="rect">
            <a:avLst/>
          </a:prstGeom>
          <a:noFill/>
          <a:ln/>
        </p:spPr>
        <p:txBody>
          <a:bodyPr wrap="square" lIns="0" tIns="0" rIns="0" bIns="0" rtlCol="0" anchor="ctr"/>
          <a:lstStyle/>
          <a:p>
            <a:pPr indent="0" marL="0">
              <a:buNone/>
            </a:pPr>
            <a:r>
              <a:rPr lang="en-US" sz="1250" i="1" dirty="0">
                <a:solidFill>
                  <a:srgbClr val="5B6B7A"/>
                </a:solidFill>
                <a:latin typeface="Calibri" pitchFamily="34" charset="0"/>
                <a:ea typeface="Calibri" pitchFamily="34" charset="-122"/>
                <a:cs typeface="Calibri" pitchFamily="34" charset="-120"/>
              </a:rPr>
              <a:t>yₜ = log(PM2.5), B is the backshift operator, K = 4 annual Fourier pairs.</a:t>
            </a:r>
            <a:endParaRPr lang="en-US" sz="1250" dirty="0"/>
          </a:p>
        </p:txBody>
      </p:sp>
      <p:sp>
        <p:nvSpPr>
          <p:cNvPr id="19" name="Text 15"/>
          <p:cNvSpPr/>
          <p:nvPr/>
        </p:nvSpPr>
        <p:spPr>
          <a:xfrm>
            <a:off x="5669280" y="3337560"/>
            <a:ext cx="5989320" cy="2194560"/>
          </a:xfrm>
          <a:prstGeom prst="rect">
            <a:avLst/>
          </a:prstGeom>
          <a:noFill/>
          <a:ln/>
        </p:spPr>
        <p:txBody>
          <a:bodyPr wrap="square" lIns="0" tIns="0" rIns="0" bIns="0" rtlCol="0" anchor="t"/>
          <a:lstStyle/>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Order by AIC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over a 24-candidate grid: (1,1,1) at 1892.5, next (1,1,2) at 1893.6.</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Fitted: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ϕ₁ = 0.581 and θ₁ = −0.987, which is 0.013 inside the invertibility boundary.</a:t>
            </a:r>
            <a:endParaRPr lang="en-US" sz="1650" dirty="0"/>
          </a:p>
          <a:p>
            <a:pPr marL="228600" indent="-228600">
              <a:lnSpc>
                <a:spcPct val="105000"/>
              </a:lnSpc>
              <a:buSzPct val="100000"/>
              <a:buChar char="•"/>
            </a:pPr>
            <a:r>
              <a:rPr lang="en-US" sz="1650" b="1" dirty="0">
                <a:solidFill>
                  <a:srgbClr val="0B2545"/>
                </a:solidFill>
                <a:latin typeface="Calibri" pitchFamily="34" charset="0"/>
                <a:ea typeface="Calibri" pitchFamily="34" charset="-122"/>
                <a:cs typeface="Calibri" pitchFamily="34" charset="-120"/>
              </a:rPr>
              <a:t>Back-transform: </a:t>
            </a:r>
            <a:pPr indent="0" marL="0">
              <a:lnSpc>
                <a:spcPct val="105000"/>
              </a:lnSpc>
              <a:spcAft>
                <a:spcPts val="900"/>
              </a:spcAft>
              <a:buNone/>
            </a:pPr>
            <a:r>
              <a:rPr lang="en-US" sz="1650" dirty="0">
                <a:solidFill>
                  <a:srgbClr val="1B2733"/>
                </a:solidFill>
                <a:latin typeface="Calibri" pitchFamily="34" charset="0"/>
                <a:ea typeface="Calibri" pitchFamily="34" charset="-122"/>
                <a:cs typeface="Calibri" pitchFamily="34" charset="-120"/>
              </a:rPr>
              <a:t>median exp(m); mean exp(m + s²/2). Both reported.</a:t>
            </a:r>
            <a:endParaRPr lang="en-US" sz="1650" dirty="0"/>
          </a:p>
        </p:txBody>
      </p:sp>
      <p:sp>
        <p:nvSpPr>
          <p:cNvPr id="20" name="Shape 16"/>
          <p:cNvSpPr/>
          <p:nvPr/>
        </p:nvSpPr>
        <p:spPr>
          <a:xfrm>
            <a:off x="548640" y="5669280"/>
            <a:ext cx="1371600" cy="685800"/>
          </a:xfrm>
          <a:prstGeom prst="rect">
            <a:avLst/>
          </a:prstGeom>
          <a:solidFill>
            <a:srgbClr val="0B2545"/>
          </a:solidFill>
          <a:ln w="12700">
            <a:solidFill>
              <a:srgbClr val="0B2545"/>
            </a:solidFill>
            <a:prstDash val="solid"/>
          </a:ln>
        </p:spPr>
      </p:sp>
      <p:sp>
        <p:nvSpPr>
          <p:cNvPr id="21" name="Text 1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2" name="Shape 18"/>
          <p:cNvSpPr/>
          <p:nvPr/>
        </p:nvSpPr>
        <p:spPr>
          <a:xfrm>
            <a:off x="1920240" y="5669280"/>
            <a:ext cx="9722815" cy="685800"/>
          </a:xfrm>
          <a:prstGeom prst="rect">
            <a:avLst/>
          </a:prstGeom>
          <a:solidFill>
            <a:srgbClr val="DCEAF5"/>
          </a:solidFill>
          <a:ln w="12700">
            <a:solidFill>
              <a:srgbClr val="DCEAF5"/>
            </a:solidFill>
            <a:prstDash val="solid"/>
          </a:ln>
        </p:spPr>
      </p:sp>
      <p:sp>
        <p:nvSpPr>
          <p:cNvPr id="23" name="Text 1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simpler, better-identified specification: the data justified dropping the weekly term, and the Fourier terms carry the season.</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Twelve specifications from three families, all scored by one protocol</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 / 34</a:t>
            </a:r>
            <a:endParaRPr lang="en-US" sz="1000" dirty="0"/>
          </a:p>
        </p:txBody>
      </p:sp>
      <p:sp>
        <p:nvSpPr>
          <p:cNvPr id="13" name="Shape 10"/>
          <p:cNvSpPr/>
          <p:nvPr/>
        </p:nvSpPr>
        <p:spPr>
          <a:xfrm>
            <a:off x="54864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548640" y="1691640"/>
            <a:ext cx="3611880" cy="594360"/>
          </a:xfrm>
          <a:prstGeom prst="rect">
            <a:avLst/>
          </a:prstGeom>
          <a:solidFill>
            <a:srgbClr val="5B6B7A"/>
          </a:solidFill>
          <a:ln w="12700">
            <a:solidFill>
              <a:srgbClr val="5B6B7A"/>
            </a:solidFill>
            <a:prstDash val="solid"/>
          </a:ln>
        </p:spPr>
      </p:sp>
      <p:sp>
        <p:nvSpPr>
          <p:cNvPr id="15" name="Text 12"/>
          <p:cNvSpPr/>
          <p:nvPr/>
        </p:nvSpPr>
        <p:spPr>
          <a:xfrm>
            <a:off x="73152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Classical and naive</a:t>
            </a:r>
            <a:endParaRPr lang="en-US" sz="1700" dirty="0"/>
          </a:p>
        </p:txBody>
      </p:sp>
      <p:sp>
        <p:nvSpPr>
          <p:cNvPr id="16" name="Text 13"/>
          <p:cNvSpPr/>
          <p:nvPr/>
        </p:nvSpPr>
        <p:spPr>
          <a:xfrm>
            <a:off x="73152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Persistence (repeat today)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Climatology</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Seasonal naive, lag 7</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ARIMA(1,1,1) + annual Fourier terms</a:t>
            </a:r>
            <a:endParaRPr lang="en-US" sz="1900" dirty="0"/>
          </a:p>
        </p:txBody>
      </p:sp>
      <p:sp>
        <p:nvSpPr>
          <p:cNvPr id="17" name="Shape 14"/>
          <p:cNvSpPr/>
          <p:nvPr/>
        </p:nvSpPr>
        <p:spPr>
          <a:xfrm>
            <a:off x="429768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Shape 15"/>
          <p:cNvSpPr/>
          <p:nvPr/>
        </p:nvSpPr>
        <p:spPr>
          <a:xfrm>
            <a:off x="4297680" y="1691640"/>
            <a:ext cx="3611880" cy="594360"/>
          </a:xfrm>
          <a:prstGeom prst="rect">
            <a:avLst/>
          </a:prstGeom>
          <a:solidFill>
            <a:srgbClr val="006CAB"/>
          </a:solidFill>
          <a:ln w="12700">
            <a:solidFill>
              <a:srgbClr val="006CAB"/>
            </a:solidFill>
            <a:prstDash val="solid"/>
          </a:ln>
        </p:spPr>
      </p:sp>
      <p:sp>
        <p:nvSpPr>
          <p:cNvPr id="19" name="Text 16"/>
          <p:cNvSpPr/>
          <p:nvPr/>
        </p:nvSpPr>
        <p:spPr>
          <a:xfrm>
            <a:off x="448056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Machine learning</a:t>
            </a:r>
            <a:endParaRPr lang="en-US" sz="1700" dirty="0"/>
          </a:p>
        </p:txBody>
      </p:sp>
      <p:sp>
        <p:nvSpPr>
          <p:cNvPr id="20" name="Text 17"/>
          <p:cNvSpPr/>
          <p:nvPr/>
        </p:nvSpPr>
        <p:spPr>
          <a:xfrm>
            <a:off x="448056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Ridge regression</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Random forest: level and change</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Histogram gradient boosting: level and change</a:t>
            </a:r>
            <a:endParaRPr lang="en-US" sz="1900" dirty="0"/>
          </a:p>
        </p:txBody>
      </p:sp>
      <p:sp>
        <p:nvSpPr>
          <p:cNvPr id="21" name="Shape 18"/>
          <p:cNvSpPr/>
          <p:nvPr/>
        </p:nvSpPr>
        <p:spPr>
          <a:xfrm>
            <a:off x="8046720" y="1691640"/>
            <a:ext cx="3611880" cy="3474720"/>
          </a:xfrm>
          <a:prstGeom prst="roundRect">
            <a:avLst>
              <a:gd name="adj" fmla="val 210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Shape 19"/>
          <p:cNvSpPr/>
          <p:nvPr/>
        </p:nvSpPr>
        <p:spPr>
          <a:xfrm>
            <a:off x="8046720" y="1691640"/>
            <a:ext cx="3611880" cy="594360"/>
          </a:xfrm>
          <a:prstGeom prst="rect">
            <a:avLst/>
          </a:prstGeom>
          <a:solidFill>
            <a:srgbClr val="D55E00"/>
          </a:solidFill>
          <a:ln w="12700">
            <a:solidFill>
              <a:srgbClr val="D55E00"/>
            </a:solidFill>
            <a:prstDash val="solid"/>
          </a:ln>
        </p:spPr>
      </p:sp>
      <p:sp>
        <p:nvSpPr>
          <p:cNvPr id="23" name="Text 20"/>
          <p:cNvSpPr/>
          <p:nvPr/>
        </p:nvSpPr>
        <p:spPr>
          <a:xfrm>
            <a:off x="8229600" y="1691640"/>
            <a:ext cx="3291840" cy="5943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Deep learning, 10 seeds each</a:t>
            </a:r>
            <a:endParaRPr lang="en-US" sz="1700" dirty="0"/>
          </a:p>
        </p:txBody>
      </p:sp>
      <p:sp>
        <p:nvSpPr>
          <p:cNvPr id="24" name="Text 21"/>
          <p:cNvSpPr/>
          <p:nvPr/>
        </p:nvSpPr>
        <p:spPr>
          <a:xfrm>
            <a:off x="8229600" y="2514600"/>
            <a:ext cx="3246120" cy="2651760"/>
          </a:xfrm>
          <a:prstGeom prst="rect">
            <a:avLst/>
          </a:prstGeom>
          <a:noFill/>
          <a:ln/>
        </p:spPr>
        <p:txBody>
          <a:bodyPr wrap="square" lIns="0" tIns="0" rIns="0" bIns="0" rtlCol="0" anchor="t"/>
          <a:lstStyle/>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GRU</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LSTM</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Transformer encoder</a:t>
            </a:r>
            <a:endParaRPr lang="en-US" sz="1900" dirty="0"/>
          </a:p>
          <a:p>
            <a:pPr marL="228600" indent="-228600">
              <a:lnSpc>
                <a:spcPct val="105000"/>
              </a:lnSpc>
              <a:spcAft>
                <a:spcPts val="1200"/>
              </a:spcAft>
              <a:buSzPct val="100000"/>
              <a:buChar char="•"/>
            </a:pPr>
            <a:r>
              <a:rPr lang="en-US" sz="1900" dirty="0">
                <a:solidFill>
                  <a:srgbClr val="1B2733"/>
                </a:solidFill>
                <a:latin typeface="Calibri" pitchFamily="34" charset="0"/>
                <a:ea typeface="Calibri" pitchFamily="34" charset="-122"/>
                <a:cs typeface="Calibri" pitchFamily="34" charset="-120"/>
              </a:rPr>
              <a:t>Kolmogorov-Arnold-LSTM: bounded check only</a:t>
            </a:r>
            <a:endParaRPr lang="en-US" sz="190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Fitted to log PM2.5, forecast at h = 1, 2, 3 days, refitted as the training window expands, scored on identical origins by identical code.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regressors, each controlling variance by a different mechanism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 / 34</a:t>
            </a:r>
            <a:endParaRPr lang="en-US" sz="1000" dirty="0"/>
          </a:p>
        </p:txBody>
      </p:sp>
      <p:sp>
        <p:nvSpPr>
          <p:cNvPr id="13" name="Shape 10"/>
          <p:cNvSpPr/>
          <p:nvPr/>
        </p:nvSpPr>
        <p:spPr>
          <a:xfrm>
            <a:off x="54864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Ridge regression</a:t>
            </a:r>
            <a:endParaRPr lang="en-US" sz="1800" dirty="0"/>
          </a:p>
        </p:txBody>
      </p:sp>
      <p:sp>
        <p:nvSpPr>
          <p:cNvPr id="15" name="Text 12"/>
          <p:cNvSpPr/>
          <p:nvPr/>
        </p:nvSpPr>
        <p:spPr>
          <a:xfrm>
            <a:off x="73152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SHRINKAGE</a:t>
            </a:r>
            <a:endParaRPr lang="en-US" sz="1050" dirty="0"/>
          </a:p>
        </p:txBody>
      </p:sp>
      <p:sp>
        <p:nvSpPr>
          <p:cNvPr id="16" name="Shape 13"/>
          <p:cNvSpPr/>
          <p:nvPr/>
        </p:nvSpPr>
        <p:spPr>
          <a:xfrm>
            <a:off x="731520" y="2514600"/>
            <a:ext cx="3246120" cy="777240"/>
          </a:xfrm>
          <a:prstGeom prst="roundRect">
            <a:avLst>
              <a:gd name="adj" fmla="val 9412"/>
            </a:avLst>
          </a:prstGeom>
          <a:solidFill>
            <a:srgbClr val="FFFFFF"/>
          </a:solidFill>
          <a:ln w="9525">
            <a:solidFill>
              <a:srgbClr val="D3DCE6"/>
            </a:solidFill>
            <a:prstDash val="solid"/>
          </a:ln>
        </p:spPr>
      </p:sp>
      <p:sp>
        <p:nvSpPr>
          <p:cNvPr id="17" name="Text 14"/>
          <p:cNvSpPr/>
          <p:nvPr/>
        </p:nvSpPr>
        <p:spPr>
          <a:xfrm>
            <a:off x="82296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β̂ = (XᵀX + λI)⁻¹ Xᵀy</a:t>
            </a:r>
            <a:endParaRPr lang="en-US" sz="1600" dirty="0"/>
          </a:p>
        </p:txBody>
      </p:sp>
      <p:sp>
        <p:nvSpPr>
          <p:cNvPr id="18" name="Text 15"/>
          <p:cNvSpPr/>
          <p:nvPr/>
        </p:nvSpPr>
        <p:spPr>
          <a:xfrm>
            <a:off x="73152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Closed form: unique for any λ &gt; 0, even with collinear lags.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λ by cross-validation at every refit.</a:t>
            </a:r>
            <a:endParaRPr lang="en-US" sz="1700" dirty="0"/>
          </a:p>
        </p:txBody>
      </p:sp>
      <p:sp>
        <p:nvSpPr>
          <p:cNvPr id="19" name="Shape 16"/>
          <p:cNvSpPr/>
          <p:nvPr/>
        </p:nvSpPr>
        <p:spPr>
          <a:xfrm>
            <a:off x="429768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448056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Random forest</a:t>
            </a:r>
            <a:endParaRPr lang="en-US" sz="1800" dirty="0"/>
          </a:p>
        </p:txBody>
      </p:sp>
      <p:sp>
        <p:nvSpPr>
          <p:cNvPr id="21" name="Text 18"/>
          <p:cNvSpPr/>
          <p:nvPr/>
        </p:nvSpPr>
        <p:spPr>
          <a:xfrm>
            <a:off x="448056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BAGGING</a:t>
            </a:r>
            <a:endParaRPr lang="en-US" sz="1050" dirty="0"/>
          </a:p>
        </p:txBody>
      </p:sp>
      <p:sp>
        <p:nvSpPr>
          <p:cNvPr id="22" name="Shape 19"/>
          <p:cNvSpPr/>
          <p:nvPr/>
        </p:nvSpPr>
        <p:spPr>
          <a:xfrm>
            <a:off x="4480560" y="2514600"/>
            <a:ext cx="3246120" cy="777240"/>
          </a:xfrm>
          <a:prstGeom prst="roundRect">
            <a:avLst>
              <a:gd name="adj" fmla="val 9412"/>
            </a:avLst>
          </a:prstGeom>
          <a:solidFill>
            <a:srgbClr val="FFFFFF"/>
          </a:solidFill>
          <a:ln w="9525">
            <a:solidFill>
              <a:srgbClr val="D3DCE6"/>
            </a:solidFill>
            <a:prstDash val="solid"/>
          </a:ln>
        </p:spPr>
      </p:sp>
      <p:sp>
        <p:nvSpPr>
          <p:cNvPr id="23" name="Text 20"/>
          <p:cNvSpPr/>
          <p:nvPr/>
        </p:nvSpPr>
        <p:spPr>
          <a:xfrm>
            <a:off x="457200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Var f̂(x) = ρσ² + (1 − ρ)σ² / B</a:t>
            </a:r>
            <a:endParaRPr lang="en-US" sz="1600" dirty="0"/>
          </a:p>
        </p:txBody>
      </p:sp>
      <p:sp>
        <p:nvSpPr>
          <p:cNvPr id="24" name="Text 21"/>
          <p:cNvSpPr/>
          <p:nvPr/>
        </p:nvSpPr>
        <p:spPr>
          <a:xfrm>
            <a:off x="448056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Average of B trees on bootstrap resamples.</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Random feature subsets lower ρ, the floor averaging cannot beat.</a:t>
            </a:r>
            <a:endParaRPr lang="en-US" sz="1700" dirty="0"/>
          </a:p>
        </p:txBody>
      </p:sp>
      <p:sp>
        <p:nvSpPr>
          <p:cNvPr id="25" name="Shape 22"/>
          <p:cNvSpPr/>
          <p:nvPr/>
        </p:nvSpPr>
        <p:spPr>
          <a:xfrm>
            <a:off x="8046720" y="1691640"/>
            <a:ext cx="3611880" cy="3794760"/>
          </a:xfrm>
          <a:prstGeom prst="roundRect">
            <a:avLst>
              <a:gd name="adj" fmla="val 202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8229600" y="1783080"/>
            <a:ext cx="3246120" cy="36576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Histogram gradient boosting</a:t>
            </a:r>
            <a:endParaRPr lang="en-US" sz="1800" dirty="0"/>
          </a:p>
        </p:txBody>
      </p:sp>
      <p:sp>
        <p:nvSpPr>
          <p:cNvPr id="27" name="Text 24"/>
          <p:cNvSpPr/>
          <p:nvPr/>
        </p:nvSpPr>
        <p:spPr>
          <a:xfrm>
            <a:off x="8229600" y="2148840"/>
            <a:ext cx="3246120" cy="274320"/>
          </a:xfrm>
          <a:prstGeom prst="rect">
            <a:avLst/>
          </a:prstGeom>
          <a:noFill/>
          <a:ln/>
        </p:spPr>
        <p:txBody>
          <a:bodyPr wrap="square" lIns="0" tIns="0" rIns="0" bIns="0" rtlCol="0" anchor="ctr"/>
          <a:lstStyle/>
          <a:p>
            <a:pPr indent="0" marL="0">
              <a:buNone/>
            </a:pPr>
            <a:r>
              <a:rPr lang="en-US" sz="1050" b="1" spc="200" kern="0" dirty="0">
                <a:solidFill>
                  <a:srgbClr val="006CAB"/>
                </a:solidFill>
                <a:latin typeface="Calibri" pitchFamily="34" charset="0"/>
                <a:ea typeface="Calibri" pitchFamily="34" charset="-122"/>
                <a:cs typeface="Calibri" pitchFamily="34" charset="-120"/>
              </a:rPr>
              <a:t>ADDITIVE CORRECTION</a:t>
            </a:r>
            <a:endParaRPr lang="en-US" sz="1050" dirty="0"/>
          </a:p>
        </p:txBody>
      </p:sp>
      <p:sp>
        <p:nvSpPr>
          <p:cNvPr id="28" name="Shape 25"/>
          <p:cNvSpPr/>
          <p:nvPr/>
        </p:nvSpPr>
        <p:spPr>
          <a:xfrm>
            <a:off x="8229600" y="2514600"/>
            <a:ext cx="3246120" cy="777240"/>
          </a:xfrm>
          <a:prstGeom prst="roundRect">
            <a:avLst>
              <a:gd name="adj" fmla="val 9412"/>
            </a:avLst>
          </a:prstGeom>
          <a:solidFill>
            <a:srgbClr val="FFFFFF"/>
          </a:solidFill>
          <a:ln w="9525">
            <a:solidFill>
              <a:srgbClr val="D3DCE6"/>
            </a:solidFill>
            <a:prstDash val="solid"/>
          </a:ln>
        </p:spPr>
      </p:sp>
      <p:sp>
        <p:nvSpPr>
          <p:cNvPr id="29" name="Text 26"/>
          <p:cNvSpPr/>
          <p:nvPr/>
        </p:nvSpPr>
        <p:spPr>
          <a:xfrm>
            <a:off x="8321040" y="2514600"/>
            <a:ext cx="3063240" cy="777240"/>
          </a:xfrm>
          <a:prstGeom prst="rect">
            <a:avLst/>
          </a:prstGeom>
          <a:noFill/>
          <a:ln/>
        </p:spPr>
        <p:txBody>
          <a:bodyPr wrap="square" lIns="0" tIns="0" rIns="0" bIns="0" rtlCol="0" anchor="ctr"/>
          <a:lstStyle/>
          <a:p>
            <a:pPr algn="ctr" indent="0" marL="0">
              <a:buNone/>
            </a:pPr>
            <a:r>
              <a:rPr lang="en-US" sz="1600" dirty="0">
                <a:solidFill>
                  <a:srgbClr val="0B2545"/>
                </a:solidFill>
                <a:latin typeface="Cambria Math" pitchFamily="34" charset="0"/>
                <a:ea typeface="Cambria Math" pitchFamily="34" charset="-122"/>
                <a:cs typeface="Cambria Math" pitchFamily="34" charset="-120"/>
              </a:rPr>
              <a:t>Fₘ = Fₘ₋₁ + ν hₘ</a:t>
            </a:r>
            <a:endParaRPr lang="en-US" sz="1600" dirty="0"/>
          </a:p>
        </p:txBody>
      </p:sp>
      <p:sp>
        <p:nvSpPr>
          <p:cNvPr id="30" name="Text 27"/>
          <p:cNvSpPr/>
          <p:nvPr/>
        </p:nvSpPr>
        <p:spPr>
          <a:xfrm>
            <a:off x="8229600" y="3474720"/>
            <a:ext cx="3246120" cy="1920240"/>
          </a:xfrm>
          <a:prstGeom prst="rect">
            <a:avLst/>
          </a:prstGeom>
          <a:noFill/>
          <a:ln/>
        </p:spPr>
        <p:txBody>
          <a:bodyPr wrap="square" lIns="0" tIns="0" rIns="0" bIns="0" rtlCol="0" anchor="t"/>
          <a:lstStyle/>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Each tree fits the pseudo-residual: descent in function space.</a:t>
            </a:r>
            <a:endParaRPr lang="en-US" sz="1700" dirty="0"/>
          </a:p>
          <a:p>
            <a:pPr marL="228600" indent="-228600">
              <a:lnSpc>
                <a:spcPct val="105000"/>
              </a:lnSpc>
              <a:spcAft>
                <a:spcPts val="900"/>
              </a:spcAft>
              <a:buSzPct val="100000"/>
              <a:buChar char="•"/>
            </a:pPr>
            <a:r>
              <a:rPr lang="en-US" sz="1700" dirty="0">
                <a:solidFill>
                  <a:srgbClr val="1B2733"/>
                </a:solidFill>
                <a:latin typeface="Calibri" pitchFamily="34" charset="0"/>
                <a:ea typeface="Calibri" pitchFamily="34" charset="-122"/>
                <a:cs typeface="Calibri" pitchFamily="34" charset="-120"/>
              </a:rPr>
              <a:t>Binned features accept missing values, so nothing is imputed.</a:t>
            </a:r>
            <a:endParaRPr lang="en-US" sz="17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Trees are fitted to both the level and the change from the origin, because a tree cannot extrapolate and this series drifts.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networks under one protocol, so the comparison is the cell and nothing else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14 / 34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a:tblGrid>
                <a:gridCol w="2468880"/>
                <a:gridCol w="3200400"/>
                <a:gridCol w="2011680"/>
                <a:gridCol w="1463040"/>
              </a:tblGrid>
              <a:tr h="54864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Architecture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Size</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Optimiser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Parameters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GRU</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2,329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3,097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Transformer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d_model = 16, 2 heads, 1 layer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3,409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4864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Kolmogorov-Arnold-LSTM</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24 hidden units, grid size 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Adam, lr = 0.01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3,288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526280"/>
            <a:ext cx="91440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3.6. Parameters are for the six-channel network, confirmed against the fitted model objects.</a:t>
            </a:r>
            <a:endParaRPr lang="en-US" sz="1200" dirty="0"/>
          </a:p>
        </p:txBody>
      </p:sp>
      <p:sp>
        <p:nvSpPr>
          <p:cNvPr id="15" name="Text 11"/>
          <p:cNvSpPr/>
          <p:nvPr/>
        </p:nvSpPr>
        <p:spPr>
          <a:xfrm>
            <a:off x="548640" y="4846320"/>
            <a:ext cx="9144000" cy="777240"/>
          </a:xfrm>
          <a:prstGeom prst="rect">
            <a:avLst/>
          </a:prstGeom>
          <a:noFill/>
          <a:ln/>
        </p:spPr>
        <p:txBody>
          <a:bodyPr wrap="square" lIns="0" tIns="0" rIns="0" bIns="0" rtlCol="0" anchor="t"/>
          <a:lstStyle/>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input: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last 30 days; log PM2.5, a missingness flag, two annual Fourier pairs.</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Shared training: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target is the change in log concentration; Adam on absolute error; early stopping on the latest 15%.</a:t>
            </a:r>
            <a:endParaRPr lang="en-US" sz="1450" dirty="0"/>
          </a:p>
          <a:p>
            <a:pPr marL="228600" indent="-228600">
              <a:lnSpc>
                <a:spcPct val="105000"/>
              </a:lnSpc>
              <a:buSzPct val="100000"/>
              <a:buChar char="•"/>
            </a:pPr>
            <a:r>
              <a:rPr lang="en-US" sz="1450" b="1" dirty="0">
                <a:solidFill>
                  <a:srgbClr val="0B2545"/>
                </a:solidFill>
                <a:latin typeface="Calibri" pitchFamily="34" charset="0"/>
                <a:ea typeface="Calibri" pitchFamily="34" charset="-122"/>
                <a:cs typeface="Calibri" pitchFamily="34" charset="-120"/>
              </a:rPr>
              <a:t>Reported as a range </a:t>
            </a:r>
            <a:pPr indent="0" marL="0">
              <a:lnSpc>
                <a:spcPct val="105000"/>
              </a:lnSpc>
              <a:spcAft>
                <a:spcPts val="300"/>
              </a:spcAft>
              <a:buNone/>
            </a:pPr>
            <a:r>
              <a:rPr lang="en-US" sz="1450" dirty="0">
                <a:solidFill>
                  <a:srgbClr val="1B2733"/>
                </a:solidFill>
                <a:latin typeface="Calibri" pitchFamily="34" charset="0"/>
                <a:ea typeface="Calibri" pitchFamily="34" charset="-122"/>
                <a:cs typeface="Calibri" pitchFamily="34" charset="-120"/>
              </a:rPr>
              <a:t>over ten seeds, never one favourable seed.</a:t>
            </a:r>
            <a:endParaRPr lang="en-US" sz="1450" dirty="0"/>
          </a:p>
        </p:txBody>
      </p:sp>
      <p:sp>
        <p:nvSpPr>
          <p:cNvPr id="16" name="Shape 12"/>
          <p:cNvSpPr/>
          <p:nvPr/>
        </p:nvSpPr>
        <p:spPr>
          <a:xfrm>
            <a:off x="9738360" y="1691640"/>
            <a:ext cx="1920240" cy="2743200"/>
          </a:xfrm>
          <a:prstGeom prst="roundRect">
            <a:avLst>
              <a:gd name="adj" fmla="val 3810"/>
            </a:avLst>
          </a:prstGeom>
          <a:solidFill>
            <a:srgbClr val="0B2545"/>
          </a:solidFill>
          <a:ln w="9525">
            <a:solidFill>
              <a:srgbClr val="D3DCE6"/>
            </a:solidFill>
            <a:prstDash val="solid"/>
          </a:ln>
        </p:spPr>
      </p:sp>
      <p:sp>
        <p:nvSpPr>
          <p:cNvPr id="17" name="Text 13"/>
          <p:cNvSpPr/>
          <p:nvPr/>
        </p:nvSpPr>
        <p:spPr>
          <a:xfrm>
            <a:off x="9875520" y="1783080"/>
            <a:ext cx="1645920" cy="320040"/>
          </a:xfrm>
          <a:prstGeom prst="rect">
            <a:avLst/>
          </a:prstGeom>
          <a:noFill/>
          <a:ln/>
        </p:spPr>
        <p:txBody>
          <a:bodyPr wrap="square" lIns="0" tIns="0" rIns="0" bIns="0" rtlCol="0" anchor="ctr"/>
          <a:lstStyle/>
          <a:p>
            <a:pPr indent="0" marL="0">
              <a:buNone/>
            </a:pPr>
            <a:r>
              <a:rPr lang="en-US" sz="1300" b="1" dirty="0">
                <a:solidFill>
                  <a:srgbClr val="8FC3E8"/>
                </a:solidFill>
                <a:latin typeface="Calibri" pitchFamily="34" charset="0"/>
                <a:ea typeface="Calibri" pitchFamily="34" charset="-122"/>
                <a:cs typeface="Calibri" pitchFamily="34" charset="-120"/>
              </a:rPr>
              <a:t>Gates</a:t>
            </a:r>
            <a:endParaRPr lang="en-US" sz="1300" dirty="0"/>
          </a:p>
        </p:txBody>
      </p:sp>
      <p:sp>
        <p:nvSpPr>
          <p:cNvPr id="18" name="Text 14"/>
          <p:cNvSpPr/>
          <p:nvPr/>
        </p:nvSpPr>
        <p:spPr>
          <a:xfrm>
            <a:off x="9875520" y="2148840"/>
            <a:ext cx="1691640" cy="2103120"/>
          </a:xfrm>
          <a:prstGeom prst="rect">
            <a:avLst/>
          </a:prstGeom>
          <a:noFill/>
          <a:ln/>
        </p:spPr>
        <p:txBody>
          <a:bodyPr wrap="square" lIns="0" tIns="0" rIns="0" bIns="0" rtlCol="0" anchor="t"/>
          <a:lstStyle/>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GRU: 2</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LSTM: 3 + cell state</a:t>
            </a:r>
            <a:endParaRPr lang="en-US" sz="1400" dirty="0"/>
          </a:p>
          <a:p>
            <a:pPr indent="0" marL="0">
              <a:spcAft>
                <a:spcPts val="800"/>
              </a:spcAft>
              <a:buNone/>
            </a:pPr>
            <a:r>
              <a:rPr lang="en-US" sz="1400" dirty="0">
                <a:solidFill>
                  <a:srgbClr val="FFFFFF"/>
                </a:solidFill>
                <a:latin typeface="Calibri" pitchFamily="34" charset="0"/>
                <a:ea typeface="Calibri" pitchFamily="34" charset="-122"/>
                <a:cs typeface="Calibri" pitchFamily="34" charset="-120"/>
              </a:rPr>
              <a:t>Transformer: self-attention</a:t>
            </a:r>
            <a:endParaRPr lang="en-US" sz="1400" dirty="0"/>
          </a:p>
        </p:txBody>
      </p:sp>
      <p:sp>
        <p:nvSpPr>
          <p:cNvPr id="19" name="Shape 15"/>
          <p:cNvSpPr/>
          <p:nvPr/>
        </p:nvSpPr>
        <p:spPr>
          <a:xfrm>
            <a:off x="548640" y="5669280"/>
            <a:ext cx="1371600" cy="685800"/>
          </a:xfrm>
          <a:prstGeom prst="rect">
            <a:avLst/>
          </a:prstGeom>
          <a:solidFill>
            <a:srgbClr val="0B2545"/>
          </a:solidFill>
          <a:ln w="12700">
            <a:solidFill>
              <a:srgbClr val="0B2545"/>
            </a:solidFill>
            <a:prstDash val="solid"/>
          </a:ln>
        </p:spPr>
      </p:sp>
      <p:sp>
        <p:nvSpPr>
          <p:cNvPr id="20" name="Text 16"/>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1" name="Shape 17"/>
          <p:cNvSpPr/>
          <p:nvPr/>
        </p:nvSpPr>
        <p:spPr>
          <a:xfrm>
            <a:off x="1920240" y="5669280"/>
            <a:ext cx="9722815" cy="685800"/>
          </a:xfrm>
          <a:prstGeom prst="rect">
            <a:avLst/>
          </a:prstGeom>
          <a:solidFill>
            <a:srgbClr val="DCEAF5"/>
          </a:solidFill>
          <a:ln w="12700">
            <a:solidFill>
              <a:srgbClr val="DCEAF5"/>
            </a:solidFill>
            <a:prstDash val="solid"/>
          </a:ln>
        </p:spPr>
      </p:sp>
      <p:sp>
        <p:nvSpPr>
          <p:cNvPr id="22" name="Text 18"/>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Only the cell differs: gated recurrence, a memory cell, or attention. Each is reported as a ten-seed range.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Rolling-origin evaluation: 2,303 forecasts, none of which can see the future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15 / 34</a:t>
            </a:r>
            <a:endParaRPr lang="en-US" sz="1000" dirty="0"/>
          </a:p>
        </p:txBody>
      </p:sp>
      <p:sp>
        <p:nvSpPr>
          <p:cNvPr id="13" name="Shape 10"/>
          <p:cNvSpPr/>
          <p:nvPr/>
        </p:nvSpPr>
        <p:spPr>
          <a:xfrm>
            <a:off x="548640" y="1783080"/>
            <a:ext cx="3396250" cy="640080"/>
          </a:xfrm>
          <a:prstGeom prst="rect">
            <a:avLst/>
          </a:prstGeom>
          <a:solidFill>
            <a:srgbClr val="D3DCE6"/>
          </a:solidFill>
          <a:ln w="12700">
            <a:solidFill>
              <a:srgbClr val="D3DCE6"/>
            </a:solidFill>
            <a:prstDash val="solid"/>
          </a:ln>
        </p:spPr>
      </p:sp>
      <p:sp>
        <p:nvSpPr>
          <p:cNvPr id="14" name="Shape 11"/>
          <p:cNvSpPr/>
          <p:nvPr/>
        </p:nvSpPr>
        <p:spPr>
          <a:xfrm>
            <a:off x="3944890" y="1783080"/>
            <a:ext cx="7698166" cy="640080"/>
          </a:xfrm>
          <a:prstGeom prst="rect">
            <a:avLst/>
          </a:prstGeom>
          <a:solidFill>
            <a:srgbClr val="006CAB"/>
          </a:solidFill>
          <a:ln w="12700">
            <a:solidFill>
              <a:srgbClr val="006CAB"/>
            </a:solidFill>
            <a:prstDash val="solid"/>
          </a:ln>
        </p:spPr>
      </p:sp>
      <p:sp>
        <p:nvSpPr>
          <p:cNvPr id="15" name="Text 12"/>
          <p:cNvSpPr/>
          <p:nvPr/>
        </p:nvSpPr>
        <p:spPr>
          <a:xfrm>
            <a:off x="548640" y="1783080"/>
            <a:ext cx="3396250" cy="64008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3-year burn-in</a:t>
            </a:r>
            <a:endParaRPr lang="en-US" sz="1500" dirty="0"/>
          </a:p>
        </p:txBody>
      </p:sp>
      <p:sp>
        <p:nvSpPr>
          <p:cNvPr id="16" name="Text 13"/>
          <p:cNvSpPr/>
          <p:nvPr/>
        </p:nvSpPr>
        <p:spPr>
          <a:xfrm>
            <a:off x="3944890" y="1783080"/>
            <a:ext cx="7698166"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2,303 forecast origins over 6.8 years, refitted every 90 days (networks: 180)</a:t>
            </a:r>
            <a:endParaRPr lang="en-US" sz="1500" dirty="0"/>
          </a:p>
        </p:txBody>
      </p:sp>
      <p:sp>
        <p:nvSpPr>
          <p:cNvPr id="17" name="Text 14"/>
          <p:cNvSpPr/>
          <p:nvPr/>
        </p:nvSpPr>
        <p:spPr>
          <a:xfrm>
            <a:off x="548640" y="2468880"/>
            <a:ext cx="182880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Nov 2016</a:t>
            </a:r>
            <a:endParaRPr lang="en-US" sz="1200" dirty="0"/>
          </a:p>
        </p:txBody>
      </p:sp>
      <p:sp>
        <p:nvSpPr>
          <p:cNvPr id="18" name="Text 15"/>
          <p:cNvSpPr/>
          <p:nvPr/>
        </p:nvSpPr>
        <p:spPr>
          <a:xfrm>
            <a:off x="3396250" y="2468880"/>
            <a:ext cx="1280160" cy="274320"/>
          </a:xfrm>
          <a:prstGeom prst="rect">
            <a:avLst/>
          </a:prstGeom>
          <a:noFill/>
          <a:ln/>
        </p:spPr>
        <p:txBody>
          <a:bodyPr wrap="square" lIns="0" tIns="0" rIns="0" bIns="0" rtlCol="0" anchor="ctr"/>
          <a:lstStyle/>
          <a:p>
            <a:pPr indent="0" marL="0">
              <a:buNone/>
            </a:pPr>
            <a:r>
              <a:rPr lang="en-US" sz="1200" dirty="0">
                <a:solidFill>
                  <a:srgbClr val="5B6B7A"/>
                </a:solidFill>
                <a:latin typeface="Calibri" pitchFamily="34" charset="0"/>
                <a:ea typeface="Calibri" pitchFamily="34" charset="-122"/>
                <a:cs typeface="Calibri" pitchFamily="34" charset="-120"/>
              </a:rPr>
              <a:t>9 Nov 2019</a:t>
            </a:r>
            <a:endParaRPr lang="en-US" sz="1200" dirty="0"/>
          </a:p>
        </p:txBody>
      </p:sp>
      <p:sp>
        <p:nvSpPr>
          <p:cNvPr id="19" name="Text 16"/>
          <p:cNvSpPr/>
          <p:nvPr/>
        </p:nvSpPr>
        <p:spPr>
          <a:xfrm>
            <a:off x="10180015" y="2468880"/>
            <a:ext cx="1463040" cy="274320"/>
          </a:xfrm>
          <a:prstGeom prst="rect">
            <a:avLst/>
          </a:prstGeom>
          <a:noFill/>
          <a:ln/>
        </p:spPr>
        <p:txBody>
          <a:bodyPr wrap="square" lIns="0" tIns="0" rIns="0" bIns="0" rtlCol="0" anchor="ctr"/>
          <a:lstStyle/>
          <a:p>
            <a:pPr algn="r" indent="0" marL="0">
              <a:buNone/>
            </a:pPr>
            <a:r>
              <a:rPr lang="en-US" sz="1200" dirty="0">
                <a:solidFill>
                  <a:srgbClr val="5B6B7A"/>
                </a:solidFill>
                <a:latin typeface="Calibri" pitchFamily="34" charset="0"/>
                <a:ea typeface="Calibri" pitchFamily="34" charset="-122"/>
                <a:cs typeface="Calibri" pitchFamily="34" charset="-120"/>
              </a:rPr>
              <a:t>24 Aug 2026</a:t>
            </a:r>
            <a:endParaRPr lang="en-US" sz="1200" dirty="0"/>
          </a:p>
        </p:txBody>
      </p:sp>
      <p:sp>
        <p:nvSpPr>
          <p:cNvPr id="20" name="Text 17"/>
          <p:cNvSpPr/>
          <p:nvPr/>
        </p:nvSpPr>
        <p:spPr>
          <a:xfrm>
            <a:off x="548640" y="3017520"/>
            <a:ext cx="6492240" cy="246888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Invariant: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at origin t, observations up to and including day t, and nothing else.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Tested, not assumed: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corrupt the series from a chosen date, rerun, and require no earlier forecast to change.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One model per horizon: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the label on row t′ is the value at t′ + h, so training ends at t − h.</a:t>
            </a:r>
            <a:endParaRPr lang="en-US" sz="1700" dirty="0"/>
          </a:p>
        </p:txBody>
      </p:sp>
      <p:sp>
        <p:nvSpPr>
          <p:cNvPr id="21" name="Shape 18"/>
          <p:cNvSpPr/>
          <p:nvPr/>
        </p:nvSpPr>
        <p:spPr>
          <a:xfrm>
            <a:off x="7498080" y="3017520"/>
            <a:ext cx="4160520" cy="2468880"/>
          </a:xfrm>
          <a:prstGeom prst="roundRect">
            <a:avLst>
              <a:gd name="adj" fmla="val 296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680960" y="3108960"/>
            <a:ext cx="3794760" cy="36576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Why not one train-test split?</a:t>
            </a:r>
            <a:endParaRPr lang="en-US" sz="1600" dirty="0"/>
          </a:p>
        </p:txBody>
      </p:sp>
      <p:sp>
        <p:nvSpPr>
          <p:cNvPr id="23" name="Text 20"/>
          <p:cNvSpPr/>
          <p:nvPr/>
        </p:nvSpPr>
        <p:spPr>
          <a:xfrm>
            <a:off x="7680960" y="3520440"/>
            <a:ext cx="1737360" cy="731520"/>
          </a:xfrm>
          <a:prstGeom prst="rect">
            <a:avLst/>
          </a:prstGeom>
          <a:noFill/>
          <a:ln/>
        </p:spPr>
        <p:txBody>
          <a:bodyPr wrap="square" lIns="0" tIns="0" rIns="0" bIns="0" rtlCol="0" anchor="ctr"/>
          <a:lstStyle/>
          <a:p>
            <a:pPr indent="0" marL="0">
              <a:buNone/>
            </a:pPr>
            <a:r>
              <a:rPr lang="en-US" sz="3800" b="1" dirty="0">
                <a:solidFill>
                  <a:srgbClr val="5B6B7A"/>
                </a:solidFill>
                <a:latin typeface="Calibri" pitchFamily="34" charset="0"/>
                <a:ea typeface="Calibri" pitchFamily="34" charset="-122"/>
                <a:cs typeface="Calibri" pitchFamily="34" charset="-120"/>
              </a:rPr>
              <a:t>0.903</a:t>
            </a:r>
            <a:endParaRPr lang="en-US" sz="3800" dirty="0"/>
          </a:p>
        </p:txBody>
      </p:sp>
      <p:sp>
        <p:nvSpPr>
          <p:cNvPr id="24" name="Text 21"/>
          <p:cNvSpPr/>
          <p:nvPr/>
        </p:nvSpPr>
        <p:spPr>
          <a:xfrm>
            <a:off x="768096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single block</a:t>
            </a:r>
            <a:endParaRPr lang="en-US" sz="1300" dirty="0"/>
          </a:p>
        </p:txBody>
      </p:sp>
      <p:sp>
        <p:nvSpPr>
          <p:cNvPr id="25" name="Text 22"/>
          <p:cNvSpPr/>
          <p:nvPr/>
        </p:nvSpPr>
        <p:spPr>
          <a:xfrm>
            <a:off x="9326880" y="3520440"/>
            <a:ext cx="548640" cy="731520"/>
          </a:xfrm>
          <a:prstGeom prst="rect">
            <a:avLst/>
          </a:prstGeom>
          <a:noFill/>
          <a:ln/>
        </p:spPr>
        <p:txBody>
          <a:bodyPr wrap="square" lIns="0" tIns="0" rIns="0" bIns="0" rtlCol="0" anchor="ctr"/>
          <a:lstStyle/>
          <a:p>
            <a:pPr algn="ctr" indent="0" marL="0">
              <a:buNone/>
            </a:pPr>
            <a:r>
              <a:rPr lang="en-US" sz="3000" dirty="0">
                <a:solidFill>
                  <a:srgbClr val="5B6B7A"/>
                </a:solidFill>
                <a:latin typeface="Calibri" pitchFamily="34" charset="0"/>
                <a:ea typeface="Calibri" pitchFamily="34" charset="-122"/>
                <a:cs typeface="Calibri" pitchFamily="34" charset="-120"/>
              </a:rPr>
              <a:t>→</a:t>
            </a:r>
            <a:endParaRPr lang="en-US" sz="3000" dirty="0"/>
          </a:p>
        </p:txBody>
      </p:sp>
      <p:sp>
        <p:nvSpPr>
          <p:cNvPr id="26" name="Text 23"/>
          <p:cNvSpPr/>
          <p:nvPr/>
        </p:nvSpPr>
        <p:spPr>
          <a:xfrm>
            <a:off x="9875520" y="3520440"/>
            <a:ext cx="1737360" cy="731520"/>
          </a:xfrm>
          <a:prstGeom prst="rect">
            <a:avLst/>
          </a:prstGeom>
          <a:noFill/>
          <a:ln/>
        </p:spPr>
        <p:txBody>
          <a:bodyPr wrap="square" lIns="0" tIns="0" rIns="0" bIns="0" rtlCol="0" anchor="ctr"/>
          <a:lstStyle/>
          <a:p>
            <a:pPr indent="0" marL="0">
              <a:buNone/>
            </a:pPr>
            <a:r>
              <a:rPr lang="en-US" sz="3800" b="1" dirty="0">
                <a:solidFill>
                  <a:srgbClr val="D55E00"/>
                </a:solidFill>
                <a:latin typeface="Calibri" pitchFamily="34" charset="0"/>
                <a:ea typeface="Calibri" pitchFamily="34" charset="-122"/>
                <a:cs typeface="Calibri" pitchFamily="34" charset="-120"/>
              </a:rPr>
              <a:t>0.940</a:t>
            </a:r>
            <a:endParaRPr lang="en-US" sz="3800" dirty="0"/>
          </a:p>
        </p:txBody>
      </p:sp>
      <p:sp>
        <p:nvSpPr>
          <p:cNvPr id="27" name="Text 24"/>
          <p:cNvSpPr/>
          <p:nvPr/>
        </p:nvSpPr>
        <p:spPr>
          <a:xfrm>
            <a:off x="9875520" y="4251960"/>
            <a:ext cx="1737360" cy="274320"/>
          </a:xfrm>
          <a:prstGeom prst="rect">
            <a:avLst/>
          </a:prstGeom>
          <a:noFill/>
          <a:ln/>
        </p:spPr>
        <p:txBody>
          <a:bodyPr wrap="square" lIns="0" tIns="0" rIns="0" bIns="0" rtlCol="0" anchor="ctr"/>
          <a:lstStyle/>
          <a:p>
            <a:pPr indent="0" marL="0">
              <a:buNone/>
            </a:pPr>
            <a:r>
              <a:rPr lang="en-US" sz="1300" dirty="0">
                <a:solidFill>
                  <a:srgbClr val="5B6B7A"/>
                </a:solidFill>
                <a:latin typeface="Calibri" pitchFamily="34" charset="0"/>
                <a:ea typeface="Calibri" pitchFamily="34" charset="-122"/>
                <a:cs typeface="Calibri" pitchFamily="34" charset="-120"/>
              </a:rPr>
              <a:t>rolling origin</a:t>
            </a:r>
            <a:endParaRPr lang="en-US" sz="1300" dirty="0"/>
          </a:p>
        </p:txBody>
      </p:sp>
      <p:sp>
        <p:nvSpPr>
          <p:cNvPr id="28" name="Text 25"/>
          <p:cNvSpPr/>
          <p:nvPr/>
        </p:nvSpPr>
        <p:spPr>
          <a:xfrm>
            <a:off x="7680960" y="4617720"/>
            <a:ext cx="3794760" cy="777240"/>
          </a:xfrm>
          <a:prstGeom prst="rect">
            <a:avLst/>
          </a:prstGeom>
          <a:noFill/>
          <a:ln/>
        </p:spPr>
        <p:txBody>
          <a:bodyPr wrap="square" lIns="0" tIns="0" rIns="0" bIns="0" rtlCol="0" anchor="t"/>
          <a:lstStyle/>
          <a:p>
            <a:pPr indent="0" marL="0">
              <a:buNone/>
            </a:pPr>
            <a:r>
              <a:rPr lang="en-US" sz="1400" dirty="0">
                <a:solidFill>
                  <a:srgbClr val="1B2733"/>
                </a:solidFill>
                <a:latin typeface="Calibri" pitchFamily="34" charset="0"/>
                <a:ea typeface="Calibri" pitchFamily="34" charset="-122"/>
                <a:cs typeface="Calibri" pitchFamily="34" charset="-120"/>
              </a:rPr>
              <a:t>ARIMA rMAE at one day. The single block was calmer and flattered every model.</a:t>
            </a:r>
            <a:endParaRPr lang="en-US" sz="140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protocol is the credibility of every number that follows: leakage-tested, and one draw of history is never trusted.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METHODS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06CAB"/>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D3DCE6"/>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Scored as a warning system: an alarm budget in alarms per year, not just an error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16 / 34</a:t>
            </a:r>
            <a:endParaRPr lang="en-US" sz="1000" dirty="0"/>
          </a:p>
        </p:txBody>
      </p:sp>
      <p:sp>
        <p:nvSpPr>
          <p:cNvPr id="13" name="Shape 10"/>
          <p:cNvSpPr/>
          <p:nvPr/>
        </p:nvSpPr>
        <p:spPr>
          <a:xfrm>
            <a:off x="54864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ACCURACY</a:t>
            </a:r>
            <a:endParaRPr lang="en-US" sz="1100" dirty="0"/>
          </a:p>
        </p:txBody>
      </p:sp>
      <p:sp>
        <p:nvSpPr>
          <p:cNvPr id="15" name="Text 12"/>
          <p:cNvSpPr/>
          <p:nvPr/>
        </p:nvSpPr>
        <p:spPr>
          <a:xfrm>
            <a:off x="77724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rMAE = MAE(model) / MAE(persistence)</a:t>
            </a:r>
            <a:endParaRPr lang="en-US" sz="1900" dirty="0"/>
          </a:p>
        </p:txBody>
      </p:sp>
      <p:sp>
        <p:nvSpPr>
          <p:cNvPr id="16" name="Text 13"/>
          <p:cNvSpPr/>
          <p:nvPr/>
        </p:nvSpPr>
        <p:spPr>
          <a:xfrm>
            <a:off x="77724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1.000 is persistence; below 1 beats it. Per horizon, never averaged.</a:t>
            </a:r>
            <a:endParaRPr lang="en-US" sz="1550" dirty="0"/>
          </a:p>
        </p:txBody>
      </p:sp>
      <p:sp>
        <p:nvSpPr>
          <p:cNvPr id="17" name="Shape 14"/>
          <p:cNvSpPr/>
          <p:nvPr/>
        </p:nvSpPr>
        <p:spPr>
          <a:xfrm>
            <a:off x="6172200" y="164592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6400800" y="175564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HIT RATE</a:t>
            </a:r>
            <a:endParaRPr lang="en-US" sz="1100" dirty="0"/>
          </a:p>
        </p:txBody>
      </p:sp>
      <p:sp>
        <p:nvSpPr>
          <p:cNvPr id="19" name="Text 16"/>
          <p:cNvSpPr/>
          <p:nvPr/>
        </p:nvSpPr>
        <p:spPr>
          <a:xfrm>
            <a:off x="6400800" y="205740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TP / (TP + FN)</a:t>
            </a:r>
            <a:endParaRPr lang="en-US" sz="1900" dirty="0"/>
          </a:p>
        </p:txBody>
      </p:sp>
      <p:sp>
        <p:nvSpPr>
          <p:cNvPr id="20" name="Text 17"/>
          <p:cNvSpPr/>
          <p:nvPr/>
        </p:nvSpPr>
        <p:spPr>
          <a:xfrm>
            <a:off x="6400800" y="265176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share of actual hazardous days the model catches.</a:t>
            </a:r>
            <a:endParaRPr lang="en-US" sz="1550" dirty="0"/>
          </a:p>
        </p:txBody>
      </p:sp>
      <p:sp>
        <p:nvSpPr>
          <p:cNvPr id="21" name="Shape 18"/>
          <p:cNvSpPr/>
          <p:nvPr/>
        </p:nvSpPr>
        <p:spPr>
          <a:xfrm>
            <a:off x="54864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FALSE ALARM RATE</a:t>
            </a:r>
            <a:endParaRPr lang="en-US" sz="1100" dirty="0"/>
          </a:p>
        </p:txBody>
      </p:sp>
      <p:sp>
        <p:nvSpPr>
          <p:cNvPr id="23" name="Text 20"/>
          <p:cNvSpPr/>
          <p:nvPr/>
        </p:nvSpPr>
        <p:spPr>
          <a:xfrm>
            <a:off x="77724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FP / (FP + TN)</a:t>
            </a:r>
            <a:endParaRPr lang="en-US" sz="1900" dirty="0"/>
          </a:p>
        </p:txBody>
      </p:sp>
      <p:sp>
        <p:nvSpPr>
          <p:cNvPr id="24" name="Text 21"/>
          <p:cNvSpPr/>
          <p:nvPr/>
        </p:nvSpPr>
        <p:spPr>
          <a:xfrm>
            <a:off x="77724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False alarms divided by quiet days, not by alarms raised.</a:t>
            </a:r>
            <a:endParaRPr lang="en-US" sz="1550" dirty="0"/>
          </a:p>
        </p:txBody>
      </p:sp>
      <p:sp>
        <p:nvSpPr>
          <p:cNvPr id="25" name="Shape 22"/>
          <p:cNvSpPr/>
          <p:nvPr/>
        </p:nvSpPr>
        <p:spPr>
          <a:xfrm>
            <a:off x="6172200" y="3520440"/>
            <a:ext cx="5440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6400800" y="3630168"/>
            <a:ext cx="493776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ALARMS PER YEAR</a:t>
            </a:r>
            <a:endParaRPr lang="en-US" sz="1100" dirty="0"/>
          </a:p>
        </p:txBody>
      </p:sp>
      <p:sp>
        <p:nvSpPr>
          <p:cNvPr id="27" name="Text 24"/>
          <p:cNvSpPr/>
          <p:nvPr/>
        </p:nvSpPr>
        <p:spPr>
          <a:xfrm>
            <a:off x="6400800" y="3931920"/>
            <a:ext cx="4937760" cy="548640"/>
          </a:xfrm>
          <a:prstGeom prst="rect">
            <a:avLst/>
          </a:prstGeom>
          <a:noFill/>
          <a:ln/>
        </p:spPr>
        <p:txBody>
          <a:bodyPr wrap="square" lIns="0" tIns="0" rIns="0" bIns="0" rtlCol="0" anchor="ctr"/>
          <a:lstStyle/>
          <a:p>
            <a:pPr indent="0" marL="0">
              <a:buNone/>
            </a:pPr>
            <a:r>
              <a:rPr lang="en-US" sz="1900" b="1" dirty="0">
                <a:solidFill>
                  <a:srgbClr val="0B2545"/>
                </a:solidFill>
                <a:latin typeface="Cambria Math" pitchFamily="34" charset="0"/>
                <a:ea typeface="Cambria Math" pitchFamily="34" charset="-122"/>
                <a:cs typeface="Cambria Math" pitchFamily="34" charset="-120"/>
              </a:rPr>
              <a:t>365.25 (TP + FP) / n</a:t>
            </a:r>
            <a:endParaRPr lang="en-US" sz="1900" dirty="0"/>
          </a:p>
        </p:txBody>
      </p:sp>
      <p:sp>
        <p:nvSpPr>
          <p:cNvPr id="28" name="Text 25"/>
          <p:cNvSpPr/>
          <p:nvPr/>
        </p:nvSpPr>
        <p:spPr>
          <a:xfrm>
            <a:off x="6400800" y="4526280"/>
            <a:ext cx="4937760" cy="640080"/>
          </a:xfrm>
          <a:prstGeom prst="rect">
            <a:avLst/>
          </a:prstGeom>
          <a:noFill/>
          <a:ln/>
        </p:spPr>
        <p:txBody>
          <a:bodyPr wrap="square" lIns="0" tIns="0" rIns="0" bIns="0" rtlCol="0" anchor="t"/>
          <a:lstStyle/>
          <a:p>
            <a:pPr indent="0" marL="0">
              <a:buNone/>
            </a:pPr>
            <a:r>
              <a:rPr lang="en-US" sz="1550" dirty="0">
                <a:solidFill>
                  <a:srgbClr val="1B2733"/>
                </a:solidFill>
                <a:latin typeface="Calibri" pitchFamily="34" charset="0"/>
                <a:ea typeface="Calibri" pitchFamily="34" charset="-122"/>
                <a:cs typeface="Calibri" pitchFamily="34" charset="-120"/>
              </a:rPr>
              <a:t>The unit an operator budgets in.</a:t>
            </a:r>
            <a:endParaRPr lang="en-US" sz="1550" dirty="0"/>
          </a:p>
        </p:txBody>
      </p:sp>
      <p:sp>
        <p:nvSpPr>
          <p:cNvPr id="29" name="Shape 26"/>
          <p:cNvSpPr/>
          <p:nvPr/>
        </p:nvSpPr>
        <p:spPr>
          <a:xfrm>
            <a:off x="548640" y="5669280"/>
            <a:ext cx="1371600" cy="685800"/>
          </a:xfrm>
          <a:prstGeom prst="rect">
            <a:avLst/>
          </a:prstGeom>
          <a:solidFill>
            <a:srgbClr val="0B2545"/>
          </a:solidFill>
          <a:ln w="12700">
            <a:solidFill>
              <a:srgbClr val="0B2545"/>
            </a:solidFill>
            <a:prstDash val="solid"/>
          </a:ln>
        </p:spPr>
      </p:sp>
      <p:sp>
        <p:nvSpPr>
          <p:cNvPr id="30" name="Text 2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1" name="Shape 28"/>
          <p:cNvSpPr/>
          <p:nvPr/>
        </p:nvSpPr>
        <p:spPr>
          <a:xfrm>
            <a:off x="1920240" y="5669280"/>
            <a:ext cx="9722815" cy="685800"/>
          </a:xfrm>
          <a:prstGeom prst="rect">
            <a:avLst/>
          </a:prstGeom>
          <a:solidFill>
            <a:srgbClr val="DCEAF5"/>
          </a:solidFill>
          <a:ln w="12700">
            <a:solidFill>
              <a:srgbClr val="DCEAF5"/>
            </a:solidFill>
            <a:prstDash val="solid"/>
          </a:ln>
        </p:spPr>
      </p:sp>
      <p:sp>
        <p:nvSpPr>
          <p:cNvPr id="32" name="Text 2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Plain accuracy is never reported: with hazardous days a minority, a model that never alarms scores high by construction.</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RQ1: the networks win only at one day ahead, and ARIMA beats every ML regressor</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17 / 34</a:t>
            </a:r>
            <a:endParaRPr lang="en-US" sz="1000" dirty="0"/>
          </a:p>
        </p:txBody>
      </p:sp>
      <p:sp>
        <p:nvSpPr>
          <p:cNvPr id="13" name="Text 10"/>
          <p:cNvSpPr/>
          <p:nvPr/>
        </p:nvSpPr>
        <p:spPr>
          <a:xfrm>
            <a:off x="548640" y="1481328"/>
            <a:ext cx="10972800" cy="274320"/>
          </a:xfrm>
          <a:prstGeom prst="rect">
            <a:avLst/>
          </a:prstGeom>
          <a:noFill/>
          <a:ln/>
        </p:spPr>
        <p:txBody>
          <a:bodyPr wrap="square" lIns="0" tIns="0" rIns="0" bIns="0" rtlCol="0" anchor="ctr"/>
          <a:lstStyle/>
          <a:p>
            <a:pPr indent="0" marL="0">
              <a:buNone/>
            </a:pPr>
            <a:r>
              <a:rPr lang="en-US" sz="1400" i="1" dirty="0">
                <a:solidFill>
                  <a:srgbClr val="5B6B7A"/>
                </a:solidFill>
                <a:latin typeface="Calibri" pitchFamily="34" charset="0"/>
                <a:ea typeface="Calibri" pitchFamily="34" charset="-122"/>
                <a:cs typeface="Calibri" pitchFamily="34" charset="-120"/>
              </a:rPr>
              <a:t>rMAE: error compared with simply repeating yesterday's value (the dashed line at 1.0). Further left is better.</a:t>
            </a:r>
            <a:endParaRPr lang="en-US" sz="1400" dirty="0"/>
          </a:p>
        </p:txBody>
      </p:sp>
      <p:pic>
        <p:nvPicPr>
          <p:cNvPr id="14" name="Image 0" descr="Plot of relative error for nine models at one, two and three days ahead: the three networks beat ARIMA only at one day, and every machine learning regressor trails ARIMA.">    </p:cNvPr>
          <p:cNvPicPr>
            <a:picLocks noChangeAspect="1"/>
          </p:cNvPicPr>
          <p:nvPr/>
        </p:nvPicPr>
        <p:blipFill>
          <a:blip r:embed="rId1"/>
          <a:stretch>
            <a:fillRect/>
          </a:stretch>
        </p:blipFill>
        <p:spPr>
          <a:xfrm>
            <a:off x="1294325" y="1783080"/>
            <a:ext cx="9603045" cy="3474720"/>
          </a:xfrm>
          <a:prstGeom prst="rect">
            <a:avLst/>
          </a:prstGeom>
        </p:spPr>
      </p:pic>
      <p:sp>
        <p:nvSpPr>
          <p:cNvPr id="15" name="Text 11"/>
          <p:cNvSpPr/>
          <p:nvPr/>
        </p:nvSpPr>
        <p:spPr>
          <a:xfrm>
            <a:off x="548640" y="5303520"/>
            <a:ext cx="109728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4.1 drawn: bars are ten-seed ranges; the diamond is ARIMA; dots are single fits. Climatology (1.415 at h = 1) and seasonal naive (1.759) are off this axis; see B1.</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Networks: 0.910 to 0.939 vs ARIMA 0.940 at one day. At three days 0.831 vs 0.832 is a tie. Every ML regressor trails ARIMA throughout.</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Both models follow each winter episode; the networks' edge shows on the sharpest rises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18 / 34</a:t>
            </a:r>
            <a:endParaRPr lang="en-US" sz="1000" dirty="0"/>
          </a:p>
        </p:txBody>
      </p:sp>
      <p:sp>
        <p:nvSpPr>
          <p:cNvPr id="13" name="Shape 10"/>
          <p:cNvSpPr/>
          <p:nvPr/>
        </p:nvSpPr>
        <p:spPr>
          <a:xfrm>
            <a:off x="550054" y="1581912"/>
            <a:ext cx="11091588" cy="3511296"/>
          </a:xfrm>
          <a:prstGeom prst="roundRect">
            <a:avLst>
              <a:gd name="adj" fmla="val 208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Observed PM2.5 over winter 2024 to 2025 with ARIMA and GRU one-day-ahead forecasts both following each episode.">    </p:cNvPr>
          <p:cNvPicPr>
            <a:picLocks noChangeAspect="1"/>
          </p:cNvPicPr>
          <p:nvPr/>
        </p:nvPicPr>
        <p:blipFill>
          <a:blip r:embed="rId1"/>
          <a:stretch>
            <a:fillRect/>
          </a:stretch>
        </p:blipFill>
        <p:spPr>
          <a:xfrm>
            <a:off x="659782" y="1691640"/>
            <a:ext cx="10872132" cy="3291840"/>
          </a:xfrm>
          <a:prstGeom prst="rect">
            <a:avLst/>
          </a:prstGeom>
        </p:spPr>
      </p:pic>
      <p:sp>
        <p:nvSpPr>
          <p:cNvPr id="15" name="Text 11"/>
          <p:cNvSpPr/>
          <p:nvPr/>
        </p:nvSpPr>
        <p:spPr>
          <a:xfrm>
            <a:off x="548640" y="5148072"/>
            <a:ext cx="10515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One representative winter, November 2024 to February 2025 (report Figure 4.2, redrawn). The GRU line is seed 0 alone, for illustration only.</a:t>
            </a:r>
            <a:endParaRPr lang="en-US" sz="12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edge is a short-range one: the forecast tracks the shape of each episode, with the gap on the sharpest rises.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A network's result is a range, not a number, and the spread rivals the gaps between models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19 / 34</a:t>
            </a:r>
            <a:endParaRPr lang="en-US" sz="1000" dirty="0"/>
          </a:p>
        </p:txBody>
      </p:sp>
      <p:sp>
        <p:nvSpPr>
          <p:cNvPr id="13" name="Shape 10"/>
          <p:cNvSpPr/>
          <p:nvPr/>
        </p:nvSpPr>
        <p:spPr>
          <a:xfrm>
            <a:off x="438912" y="1638950"/>
            <a:ext cx="6620256" cy="3900140"/>
          </a:xfrm>
          <a:prstGeom prst="roundRect">
            <a:avLst>
              <a:gd name="adj" fmla="val 187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Bar chart of the spread across ten seeds for GRU, LSTM and transformer at each horizon, against a 0.004 noise floor; the GRU reaches 0.048 at three days.">    </p:cNvPr>
          <p:cNvPicPr>
            <a:picLocks noChangeAspect="1"/>
          </p:cNvPicPr>
          <p:nvPr/>
        </p:nvPicPr>
        <p:blipFill>
          <a:blip r:embed="rId1"/>
          <a:stretch>
            <a:fillRect/>
          </a:stretch>
        </p:blipFill>
        <p:spPr>
          <a:xfrm>
            <a:off x="548640" y="1748678"/>
            <a:ext cx="6400800" cy="3680684"/>
          </a:xfrm>
          <a:prstGeom prst="rect">
            <a:avLst/>
          </a:prstGeom>
        </p:spPr>
      </p:pic>
      <p:sp>
        <p:nvSpPr>
          <p:cNvPr id="15" name="Text 11"/>
          <p:cNvSpPr/>
          <p:nvPr/>
        </p:nvSpPr>
        <p:spPr>
          <a:xfrm>
            <a:off x="7315200" y="1783080"/>
            <a:ext cx="4343400" cy="3657600"/>
          </a:xfrm>
          <a:prstGeom prst="rect">
            <a:avLst/>
          </a:prstGeom>
          <a:noFill/>
          <a:ln/>
        </p:spPr>
        <p:txBody>
          <a:bodyPr wrap="square" lIns="0" tIns="0" rIns="0" bIns="0" rtlCol="0" anchor="t"/>
          <a:lstStyle/>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Spread of ten seeds: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GRU 0.029, 0.028, 0.048 at h = 1, 2, 3; wider than some gaps in the table.</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Noise floor 0.004: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tree models moved this much between two machines.</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Same seed, same machine </a:t>
            </a:r>
            <a:pPr indent="0" marL="0">
              <a:lnSpc>
                <a:spcPct val="105000"/>
              </a:lnSpc>
              <a:spcAft>
                <a:spcPts val="900"/>
              </a:spcAft>
              <a:buNone/>
            </a:pPr>
            <a:r>
              <a:rPr lang="en-US" sz="1700" dirty="0">
                <a:solidFill>
                  <a:srgbClr val="1B2733"/>
                </a:solidFill>
                <a:latin typeface="Calibri" pitchFamily="34" charset="0"/>
                <a:ea typeface="Calibri" pitchFamily="34" charset="-122"/>
                <a:cs typeface="Calibri" pitchFamily="34" charset="-120"/>
              </a:rPr>
              <a:t>still moved the GRU nearly as much as a new seed.</a:t>
            </a:r>
            <a:endParaRPr lang="en-US" sz="1700" dirty="0"/>
          </a:p>
          <a:p>
            <a:pPr marL="228600" indent="-228600">
              <a:lnSpc>
                <a:spcPct val="105000"/>
              </a:lnSpc>
              <a:buSzPct val="100000"/>
              <a:buChar char="•"/>
            </a:pPr>
            <a:r>
              <a:rPr lang="en-US" sz="1700" b="1" dirty="0">
                <a:solidFill>
                  <a:srgbClr val="0B2545"/>
                </a:solidFill>
                <a:latin typeface="Calibri" pitchFamily="34" charset="0"/>
                <a:ea typeface="Calibri" pitchFamily="34" charset="-122"/>
                <a:cs typeface="Calibri" pitchFamily="34" charset="-120"/>
              </a:rPr>
              <a:t>So five seeds became ten.</a:t>
            </a:r>
            <a:pPr indent="0" marL="0">
              <a:lnSpc>
                <a:spcPct val="105000"/>
              </a:lnSpc>
              <a:spcAft>
                <a:spcPts val="900"/>
              </a:spcAft>
              <a:buNone/>
            </a:pPr>
            <a:endParaRPr lang="en-US" sz="1700" dirty="0"/>
          </a:p>
        </p:txBody>
      </p:sp>
      <p:sp>
        <p:nvSpPr>
          <p:cNvPr id="16" name="Shape 12"/>
          <p:cNvSpPr/>
          <p:nvPr/>
        </p:nvSpPr>
        <p:spPr>
          <a:xfrm>
            <a:off x="548640" y="5669280"/>
            <a:ext cx="1371600" cy="685800"/>
          </a:xfrm>
          <a:prstGeom prst="rect">
            <a:avLst/>
          </a:prstGeom>
          <a:solidFill>
            <a:srgbClr val="0B2545"/>
          </a:solidFill>
          <a:ln w="12700">
            <a:solidFill>
              <a:srgbClr val="0B2545"/>
            </a:solidFill>
            <a:prstDash val="solid"/>
          </a:ln>
        </p:spPr>
      </p:sp>
      <p:sp>
        <p:nvSpPr>
          <p:cNvPr id="17" name="Text 1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8" name="Shape 14"/>
          <p:cNvSpPr/>
          <p:nvPr/>
        </p:nvSpPr>
        <p:spPr>
          <a:xfrm>
            <a:off x="1920240" y="5669280"/>
            <a:ext cx="9722815" cy="685800"/>
          </a:xfrm>
          <a:prstGeom prst="rect">
            <a:avLst/>
          </a:prstGeom>
          <a:solidFill>
            <a:srgbClr val="DCEAF5"/>
          </a:solidFill>
          <a:ln w="12700">
            <a:solidFill>
              <a:srgbClr val="DCEAF5"/>
            </a:solidFill>
            <a:prstDash val="solid"/>
          </a:ln>
        </p:spPr>
      </p:sp>
      <p:sp>
        <p:nvSpPr>
          <p:cNvPr id="19" name="Text 1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single seed could be reported as beating or losing to a rival at the analyst's convenience: only ranges are honest.</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Formal tests are more conservative than counting seeds, and the picture holds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20 / 34</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5943600" cy="914400"/>
        </p:xfrm>
        <a:graphic>
          <a:graphicData uri="http://schemas.openxmlformats.org/drawingml/2006/table">
            <a:tbl>
              <a:tblPr/>
              <a:tblGrid>
                <a:gridCol w="2926080"/>
                <a:gridCol w="1005840"/>
                <a:gridCol w="1005840"/>
                <a:gridCol w="1005840"/>
              </a:tblGrid>
              <a:tr h="530352">
                <a:tc>
                  <a:txBody>
                    <a:bodyPr/>
                    <a:lstStyle/>
                    <a:p>
                      <a:pPr algn="l" indent="0" marL="0">
                        <a:buNone/>
                      </a:pPr>
                      <a:r>
                        <a:rPr lang="en-US" sz="1550" b="1" dirty="0">
                          <a:solidFill>
                            <a:srgbClr val="FFFFFF"/>
                          </a:solidFill>
                          <a:latin typeface="Calibri" pitchFamily="34" charset="0"/>
                          <a:ea typeface="Calibri" pitchFamily="34" charset="-122"/>
                          <a:cs typeface="Calibri" pitchFamily="34" charset="-120"/>
                        </a:rPr>
                        <a:t>Seeds with p &lt; 0.05 vs ARIMA</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1</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2</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50" b="1" dirty="0">
                          <a:solidFill>
                            <a:srgbClr val="FFFFFF"/>
                          </a:solidFill>
                          <a:latin typeface="Calibri" pitchFamily="34" charset="0"/>
                          <a:ea typeface="Calibri" pitchFamily="34" charset="-122"/>
                          <a:cs typeface="Calibri" pitchFamily="34" charset="-120"/>
                        </a:rPr>
                        <a:t>h = 3</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4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GRU with weather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1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LSTM</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5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30352">
                <a:tc>
                  <a:txBody>
                    <a:bodyPr/>
                    <a:lstStyle/>
                    <a:p>
                      <a:pPr algn="l" indent="0" marL="0">
                        <a:buNone/>
                      </a:pPr>
                      <a:r>
                        <a:rPr lang="en-US" sz="1550" dirty="0">
                          <a:solidFill>
                            <a:srgbClr val="1B2733"/>
                          </a:solidFill>
                          <a:latin typeface="Calibri" pitchFamily="34" charset="0"/>
                          <a:ea typeface="Calibri" pitchFamily="34" charset="-122"/>
                          <a:cs typeface="Calibri" pitchFamily="34" charset="-120"/>
                        </a:rPr>
                        <a:t>Transformer</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b="1" dirty="0">
                          <a:solidFill>
                            <a:srgbClr val="0B2545"/>
                          </a:solidFill>
                          <a:latin typeface="Calibri" pitchFamily="34" charset="0"/>
                          <a:ea typeface="Calibri" pitchFamily="34" charset="-122"/>
                          <a:cs typeface="Calibri" pitchFamily="34" charset="-120"/>
                        </a:rPr>
                        <a:t>7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50" dirty="0">
                          <a:solidFill>
                            <a:srgbClr val="1B2733"/>
                          </a:solidFill>
                          <a:latin typeface="Calibri" pitchFamily="34" charset="0"/>
                          <a:ea typeface="Calibri" pitchFamily="34" charset="-122"/>
                          <a:cs typeface="Calibri" pitchFamily="34" charset="-120"/>
                        </a:rPr>
                        <a:t>0 / 10</a:t>
                      </a:r>
                      <a:endParaRPr lang="en-US" sz="15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4434840"/>
            <a:ext cx="5943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4.2. The one significant 3-day GRU seed (p = 0.0056) favours ARIMA.</a:t>
            </a:r>
            <a:endParaRPr lang="en-US" sz="1200" dirty="0"/>
          </a:p>
        </p:txBody>
      </p:sp>
      <p:sp>
        <p:nvSpPr>
          <p:cNvPr id="15" name="Shape 11"/>
          <p:cNvSpPr/>
          <p:nvPr/>
        </p:nvSpPr>
        <p:spPr>
          <a:xfrm>
            <a:off x="548640" y="4754880"/>
            <a:ext cx="5943600" cy="777240"/>
          </a:xfrm>
          <a:prstGeom prst="roundRect">
            <a:avLst>
              <a:gd name="adj" fmla="val 9412"/>
            </a:avLst>
          </a:prstGeom>
          <a:solidFill>
            <a:srgbClr val="DCEAF5"/>
          </a:solidFill>
          <a:ln w="9525">
            <a:solidFill>
              <a:srgbClr val="D3DCE6"/>
            </a:solidFill>
            <a:prstDash val="solid"/>
          </a:ln>
        </p:spPr>
      </p:sp>
      <p:sp>
        <p:nvSpPr>
          <p:cNvPr id="16" name="Text 12"/>
          <p:cNvSpPr/>
          <p:nvPr/>
        </p:nvSpPr>
        <p:spPr>
          <a:xfrm>
            <a:off x="731520" y="4754880"/>
            <a:ext cx="5577840" cy="777240"/>
          </a:xfrm>
          <a:prstGeom prst="rect">
            <a:avLst/>
          </a:prstGeom>
          <a:noFill/>
          <a:ln/>
        </p:spPr>
        <p:txBody>
          <a:bodyPr wrap="square" lIns="0" tIns="0" rIns="0" bIns="0" rtlCol="0" anchor="ctr"/>
          <a:lstStyle/>
          <a:p>
            <a:pPr indent="0" marL="0">
              <a:buNone/>
            </a:pPr>
            <a:r>
              <a:rPr lang="en-US" sz="1450" dirty="0">
                <a:solidFill>
                  <a:srgbClr val="0B2545"/>
                </a:solidFill>
                <a:latin typeface="Calibri" pitchFamily="34" charset="0"/>
                <a:ea typeface="Calibri" pitchFamily="34" charset="-122"/>
                <a:cs typeface="Calibri" pitchFamily="34" charset="-120"/>
              </a:rPr>
              <a:t>Four of ten significant is a small-sample proportion: 95% Wilson interval 0.17 to 0.69.</a:t>
            </a:r>
            <a:endParaRPr lang="en-US" sz="1450" dirty="0"/>
          </a:p>
        </p:txBody>
      </p:sp>
      <p:sp>
        <p:nvSpPr>
          <p:cNvPr id="17" name="Shape 13"/>
          <p:cNvSpPr/>
          <p:nvPr/>
        </p:nvSpPr>
        <p:spPr>
          <a:xfrm>
            <a:off x="704088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4"/>
          <p:cNvSpPr/>
          <p:nvPr/>
        </p:nvSpPr>
        <p:spPr>
          <a:xfrm>
            <a:off x="7178040" y="1764792"/>
            <a:ext cx="1965960" cy="777240"/>
          </a:xfrm>
          <a:prstGeom prst="rect">
            <a:avLst/>
          </a:prstGeom>
          <a:noFill/>
          <a:ln/>
        </p:spPr>
        <p:txBody>
          <a:bodyPr wrap="square" lIns="0" tIns="0" rIns="0" bIns="0" rtlCol="0" anchor="ctr"/>
          <a:lstStyle/>
          <a:p>
            <a:pPr indent="0" marL="0">
              <a:buNone/>
            </a:pPr>
            <a:r>
              <a:rPr lang="en-US" sz="3200" b="1" dirty="0">
                <a:solidFill>
                  <a:srgbClr val="006CAB"/>
                </a:solidFill>
                <a:latin typeface="Calibri" pitchFamily="34" charset="0"/>
                <a:ea typeface="Calibri" pitchFamily="34" charset="-122"/>
                <a:cs typeface="Calibri" pitchFamily="34" charset="-120"/>
              </a:rPr>
              <a:t>14 of 15</a:t>
            </a:r>
            <a:endParaRPr lang="en-US" sz="3200" dirty="0"/>
          </a:p>
        </p:txBody>
      </p:sp>
      <p:sp>
        <p:nvSpPr>
          <p:cNvPr id="19" name="Text 15"/>
          <p:cNvSpPr/>
          <p:nvPr/>
        </p:nvSpPr>
        <p:spPr>
          <a:xfrm>
            <a:off x="717804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regressor tests favour ARIMA at p &lt; 0.05</a:t>
            </a:r>
            <a:endParaRPr lang="en-US" sz="1350" dirty="0"/>
          </a:p>
        </p:txBody>
      </p:sp>
      <p:sp>
        <p:nvSpPr>
          <p:cNvPr id="20" name="Shape 16"/>
          <p:cNvSpPr/>
          <p:nvPr/>
        </p:nvSpPr>
        <p:spPr>
          <a:xfrm>
            <a:off x="9418320" y="1691640"/>
            <a:ext cx="2240280" cy="1554480"/>
          </a:xfrm>
          <a:prstGeom prst="roundRect">
            <a:avLst>
              <a:gd name="adj" fmla="val 470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1" name="Text 17"/>
          <p:cNvSpPr/>
          <p:nvPr/>
        </p:nvSpPr>
        <p:spPr>
          <a:xfrm>
            <a:off x="9555480" y="1764792"/>
            <a:ext cx="1965960" cy="777240"/>
          </a:xfrm>
          <a:prstGeom prst="rect">
            <a:avLst/>
          </a:prstGeom>
          <a:noFill/>
          <a:ln/>
        </p:spPr>
        <p:txBody>
          <a:bodyPr wrap="square" lIns="0" tIns="0" rIns="0" bIns="0" rtlCol="0" anchor="ctr"/>
          <a:lstStyle/>
          <a:p>
            <a:pPr indent="0" marL="0">
              <a:buNone/>
            </a:pPr>
            <a:r>
              <a:rPr lang="en-US" sz="3200" b="1" dirty="0">
                <a:solidFill>
                  <a:srgbClr val="D55E00"/>
                </a:solidFill>
                <a:latin typeface="Calibri" pitchFamily="34" charset="0"/>
                <a:ea typeface="Calibri" pitchFamily="34" charset="-122"/>
                <a:cs typeface="Calibri" pitchFamily="34" charset="-120"/>
              </a:rPr>
              <a:t>6 of 27</a:t>
            </a:r>
            <a:endParaRPr lang="en-US" sz="3200" dirty="0"/>
          </a:p>
        </p:txBody>
      </p:sp>
      <p:sp>
        <p:nvSpPr>
          <p:cNvPr id="22" name="Text 18"/>
          <p:cNvSpPr/>
          <p:nvPr/>
        </p:nvSpPr>
        <p:spPr>
          <a:xfrm>
            <a:off x="9555480" y="2562149"/>
            <a:ext cx="1965960" cy="65288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tests survive a Bonferroni correction</a:t>
            </a:r>
            <a:endParaRPr lang="en-US" sz="1350" dirty="0"/>
          </a:p>
        </p:txBody>
      </p:sp>
      <p:sp>
        <p:nvSpPr>
          <p:cNvPr id="23" name="Shape 19"/>
          <p:cNvSpPr/>
          <p:nvPr/>
        </p:nvSpPr>
        <p:spPr>
          <a:xfrm>
            <a:off x="7040880" y="3429000"/>
            <a:ext cx="4617720" cy="2103120"/>
          </a:xfrm>
          <a:prstGeom prst="roundRect">
            <a:avLst>
              <a:gd name="adj" fmla="val 3478"/>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Text 20"/>
          <p:cNvSpPr/>
          <p:nvPr/>
        </p:nvSpPr>
        <p:spPr>
          <a:xfrm>
            <a:off x="7223760" y="3520440"/>
            <a:ext cx="4251960" cy="36576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Read beyond one day as suggestive</a:t>
            </a:r>
            <a:endParaRPr lang="en-US" sz="1650" dirty="0"/>
          </a:p>
        </p:txBody>
      </p:sp>
      <p:sp>
        <p:nvSpPr>
          <p:cNvPr id="25" name="Text 21"/>
          <p:cNvSpPr/>
          <p:nvPr/>
        </p:nvSpPr>
        <p:spPr>
          <a:xfrm>
            <a:off x="7223760" y="3931920"/>
            <a:ext cx="4251960" cy="155448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Twenty-seven tests, no joint correction: about 1.4 false positives expected by chance. After Bonferroni, none of the plain GRU, LSTM or transformer survives.</a:t>
            </a:r>
            <a:endParaRPr lang="en-US" sz="1500" dirty="0"/>
          </a:p>
        </p:txBody>
      </p:sp>
      <p:sp>
        <p:nvSpPr>
          <p:cNvPr id="26"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7"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8"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9"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One-day wins are real but modest; beyond one day nothing is confirmed, and the report says so.</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Two reasons for ruling models out did not survive being tested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21 / 34</a:t>
            </a:r>
            <a:endParaRPr lang="en-US" sz="1000" dirty="0"/>
          </a:p>
        </p:txBody>
      </p:sp>
      <p:sp>
        <p:nvSpPr>
          <p:cNvPr id="13" name="Shape 10"/>
          <p:cNvSpPr/>
          <p:nvPr/>
        </p:nvSpPr>
        <p:spPr>
          <a:xfrm>
            <a:off x="548640" y="1691640"/>
            <a:ext cx="5440680" cy="3246120"/>
          </a:xfrm>
          <a:prstGeom prst="roundRect">
            <a:avLst>
              <a:gd name="adj" fmla="val 22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1: FEWER PARAMETERS FAVOUR THE GRU</a:t>
            </a:r>
            <a:endParaRPr lang="en-US" sz="1100" dirty="0"/>
          </a:p>
        </p:txBody>
      </p:sp>
      <p:sp>
        <p:nvSpPr>
          <p:cNvPr id="15" name="Text 12"/>
          <p:cNvSpPr/>
          <p:nvPr/>
        </p:nvSpPr>
        <p:spPr>
          <a:xfrm>
            <a:off x="777240" y="2194560"/>
            <a:ext cx="4983480" cy="548640"/>
          </a:xfrm>
          <a:prstGeom prst="rect">
            <a:avLst/>
          </a:prstGeom>
          <a:noFill/>
          <a:ln/>
        </p:spPr>
        <p:txBody>
          <a:bodyPr wrap="square" lIns="0" tIns="0" rIns="0" bIns="0" rtlCol="0" anchor="ctr"/>
          <a:lstStyle/>
          <a:p>
            <a:pPr indent="0" marL="0">
              <a:buNone/>
            </a:pPr>
            <a:r>
              <a:rPr lang="en-US" sz="2200" b="1" dirty="0">
                <a:solidFill>
                  <a:srgbClr val="D55E00"/>
                </a:solidFill>
                <a:latin typeface="Calibri" pitchFamily="34" charset="0"/>
                <a:ea typeface="Calibri" pitchFamily="34" charset="-122"/>
                <a:cs typeface="Calibri" pitchFamily="34" charset="-120"/>
              </a:rPr>
              <a:t>LSTM beats GRU at every horizon</a:t>
            </a:r>
            <a:endParaRPr lang="en-US" sz="2200" dirty="0"/>
          </a:p>
        </p:txBody>
      </p:sp>
      <p:sp>
        <p:nvSpPr>
          <p:cNvPr id="16" name="Text 13"/>
          <p:cNvSpPr/>
          <p:nvPr/>
        </p:nvSpPr>
        <p:spPr>
          <a:xfrm>
            <a:off x="77724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by 0.005, 0.008, 0.013 rMAE</a:t>
            </a:r>
            <a:endParaRPr lang="en-US" sz="1700" dirty="0"/>
          </a:p>
        </p:txBody>
      </p:sp>
      <p:sp>
        <p:nvSpPr>
          <p:cNvPr id="17" name="Text 14"/>
          <p:cNvSpPr/>
          <p:nvPr/>
        </p:nvSpPr>
        <p:spPr>
          <a:xfrm>
            <a:off x="77724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3,097 parameters against 2,329, a third more. The smaller network is not winning because it is smaller.</a:t>
            </a:r>
            <a:endParaRPr lang="en-US" sz="2000" dirty="0"/>
          </a:p>
        </p:txBody>
      </p:sp>
      <p:sp>
        <p:nvSpPr>
          <p:cNvPr id="18" name="Shape 15"/>
          <p:cNvSpPr/>
          <p:nvPr/>
        </p:nvSpPr>
        <p:spPr>
          <a:xfrm>
            <a:off x="6172200" y="1691640"/>
            <a:ext cx="5440680" cy="3246120"/>
          </a:xfrm>
          <a:prstGeom prst="roundRect">
            <a:avLst>
              <a:gd name="adj" fmla="val 22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6"/>
          <p:cNvSpPr/>
          <p:nvPr/>
        </p:nvSpPr>
        <p:spPr>
          <a:xfrm>
            <a:off x="6400800" y="1810512"/>
            <a:ext cx="498348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Calibri" pitchFamily="34" charset="0"/>
                <a:ea typeface="Calibri" pitchFamily="34" charset="-122"/>
                <a:cs typeface="Calibri" pitchFamily="34" charset="-120"/>
              </a:rPr>
              <a:t>ARGUMENT 2: TOO LITTLE DATA FOR A TRANSFORMER</a:t>
            </a:r>
            <a:endParaRPr lang="en-US" sz="1100" dirty="0"/>
          </a:p>
        </p:txBody>
      </p:sp>
      <p:sp>
        <p:nvSpPr>
          <p:cNvPr id="20" name="Text 17"/>
          <p:cNvSpPr/>
          <p:nvPr/>
        </p:nvSpPr>
        <p:spPr>
          <a:xfrm>
            <a:off x="6400800" y="2194560"/>
            <a:ext cx="4983480" cy="548640"/>
          </a:xfrm>
          <a:prstGeom prst="rect">
            <a:avLst/>
          </a:prstGeom>
          <a:noFill/>
          <a:ln/>
        </p:spPr>
        <p:txBody>
          <a:bodyPr wrap="square" lIns="0" tIns="0" rIns="0" bIns="0" rtlCol="0" anchor="ctr"/>
          <a:lstStyle/>
          <a:p>
            <a:pPr indent="0" marL="0">
              <a:buNone/>
            </a:pPr>
            <a:r>
              <a:rPr lang="en-US" sz="2200" b="1" dirty="0">
                <a:solidFill>
                  <a:srgbClr val="D55E00"/>
                </a:solidFill>
                <a:latin typeface="Calibri" pitchFamily="34" charset="0"/>
                <a:ea typeface="Calibri" pitchFamily="34" charset="-122"/>
                <a:cs typeface="Calibri" pitchFamily="34" charset="-120"/>
              </a:rPr>
              <a:t>Transformer beats GRU in 8 of 10 seeds</a:t>
            </a:r>
            <a:endParaRPr lang="en-US" sz="2200" dirty="0"/>
          </a:p>
        </p:txBody>
      </p:sp>
      <p:sp>
        <p:nvSpPr>
          <p:cNvPr id="21" name="Text 18"/>
          <p:cNvSpPr/>
          <p:nvPr/>
        </p:nvSpPr>
        <p:spPr>
          <a:xfrm>
            <a:off x="6400800" y="2743200"/>
            <a:ext cx="4983480" cy="41148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at every horizon, and matches the LSTM</a:t>
            </a:r>
            <a:endParaRPr lang="en-US" sz="1700" dirty="0"/>
          </a:p>
        </p:txBody>
      </p:sp>
      <p:sp>
        <p:nvSpPr>
          <p:cNvPr id="22" name="Text 19"/>
          <p:cNvSpPr/>
          <p:nvPr/>
        </p:nvSpPr>
        <p:spPr>
          <a:xfrm>
            <a:off x="6400800" y="3337560"/>
            <a:ext cx="4983480" cy="2011680"/>
          </a:xfrm>
          <a:prstGeom prst="rect">
            <a:avLst/>
          </a:prstGeom>
          <a:noFill/>
          <a:ln/>
        </p:spPr>
        <p:txBody>
          <a:bodyPr wrap="square" lIns="0" tIns="0" rIns="0" bIns="0" rtlCol="0" anchor="t"/>
          <a:lstStyle/>
          <a:p>
            <a:pPr indent="0" marL="0">
              <a:buNone/>
            </a:pPr>
            <a:r>
              <a:rPr lang="en-US" sz="2000" dirty="0">
                <a:solidFill>
                  <a:srgbClr val="1B2733"/>
                </a:solidFill>
                <a:latin typeface="Calibri" pitchFamily="34" charset="0"/>
                <a:ea typeface="Calibri" pitchFamily="34" charset="-122"/>
                <a:cs typeface="Calibri" pitchFamily="34" charset="-120"/>
              </a:rPr>
              <a:t>Dr Tian's count of about 4,000 days clears the threshold. At one day it has the strongest formal result: 7 of 10 seeds significant.</a:t>
            </a:r>
            <a:endParaRPr lang="en-US" sz="2000" dirty="0"/>
          </a:p>
        </p:txBody>
      </p:sp>
      <p:sp>
        <p:nvSpPr>
          <p:cNvPr id="23" name="Shape 20"/>
          <p:cNvSpPr/>
          <p:nvPr/>
        </p:nvSpPr>
        <p:spPr>
          <a:xfrm>
            <a:off x="548640" y="5074920"/>
            <a:ext cx="11094415" cy="457200"/>
          </a:xfrm>
          <a:prstGeom prst="roundRect">
            <a:avLst>
              <a:gd name="adj" fmla="val 16000"/>
            </a:avLst>
          </a:prstGeom>
          <a:solidFill>
            <a:srgbClr val="FFFFFF"/>
          </a:solidFill>
          <a:ln w="9525">
            <a:solidFill>
              <a:srgbClr val="D3DCE6"/>
            </a:solidFill>
            <a:prstDash val="solid"/>
          </a:ln>
        </p:spPr>
      </p:sp>
      <p:sp>
        <p:nvSpPr>
          <p:cNvPr id="24" name="Text 21"/>
          <p:cNvSpPr/>
          <p:nvPr/>
        </p:nvSpPr>
        <p:spPr>
          <a:xfrm>
            <a:off x="731520" y="5074920"/>
            <a:ext cx="10728655" cy="457200"/>
          </a:xfrm>
          <a:prstGeom prst="rect">
            <a:avLst/>
          </a:prstGeom>
          <a:noFill/>
          <a:ln/>
        </p:spPr>
        <p:txBody>
          <a:bodyPr wrap="square" lIns="0" tIns="0" rIns="0" bIns="0" rtlCol="0" anchor="ctr"/>
          <a:lstStyle/>
          <a:p>
            <a:pPr indent="0" marL="0">
              <a:buNone/>
            </a:pPr>
            <a:r>
              <a:rPr lang="en-US" sz="1350" i="1" dirty="0">
                <a:solidFill>
                  <a:srgbClr val="5B6B7A"/>
                </a:solidFill>
                <a:latin typeface="Calibri" pitchFamily="34" charset="0"/>
                <a:ea typeface="Calibri" pitchFamily="34" charset="-122"/>
                <a:cs typeface="Calibri" pitchFamily="34" charset="-120"/>
              </a:rPr>
              <a:t>Caveat stated in the report: the transformer's four settings were inherited from a single-split check, not tuned. This is one configuration's result.</a:t>
            </a:r>
            <a:endParaRPr lang="en-US" sz="135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defensible prior is not evidence: both arguments were tested directly, and neither is supported.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Weather helps at one day ahead and leaves two and three days a tie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22 / 34</a:t>
            </a:r>
            <a:endParaRPr lang="en-US" sz="1000" dirty="0"/>
          </a:p>
        </p:txBody>
      </p:sp>
      <p:sp>
        <p:nvSpPr>
          <p:cNvPr id="13" name="Shape 10"/>
          <p:cNvSpPr/>
          <p:nvPr/>
        </p:nvSpPr>
        <p:spPr>
          <a:xfrm>
            <a:off x="836845" y="1627632"/>
            <a:ext cx="6098709" cy="3054096"/>
          </a:xfrm>
          <a:prstGeom prst="roundRect">
            <a:avLst>
              <a:gd name="adj" fmla="val 2395"/>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4" name="Image 0" descr="GRU ranges over ten seeds with and without weather at each horizon, against the ARIMA line; they separate only at one day.">    </p:cNvPr>
          <p:cNvPicPr>
            <a:picLocks noChangeAspect="1"/>
          </p:cNvPicPr>
          <p:nvPr/>
        </p:nvPicPr>
        <p:blipFill>
          <a:blip r:embed="rId1"/>
          <a:stretch>
            <a:fillRect/>
          </a:stretch>
        </p:blipFill>
        <p:spPr>
          <a:xfrm>
            <a:off x="946573" y="1737360"/>
            <a:ext cx="5879253" cy="2834640"/>
          </a:xfrm>
          <a:prstGeom prst="rect">
            <a:avLst/>
          </a:prstGeom>
        </p:spPr>
      </p:pic>
      <p:sp>
        <p:nvSpPr>
          <p:cNvPr id="15" name="Text 11"/>
          <p:cNvSpPr/>
          <p:nvPr/>
        </p:nvSpPr>
        <p:spPr>
          <a:xfrm>
            <a:off x="548640" y="4754880"/>
            <a:ext cx="66751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GRU ranges over ten seeds. Plain from Table 4.1, with weather from Table 4.4. Dashed: ARIMA.</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680960" y="1737360"/>
          <a:ext cx="3931920" cy="914400"/>
        </p:xfrm>
        <a:graphic>
          <a:graphicData uri="http://schemas.openxmlformats.org/drawingml/2006/table">
            <a:tbl>
              <a:tblPr/>
              <a:tblGrid>
                <a:gridCol w="2011680"/>
                <a:gridCol w="640080"/>
                <a:gridCol w="640080"/>
                <a:gridCol w="640080"/>
              </a:tblGrid>
              <a:tr h="457200">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Change in rMAE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−0.082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−0.029</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Gradient boosting,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−0.073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−0.047</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Ridge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−0.031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−0.005</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level</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−0.006</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+0.053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Random forest, change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−0.001</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733"/>
                          </a:solidFill>
                          <a:latin typeface="Calibri" pitchFamily="34" charset="0"/>
                          <a:ea typeface="Calibri" pitchFamily="34" charset="-122"/>
                          <a:cs typeface="Calibri" pitchFamily="34" charset="-120"/>
                        </a:rPr>
                        <a:t>+0.022</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17" name="Text 12"/>
          <p:cNvSpPr/>
          <p:nvPr/>
        </p:nvSpPr>
        <p:spPr>
          <a:xfrm>
            <a:off x="7680960" y="4572000"/>
            <a:ext cx="3931920" cy="45720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4.4: change from adding weather. Negative is an improvement.</a:t>
            </a:r>
            <a:endParaRPr lang="en-US" sz="1200" dirty="0"/>
          </a:p>
        </p:txBody>
      </p:sp>
      <p:sp>
        <p:nvSpPr>
          <p:cNvPr id="18" name="Shape 13"/>
          <p:cNvSpPr/>
          <p:nvPr/>
        </p:nvSpPr>
        <p:spPr>
          <a:xfrm>
            <a:off x="548640" y="5669280"/>
            <a:ext cx="1371600" cy="685800"/>
          </a:xfrm>
          <a:prstGeom prst="rect">
            <a:avLst/>
          </a:prstGeom>
          <a:solidFill>
            <a:srgbClr val="0B2545"/>
          </a:solidFill>
          <a:ln w="12700">
            <a:solidFill>
              <a:srgbClr val="0B2545"/>
            </a:solidFill>
            <a:prstDash val="solid"/>
          </a:ln>
        </p:spPr>
      </p:sp>
      <p:sp>
        <p:nvSpPr>
          <p:cNvPr id="19" name="Text 14"/>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0" name="Shape 15"/>
          <p:cNvSpPr/>
          <p:nvPr/>
        </p:nvSpPr>
        <p:spPr>
          <a:xfrm>
            <a:off x="1920240" y="5669280"/>
            <a:ext cx="9722815" cy="685800"/>
          </a:xfrm>
          <a:prstGeom prst="rect">
            <a:avLst/>
          </a:prstGeom>
          <a:solidFill>
            <a:srgbClr val="DCEAF5"/>
          </a:solidFill>
          <a:ln w="12700">
            <a:solidFill>
              <a:srgbClr val="DCEAF5"/>
            </a:solidFill>
            <a:prstDash val="solid"/>
          </a:ln>
        </p:spPr>
      </p:sp>
      <p:sp>
        <p:nvSpPr>
          <p:cNvPr id="21" name="Text 16"/>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GRU with weather beats ARIMA at one day in all ten seeds. At two days: 3 win, 6 tie, 1 loses. At three: 3 win, 2 tie, 5 lose.</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Carried through the decision threshold, a more accurate forecaster buys about one point of hit rate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23 / 34</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7406640" cy="914400"/>
        </p:xfrm>
        <a:graphic>
          <a:graphicData uri="http://schemas.openxmlformats.org/drawingml/2006/table">
            <a:tbl>
              <a:tblPr/>
              <a:tblGrid>
                <a:gridCol w="3383280"/>
                <a:gridCol w="1005840"/>
                <a:gridCol w="1005840"/>
                <a:gridCol w="1005840"/>
                <a:gridCol w="100584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Best hit rate,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0.787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0.899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1,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0.402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0.609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0.792</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0.909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0.388</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2,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0.400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0.597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0.771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0.900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no weather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h = 3, weather models added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0.383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0.876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Text 10"/>
          <p:cNvSpPr/>
          <p:nvPr/>
        </p:nvSpPr>
        <p:spPr>
          <a:xfrm>
            <a:off x="548640" y="5257800"/>
            <a:ext cx="749808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4.5: best hit rate within an alarm budget, averaged over the ten network seeds, on identical origins.</a:t>
            </a:r>
            <a:endParaRPr lang="en-US" sz="1200" dirty="0"/>
          </a:p>
        </p:txBody>
      </p:sp>
      <p:sp>
        <p:nvSpPr>
          <p:cNvPr id="15" name="Shape 11"/>
          <p:cNvSpPr/>
          <p:nvPr/>
        </p:nvSpPr>
        <p:spPr>
          <a:xfrm>
            <a:off x="8503920" y="169164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641080" y="1764792"/>
            <a:ext cx="2880360" cy="86868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 1.2 points</a:t>
            </a:r>
            <a:endParaRPr lang="en-US" sz="3000" dirty="0"/>
          </a:p>
        </p:txBody>
      </p:sp>
      <p:sp>
        <p:nvSpPr>
          <p:cNvPr id="17" name="Text 13"/>
          <p:cNvSpPr/>
          <p:nvPr/>
        </p:nvSpPr>
        <p:spPr>
          <a:xfrm>
            <a:off x="8641080" y="266456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largest hit-rate gain from adding weather models</a:t>
            </a:r>
            <a:endParaRPr lang="en-US" sz="1350" dirty="0"/>
          </a:p>
        </p:txBody>
      </p:sp>
      <p:sp>
        <p:nvSpPr>
          <p:cNvPr id="18" name="Shape 14"/>
          <p:cNvSpPr/>
          <p:nvPr/>
        </p:nvSpPr>
        <p:spPr>
          <a:xfrm>
            <a:off x="8503920" y="3611880"/>
            <a:ext cx="3154680" cy="1737360"/>
          </a:xfrm>
          <a:prstGeom prst="roundRect">
            <a:avLst>
              <a:gd name="adj" fmla="val 42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641080" y="3685032"/>
            <a:ext cx="2880360" cy="86868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8.2 points</a:t>
            </a:r>
            <a:endParaRPr lang="en-US" sz="3000" dirty="0"/>
          </a:p>
        </p:txBody>
      </p:sp>
      <p:sp>
        <p:nvSpPr>
          <p:cNvPr id="20" name="Text 16"/>
          <p:cNvSpPr/>
          <p:nvPr/>
        </p:nvSpPr>
        <p:spPr>
          <a:xfrm>
            <a:off x="8641080" y="4584802"/>
            <a:ext cx="2880360" cy="729691"/>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rMAE gain for gradient boosting at h = 1, which became at most a little over 1 point of hit rate</a:t>
            </a:r>
            <a:endParaRPr lang="en-US" sz="1350" dirty="0"/>
          </a:p>
        </p:txBody>
      </p:sp>
      <p:sp>
        <p:nvSpPr>
          <p:cNvPr id="21" name="Shape 17"/>
          <p:cNvSpPr/>
          <p:nvPr/>
        </p:nvSpPr>
        <p:spPr>
          <a:xfrm>
            <a:off x="548640" y="5669280"/>
            <a:ext cx="1371600" cy="685800"/>
          </a:xfrm>
          <a:prstGeom prst="rect">
            <a:avLst/>
          </a:prstGeom>
          <a:solidFill>
            <a:srgbClr val="0B2545"/>
          </a:solidFill>
          <a:ln w="12700">
            <a:solidFill>
              <a:srgbClr val="0B2545"/>
            </a:solidFill>
            <a:prstDash val="solid"/>
          </a:ln>
        </p:spPr>
      </p:sp>
      <p:sp>
        <p:nvSpPr>
          <p:cNvPr id="22" name="Text 18"/>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3" name="Shape 19"/>
          <p:cNvSpPr/>
          <p:nvPr/>
        </p:nvSpPr>
        <p:spPr>
          <a:xfrm>
            <a:off x="1920240" y="5669280"/>
            <a:ext cx="9722815" cy="685800"/>
          </a:xfrm>
          <a:prstGeom prst="rect">
            <a:avLst/>
          </a:prstGeom>
          <a:solidFill>
            <a:srgbClr val="DCEAF5"/>
          </a:solidFill>
          <a:ln w="12700">
            <a:solidFill>
              <a:srgbClr val="DCEAF5"/>
            </a:solidFill>
            <a:prstDash val="solid"/>
          </a:ln>
        </p:spPr>
      </p:sp>
      <p:sp>
        <p:nvSpPr>
          <p:cNvPr id="24" name="Text 20"/>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ceiling is not the models being too inaccurate: it persists after a materially more accurate forecaster is added.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RQ2: forecast-then-threshold has a real but modest edge over direct classification</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24 / 34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949440" cy="914400"/>
        </p:xfrm>
        <a:graphic>
          <a:graphicData uri="http://schemas.openxmlformats.org/drawingml/2006/table">
            <a:tbl>
              <a:tblPr/>
              <a:tblGrid>
                <a:gridCol w="3474720"/>
                <a:gridCol w="868680"/>
                <a:gridCol w="868680"/>
                <a:gridCol w="868680"/>
                <a:gridCol w="86868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h = 1, alarms per year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80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forecast then threshold</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Ridge: penalised logistic</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0.729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Random forest: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0.331</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0.550</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0.719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(change): forecast</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0.379</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0.554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0.854</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B2733"/>
                          </a:solidFill>
                          <a:latin typeface="Calibri" pitchFamily="34" charset="0"/>
                          <a:ea typeface="Calibri" pitchFamily="34" charset="-122"/>
                          <a:cs typeface="Calibri" pitchFamily="34" charset="-120"/>
                        </a:rPr>
                        <a:t>Grad. boosting: classifier</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0.323</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0.546</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dirty="0">
                          <a:solidFill>
                            <a:srgbClr val="1B2733"/>
                          </a:solidFill>
                          <a:latin typeface="Calibri" pitchFamily="34" charset="0"/>
                          <a:ea typeface="Calibri" pitchFamily="34" charset="-122"/>
                          <a:cs typeface="Calibri" pitchFamily="34" charset="-120"/>
                        </a:rPr>
                        <a:t>0.727</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500" b="1" dirty="0">
                          <a:solidFill>
                            <a:srgbClr val="0B2545"/>
                          </a:solidFill>
                          <a:latin typeface="Calibri" pitchFamily="34" charset="0"/>
                          <a:ea typeface="Calibri" pitchFamily="34" charset="-122"/>
                          <a:cs typeface="Calibri" pitchFamily="34" charset="-120"/>
                        </a:rPr>
                        <a:t>0.865</a:t>
                      </a:r>
                      <a:endParaRPr lang="en-US" sz="15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bl>
          </a:graphicData>
        </a:graphic>
      </p:graphicFrame>
      <p:sp>
        <p:nvSpPr>
          <p:cNvPr id="14" name="Text 10"/>
          <p:cNvSpPr/>
          <p:nvPr/>
        </p:nvSpPr>
        <p:spPr>
          <a:xfrm>
            <a:off x="548640" y="5257800"/>
            <a:ext cx="694944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4.6: matched by base algorithm, h = 1. Shaded: the better arm; exact ties unshaded.</a:t>
            </a:r>
            <a:endParaRPr lang="en-US" sz="1200" dirty="0"/>
          </a:p>
        </p:txBody>
      </p:sp>
      <p:sp>
        <p:nvSpPr>
          <p:cNvPr id="15" name="Shape 11"/>
          <p:cNvSpPr/>
          <p:nvPr/>
        </p:nvSpPr>
        <p:spPr>
          <a:xfrm>
            <a:off x="8412480" y="169164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8595360" y="1691640"/>
            <a:ext cx="1097280" cy="1097280"/>
          </a:xfrm>
          <a:prstGeom prst="rect">
            <a:avLst/>
          </a:prstGeom>
          <a:noFill/>
          <a:ln/>
        </p:spPr>
        <p:txBody>
          <a:bodyPr wrap="square" lIns="0" tIns="0" rIns="0" bIns="0" rtlCol="0" anchor="ctr"/>
          <a:lstStyle/>
          <a:p>
            <a:pPr indent="0" marL="0">
              <a:buNone/>
            </a:pPr>
            <a:r>
              <a:rPr lang="en-US" sz="4200" b="1" dirty="0">
                <a:solidFill>
                  <a:srgbClr val="006CAB"/>
                </a:solidFill>
                <a:latin typeface="Calibri" pitchFamily="34" charset="0"/>
                <a:ea typeface="Calibri" pitchFamily="34" charset="-122"/>
                <a:cs typeface="Calibri" pitchFamily="34" charset="-120"/>
              </a:rPr>
              <a:t>21</a:t>
            </a:r>
            <a:endParaRPr lang="en-US" sz="4200" dirty="0"/>
          </a:p>
        </p:txBody>
      </p:sp>
      <p:sp>
        <p:nvSpPr>
          <p:cNvPr id="17" name="Text 13"/>
          <p:cNvSpPr/>
          <p:nvPr/>
        </p:nvSpPr>
        <p:spPr>
          <a:xfrm>
            <a:off x="9692640" y="169164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forecast-then-threshold wins</a:t>
            </a:r>
            <a:endParaRPr lang="en-US" sz="1550" dirty="0"/>
          </a:p>
        </p:txBody>
      </p:sp>
      <p:sp>
        <p:nvSpPr>
          <p:cNvPr id="18" name="Shape 14"/>
          <p:cNvSpPr/>
          <p:nvPr/>
        </p:nvSpPr>
        <p:spPr>
          <a:xfrm>
            <a:off x="8412480" y="292608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8595360" y="292608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11</a:t>
            </a:r>
            <a:endParaRPr lang="en-US" sz="4200" dirty="0"/>
          </a:p>
        </p:txBody>
      </p:sp>
      <p:sp>
        <p:nvSpPr>
          <p:cNvPr id="20" name="Text 16"/>
          <p:cNvSpPr/>
          <p:nvPr/>
        </p:nvSpPr>
        <p:spPr>
          <a:xfrm>
            <a:off x="9692640" y="292608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direct classification wins</a:t>
            </a:r>
            <a:endParaRPr lang="en-US" sz="1550" dirty="0"/>
          </a:p>
        </p:txBody>
      </p:sp>
      <p:sp>
        <p:nvSpPr>
          <p:cNvPr id="21" name="Shape 17"/>
          <p:cNvSpPr/>
          <p:nvPr/>
        </p:nvSpPr>
        <p:spPr>
          <a:xfrm>
            <a:off x="8412480" y="4160520"/>
            <a:ext cx="3246120" cy="1097280"/>
          </a:xfrm>
          <a:prstGeom prst="roundRect">
            <a:avLst>
              <a:gd name="adj" fmla="val 6667"/>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8"/>
          <p:cNvSpPr/>
          <p:nvPr/>
        </p:nvSpPr>
        <p:spPr>
          <a:xfrm>
            <a:off x="8595360" y="4160520"/>
            <a:ext cx="1097280" cy="1097280"/>
          </a:xfrm>
          <a:prstGeom prst="rect">
            <a:avLst/>
          </a:prstGeom>
          <a:noFill/>
          <a:ln/>
        </p:spPr>
        <p:txBody>
          <a:bodyPr wrap="square" lIns="0" tIns="0" rIns="0" bIns="0" rtlCol="0" anchor="ctr"/>
          <a:lstStyle/>
          <a:p>
            <a:pPr indent="0" marL="0">
              <a:buNone/>
            </a:pPr>
            <a:r>
              <a:rPr lang="en-US" sz="4200" b="1" dirty="0">
                <a:solidFill>
                  <a:srgbClr val="5B6B7A"/>
                </a:solidFill>
                <a:latin typeface="Calibri" pitchFamily="34" charset="0"/>
                <a:ea typeface="Calibri" pitchFamily="34" charset="-122"/>
                <a:cs typeface="Calibri" pitchFamily="34" charset="-120"/>
              </a:rPr>
              <a:t>4</a:t>
            </a:r>
            <a:endParaRPr lang="en-US" sz="4200" dirty="0"/>
          </a:p>
        </p:txBody>
      </p:sp>
      <p:sp>
        <p:nvSpPr>
          <p:cNvPr id="23" name="Text 19"/>
          <p:cNvSpPr/>
          <p:nvPr/>
        </p:nvSpPr>
        <p:spPr>
          <a:xfrm>
            <a:off x="9692640" y="4160520"/>
            <a:ext cx="1874520"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exact ties</a:t>
            </a:r>
            <a:endParaRPr lang="en-US" sz="1550" dirty="0"/>
          </a:p>
        </p:txBody>
      </p:sp>
      <p:sp>
        <p:nvSpPr>
          <p:cNvPr id="24" name="Text 20"/>
          <p:cNvSpPr/>
          <p:nvPr/>
        </p:nvSpPr>
        <p:spPr>
          <a:xfrm>
            <a:off x="8412480" y="5303520"/>
            <a:ext cx="3246120" cy="274320"/>
          </a:xfrm>
          <a:prstGeom prst="rect">
            <a:avLst/>
          </a:prstGeom>
          <a:noFill/>
          <a:ln/>
        </p:spPr>
        <p:txBody>
          <a:bodyPr wrap="square" lIns="0" tIns="0" rIns="0" bIns="0" rtlCol="0" anchor="ctr"/>
          <a:lstStyle/>
          <a:p>
            <a:pPr indent="0" marL="0">
              <a:buNone/>
            </a:pPr>
            <a:r>
              <a:rPr lang="en-US" sz="1200" i="1" dirty="0">
                <a:solidFill>
                  <a:srgbClr val="5B6B7A"/>
                </a:solidFill>
                <a:latin typeface="Calibri" pitchFamily="34" charset="0"/>
                <a:ea typeface="Calibri" pitchFamily="34" charset="-122"/>
                <a:cs typeface="Calibri" pitchFamily="34" charset="-120"/>
              </a:rPr>
              <a:t>of 36 matched comparisons</a:t>
            </a:r>
            <a:endParaRPr lang="en-US" sz="1200" dirty="0"/>
          </a:p>
        </p:txBody>
      </p:sp>
      <p:sp>
        <p:nvSpPr>
          <p:cNvPr id="25" name="Shape 21"/>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3"/>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Median gap 0.011 of hit rate. Forecast-then-threshold wins 8 of 9 at a 40-alarm budget, but loses 6 of 9 at 100.</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an alarm budget means: of every 100 hazardous days, how many are caught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25 / 34</a:t>
            </a:r>
            <a:endParaRPr lang="en-US" sz="1000" dirty="0"/>
          </a:p>
        </p:txBody>
      </p:sp>
      <p:pic>
        <p:nvPicPr>
          <p:cNvPr id="13" name="Image 0" descr="Four grids of 100 dots: the best model catches 38, 57, 74 and 88 of every 100 hazardous days at 40, 60, 80 and 100 alarms a year.">    </p:cNvPr>
          <p:cNvPicPr>
            <a:picLocks noChangeAspect="1"/>
          </p:cNvPicPr>
          <p:nvPr/>
        </p:nvPicPr>
        <p:blipFill>
          <a:blip r:embed="rId1"/>
          <a:stretch>
            <a:fillRect/>
          </a:stretch>
        </p:blipFill>
        <p:spPr>
          <a:xfrm>
            <a:off x="1809634" y="1600200"/>
            <a:ext cx="8572426" cy="3383280"/>
          </a:xfrm>
          <a:prstGeom prst="rect">
            <a:avLst/>
          </a:prstGeom>
        </p:spPr>
      </p:pic>
      <p:sp>
        <p:nvSpPr>
          <p:cNvPr id="14" name="Text 10"/>
          <p:cNvSpPr/>
          <p:nvPr/>
        </p:nvSpPr>
        <p:spPr>
          <a:xfrm>
            <a:off x="548640" y="512064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Best model at each budget, one day ahead (Table 4.7), rounded to whole days out of 100.</a:t>
            </a:r>
            <a:endParaRPr lang="en-US" sz="12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From one alarm every nine days to one every four, the same model catches 88 of 100 hazardous days instead of 38: a policy choice, not a modelling one.</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step 1: one model, and its hit rate rises as you allow more alarms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26 / 34</a:t>
            </a:r>
            <a:endParaRPr lang="en-US" sz="1000" dirty="0"/>
          </a:p>
        </p:txBody>
      </p:sp>
      <p:pic>
        <p:nvPicPr>
          <p:cNvPr id="13" name="Image 0" descr="Hit rate rising with alarms raised per year for ARIMA alone.">    </p:cNvPr>
          <p:cNvPicPr>
            <a:picLocks noChangeAspect="1"/>
          </p:cNvPicPr>
          <p:nvPr/>
        </p:nvPicPr>
        <p:blipFill>
          <a:blip r:embed="rId1"/>
          <a:stretch>
            <a:fillRect/>
          </a:stretch>
        </p:blipFill>
        <p:spPr>
          <a:xfrm>
            <a:off x="945335" y="1627632"/>
            <a:ext cx="6064611" cy="3931920"/>
          </a:xfrm>
          <a:prstGeom prst="rect">
            <a:avLst/>
          </a:prstGeom>
        </p:spPr>
      </p:pic>
      <p:sp>
        <p:nvSpPr>
          <p:cNvPr id="14" name="Text 10"/>
          <p:cNvSpPr/>
          <p:nvPr/>
        </p:nvSpPr>
        <p:spPr>
          <a:xfrm>
            <a:off x="7680960" y="1828800"/>
            <a:ext cx="3977640" cy="3474720"/>
          </a:xfrm>
          <a:prstGeom prst="rect">
            <a:avLst/>
          </a:prstGeom>
          <a:noFill/>
          <a:ln/>
        </p:spPr>
        <p:txBody>
          <a:bodyPr wrap="square" lIns="0" tIns="0" rIns="0" bIns="0" rtlCol="0" anchor="t"/>
          <a:lstStyle/>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Horizontal: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alarms raised per year, the dial.</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Vertical: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the share of hazardous days caught.</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More alarms catch more days,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by construction, so this alone says nothing about models.</a:t>
            </a:r>
            <a:endParaRPr lang="en-US" sz="18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Allow more alarms and the same model catches more hazardous days: that is the dial.</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step 2: add three very different models, and the curves nearly coincide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27 / 34</a:t>
            </a:r>
            <a:endParaRPr lang="en-US" sz="1000" dirty="0"/>
          </a:p>
        </p:txBody>
      </p:sp>
      <p:pic>
        <p:nvPicPr>
          <p:cNvPr id="13" name="Image 0" descr="Hit rate against alarms per year for ARIMA, gradient boosting, persistence and climatology: the curves nearly coincide.">    </p:cNvPr>
          <p:cNvPicPr>
            <a:picLocks noChangeAspect="1"/>
          </p:cNvPicPr>
          <p:nvPr/>
        </p:nvPicPr>
        <p:blipFill>
          <a:blip r:embed="rId1"/>
          <a:stretch>
            <a:fillRect/>
          </a:stretch>
        </p:blipFill>
        <p:spPr>
          <a:xfrm>
            <a:off x="945335" y="1627632"/>
            <a:ext cx="6064611" cy="3931920"/>
          </a:xfrm>
          <a:prstGeom prst="rect">
            <a:avLst/>
          </a:prstGeom>
        </p:spPr>
      </p:pic>
      <p:sp>
        <p:nvSpPr>
          <p:cNvPr id="14" name="Text 10"/>
          <p:cNvSpPr/>
          <p:nvPr/>
        </p:nvSpPr>
        <p:spPr>
          <a:xfrm>
            <a:off x="7680960" y="1828800"/>
            <a:ext cx="3977640" cy="3474720"/>
          </a:xfrm>
          <a:prstGeom prst="rect">
            <a:avLst/>
          </a:prstGeom>
          <a:noFill/>
          <a:ln/>
        </p:spPr>
        <p:txBody>
          <a:bodyPr wrap="square" lIns="0" tIns="0" rIns="0" bIns="0" rtlCol="0" anchor="t"/>
          <a:lstStyle/>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ARIMA, gradient boosting,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persistence (just repeat yesterday) and climatology (the calendar alone).</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Four very different forecasters,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almost one curve.</a:t>
            </a:r>
            <a:endParaRPr lang="en-US" sz="1800" dirty="0"/>
          </a:p>
          <a:p>
            <a:pPr marL="228600" indent="-228600">
              <a:lnSpc>
                <a:spcPct val="105000"/>
              </a:lnSpc>
              <a:buSzPct val="100000"/>
              <a:buChar char="•"/>
            </a:pPr>
            <a:r>
              <a:rPr lang="en-US" sz="1800" b="1" dirty="0">
                <a:solidFill>
                  <a:srgbClr val="0B2545"/>
                </a:solidFill>
                <a:latin typeface="Calibri" pitchFamily="34" charset="0"/>
                <a:ea typeface="Calibri" pitchFamily="34" charset="-122"/>
                <a:cs typeface="Calibri" pitchFamily="34" charset="-120"/>
              </a:rPr>
              <a:t>Deliberately not separated: </a:t>
            </a:r>
            <a:pPr indent="0" marL="0">
              <a:lnSpc>
                <a:spcPct val="105000"/>
              </a:lnSpc>
              <a:spcAft>
                <a:spcPts val="1400"/>
              </a:spcAft>
              <a:buNone/>
            </a:pPr>
            <a:r>
              <a:rPr lang="en-US" sz="1800" dirty="0">
                <a:solidFill>
                  <a:srgbClr val="1B2733"/>
                </a:solidFill>
                <a:latin typeface="Calibri" pitchFamily="34" charset="0"/>
                <a:ea typeface="Calibri" pitchFamily="34" charset="-122"/>
                <a:cs typeface="Calibri" pitchFamily="34" charset="-120"/>
              </a:rPr>
              <a:t>the overlap is the finding.</a:t>
            </a:r>
            <a:endParaRPr lang="en-US" sz="1800" dirty="0"/>
          </a:p>
        </p:txBody>
      </p:sp>
      <p:sp>
        <p:nvSpPr>
          <p:cNvPr id="15" name="Shape 11"/>
          <p:cNvSpPr/>
          <p:nvPr/>
        </p:nvSpPr>
        <p:spPr>
          <a:xfrm>
            <a:off x="548640" y="5669280"/>
            <a:ext cx="1371600" cy="685800"/>
          </a:xfrm>
          <a:prstGeom prst="rect">
            <a:avLst/>
          </a:prstGeom>
          <a:solidFill>
            <a:srgbClr val="0B2545"/>
          </a:solidFill>
          <a:ln w="12700">
            <a:solidFill>
              <a:srgbClr val="0B2545"/>
            </a:solidFill>
            <a:prstDash val="solid"/>
          </a:ln>
        </p:spPr>
      </p:sp>
      <p:sp>
        <p:nvSpPr>
          <p:cNvPr id="16" name="Text 12"/>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7" name="Shape 13"/>
          <p:cNvSpPr/>
          <p:nvPr/>
        </p:nvSpPr>
        <p:spPr>
          <a:xfrm>
            <a:off x="1920240" y="5669280"/>
            <a:ext cx="9722815" cy="685800"/>
          </a:xfrm>
          <a:prstGeom prst="rect">
            <a:avLst/>
          </a:prstGeom>
          <a:solidFill>
            <a:srgbClr val="DCEAF5"/>
          </a:solidFill>
          <a:ln w="12700">
            <a:solidFill>
              <a:srgbClr val="DCEAF5"/>
            </a:solidFill>
            <a:prstDash val="solid"/>
          </a:ln>
        </p:spPr>
      </p:sp>
      <p:sp>
        <p:nvSpPr>
          <p:cNvPr id="18" name="Text 14"/>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Swap the detector, and the curve barely moves.</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RESULTS</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06CAB"/>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D3DCE6"/>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RQ3: moving the alarm budget changes the hit rate by fifty points, and changing the model by five</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28 / 34</a:t>
            </a:r>
            <a:endParaRPr lang="en-US" sz="1000" dirty="0"/>
          </a:p>
        </p:txBody>
      </p:sp>
      <p:pic>
        <p:nvPicPr>
          <p:cNvPr id="13" name="Image 0" descr="The same four curves with two annotations: moving the budget from 40 to 100 alarms changes hit rate by 50 points, while choosing among models at a fixed budget changes it by about 5.">    </p:cNvPr>
          <p:cNvPicPr>
            <a:picLocks noChangeAspect="1"/>
          </p:cNvPicPr>
          <p:nvPr/>
        </p:nvPicPr>
        <p:blipFill>
          <a:blip r:embed="rId1"/>
          <a:stretch>
            <a:fillRect/>
          </a:stretch>
        </p:blipFill>
        <p:spPr>
          <a:xfrm>
            <a:off x="1262669" y="1600200"/>
            <a:ext cx="5429942" cy="3520440"/>
          </a:xfrm>
          <a:prstGeom prst="rect">
            <a:avLst/>
          </a:prstGeom>
        </p:spPr>
      </p:pic>
      <p:sp>
        <p:nvSpPr>
          <p:cNvPr id="14" name="Text 10"/>
          <p:cNvSpPr/>
          <p:nvPr/>
        </p:nvSpPr>
        <p:spPr>
          <a:xfrm>
            <a:off x="548640" y="5193792"/>
            <a:ext cx="6949440" cy="41148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The bracket spans the four models shown. Across all ten models the spread averages 7 points (4 without the lag-7 benchmark): see B8.</a:t>
            </a:r>
            <a:endParaRPr lang="en-US" sz="1200" dirty="0"/>
          </a:p>
        </p:txBody>
      </p:sp>
      <p:sp>
        <p:nvSpPr>
          <p:cNvPr id="15" name="Shape 11"/>
          <p:cNvSpPr/>
          <p:nvPr/>
        </p:nvSpPr>
        <p:spPr>
          <a:xfrm>
            <a:off x="7680960" y="169164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6" name="Text 12"/>
          <p:cNvSpPr/>
          <p:nvPr/>
        </p:nvSpPr>
        <p:spPr>
          <a:xfrm>
            <a:off x="7818120" y="1764792"/>
            <a:ext cx="3703320" cy="594360"/>
          </a:xfrm>
          <a:prstGeom prst="rect">
            <a:avLst/>
          </a:prstGeom>
          <a:noFill/>
          <a:ln/>
        </p:spPr>
        <p:txBody>
          <a:bodyPr wrap="square" lIns="0" tIns="0" rIns="0" bIns="0" rtlCol="0" anchor="ctr"/>
          <a:lstStyle/>
          <a:p>
            <a:pPr indent="0" marL="0">
              <a:buNone/>
            </a:pPr>
            <a:r>
              <a:rPr lang="en-US" sz="3400" b="1" dirty="0">
                <a:solidFill>
                  <a:srgbClr val="D55E00"/>
                </a:solidFill>
                <a:latin typeface="Calibri" pitchFamily="34" charset="0"/>
                <a:ea typeface="Calibri" pitchFamily="34" charset="-122"/>
                <a:cs typeface="Calibri" pitchFamily="34" charset="-120"/>
              </a:rPr>
              <a:t>50 points</a:t>
            </a:r>
            <a:endParaRPr lang="en-US" sz="3400" dirty="0"/>
          </a:p>
        </p:txBody>
      </p:sp>
      <p:sp>
        <p:nvSpPr>
          <p:cNvPr id="17" name="Text 13"/>
          <p:cNvSpPr/>
          <p:nvPr/>
        </p:nvSpPr>
        <p:spPr>
          <a:xfrm>
            <a:off x="7818120" y="235732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dial: budget 40 to 100 alarms a year (h = 1)</a:t>
            </a:r>
            <a:endParaRPr lang="en-US" sz="1350" dirty="0"/>
          </a:p>
        </p:txBody>
      </p:sp>
      <p:sp>
        <p:nvSpPr>
          <p:cNvPr id="18" name="Shape 14"/>
          <p:cNvSpPr/>
          <p:nvPr/>
        </p:nvSpPr>
        <p:spPr>
          <a:xfrm>
            <a:off x="7680960" y="3017520"/>
            <a:ext cx="3977640"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Text 15"/>
          <p:cNvSpPr/>
          <p:nvPr/>
        </p:nvSpPr>
        <p:spPr>
          <a:xfrm>
            <a:off x="7818120" y="3090672"/>
            <a:ext cx="3703320" cy="594360"/>
          </a:xfrm>
          <a:prstGeom prst="rect">
            <a:avLst/>
          </a:prstGeom>
          <a:noFill/>
          <a:ln/>
        </p:spPr>
        <p:txBody>
          <a:bodyPr wrap="square" lIns="0" tIns="0" rIns="0" bIns="0" rtlCol="0" anchor="ctr"/>
          <a:lstStyle/>
          <a:p>
            <a:pPr indent="0" marL="0">
              <a:buNone/>
            </a:pPr>
            <a:r>
              <a:rPr lang="en-US" sz="3400" b="1" dirty="0">
                <a:solidFill>
                  <a:srgbClr val="006CAB"/>
                </a:solidFill>
                <a:latin typeface="Calibri" pitchFamily="34" charset="0"/>
                <a:ea typeface="Calibri" pitchFamily="34" charset="-122"/>
                <a:cs typeface="Calibri" pitchFamily="34" charset="-120"/>
              </a:rPr>
              <a:t>about 5 points</a:t>
            </a:r>
            <a:endParaRPr lang="en-US" sz="3400" dirty="0"/>
          </a:p>
        </p:txBody>
      </p:sp>
      <p:sp>
        <p:nvSpPr>
          <p:cNvPr id="20" name="Text 16"/>
          <p:cNvSpPr/>
          <p:nvPr/>
        </p:nvSpPr>
        <p:spPr>
          <a:xfrm>
            <a:off x="7818120" y="3683203"/>
            <a:ext cx="3703320" cy="499262"/>
          </a:xfrm>
          <a:prstGeom prst="rect">
            <a:avLst/>
          </a:prstGeom>
          <a:noFill/>
          <a:ln/>
        </p:spPr>
        <p:txBody>
          <a:bodyPr wrap="square" lIns="0" tIns="0" rIns="0" bIns="0" rtlCol="0" anchor="t"/>
          <a:lstStyle/>
          <a:p>
            <a:pPr indent="0" marL="0">
              <a:buNone/>
            </a:pPr>
            <a:r>
              <a:rPr lang="en-US" sz="1350" dirty="0">
                <a:solidFill>
                  <a:srgbClr val="5B6B7A"/>
                </a:solidFill>
                <a:latin typeface="Calibri" pitchFamily="34" charset="0"/>
                <a:ea typeface="Calibri" pitchFamily="34" charset="-122"/>
                <a:cs typeface="Calibri" pitchFamily="34" charset="-120"/>
              </a:rPr>
              <a:t>the detector: model choice at a fixed budget</a:t>
            </a:r>
            <a:endParaRPr lang="en-US" sz="1350" dirty="0"/>
          </a:p>
        </p:txBody>
      </p:sp>
      <p:sp>
        <p:nvSpPr>
          <p:cNvPr id="21" name="Shape 17"/>
          <p:cNvSpPr/>
          <p:nvPr/>
        </p:nvSpPr>
        <p:spPr>
          <a:xfrm>
            <a:off x="7680960" y="4343400"/>
            <a:ext cx="3977640" cy="1234440"/>
          </a:xfrm>
          <a:prstGeom prst="roundRect">
            <a:avLst>
              <a:gd name="adj" fmla="val 5926"/>
            </a:avLst>
          </a:prstGeom>
          <a:solidFill>
            <a:srgbClr val="DCEAF5"/>
          </a:solidFill>
          <a:ln w="9525">
            <a:solidFill>
              <a:srgbClr val="D3DCE6"/>
            </a:solidFill>
            <a:prstDash val="solid"/>
          </a:ln>
        </p:spPr>
      </p:sp>
      <p:sp>
        <p:nvSpPr>
          <p:cNvPr id="22" name="Text 18"/>
          <p:cNvSpPr/>
          <p:nvPr/>
        </p:nvSpPr>
        <p:spPr>
          <a:xfrm>
            <a:off x="7818120" y="4343400"/>
            <a:ext cx="3703320" cy="1234440"/>
          </a:xfrm>
          <a:prstGeom prst="rect">
            <a:avLst/>
          </a:prstGeom>
          <a:noFill/>
          <a:ln/>
        </p:spPr>
        <p:txBody>
          <a:bodyPr wrap="square" lIns="0" tIns="0" rIns="0" bIns="0" rtlCol="0" anchor="ctr"/>
          <a:lstStyle/>
          <a:p>
            <a:pPr indent="0" marL="0">
              <a:buNone/>
            </a:pPr>
            <a:r>
              <a:rPr lang="en-US" sz="1550" dirty="0">
                <a:solidFill>
                  <a:srgbClr val="0B2545"/>
                </a:solidFill>
                <a:latin typeface="Calibri" pitchFamily="34" charset="0"/>
                <a:ea typeface="Calibri" pitchFamily="34" charset="-122"/>
                <a:cs typeface="Calibri" pitchFamily="34" charset="-120"/>
              </a:rPr>
              <a:t>At h = 3 and 40 alarms a year, persistence (0.359) is the best model in the whole study.</a:t>
            </a:r>
            <a:endParaRPr lang="en-US" sz="1550" dirty="0"/>
          </a:p>
        </p:txBody>
      </p:sp>
      <p:sp>
        <p:nvSpPr>
          <p:cNvPr id="23" name="Shape 19"/>
          <p:cNvSpPr/>
          <p:nvPr/>
        </p:nvSpPr>
        <p:spPr>
          <a:xfrm>
            <a:off x="548640" y="5669280"/>
            <a:ext cx="1371600" cy="685800"/>
          </a:xfrm>
          <a:prstGeom prst="rect">
            <a:avLst/>
          </a:prstGeom>
          <a:solidFill>
            <a:srgbClr val="0B2545"/>
          </a:solidFill>
          <a:ln w="12700">
            <a:solidFill>
              <a:srgbClr val="0B2545"/>
            </a:solidFill>
            <a:prstDash val="solid"/>
          </a:ln>
        </p:spPr>
      </p:sp>
      <p:sp>
        <p:nvSpPr>
          <p:cNvPr id="24" name="Text 20"/>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5" name="Shape 21"/>
          <p:cNvSpPr/>
          <p:nvPr/>
        </p:nvSpPr>
        <p:spPr>
          <a:xfrm>
            <a:off x="1920240" y="5669280"/>
            <a:ext cx="9722815" cy="685800"/>
          </a:xfrm>
          <a:prstGeom prst="rect">
            <a:avLst/>
          </a:prstGeom>
          <a:solidFill>
            <a:srgbClr val="DCEAF5"/>
          </a:solidFill>
          <a:ln w="12700">
            <a:solidFill>
              <a:srgbClr val="DCEAF5"/>
            </a:solidFill>
            <a:prstDash val="solid"/>
          </a:ln>
        </p:spPr>
      </p:sp>
      <p:sp>
        <p:nvSpPr>
          <p:cNvPr id="26" name="Text 22"/>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The dial matters more than the detector: the alarm budget is the policy instrument, and the model only supplies its input.</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The central finding survives every check, and the checks changed what I can claim</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29 / 34</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514600"/>
                <a:gridCol w="3017520"/>
                <a:gridCol w="5559552"/>
              </a:tblGrid>
              <a:tr h="566928">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Check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What 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50" b="1" dirty="0">
                          <a:solidFill>
                            <a:srgbClr val="FFFFFF"/>
                          </a:solidFill>
                          <a:latin typeface="Calibri" pitchFamily="34" charset="0"/>
                          <a:ea typeface="Calibri" pitchFamily="34" charset="-122"/>
                          <a:cs typeface="Calibri" pitchFamily="34" charset="-120"/>
                        </a:rPr>
                        <a:t>Result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Restore the 7 capped days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Refit full harness on the uncapped series</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ARIMA 0.935 vs 0.940 (h = 1). Ridge 0.997 → 1.118. GB level 0.883 → 1.006 (h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coverage gap</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Restrict to origins inside the observed window</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One-day ordering survives; two- and three-day picture unchanged.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Seed count 5 → 10</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Doubled for every network</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Weather win at h = 2 and 3 did not survive.</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window and size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6 settings, 3 seeds, one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Default near best at h = 1, 2; worst of six at h = 3 (45-day window 2.2 points better).</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Fourier pairs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2 pairs → 4, as in ARIMA</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improves 3.96 points, enough to put the mean below ARIMA on this split.</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566928">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GRU optimiser (bounded)</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Adam, RMSprop, SGD; lr ×/÷ 3</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50" dirty="0">
                          <a:solidFill>
                            <a:srgbClr val="1B2733"/>
                          </a:solidFill>
                          <a:latin typeface="Calibri" pitchFamily="34" charset="0"/>
                          <a:ea typeface="Calibri" pitchFamily="34" charset="-122"/>
                          <a:cs typeface="Calibri" pitchFamily="34" charset="-120"/>
                        </a:rPr>
                        <a:t>h = 3: SGD with momentum about 2 points better (0.839 vs 0.858).</a:t>
                      </a:r>
                      <a:endParaRPr lang="en-US" sz="135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14" name="Shape 10"/>
          <p:cNvSpPr/>
          <p:nvPr/>
        </p:nvSpPr>
        <p:spPr>
          <a:xfrm>
            <a:off x="548640" y="5669280"/>
            <a:ext cx="1371600" cy="685800"/>
          </a:xfrm>
          <a:prstGeom prst="rect">
            <a:avLst/>
          </a:prstGeom>
          <a:solidFill>
            <a:srgbClr val="0B2545"/>
          </a:solidFill>
          <a:ln w="12700">
            <a:solidFill>
              <a:srgbClr val="0B2545"/>
            </a:solidFill>
            <a:prstDash val="solid"/>
          </a:ln>
        </p:spPr>
      </p:sp>
      <p:sp>
        <p:nvSpPr>
          <p:cNvPr id="15" name="Text 1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6" name="Shape 12"/>
          <p:cNvSpPr/>
          <p:nvPr/>
        </p:nvSpPr>
        <p:spPr>
          <a:xfrm>
            <a:off x="1920240" y="5669280"/>
            <a:ext cx="9722815" cy="685800"/>
          </a:xfrm>
          <a:prstGeom prst="rect">
            <a:avLst/>
          </a:prstGeom>
          <a:solidFill>
            <a:srgbClr val="DCEAF5"/>
          </a:solidFill>
          <a:ln w="12700">
            <a:solidFill>
              <a:srgbClr val="DCEAF5"/>
            </a:solidFill>
            <a:prstDash val="solid"/>
          </a:ln>
        </p:spPr>
      </p:sp>
      <p:sp>
        <p:nvSpPr>
          <p:cNvPr id="17" name="Text 1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Bounded checks are single-split, three-seed: nothing in the ten-seed Table 4.1 was changed on their strength.</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DISCUSSION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06CAB"/>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D3DCE6"/>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the results do not show</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30 / 34</a:t>
            </a:r>
            <a:endParaRPr lang="en-US" sz="1000" dirty="0"/>
          </a:p>
        </p:txBody>
      </p:sp>
      <p:sp>
        <p:nvSpPr>
          <p:cNvPr id="13" name="Shape 10"/>
          <p:cNvSpPr/>
          <p:nvPr/>
        </p:nvSpPr>
        <p:spPr>
          <a:xfrm>
            <a:off x="54864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One site, one city</a:t>
            </a:r>
            <a:endParaRPr lang="en-US" sz="1650" dirty="0"/>
          </a:p>
        </p:txBody>
      </p:sp>
      <p:sp>
        <p:nvSpPr>
          <p:cNvPr id="15" name="Text 12"/>
          <p:cNvSpPr/>
          <p:nvPr/>
        </p:nvSpPr>
        <p:spPr>
          <a:xfrm>
            <a:off x="73152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8118 is a diplomatic-enclave monitor. Nothing here is a claim about Delhi as a whole or about other cities.</a:t>
            </a:r>
            <a:endParaRPr lang="en-US" sz="1500" dirty="0"/>
          </a:p>
        </p:txBody>
      </p:sp>
      <p:sp>
        <p:nvSpPr>
          <p:cNvPr id="16" name="Shape 13"/>
          <p:cNvSpPr/>
          <p:nvPr/>
        </p:nvSpPr>
        <p:spPr>
          <a:xfrm>
            <a:off x="429768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448056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Observed weather, not forecast</a:t>
            </a:r>
            <a:endParaRPr lang="en-US" sz="1650" dirty="0"/>
          </a:p>
        </p:txBody>
      </p:sp>
      <p:sp>
        <p:nvSpPr>
          <p:cNvPr id="18" name="Text 15"/>
          <p:cNvSpPr/>
          <p:nvPr/>
        </p:nvSpPr>
        <p:spPr>
          <a:xfrm>
            <a:off x="448056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A real system would use numerical weather prediction. Boundary layer height is not available from meteostat.</a:t>
            </a:r>
            <a:endParaRPr lang="en-US" sz="1500" dirty="0"/>
          </a:p>
        </p:txBody>
      </p:sp>
      <p:sp>
        <p:nvSpPr>
          <p:cNvPr id="19" name="Shape 16"/>
          <p:cNvSpPr/>
          <p:nvPr/>
        </p:nvSpPr>
        <p:spPr>
          <a:xfrm>
            <a:off x="8046720" y="164592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8229600" y="173736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Scope boundaries</a:t>
            </a:r>
            <a:endParaRPr lang="en-US" sz="1650" dirty="0"/>
          </a:p>
        </p:txBody>
      </p:sp>
      <p:sp>
        <p:nvSpPr>
          <p:cNvPr id="21" name="Text 18"/>
          <p:cNvSpPr/>
          <p:nvPr/>
        </p:nvSpPr>
        <p:spPr>
          <a:xfrm>
            <a:off x="8229600" y="224028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LSTM and transformer: no weather channels, no threshold sweep. The KAN-LSTM is a bounded check only.</a:t>
            </a:r>
            <a:endParaRPr lang="en-US" sz="1500" dirty="0"/>
          </a:p>
        </p:txBody>
      </p:sp>
      <p:sp>
        <p:nvSpPr>
          <p:cNvPr id="22" name="Shape 19"/>
          <p:cNvSpPr/>
          <p:nvPr/>
        </p:nvSpPr>
        <p:spPr>
          <a:xfrm>
            <a:off x="54864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Small search spaces</a:t>
            </a:r>
            <a:endParaRPr lang="en-US" sz="1650" dirty="0"/>
          </a:p>
        </p:txBody>
      </p:sp>
      <p:sp>
        <p:nvSpPr>
          <p:cNvPr id="24" name="Text 21"/>
          <p:cNvSpPr/>
          <p:nvPr/>
        </p:nvSpPr>
        <p:spPr>
          <a:xfrm>
            <a:off x="73152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Tree grids were small, so ML results are a lower bound. The GRU's 3-day configuration is the one its own checks least defend.</a:t>
            </a:r>
            <a:endParaRPr lang="en-US" sz="1500" dirty="0"/>
          </a:p>
        </p:txBody>
      </p:sp>
      <p:sp>
        <p:nvSpPr>
          <p:cNvPr id="25" name="Shape 22"/>
          <p:cNvSpPr/>
          <p:nvPr/>
        </p:nvSpPr>
        <p:spPr>
          <a:xfrm>
            <a:off x="429768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6" name="Text 23"/>
          <p:cNvSpPr/>
          <p:nvPr/>
        </p:nvSpPr>
        <p:spPr>
          <a:xfrm>
            <a:off x="448056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Significance testing</a:t>
            </a:r>
            <a:endParaRPr lang="en-US" sz="1650" dirty="0"/>
          </a:p>
        </p:txBody>
      </p:sp>
      <p:sp>
        <p:nvSpPr>
          <p:cNvPr id="27" name="Text 24"/>
          <p:cNvSpPr/>
          <p:nvPr/>
        </p:nvSpPr>
        <p:spPr>
          <a:xfrm>
            <a:off x="448056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27 tests, no joint correction, best-seed selection, no bootstrap of the loss differential's heavy tails.</a:t>
            </a:r>
            <a:endParaRPr lang="en-US" sz="1500" dirty="0"/>
          </a:p>
        </p:txBody>
      </p:sp>
      <p:sp>
        <p:nvSpPr>
          <p:cNvPr id="28" name="Shape 25"/>
          <p:cNvSpPr/>
          <p:nvPr/>
        </p:nvSpPr>
        <p:spPr>
          <a:xfrm>
            <a:off x="8046720" y="3657600"/>
            <a:ext cx="3611880" cy="1874520"/>
          </a:xfrm>
          <a:prstGeom prst="roundRect">
            <a:avLst>
              <a:gd name="adj" fmla="val 390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Text 26"/>
          <p:cNvSpPr/>
          <p:nvPr/>
        </p:nvSpPr>
        <p:spPr>
          <a:xfrm>
            <a:off x="8229600" y="3749040"/>
            <a:ext cx="3246120" cy="457200"/>
          </a:xfrm>
          <a:prstGeom prst="rect">
            <a:avLst/>
          </a:prstGeom>
          <a:noFill/>
          <a:ln/>
        </p:spPr>
        <p:txBody>
          <a:bodyPr wrap="square" lIns="0" tIns="0" rIns="0" bIns="0" rtlCol="0" anchor="t"/>
          <a:lstStyle/>
          <a:p>
            <a:pPr indent="0" marL="0">
              <a:buNone/>
            </a:pPr>
            <a:r>
              <a:rPr lang="en-US" sz="1650" b="1" dirty="0">
                <a:solidFill>
                  <a:srgbClr val="0B2545"/>
                </a:solidFill>
                <a:latin typeface="Calibri" pitchFamily="34" charset="0"/>
                <a:ea typeface="Calibri" pitchFamily="34" charset="-122"/>
                <a:cs typeface="Calibri" pitchFamily="34" charset="-120"/>
              </a:rPr>
              <a:t>Not bit-reproducible</a:t>
            </a:r>
            <a:endParaRPr lang="en-US" sz="1650" dirty="0"/>
          </a:p>
        </p:txBody>
      </p:sp>
      <p:sp>
        <p:nvSpPr>
          <p:cNvPr id="30" name="Text 27"/>
          <p:cNvSpPr/>
          <p:nvPr/>
        </p:nvSpPr>
        <p:spPr>
          <a:xfrm>
            <a:off x="8229600" y="4251960"/>
            <a:ext cx="3246120" cy="1234440"/>
          </a:xfrm>
          <a:prstGeom prst="rect">
            <a:avLst/>
          </a:prstGeom>
          <a:noFill/>
          <a:ln/>
        </p:spPr>
        <p:txBody>
          <a:bodyPr wrap="square" lIns="0" tIns="0" rIns="0" bIns="0" rtlCol="0" anchor="t"/>
          <a:lstStyle/>
          <a:p>
            <a:pPr indent="0" marL="0">
              <a:buNone/>
            </a:pPr>
            <a:r>
              <a:rPr lang="en-US" sz="1500" dirty="0">
                <a:solidFill>
                  <a:srgbClr val="1B2733"/>
                </a:solidFill>
                <a:latin typeface="Calibri" pitchFamily="34" charset="0"/>
                <a:ea typeface="Calibri" pitchFamily="34" charset="-122"/>
                <a:cs typeface="Calibri" pitchFamily="34" charset="-120"/>
              </a:rPr>
              <a:t>Network training moves at a fixed seed; ten seeds reduce the problem but do not remove it.</a:t>
            </a:r>
            <a:endParaRPr lang="en-US" sz="1500" dirty="0"/>
          </a:p>
        </p:txBody>
      </p:sp>
      <p:sp>
        <p:nvSpPr>
          <p:cNvPr id="31" name="Shape 28"/>
          <p:cNvSpPr/>
          <p:nvPr/>
        </p:nvSpPr>
        <p:spPr>
          <a:xfrm>
            <a:off x="548640" y="5669280"/>
            <a:ext cx="1371600" cy="685800"/>
          </a:xfrm>
          <a:prstGeom prst="rect">
            <a:avLst/>
          </a:prstGeom>
          <a:solidFill>
            <a:srgbClr val="0B2545"/>
          </a:solidFill>
          <a:ln w="12700">
            <a:solidFill>
              <a:srgbClr val="0B2545"/>
            </a:solidFill>
            <a:prstDash val="solid"/>
          </a:ln>
        </p:spPr>
      </p:sp>
      <p:sp>
        <p:nvSpPr>
          <p:cNvPr id="32" name="Text 29"/>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3" name="Shape 30"/>
          <p:cNvSpPr/>
          <p:nvPr/>
        </p:nvSpPr>
        <p:spPr>
          <a:xfrm>
            <a:off x="1920240" y="5669280"/>
            <a:ext cx="9722815" cy="685800"/>
          </a:xfrm>
          <a:prstGeom prst="rect">
            <a:avLst/>
          </a:prstGeom>
          <a:solidFill>
            <a:srgbClr val="DCEAF5"/>
          </a:solidFill>
          <a:ln w="12700">
            <a:solidFill>
              <a:srgbClr val="DCEAF5"/>
            </a:solidFill>
            <a:prstDash val="solid"/>
          </a:ln>
        </p:spPr>
      </p:sp>
      <p:sp>
        <p:nvSpPr>
          <p:cNvPr id="34" name="Text 31"/>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None of these overturns the central finding: it rests on several independent sources agreeing, not on any single p-value.</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What this project contributes</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31 / 34</a:t>
            </a:r>
            <a:endParaRPr lang="en-US" sz="1000" dirty="0"/>
          </a:p>
        </p:txBody>
      </p:sp>
      <p:sp>
        <p:nvSpPr>
          <p:cNvPr id="13" name="Shape 10"/>
          <p:cNvSpPr/>
          <p:nvPr/>
        </p:nvSpPr>
        <p:spPr>
          <a:xfrm>
            <a:off x="54864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Shape 11"/>
          <p:cNvSpPr/>
          <p:nvPr/>
        </p:nvSpPr>
        <p:spPr>
          <a:xfrm>
            <a:off x="777240" y="1965960"/>
            <a:ext cx="594360" cy="594360"/>
          </a:xfrm>
          <a:prstGeom prst="ellipse">
            <a:avLst/>
          </a:prstGeom>
          <a:solidFill>
            <a:srgbClr val="006CAB"/>
          </a:solidFill>
          <a:ln w="12700">
            <a:solidFill>
              <a:srgbClr val="FFFFFF"/>
            </a:solidFill>
            <a:prstDash val="solid"/>
          </a:ln>
        </p:spPr>
      </p:sp>
      <p:sp>
        <p:nvSpPr>
          <p:cNvPr id="15" name="Text 12"/>
          <p:cNvSpPr/>
          <p:nvPr/>
        </p:nvSpPr>
        <p:spPr>
          <a:xfrm>
            <a:off x="77724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6" name="Text 13"/>
          <p:cNvSpPr/>
          <p:nvPr/>
        </p:nvSpPr>
        <p:spPr>
          <a:xfrm>
            <a:off x="155448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warning-system evaluation</a:t>
            </a:r>
            <a:endParaRPr lang="en-US" sz="1800" dirty="0"/>
          </a:p>
        </p:txBody>
      </p:sp>
      <p:sp>
        <p:nvSpPr>
          <p:cNvPr id="17" name="Text 14"/>
          <p:cNvSpPr/>
          <p:nvPr/>
        </p:nvSpPr>
        <p:spPr>
          <a:xfrm>
            <a:off x="155448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Hit rate, false alarm rate and alarms per year under an explicit budget: the operating point the Delhi studies do not report.</a:t>
            </a:r>
            <a:endParaRPr lang="en-US" sz="1600" dirty="0"/>
          </a:p>
        </p:txBody>
      </p:sp>
      <p:sp>
        <p:nvSpPr>
          <p:cNvPr id="18" name="Shape 15"/>
          <p:cNvSpPr/>
          <p:nvPr/>
        </p:nvSpPr>
        <p:spPr>
          <a:xfrm>
            <a:off x="6172200" y="169164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9" name="Shape 16"/>
          <p:cNvSpPr/>
          <p:nvPr/>
        </p:nvSpPr>
        <p:spPr>
          <a:xfrm>
            <a:off x="6400800" y="1965960"/>
            <a:ext cx="594360" cy="594360"/>
          </a:xfrm>
          <a:prstGeom prst="ellipse">
            <a:avLst/>
          </a:prstGeom>
          <a:solidFill>
            <a:srgbClr val="006CAB"/>
          </a:solidFill>
          <a:ln w="12700">
            <a:solidFill>
              <a:srgbClr val="FFFFFF"/>
            </a:solidFill>
            <a:prstDash val="solid"/>
          </a:ln>
        </p:spPr>
      </p:sp>
      <p:sp>
        <p:nvSpPr>
          <p:cNvPr id="20" name="Text 17"/>
          <p:cNvSpPr/>
          <p:nvPr/>
        </p:nvSpPr>
        <p:spPr>
          <a:xfrm>
            <a:off x="6400800" y="1965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21" name="Text 18"/>
          <p:cNvSpPr/>
          <p:nvPr/>
        </p:nvSpPr>
        <p:spPr>
          <a:xfrm>
            <a:off x="7178040" y="182880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A leakage-tested comparison</a:t>
            </a:r>
            <a:endParaRPr lang="en-US" sz="1800" dirty="0"/>
          </a:p>
        </p:txBody>
      </p:sp>
      <p:sp>
        <p:nvSpPr>
          <p:cNvPr id="22" name="Text 19"/>
          <p:cNvSpPr/>
          <p:nvPr/>
        </p:nvSpPr>
        <p:spPr>
          <a:xfrm>
            <a:off x="7178040" y="233172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Twelve specifications, classical to deep, under rolling-origin evaluation, with networks as ten-seed ranges.</a:t>
            </a:r>
            <a:endParaRPr lang="en-US" sz="1600" dirty="0"/>
          </a:p>
        </p:txBody>
      </p:sp>
      <p:sp>
        <p:nvSpPr>
          <p:cNvPr id="23" name="Shape 20"/>
          <p:cNvSpPr/>
          <p:nvPr/>
        </p:nvSpPr>
        <p:spPr>
          <a:xfrm>
            <a:off x="54864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4" name="Shape 21"/>
          <p:cNvSpPr/>
          <p:nvPr/>
        </p:nvSpPr>
        <p:spPr>
          <a:xfrm>
            <a:off x="777240" y="3886200"/>
            <a:ext cx="594360" cy="594360"/>
          </a:xfrm>
          <a:prstGeom prst="ellipse">
            <a:avLst/>
          </a:prstGeom>
          <a:solidFill>
            <a:srgbClr val="006CAB"/>
          </a:solidFill>
          <a:ln w="12700">
            <a:solidFill>
              <a:srgbClr val="FFFFFF"/>
            </a:solidFill>
            <a:prstDash val="solid"/>
          </a:ln>
        </p:spPr>
      </p:sp>
      <p:sp>
        <p:nvSpPr>
          <p:cNvPr id="25" name="Text 22"/>
          <p:cNvSpPr/>
          <p:nvPr/>
        </p:nvSpPr>
        <p:spPr>
          <a:xfrm>
            <a:off x="77724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6" name="Text 23"/>
          <p:cNvSpPr/>
          <p:nvPr/>
        </p:nvSpPr>
        <p:spPr>
          <a:xfrm>
            <a:off x="155448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Two data defects, diagnosed and fixed</a:t>
            </a:r>
            <a:endParaRPr lang="en-US" sz="1800" dirty="0"/>
          </a:p>
        </p:txBody>
      </p:sp>
      <p:sp>
        <p:nvSpPr>
          <p:cNvPr id="27" name="Text 24"/>
          <p:cNvSpPr/>
          <p:nvPr/>
        </p:nvSpPr>
        <p:spPr>
          <a:xfrm>
            <a:off x="155448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A clipped ceiling and a coverage statistic that assumed the wrong cadence, both corrected before modelling.</a:t>
            </a:r>
            <a:endParaRPr lang="en-US" sz="1600" dirty="0"/>
          </a:p>
        </p:txBody>
      </p:sp>
      <p:sp>
        <p:nvSpPr>
          <p:cNvPr id="28" name="Shape 25"/>
          <p:cNvSpPr/>
          <p:nvPr/>
        </p:nvSpPr>
        <p:spPr>
          <a:xfrm>
            <a:off x="6172200" y="3611880"/>
            <a:ext cx="5440680" cy="1783080"/>
          </a:xfrm>
          <a:prstGeom prst="roundRect">
            <a:avLst>
              <a:gd name="adj" fmla="val 4103"/>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9" name="Shape 26"/>
          <p:cNvSpPr/>
          <p:nvPr/>
        </p:nvSpPr>
        <p:spPr>
          <a:xfrm>
            <a:off x="6400800" y="3886200"/>
            <a:ext cx="594360" cy="594360"/>
          </a:xfrm>
          <a:prstGeom prst="ellipse">
            <a:avLst/>
          </a:prstGeom>
          <a:solidFill>
            <a:srgbClr val="006CAB"/>
          </a:solidFill>
          <a:ln w="12700">
            <a:solidFill>
              <a:srgbClr val="FFFFFF"/>
            </a:solidFill>
            <a:prstDash val="solid"/>
          </a:ln>
        </p:spPr>
      </p:sp>
      <p:sp>
        <p:nvSpPr>
          <p:cNvPr id="30" name="Text 27"/>
          <p:cNvSpPr/>
          <p:nvPr/>
        </p:nvSpPr>
        <p:spPr>
          <a:xfrm>
            <a:off x="6400800" y="388620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31" name="Text 28"/>
          <p:cNvSpPr/>
          <p:nvPr/>
        </p:nvSpPr>
        <p:spPr>
          <a:xfrm>
            <a:off x="7178040" y="3749040"/>
            <a:ext cx="4206240" cy="45720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Priors tested, not assumed</a:t>
            </a:r>
            <a:endParaRPr lang="en-US" sz="1800" dirty="0"/>
          </a:p>
        </p:txBody>
      </p:sp>
      <p:sp>
        <p:nvSpPr>
          <p:cNvPr id="32" name="Text 29"/>
          <p:cNvSpPr/>
          <p:nvPr/>
        </p:nvSpPr>
        <p:spPr>
          <a:xfrm>
            <a:off x="7178040" y="4251960"/>
            <a:ext cx="4206240" cy="1051560"/>
          </a:xfrm>
          <a:prstGeom prst="rect">
            <a:avLst/>
          </a:prstGeom>
          <a:noFill/>
          <a:ln/>
        </p:spPr>
        <p:txBody>
          <a:bodyPr wrap="square" lIns="0" tIns="0" rIns="0" bIns="0" rtlCol="0" anchor="t"/>
          <a:lstStyle/>
          <a:p>
            <a:pPr indent="0" marL="0">
              <a:buNone/>
            </a:pPr>
            <a:r>
              <a:rPr lang="en-US" sz="1600" dirty="0">
                <a:solidFill>
                  <a:srgbClr val="1B2733"/>
                </a:solidFill>
                <a:latin typeface="Calibri" pitchFamily="34" charset="0"/>
                <a:ea typeface="Calibri" pitchFamily="34" charset="-122"/>
                <a:cs typeface="Calibri" pitchFamily="34" charset="-120"/>
              </a:rPr>
              <a:t>No weekly cycle; the GRU is not better because it is smaller; the small-data case against a transformer fails.</a:t>
            </a:r>
            <a:endParaRPr lang="en-US" sz="1600" dirty="0"/>
          </a:p>
        </p:txBody>
      </p:sp>
      <p:sp>
        <p:nvSpPr>
          <p:cNvPr id="33" name="Shape 30"/>
          <p:cNvSpPr/>
          <p:nvPr/>
        </p:nvSpPr>
        <p:spPr>
          <a:xfrm>
            <a:off x="548640" y="5669280"/>
            <a:ext cx="1371600" cy="685800"/>
          </a:xfrm>
          <a:prstGeom prst="rect">
            <a:avLst/>
          </a:prstGeom>
          <a:solidFill>
            <a:srgbClr val="0B2545"/>
          </a:solidFill>
          <a:ln w="12700">
            <a:solidFill>
              <a:srgbClr val="0B2545"/>
            </a:solidFill>
            <a:prstDash val="solid"/>
          </a:ln>
        </p:spPr>
      </p:sp>
      <p:sp>
        <p:nvSpPr>
          <p:cNvPr id="34" name="Text 31"/>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35" name="Shape 32"/>
          <p:cNvSpPr/>
          <p:nvPr/>
        </p:nvSpPr>
        <p:spPr>
          <a:xfrm>
            <a:off x="1920240" y="5669280"/>
            <a:ext cx="9722815" cy="685800"/>
          </a:xfrm>
          <a:prstGeom prst="rect">
            <a:avLst/>
          </a:prstGeom>
          <a:solidFill>
            <a:srgbClr val="DCEAF5"/>
          </a:solidFill>
          <a:ln w="12700">
            <a:solidFill>
              <a:srgbClr val="DCEAF5"/>
            </a:solidFill>
            <a:prstDash val="solid"/>
          </a:ln>
        </p:spPr>
      </p:sp>
      <p:sp>
        <p:nvSpPr>
          <p:cNvPr id="36" name="Text 33"/>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Applying a standard model suite to Delhi is not new; evaluating it as a warning system with a varying alarm budget is.</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Three questions asked, three answered</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32 / 34</a:t>
            </a:r>
            <a:endParaRPr lang="en-US" sz="1000" dirty="0"/>
          </a:p>
        </p:txBody>
      </p:sp>
      <p:sp>
        <p:nvSpPr>
          <p:cNvPr id="13" name="Shape 10"/>
          <p:cNvSpPr/>
          <p:nvPr/>
        </p:nvSpPr>
        <p:spPr>
          <a:xfrm>
            <a:off x="548640" y="164592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77240" y="164592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RQ1</a:t>
            </a:r>
            <a:endParaRPr lang="en-US" sz="3000" dirty="0"/>
          </a:p>
        </p:txBody>
      </p:sp>
      <p:sp>
        <p:nvSpPr>
          <p:cNvPr id="15" name="Text 12"/>
          <p:cNvSpPr/>
          <p:nvPr/>
        </p:nvSpPr>
        <p:spPr>
          <a:xfrm>
            <a:off x="1828800" y="173736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Accuracy vs benchmarks</a:t>
            </a:r>
            <a:endParaRPr lang="en-US" sz="1650" dirty="0"/>
          </a:p>
        </p:txBody>
      </p:sp>
      <p:sp>
        <p:nvSpPr>
          <p:cNvPr id="16" name="Text 13"/>
          <p:cNvSpPr/>
          <p:nvPr/>
        </p:nvSpPr>
        <p:spPr>
          <a:xfrm>
            <a:off x="4709160" y="169164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ARIMA beats every ML regressor at every horizon (rMAE 0.940 at h = 1). The GRU beats ARIMA only at h = 1, across all ten seeds. The LSTM and transformer follow the same pattern.</a:t>
            </a:r>
            <a:endParaRPr lang="en-US" sz="1550" dirty="0"/>
          </a:p>
        </p:txBody>
      </p:sp>
      <p:sp>
        <p:nvSpPr>
          <p:cNvPr id="17" name="Shape 14"/>
          <p:cNvSpPr/>
          <p:nvPr/>
        </p:nvSpPr>
        <p:spPr>
          <a:xfrm>
            <a:off x="548640" y="297180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8" name="Text 15"/>
          <p:cNvSpPr/>
          <p:nvPr/>
        </p:nvSpPr>
        <p:spPr>
          <a:xfrm>
            <a:off x="777240" y="2971800"/>
            <a:ext cx="914400" cy="1188720"/>
          </a:xfrm>
          <a:prstGeom prst="rect">
            <a:avLst/>
          </a:prstGeom>
          <a:noFill/>
          <a:ln/>
        </p:spPr>
        <p:txBody>
          <a:bodyPr wrap="square" lIns="0" tIns="0" rIns="0" bIns="0" rtlCol="0" anchor="ctr"/>
          <a:lstStyle/>
          <a:p>
            <a:pPr indent="0" marL="0">
              <a:buNone/>
            </a:pPr>
            <a:r>
              <a:rPr lang="en-US" sz="3000" b="1" dirty="0">
                <a:solidFill>
                  <a:srgbClr val="006CAB"/>
                </a:solidFill>
                <a:latin typeface="Calibri" pitchFamily="34" charset="0"/>
                <a:ea typeface="Calibri" pitchFamily="34" charset="-122"/>
                <a:cs typeface="Calibri" pitchFamily="34" charset="-120"/>
              </a:rPr>
              <a:t>RQ2</a:t>
            </a:r>
            <a:endParaRPr lang="en-US" sz="3000" dirty="0"/>
          </a:p>
        </p:txBody>
      </p:sp>
      <p:sp>
        <p:nvSpPr>
          <p:cNvPr id="19" name="Text 16"/>
          <p:cNvSpPr/>
          <p:nvPr/>
        </p:nvSpPr>
        <p:spPr>
          <a:xfrm>
            <a:off x="1828800" y="306324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Forecast then threshold, or classify?</a:t>
            </a:r>
            <a:endParaRPr lang="en-US" sz="1650" dirty="0"/>
          </a:p>
        </p:txBody>
      </p:sp>
      <p:sp>
        <p:nvSpPr>
          <p:cNvPr id="20" name="Text 17"/>
          <p:cNvSpPr/>
          <p:nvPr/>
        </p:nvSpPr>
        <p:spPr>
          <a:xfrm>
            <a:off x="4709160" y="301752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Neither dominates: 21 / 11 / 4 across 36 matched comparisons. Forecast-then-threshold is preferred, since a concentration can be rethresholded for any future policy.</a:t>
            </a:r>
            <a:endParaRPr lang="en-US" sz="1550" dirty="0"/>
          </a:p>
        </p:txBody>
      </p:sp>
      <p:sp>
        <p:nvSpPr>
          <p:cNvPr id="21" name="Shape 18"/>
          <p:cNvSpPr/>
          <p:nvPr/>
        </p:nvSpPr>
        <p:spPr>
          <a:xfrm>
            <a:off x="548640" y="4297680"/>
            <a:ext cx="11094415" cy="1188720"/>
          </a:xfrm>
          <a:prstGeom prst="roundRect">
            <a:avLst>
              <a:gd name="adj" fmla="val 6154"/>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2" name="Text 19"/>
          <p:cNvSpPr/>
          <p:nvPr/>
        </p:nvSpPr>
        <p:spPr>
          <a:xfrm>
            <a:off x="777240" y="4297680"/>
            <a:ext cx="914400" cy="1188720"/>
          </a:xfrm>
          <a:prstGeom prst="rect">
            <a:avLst/>
          </a:prstGeom>
          <a:noFill/>
          <a:ln/>
        </p:spPr>
        <p:txBody>
          <a:bodyPr wrap="square" lIns="0" tIns="0" rIns="0" bIns="0" rtlCol="0" anchor="ctr"/>
          <a:lstStyle/>
          <a:p>
            <a:pPr indent="0" marL="0">
              <a:buNone/>
            </a:pPr>
            <a:r>
              <a:rPr lang="en-US" sz="3000" b="1" dirty="0">
                <a:solidFill>
                  <a:srgbClr val="D55E00"/>
                </a:solidFill>
                <a:latin typeface="Calibri" pitchFamily="34" charset="0"/>
                <a:ea typeface="Calibri" pitchFamily="34" charset="-122"/>
                <a:cs typeface="Calibri" pitchFamily="34" charset="-120"/>
              </a:rPr>
              <a:t>RQ3</a:t>
            </a:r>
            <a:endParaRPr lang="en-US" sz="3000" dirty="0"/>
          </a:p>
        </p:txBody>
      </p:sp>
      <p:sp>
        <p:nvSpPr>
          <p:cNvPr id="23" name="Text 20"/>
          <p:cNvSpPr/>
          <p:nvPr/>
        </p:nvSpPr>
        <p:spPr>
          <a:xfrm>
            <a:off x="1828800" y="4389120"/>
            <a:ext cx="2743200" cy="1005840"/>
          </a:xfrm>
          <a:prstGeom prst="rect">
            <a:avLst/>
          </a:prstGeom>
          <a:noFill/>
          <a:ln/>
        </p:spPr>
        <p:txBody>
          <a:bodyPr wrap="square" lIns="0" tIns="0" rIns="0" bIns="0" rtlCol="0" anchor="ctr"/>
          <a:lstStyle/>
          <a:p>
            <a:pPr indent="0" marL="0">
              <a:buNone/>
            </a:pPr>
            <a:r>
              <a:rPr lang="en-US" sz="1650" b="1" dirty="0">
                <a:solidFill>
                  <a:srgbClr val="0B2545"/>
                </a:solidFill>
                <a:latin typeface="Calibri" pitchFamily="34" charset="0"/>
                <a:ea typeface="Calibri" pitchFamily="34" charset="-122"/>
                <a:cs typeface="Calibri" pitchFamily="34" charset="-120"/>
              </a:rPr>
              <a:t>Model choice vs decision threshold</a:t>
            </a:r>
            <a:endParaRPr lang="en-US" sz="1650" dirty="0"/>
          </a:p>
        </p:txBody>
      </p:sp>
      <p:sp>
        <p:nvSpPr>
          <p:cNvPr id="24" name="Text 21"/>
          <p:cNvSpPr/>
          <p:nvPr/>
        </p:nvSpPr>
        <p:spPr>
          <a:xfrm>
            <a:off x="4709160" y="4343400"/>
            <a:ext cx="6705295" cy="1097280"/>
          </a:xfrm>
          <a:prstGeom prst="rect">
            <a:avLst/>
          </a:prstGeom>
          <a:noFill/>
          <a:ln/>
        </p:spPr>
        <p:txBody>
          <a:bodyPr wrap="square" lIns="0" tIns="0" rIns="0" bIns="0" rtlCol="0" anchor="ctr"/>
          <a:lstStyle/>
          <a:p>
            <a:pPr indent="0" marL="0">
              <a:buNone/>
            </a:pPr>
            <a:r>
              <a:rPr lang="en-US" sz="1550" dirty="0">
                <a:solidFill>
                  <a:srgbClr val="1B2733"/>
                </a:solidFill>
                <a:latin typeface="Calibri" pitchFamily="34" charset="0"/>
                <a:ea typeface="Calibri" pitchFamily="34" charset="-122"/>
                <a:cs typeface="Calibri" pitchFamily="34" charset="-120"/>
              </a:rPr>
              <a:t>The budget sweep moves hit rate from 0.379 to 0.881 (h = 1, 40 to 100 alarms a year). Model choice moves it about 5 points at a fixed budget.</a:t>
            </a:r>
            <a:endParaRPr lang="en-US" sz="1550" dirty="0"/>
          </a:p>
        </p:txBody>
      </p:sp>
      <p:sp>
        <p:nvSpPr>
          <p:cNvPr id="25" name="Shape 22"/>
          <p:cNvSpPr/>
          <p:nvPr/>
        </p:nvSpPr>
        <p:spPr>
          <a:xfrm>
            <a:off x="548640" y="5669280"/>
            <a:ext cx="1371600" cy="685800"/>
          </a:xfrm>
          <a:prstGeom prst="rect">
            <a:avLst/>
          </a:prstGeom>
          <a:solidFill>
            <a:srgbClr val="0B2545"/>
          </a:solidFill>
          <a:ln w="12700">
            <a:solidFill>
              <a:srgbClr val="0B2545"/>
            </a:solidFill>
            <a:prstDash val="solid"/>
          </a:ln>
        </p:spPr>
      </p:sp>
      <p:sp>
        <p:nvSpPr>
          <p:cNvPr id="26" name="Text 23"/>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27" name="Shape 24"/>
          <p:cNvSpPr/>
          <p:nvPr/>
        </p:nvSpPr>
        <p:spPr>
          <a:xfrm>
            <a:off x="1920240" y="5669280"/>
            <a:ext cx="9722815" cy="685800"/>
          </a:xfrm>
          <a:prstGeom prst="rect">
            <a:avLst/>
          </a:prstGeom>
          <a:solidFill>
            <a:srgbClr val="DCEAF5"/>
          </a:solidFill>
          <a:ln w="12700">
            <a:solidFill>
              <a:srgbClr val="DCEAF5"/>
            </a:solidFill>
            <a:prstDash val="solid"/>
          </a:ln>
        </p:spPr>
      </p:sp>
      <p:sp>
        <p:nvSpPr>
          <p:cNvPr id="28" name="Text 25"/>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Machine learning earns a real but narrow place; the dial (the alarm budget), not the detector (the model), decides how many hazardous days are caught.</a:t>
            </a:r>
            <a:endParaRPr lang="en-US" sz="15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CONCLUSION</a:t>
            </a:r>
            <a:endParaRPr lang="en-US" sz="1100" dirty="0"/>
          </a:p>
        </p:txBody>
      </p:sp>
      <p:sp>
        <p:nvSpPr>
          <p:cNvPr id="3" name="Shape 1"/>
          <p:cNvSpPr/>
          <p:nvPr/>
        </p:nvSpPr>
        <p:spPr>
          <a:xfrm>
            <a:off x="8442655" y="329184"/>
            <a:ext cx="457200" cy="64008"/>
          </a:xfrm>
          <a:prstGeom prst="roundRect">
            <a:avLst>
              <a:gd name="adj" fmla="val 42857"/>
            </a:avLst>
          </a:prstGeom>
          <a:solidFill>
            <a:srgbClr val="0B2545"/>
          </a:solidFill>
          <a:ln w="12700">
            <a:solidFill>
              <a:srgbClr val="F4F7FA"/>
            </a:solidFill>
            <a:prstDash val="solid"/>
          </a:ln>
        </p:spPr>
      </p:sp>
      <p:sp>
        <p:nvSpPr>
          <p:cNvPr id="4" name="Shape 2"/>
          <p:cNvSpPr/>
          <p:nvPr/>
        </p:nvSpPr>
        <p:spPr>
          <a:xfrm>
            <a:off x="8991295" y="329184"/>
            <a:ext cx="457200" cy="64008"/>
          </a:xfrm>
          <a:prstGeom prst="roundRect">
            <a:avLst>
              <a:gd name="adj" fmla="val 42857"/>
            </a:avLst>
          </a:prstGeom>
          <a:solidFill>
            <a:srgbClr val="0B2545"/>
          </a:solidFill>
          <a:ln w="12700">
            <a:solidFill>
              <a:srgbClr val="F4F7FA"/>
            </a:solidFill>
            <a:prstDash val="solid"/>
          </a:ln>
        </p:spPr>
      </p:sp>
      <p:sp>
        <p:nvSpPr>
          <p:cNvPr id="5" name="Shape 3"/>
          <p:cNvSpPr/>
          <p:nvPr/>
        </p:nvSpPr>
        <p:spPr>
          <a:xfrm>
            <a:off x="9539935" y="329184"/>
            <a:ext cx="457200" cy="64008"/>
          </a:xfrm>
          <a:prstGeom prst="roundRect">
            <a:avLst>
              <a:gd name="adj" fmla="val 42857"/>
            </a:avLst>
          </a:prstGeom>
          <a:solidFill>
            <a:srgbClr val="0B2545"/>
          </a:solidFill>
          <a:ln w="12700">
            <a:solidFill>
              <a:srgbClr val="F4F7FA"/>
            </a:solidFill>
            <a:prstDash val="solid"/>
          </a:ln>
        </p:spPr>
      </p:sp>
      <p:sp>
        <p:nvSpPr>
          <p:cNvPr id="6" name="Shape 4"/>
          <p:cNvSpPr/>
          <p:nvPr/>
        </p:nvSpPr>
        <p:spPr>
          <a:xfrm>
            <a:off x="10088575" y="329184"/>
            <a:ext cx="457200" cy="64008"/>
          </a:xfrm>
          <a:prstGeom prst="roundRect">
            <a:avLst>
              <a:gd name="adj" fmla="val 42857"/>
            </a:avLst>
          </a:prstGeom>
          <a:solidFill>
            <a:srgbClr val="0B2545"/>
          </a:solidFill>
          <a:ln w="12700">
            <a:solidFill>
              <a:srgbClr val="F4F7FA"/>
            </a:solidFill>
            <a:prstDash val="solid"/>
          </a:ln>
        </p:spPr>
      </p:sp>
      <p:sp>
        <p:nvSpPr>
          <p:cNvPr id="7" name="Shape 5"/>
          <p:cNvSpPr/>
          <p:nvPr/>
        </p:nvSpPr>
        <p:spPr>
          <a:xfrm>
            <a:off x="10637215" y="329184"/>
            <a:ext cx="457200" cy="64008"/>
          </a:xfrm>
          <a:prstGeom prst="roundRect">
            <a:avLst>
              <a:gd name="adj" fmla="val 42857"/>
            </a:avLst>
          </a:prstGeom>
          <a:solidFill>
            <a:srgbClr val="0B2545"/>
          </a:solidFill>
          <a:ln w="12700">
            <a:solidFill>
              <a:srgbClr val="F4F7FA"/>
            </a:solidFill>
            <a:prstDash val="solid"/>
          </a:ln>
        </p:spPr>
      </p:sp>
      <p:sp>
        <p:nvSpPr>
          <p:cNvPr id="8" name="Shape 6"/>
          <p:cNvSpPr/>
          <p:nvPr/>
        </p:nvSpPr>
        <p:spPr>
          <a:xfrm>
            <a:off x="11185855" y="329184"/>
            <a:ext cx="457200" cy="64008"/>
          </a:xfrm>
          <a:prstGeom prst="roundRect">
            <a:avLst>
              <a:gd name="adj" fmla="val 42857"/>
            </a:avLst>
          </a:prstGeom>
          <a:solidFill>
            <a:srgbClr val="006CAB"/>
          </a:solidFill>
          <a:ln w="12700">
            <a:solidFill>
              <a:srgbClr val="F4F7FA"/>
            </a:solidFill>
            <a:prstDash val="solid"/>
          </a:ln>
        </p:spPr>
      </p:sp>
      <p:sp>
        <p:nvSpPr>
          <p:cNvPr id="9" name="Text 7"/>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Design the warning system around its alarm budget, and treat the model as a refinement</a:t>
            </a:r>
            <a:endParaRPr lang="en-US" sz="2800" dirty="0"/>
          </a:p>
        </p:txBody>
      </p:sp>
      <p:sp>
        <p:nvSpPr>
          <p:cNvPr id="10" name="Text 8"/>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11" name="Text 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33 / 34</a:t>
            </a:r>
            <a:endParaRPr lang="en-US" sz="1000" dirty="0"/>
          </a:p>
        </p:txBody>
      </p:sp>
      <p:sp>
        <p:nvSpPr>
          <p:cNvPr id="13" name="Shape 10"/>
          <p:cNvSpPr/>
          <p:nvPr/>
        </p:nvSpPr>
        <p:spPr>
          <a:xfrm>
            <a:off x="548640" y="1691640"/>
            <a:ext cx="4663440" cy="4389120"/>
          </a:xfrm>
          <a:prstGeom prst="roundRect">
            <a:avLst>
              <a:gd name="adj" fmla="val 1667"/>
            </a:avLst>
          </a:prstGeom>
          <a:solidFill>
            <a:srgbClr val="0B2545"/>
          </a:solidFill>
          <a:ln w="9525">
            <a:solidFill>
              <a:srgbClr val="D3DCE6"/>
            </a:solidFill>
            <a:prstDash val="solid"/>
          </a:ln>
        </p:spPr>
      </p:sp>
      <p:sp>
        <p:nvSpPr>
          <p:cNvPr id="14" name="Text 11"/>
          <p:cNvSpPr/>
          <p:nvPr/>
        </p:nvSpPr>
        <p:spPr>
          <a:xfrm>
            <a:off x="822960" y="1874520"/>
            <a:ext cx="4114800" cy="274320"/>
          </a:xfrm>
          <a:prstGeom prst="rect">
            <a:avLst/>
          </a:prstGeom>
          <a:noFill/>
          <a:ln/>
        </p:spPr>
        <p:txBody>
          <a:bodyPr wrap="square" lIns="0" tIns="0" rIns="0" bIns="0" rtlCol="0" anchor="ctr"/>
          <a:lstStyle/>
          <a:p>
            <a:pPr indent="0" marL="0">
              <a:buNone/>
            </a:pPr>
            <a:r>
              <a:rPr lang="en-US" sz="1100" b="1" spc="200" kern="0" dirty="0">
                <a:solidFill>
                  <a:srgbClr val="8FC3E8"/>
                </a:solidFill>
                <a:latin typeface="Calibri" pitchFamily="34" charset="0"/>
                <a:ea typeface="Calibri" pitchFamily="34" charset="-122"/>
                <a:cs typeface="Calibri" pitchFamily="34" charset="-120"/>
              </a:rPr>
              <a:t>RECOMMENDATION</a:t>
            </a:r>
            <a:endParaRPr lang="en-US" sz="1100" dirty="0"/>
          </a:p>
        </p:txBody>
      </p:sp>
      <p:sp>
        <p:nvSpPr>
          <p:cNvPr id="15" name="Text 12"/>
          <p:cNvSpPr/>
          <p:nvPr/>
        </p:nvSpPr>
        <p:spPr>
          <a:xfrm>
            <a:off x="822960" y="2240280"/>
            <a:ext cx="4114800" cy="237744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Design a hazardous air quality warning system around the alarm budget its operator can justify, with the forecasting model a secondary refinement.</a:t>
            </a:r>
            <a:endParaRPr lang="en-US" sz="2200" dirty="0"/>
          </a:p>
        </p:txBody>
      </p:sp>
      <p:sp>
        <p:nvSpPr>
          <p:cNvPr id="16" name="Text 13"/>
          <p:cNvSpPr/>
          <p:nvPr/>
        </p:nvSpPr>
        <p:spPr>
          <a:xfrm>
            <a:off x="822960" y="4709160"/>
            <a:ext cx="4114800" cy="1188720"/>
          </a:xfrm>
          <a:prstGeom prst="rect">
            <a:avLst/>
          </a:prstGeom>
          <a:noFill/>
          <a:ln/>
        </p:spPr>
        <p:txBody>
          <a:bodyPr wrap="square" lIns="0" tIns="0" rIns="0" bIns="0" rtlCol="0" anchor="t"/>
          <a:lstStyle/>
          <a:p>
            <a:pPr indent="0" marL="0">
              <a:buNone/>
            </a:pPr>
            <a:r>
              <a:rPr lang="en-US" sz="1400" i="1" dirty="0">
                <a:solidFill>
                  <a:srgbClr val="C9DCEC"/>
                </a:solidFill>
                <a:latin typeface="Calibri" pitchFamily="34" charset="0"/>
                <a:ea typeface="Calibri" pitchFamily="34" charset="-122"/>
                <a:cs typeface="Calibri" pitchFamily="34" charset="-120"/>
              </a:rPr>
              <a:t>A model comparison that does not fix the alarm budget it was evaluated at has answered a question nobody who operates the system asked.</a:t>
            </a:r>
            <a:endParaRPr lang="en-US" sz="1400" dirty="0"/>
          </a:p>
        </p:txBody>
      </p:sp>
      <p:sp>
        <p:nvSpPr>
          <p:cNvPr id="17" name="Text 14"/>
          <p:cNvSpPr/>
          <p:nvPr/>
        </p:nvSpPr>
        <p:spPr>
          <a:xfrm>
            <a:off x="5577840" y="1691640"/>
            <a:ext cx="5486400" cy="274320"/>
          </a:xfrm>
          <a:prstGeom prst="rect">
            <a:avLst/>
          </a:prstGeom>
          <a:noFill/>
          <a:ln/>
        </p:spPr>
        <p:txBody>
          <a:bodyPr wrap="square" lIns="0" tIns="0" rIns="0" bIns="0" rtlCol="0" anchor="ctr"/>
          <a:lstStyle/>
          <a:p>
            <a:pPr indent="0" marL="0">
              <a:buNone/>
            </a:pPr>
            <a:r>
              <a:rPr lang="en-US" sz="1100" b="1" spc="200" kern="0" dirty="0">
                <a:solidFill>
                  <a:srgbClr val="006CAB"/>
                </a:solidFill>
                <a:latin typeface="Calibri" pitchFamily="34" charset="0"/>
                <a:ea typeface="Calibri" pitchFamily="34" charset="-122"/>
                <a:cs typeface="Calibri" pitchFamily="34" charset="-120"/>
              </a:rPr>
              <a:t>SIX EXTENSIONS</a:t>
            </a:r>
            <a:endParaRPr lang="en-US" sz="1100" dirty="0"/>
          </a:p>
        </p:txBody>
      </p:sp>
      <p:sp>
        <p:nvSpPr>
          <p:cNvPr id="18" name="Shape 15"/>
          <p:cNvSpPr/>
          <p:nvPr/>
        </p:nvSpPr>
        <p:spPr>
          <a:xfrm>
            <a:off x="5577840" y="2103120"/>
            <a:ext cx="457200" cy="457200"/>
          </a:xfrm>
          <a:prstGeom prst="ellipse">
            <a:avLst/>
          </a:prstGeom>
          <a:solidFill>
            <a:srgbClr val="006CAB"/>
          </a:solidFill>
          <a:ln w="12700">
            <a:solidFill>
              <a:srgbClr val="FFFFFF"/>
            </a:solidFill>
            <a:prstDash val="solid"/>
          </a:ln>
        </p:spPr>
      </p:sp>
      <p:sp>
        <p:nvSpPr>
          <p:cNvPr id="19" name="Text 16"/>
          <p:cNvSpPr/>
          <p:nvPr/>
        </p:nvSpPr>
        <p:spPr>
          <a:xfrm>
            <a:off x="5577840" y="2103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p:nvPr/>
        </p:nvSpPr>
        <p:spPr>
          <a:xfrm>
            <a:off x="6217920" y="205740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 weather. </a:t>
            </a:r>
            <a:pPr indent="0" marL="0">
              <a:buNone/>
            </a:pPr>
            <a:r>
              <a:rPr lang="en-US" sz="1550" dirty="0">
                <a:solidFill>
                  <a:srgbClr val="1B2733"/>
                </a:solidFill>
                <a:latin typeface="Calibri" pitchFamily="34" charset="0"/>
                <a:ea typeface="Calibri" pitchFamily="34" charset="-122"/>
                <a:cs typeface="Calibri" pitchFamily="34" charset="-120"/>
              </a:rPr>
              <a:t>Numerical weather prediction in place of observed conditions.</a:t>
            </a:r>
            <a:endParaRPr lang="en-US" sz="1550" dirty="0"/>
          </a:p>
        </p:txBody>
      </p:sp>
      <p:sp>
        <p:nvSpPr>
          <p:cNvPr id="21" name="Shape 18"/>
          <p:cNvSpPr/>
          <p:nvPr/>
        </p:nvSpPr>
        <p:spPr>
          <a:xfrm>
            <a:off x="5577840" y="2770632"/>
            <a:ext cx="457200" cy="457200"/>
          </a:xfrm>
          <a:prstGeom prst="ellipse">
            <a:avLst/>
          </a:prstGeom>
          <a:solidFill>
            <a:srgbClr val="006CAB"/>
          </a:solidFill>
          <a:ln w="12700">
            <a:solidFill>
              <a:srgbClr val="FFFFFF"/>
            </a:solidFill>
            <a:prstDash val="solid"/>
          </a:ln>
        </p:spPr>
      </p:sp>
      <p:sp>
        <p:nvSpPr>
          <p:cNvPr id="22" name="Text 19"/>
          <p:cNvSpPr/>
          <p:nvPr/>
        </p:nvSpPr>
        <p:spPr>
          <a:xfrm>
            <a:off x="5577840" y="277063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p:nvPr/>
        </p:nvSpPr>
        <p:spPr>
          <a:xfrm>
            <a:off x="6217920" y="2724912"/>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Boundary layer height. </a:t>
            </a:r>
            <a:pPr indent="0" marL="0">
              <a:buNone/>
            </a:pPr>
            <a:r>
              <a:rPr lang="en-US" sz="1550" dirty="0">
                <a:solidFill>
                  <a:srgbClr val="1B2733"/>
                </a:solidFill>
                <a:latin typeface="Calibri" pitchFamily="34" charset="0"/>
                <a:ea typeface="Calibri" pitchFamily="34" charset="-122"/>
                <a:cs typeface="Calibri" pitchFamily="34" charset="-120"/>
              </a:rPr>
              <a:t>From a reanalysis such as ERA5.</a:t>
            </a:r>
            <a:endParaRPr lang="en-US" sz="1550" dirty="0"/>
          </a:p>
        </p:txBody>
      </p:sp>
      <p:sp>
        <p:nvSpPr>
          <p:cNvPr id="24" name="Shape 21"/>
          <p:cNvSpPr/>
          <p:nvPr/>
        </p:nvSpPr>
        <p:spPr>
          <a:xfrm>
            <a:off x="5577840" y="3438144"/>
            <a:ext cx="457200" cy="457200"/>
          </a:xfrm>
          <a:prstGeom prst="ellipse">
            <a:avLst/>
          </a:prstGeom>
          <a:solidFill>
            <a:srgbClr val="006CAB"/>
          </a:solidFill>
          <a:ln w="12700">
            <a:solidFill>
              <a:srgbClr val="FFFFFF"/>
            </a:solidFill>
            <a:prstDash val="solid"/>
          </a:ln>
        </p:spPr>
      </p:sp>
      <p:sp>
        <p:nvSpPr>
          <p:cNvPr id="25" name="Text 22"/>
          <p:cNvSpPr/>
          <p:nvPr/>
        </p:nvSpPr>
        <p:spPr>
          <a:xfrm>
            <a:off x="5577840" y="343814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p:nvPr/>
        </p:nvSpPr>
        <p:spPr>
          <a:xfrm>
            <a:off x="6217920" y="3392424"/>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Four harmonics for the GRU </a:t>
            </a:r>
            <a:pPr indent="0" marL="0">
              <a:buNone/>
            </a:pPr>
            <a:r>
              <a:rPr lang="en-US" sz="1550" dirty="0">
                <a:solidFill>
                  <a:srgbClr val="1B2733"/>
                </a:solidFill>
                <a:latin typeface="Calibri" pitchFamily="34" charset="0"/>
                <a:ea typeface="Calibri" pitchFamily="34" charset="-122"/>
                <a:cs typeface="Calibri" pitchFamily="34" charset="-120"/>
              </a:rPr>
              <a:t>under the full ten-seed evaluation.</a:t>
            </a:r>
            <a:endParaRPr lang="en-US" sz="1550" dirty="0"/>
          </a:p>
        </p:txBody>
      </p:sp>
      <p:sp>
        <p:nvSpPr>
          <p:cNvPr id="27" name="Shape 24"/>
          <p:cNvSpPr/>
          <p:nvPr/>
        </p:nvSpPr>
        <p:spPr>
          <a:xfrm>
            <a:off x="5577840" y="4105656"/>
            <a:ext cx="457200" cy="457200"/>
          </a:xfrm>
          <a:prstGeom prst="ellipse">
            <a:avLst/>
          </a:prstGeom>
          <a:solidFill>
            <a:srgbClr val="006CAB"/>
          </a:solidFill>
          <a:ln w="12700">
            <a:solidFill>
              <a:srgbClr val="FFFFFF"/>
            </a:solidFill>
            <a:prstDash val="solid"/>
          </a:ln>
        </p:spPr>
      </p:sp>
      <p:sp>
        <p:nvSpPr>
          <p:cNvPr id="28" name="Text 25"/>
          <p:cNvSpPr/>
          <p:nvPr/>
        </p:nvSpPr>
        <p:spPr>
          <a:xfrm>
            <a:off x="557784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9" name="Text 26"/>
          <p:cNvSpPr/>
          <p:nvPr/>
        </p:nvSpPr>
        <p:spPr>
          <a:xfrm>
            <a:off x="6217920" y="4059936"/>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A second station, </a:t>
            </a:r>
            <a:pPr indent="0" marL="0">
              <a:buNone/>
            </a:pPr>
            <a:r>
              <a:rPr lang="en-US" sz="1550" dirty="0">
                <a:solidFill>
                  <a:srgbClr val="1B2733"/>
                </a:solidFill>
                <a:latin typeface="Calibri" pitchFamily="34" charset="0"/>
                <a:ea typeface="Calibri" pitchFamily="34" charset="-122"/>
                <a:cs typeface="Calibri" pitchFamily="34" charset="-120"/>
              </a:rPr>
              <a:t>ideally inside the CPCB network.</a:t>
            </a:r>
            <a:endParaRPr lang="en-US" sz="1550" dirty="0"/>
          </a:p>
        </p:txBody>
      </p:sp>
      <p:sp>
        <p:nvSpPr>
          <p:cNvPr id="30" name="Shape 27"/>
          <p:cNvSpPr/>
          <p:nvPr/>
        </p:nvSpPr>
        <p:spPr>
          <a:xfrm>
            <a:off x="5577840" y="4773168"/>
            <a:ext cx="457200" cy="457200"/>
          </a:xfrm>
          <a:prstGeom prst="ellipse">
            <a:avLst/>
          </a:prstGeom>
          <a:solidFill>
            <a:srgbClr val="006CAB"/>
          </a:solidFill>
          <a:ln w="12700">
            <a:solidFill>
              <a:srgbClr val="FFFFFF"/>
            </a:solidFill>
            <a:prstDash val="solid"/>
          </a:ln>
        </p:spPr>
      </p:sp>
      <p:sp>
        <p:nvSpPr>
          <p:cNvPr id="31" name="Text 28"/>
          <p:cNvSpPr/>
          <p:nvPr/>
        </p:nvSpPr>
        <p:spPr>
          <a:xfrm>
            <a:off x="5577840" y="477316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2" name="Text 29"/>
          <p:cNvSpPr/>
          <p:nvPr/>
        </p:nvSpPr>
        <p:spPr>
          <a:xfrm>
            <a:off x="6217920" y="4727448"/>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Complete the LSTM and transformer: </a:t>
            </a:r>
            <a:pPr indent="0" marL="0">
              <a:buNone/>
            </a:pPr>
            <a:r>
              <a:rPr lang="en-US" sz="1550" dirty="0">
                <a:solidFill>
                  <a:srgbClr val="1B2733"/>
                </a:solidFill>
                <a:latin typeface="Calibri" pitchFamily="34" charset="0"/>
                <a:ea typeface="Calibri" pitchFamily="34" charset="-122"/>
                <a:cs typeface="Calibri" pitchFamily="34" charset="-120"/>
              </a:rPr>
              <a:t>weather channels and the threshold sweep.</a:t>
            </a:r>
            <a:endParaRPr lang="en-US" sz="1550" dirty="0"/>
          </a:p>
        </p:txBody>
      </p:sp>
      <p:sp>
        <p:nvSpPr>
          <p:cNvPr id="33" name="Shape 30"/>
          <p:cNvSpPr/>
          <p:nvPr/>
        </p:nvSpPr>
        <p:spPr>
          <a:xfrm>
            <a:off x="5577840" y="5440680"/>
            <a:ext cx="457200" cy="457200"/>
          </a:xfrm>
          <a:prstGeom prst="ellipse">
            <a:avLst/>
          </a:prstGeom>
          <a:solidFill>
            <a:srgbClr val="006CAB"/>
          </a:solidFill>
          <a:ln w="12700">
            <a:solidFill>
              <a:srgbClr val="FFFFFF"/>
            </a:solidFill>
            <a:prstDash val="solid"/>
          </a:ln>
        </p:spPr>
      </p:sp>
      <p:sp>
        <p:nvSpPr>
          <p:cNvPr id="34" name="Text 31"/>
          <p:cNvSpPr/>
          <p:nvPr/>
        </p:nvSpPr>
        <p:spPr>
          <a:xfrm>
            <a:off x="5577840" y="54406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5" name="Text 32"/>
          <p:cNvSpPr/>
          <p:nvPr/>
        </p:nvSpPr>
        <p:spPr>
          <a:xfrm>
            <a:off x="6217920" y="5394960"/>
            <a:ext cx="5440680" cy="54864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Promote the KAN-LSTM </a:t>
            </a:r>
            <a:pPr indent="0" marL="0">
              <a:buNone/>
            </a:pPr>
            <a:r>
              <a:rPr lang="en-US" sz="1550" dirty="0">
                <a:solidFill>
                  <a:srgbClr val="1B2733"/>
                </a:solidFill>
                <a:latin typeface="Calibri" pitchFamily="34" charset="0"/>
                <a:ea typeface="Calibri" pitchFamily="34" charset="-122"/>
                <a:cs typeface="Calibri" pitchFamily="34" charset="-120"/>
              </a:rPr>
              <a:t>from a bounded check to ten seeds.</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2545"/>
        </a:solidFill>
      </p:bgPr>
    </p:bg>
    <p:spTree>
      <p:nvGrpSpPr>
        <p:cNvPr id="1" name=""/>
        <p:cNvGrpSpPr/>
        <p:nvPr/>
      </p:nvGrpSpPr>
      <p:grpSpPr>
        <a:xfrm>
          <a:off x="0" y="0"/>
          <a:ext cx="0" cy="0"/>
          <a:chOff x="0" y="0"/>
          <a:chExt cx="0" cy="0"/>
        </a:xfrm>
      </p:grpSpPr>
      <p:sp>
        <p:nvSpPr>
          <p:cNvPr id="2" name="Text 0"/>
          <p:cNvSpPr/>
          <p:nvPr/>
        </p:nvSpPr>
        <p:spPr>
          <a:xfrm>
            <a:off x="548640" y="2011680"/>
            <a:ext cx="8229600" cy="91440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Thank you. Questions?</a:t>
            </a:r>
            <a:endParaRPr lang="en-US" sz="4800" dirty="0"/>
          </a:p>
        </p:txBody>
      </p:sp>
      <p:sp>
        <p:nvSpPr>
          <p:cNvPr id="3" name="Text 1"/>
          <p:cNvSpPr/>
          <p:nvPr/>
        </p:nvSpPr>
        <p:spPr>
          <a:xfrm>
            <a:off x="548640" y="3108960"/>
            <a:ext cx="9144000" cy="731520"/>
          </a:xfrm>
          <a:prstGeom prst="rect">
            <a:avLst/>
          </a:prstGeom>
          <a:noFill/>
          <a:ln/>
        </p:spPr>
        <p:txBody>
          <a:bodyPr wrap="square" lIns="0" tIns="0" rIns="0" bIns="0" rtlCol="0" anchor="ctr"/>
          <a:lstStyle/>
          <a:p>
            <a:pPr indent="0" marL="0">
              <a:buNone/>
            </a:pPr>
            <a:r>
              <a:rPr lang="en-US" sz="2200" dirty="0">
                <a:solidFill>
                  <a:srgbClr val="8FC3E8"/>
                </a:solidFill>
                <a:latin typeface="Calibri" pitchFamily="34" charset="0"/>
                <a:ea typeface="Calibri" pitchFamily="34" charset="-122"/>
                <a:cs typeface="Calibri" pitchFamily="34" charset="-120"/>
              </a:rPr>
              <a:t>The alarm budget a decision maker accepts dominates the choice of model.</a:t>
            </a:r>
            <a:endParaRPr lang="en-US" sz="2200" dirty="0"/>
          </a:p>
        </p:txBody>
      </p:sp>
      <p:sp>
        <p:nvSpPr>
          <p:cNvPr id="4" name="Text 2"/>
          <p:cNvSpPr/>
          <p:nvPr/>
        </p:nvSpPr>
        <p:spPr>
          <a:xfrm>
            <a:off x="548640" y="4572000"/>
            <a:ext cx="8686800" cy="365760"/>
          </a:xfrm>
          <a:prstGeom prst="rect">
            <a:avLst/>
          </a:prstGeom>
          <a:noFill/>
          <a:ln/>
        </p:spPr>
        <p:txBody>
          <a:bodyPr wrap="square" lIns="0" tIns="0" rIns="0" bIns="0" rtlCol="0" anchor="ctr"/>
          <a:lstStyle/>
          <a:p>
            <a:pPr indent="0" marL="0">
              <a:buNone/>
            </a:pPr>
            <a:r>
              <a:rPr lang="en-US" sz="1600" dirty="0">
                <a:solidFill>
                  <a:srgbClr val="C9DCEC"/>
                </a:solidFill>
                <a:latin typeface="Calibri" pitchFamily="34" charset="0"/>
                <a:ea typeface="Calibri" pitchFamily="34" charset="-122"/>
                <a:cs typeface="Calibri" pitchFamily="34" charset="-120"/>
              </a:rPr>
              <a:t>Code, data and report: github.com/JC16092/mth5000-aqi-forecast</a:t>
            </a:r>
            <a:endParaRPr lang="en-US" sz="1600" dirty="0"/>
          </a:p>
        </p:txBody>
      </p:sp>
      <p:sp>
        <p:nvSpPr>
          <p:cNvPr id="5" name="Text 3"/>
          <p:cNvSpPr/>
          <p:nvPr/>
        </p:nvSpPr>
        <p:spPr>
          <a:xfrm>
            <a:off x="548640" y="5029200"/>
            <a:ext cx="10515600" cy="731520"/>
          </a:xfrm>
          <a:prstGeom prst="rect">
            <a:avLst/>
          </a:prstGeom>
          <a:noFill/>
          <a:ln/>
        </p:spPr>
        <p:txBody>
          <a:bodyPr wrap="square" lIns="0" tIns="0" rIns="0" bIns="0" rtlCol="0" anchor="t"/>
          <a:lstStyle/>
          <a:p>
            <a:pPr indent="0" marL="0">
              <a:buNone/>
            </a:pPr>
            <a:r>
              <a:rPr lang="en-US" sz="1400" dirty="0">
                <a:solidFill>
                  <a:srgbClr val="8FA6BD"/>
                </a:solidFill>
                <a:latin typeface="Calibri" pitchFamily="34" charset="0"/>
                <a:ea typeface="Calibri" pitchFamily="34" charset="-122"/>
                <a:cs typeface="Calibri" pitchFamily="34" charset="-120"/>
              </a:rPr>
              <a:t>Backup: B1 full Table 4.1, B2 ARIMA order search, B3 significance tables, B4 GRU sensitivity, B5 stability and architecture checks, B6 RQ2 at all horizons, B7 full Table 4.7, B8 to B9 likely questions, B10 plain-language glossary.</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 Report Table 4.1 in full: rMAE against persistence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1097280" y="1554480"/>
          <a:ext cx="9601200" cy="914400"/>
        </p:xfrm>
        <a:graphic>
          <a:graphicData uri="http://schemas.openxmlformats.org/drawingml/2006/table">
            <a:tbl>
              <a:tblPr/>
              <a:tblGrid>
                <a:gridCol w="3108960"/>
                <a:gridCol w="1737360"/>
                <a:gridCol w="1737360"/>
                <a:gridCol w="1737360"/>
                <a:gridCol w="1280160"/>
              </a:tblGrid>
              <a:tr h="3383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Bias,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0.910 to 0.939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 to 0.906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0.831 to 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LSTM,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0.913 to 0.932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0.874 to 0.892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0.824 to 0.847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Transformer, 10 seeds</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0.914 to 0.925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0.870 to 0.893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0.825 to 0.842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ARIMA(1,1,1) + Fourier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0.940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0.832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−6.4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0.919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Random forest,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0.988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0.934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level</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Ridge regression</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0.897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+2.6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1.415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1.060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0.947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+9.4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Seasonal naive, lag 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1.759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1.325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1.168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6035040"/>
            <a:ext cx="8229600" cy="27432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Over 2,303 origins. Lower is better; 1.000 is persistence.</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B2. The ARIMA order search in full: all 24 candidates by AIC</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B2</a:t>
            </a:r>
            <a:endParaRPr lang="en-US" sz="1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1892.5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1955.8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300" b="1" dirty="0">
                          <a:solidFill>
                            <a:srgbClr val="0B2545"/>
                          </a:solidFill>
                          <a:latin typeface="Calibri" pitchFamily="34" charset="0"/>
                          <a:ea typeface="Calibri" pitchFamily="34" charset="-122"/>
                          <a:cs typeface="Calibri" pitchFamily="34" charset="-120"/>
                        </a:rPr>
                        <a:t>chosen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1962.6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1894.4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1963.4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1970.6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1897.7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1910.4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1912.1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1914.7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1983.7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1915.5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1996.0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1919.9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2006.1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6309360" y="1554480"/>
          <a:ext cx="5303520" cy="914400"/>
        </p:xfrm>
        <a:graphic>
          <a:graphicData uri="http://schemas.openxmlformats.org/drawingml/2006/table">
            <a:tbl>
              <a:tblPr/>
              <a:tblGrid>
                <a:gridCol w="1097280"/>
                <a:gridCol w="914400"/>
                <a:gridCol w="914400"/>
                <a:gridCol w="237744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(p,d,q)</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BIC</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note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1927.4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1990.7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2009.2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2078.2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2022.5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2085.7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(2,0,2)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2180.5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2126.5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2201.2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(3,1,0)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2153.8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2222.8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2167.9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2177.9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2235.4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(2,1,0)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2196.7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2259.9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no convergence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(1,1,0)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2265.2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2322.7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2355.6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2407.4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2734.0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2791.5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9" name="Text 4"/>
          <p:cNvSpPr/>
          <p:nvPr/>
        </p:nvSpPr>
        <p:spPr>
          <a:xfrm>
            <a:off x="548640" y="5943600"/>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3.4, sorted by AIC.</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B3. Diebold-Mariano tests against ARIMA</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B3</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943600" cy="914400"/>
        </p:xfrm>
        <a:graphic>
          <a:graphicData uri="http://schemas.openxmlformats.org/drawingml/2006/table">
            <a:tbl>
              <a:tblPr/>
              <a:tblGrid>
                <a:gridCol w="1737360"/>
                <a:gridCol w="365760"/>
                <a:gridCol w="1463040"/>
                <a:gridCol w="1554480"/>
                <a:gridCol w="822960"/>
              </a:tblGrid>
              <a:tr h="34747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Network vs. ARIMA</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DM statistic</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p-value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Sig. seeds</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−3.08 to −0.10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0.002 to 0.923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−0.47 to 1.73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0.083 to 0.992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Plain GRU</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−0.05 to 2.77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0.987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to −0.87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&lt;0.001 to 0.383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−1.78 to 0.26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0.075 to 0.942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GRU with weather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−0.83 to 1.97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0.049 to 0.907</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−2.59 to −0.66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0.010 to 0.511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5/10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−0.65 to 0.83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0.409 to 0.974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LSTM</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−0.59 to 1.05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0.292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−2.74 to −1.39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0.006 to 0.164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7/10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−1.34 to 0.84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0.181 to 0.995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−0.63 to 0.73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0.463 to 0.988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858000" y="1554480"/>
          <a:ext cx="4800600" cy="914400"/>
        </p:xfrm>
        <a:graphic>
          <a:graphicData uri="http://schemas.openxmlformats.org/drawingml/2006/table">
            <a:tbl>
              <a:tblPr/>
              <a:tblGrid>
                <a:gridCol w="1508760"/>
                <a:gridCol w="1097280"/>
                <a:gridCol w="1097280"/>
                <a:gridCol w="1097280"/>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ARIMA vs. regressor</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 = 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Ridge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4.25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3.85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3.62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3.05 (0.002)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2.43 (0.015)</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2.19 (0.029)</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RF,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1.99 (0.046)</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B2545"/>
                          </a:solidFill>
                          <a:latin typeface="Calibri" pitchFamily="34" charset="0"/>
                          <a:ea typeface="Calibri" pitchFamily="34" charset="-122"/>
                          <a:cs typeface="Calibri" pitchFamily="34" charset="-120"/>
                        </a:rPr>
                        <a:t>1.93 (0.054)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3.53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level</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3.92 (&lt;0.001)</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2.65 (0.008)</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2.26 (0.024)</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457200">
                <a:tc>
                  <a:txBody>
                    <a:bodyPr/>
                    <a:lstStyle/>
                    <a:p>
                      <a:pPr algn="l" indent="0" marL="0">
                        <a:buNone/>
                      </a:pPr>
                      <a:r>
                        <a:rPr lang="en-US" sz="1200" dirty="0">
                          <a:solidFill>
                            <a:srgbClr val="1B2733"/>
                          </a:solidFill>
                          <a:latin typeface="Calibri" pitchFamily="34" charset="0"/>
                          <a:ea typeface="Calibri" pitchFamily="34" charset="-122"/>
                          <a:cs typeface="Calibri" pitchFamily="34" charset="-120"/>
                        </a:rPr>
                        <a:t>GB, change</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3.00 (0.003)</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2.51 (0.012)</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733"/>
                          </a:solidFill>
                          <a:latin typeface="Calibri" pitchFamily="34" charset="0"/>
                          <a:ea typeface="Calibri" pitchFamily="34" charset="-122"/>
                          <a:cs typeface="Calibri" pitchFamily="34" charset="-120"/>
                        </a:rPr>
                        <a:t>1.96 (0.050)</a:t>
                      </a:r>
                      <a:endParaRPr lang="en-US" sz="12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9" name="Text 4"/>
          <p:cNvSpPr/>
          <p:nvPr/>
        </p:nvSpPr>
        <p:spPr>
          <a:xfrm>
            <a:off x="6858000" y="4434840"/>
            <a:ext cx="48006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Tables 4.2 and 4.3. Cells show DM statistic (p-value). Shaded: the one non-significant regressor pairing, p = 0.054.</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B4. GRU sensitivity: three bounded checks, three seeds, one split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B4</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897880" cy="914400"/>
        </p:xfrm>
        <a:graphic>
          <a:graphicData uri="http://schemas.openxmlformats.org/drawingml/2006/table">
            <a:tbl>
              <a:tblPr/>
              <a:tblGrid>
                <a:gridCol w="1417320"/>
                <a:gridCol w="2286000"/>
                <a:gridCol w="731520"/>
                <a:gridCol w="731520"/>
                <a:gridCol w="731520"/>
              </a:tblGrid>
              <a:tr h="36576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Check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h = 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Architecture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24, 30-day (default)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0.899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H = 48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15-day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45-day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0.907</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0.836</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60-day window</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0.851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Seasonal input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K = 4 (matches 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Training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0.888</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0.864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Adam, lr = 0.03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0.905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SGD,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0.930</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0.839</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65760">
                <a:tc>
                  <a:txBody>
                    <a:bodyPr/>
                    <a:lstStyle/>
                    <a:p>
                      <a:pPr algn="l" indent="0" marL="0">
                        <a:buNone/>
                      </a:pP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RMSprop, lr = 0.01</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0.914</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2733"/>
                          </a:solidFill>
                          <a:latin typeface="Calibri" pitchFamily="34" charset="0"/>
                          <a:ea typeface="Calibri" pitchFamily="34" charset="-122"/>
                          <a:cs typeface="Calibri" pitchFamily="34" charset="-120"/>
                        </a:rPr>
                        <a:t>0.882</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bl>
          </a:graphicData>
        </a:graphic>
      </p:graphicFrame>
      <p:sp>
        <p:nvSpPr>
          <p:cNvPr id="8" name="Shape 4"/>
          <p:cNvSpPr/>
          <p:nvPr/>
        </p:nvSpPr>
        <p:spPr>
          <a:xfrm>
            <a:off x="6931152" y="2216783"/>
            <a:ext cx="4608576" cy="2698753"/>
          </a:xfrm>
          <a:prstGeom prst="roundRect">
            <a:avLst>
              <a:gd name="adj" fmla="val 2711"/>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9" name="Image 0" descr="Report Figure 5.1: mean relative error for each of eleven GRU settings at three horizons.">    </p:cNvPr>
          <p:cNvPicPr>
            <a:picLocks noChangeAspect="1"/>
          </p:cNvPicPr>
          <p:nvPr/>
        </p:nvPicPr>
        <p:blipFill>
          <a:blip r:embed="rId1"/>
          <a:stretch>
            <a:fillRect/>
          </a:stretch>
        </p:blipFill>
        <p:spPr>
          <a:xfrm>
            <a:off x="7040880" y="2326511"/>
            <a:ext cx="4389120" cy="2479297"/>
          </a:xfrm>
          <a:prstGeom prst="rect">
            <a:avLst/>
          </a:prstGeom>
        </p:spPr>
      </p:pic>
      <p:sp>
        <p:nvSpPr>
          <p:cNvPr id="10" name="Text 5"/>
          <p:cNvSpPr/>
          <p:nvPr/>
        </p:nvSpPr>
        <p:spPr>
          <a:xfrm>
            <a:off x="7040880" y="4988689"/>
            <a:ext cx="46177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5.1. The vertical line marks the default.</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B5. ARIMA coefficient stability, and all four architectures' bounded checks</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B5</a:t>
            </a:r>
            <a:endParaRPr lang="en-US" sz="1000" dirty="0"/>
          </a:p>
        </p:txBody>
      </p:sp>
      <p:sp>
        <p:nvSpPr>
          <p:cNvPr id="7" name="Shape 4"/>
          <p:cNvSpPr/>
          <p:nvPr/>
        </p:nvSpPr>
        <p:spPr>
          <a:xfrm>
            <a:off x="438912" y="2328771"/>
            <a:ext cx="5705856" cy="2291898"/>
          </a:xfrm>
          <a:prstGeom prst="roundRect">
            <a:avLst>
              <a:gd name="adj" fmla="val 3192"/>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Report Figure 3.6: ARIMA coefficients across 28 refits; the moving-average coefficient crosses the invertibility boundary at three.">    </p:cNvPr>
          <p:cNvPicPr>
            <a:picLocks noChangeAspect="1"/>
          </p:cNvPicPr>
          <p:nvPr/>
        </p:nvPicPr>
        <p:blipFill>
          <a:blip r:embed="rId1"/>
          <a:stretch>
            <a:fillRect/>
          </a:stretch>
        </p:blipFill>
        <p:spPr>
          <a:xfrm>
            <a:off x="548640" y="2438499"/>
            <a:ext cx="5486400" cy="2072442"/>
          </a:xfrm>
          <a:prstGeom prst="rect">
            <a:avLst/>
          </a:prstGeom>
        </p:spPr>
      </p:pic>
      <p:sp>
        <p:nvSpPr>
          <p:cNvPr id="9" name="Text 5"/>
          <p:cNvSpPr/>
          <p:nvPr/>
        </p:nvSpPr>
        <p:spPr>
          <a:xfrm>
            <a:off x="548640" y="4693821"/>
            <a:ext cx="5486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3.6. The three open points cross the invertibility boundary.</a:t>
            </a:r>
            <a:endParaRPr lang="en-US" sz="1200" dirty="0"/>
          </a:p>
        </p:txBody>
      </p:sp>
      <p:sp>
        <p:nvSpPr>
          <p:cNvPr id="10" name="Shape 6"/>
          <p:cNvSpPr/>
          <p:nvPr/>
        </p:nvSpPr>
        <p:spPr>
          <a:xfrm>
            <a:off x="6245352" y="2408456"/>
            <a:ext cx="5340096" cy="2132527"/>
          </a:xfrm>
          <a:prstGeom prst="roundRect">
            <a:avLst>
              <a:gd name="adj" fmla="val 34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11" name="Image 1" descr="Report Figure 5.2: bounded-check ranges for four architectures against ARIMA.">    </p:cNvPr>
          <p:cNvPicPr>
            <a:picLocks noChangeAspect="1"/>
          </p:cNvPicPr>
          <p:nvPr/>
        </p:nvPicPr>
        <p:blipFill>
          <a:blip r:embed="rId2"/>
          <a:stretch>
            <a:fillRect/>
          </a:stretch>
        </p:blipFill>
        <p:spPr>
          <a:xfrm>
            <a:off x="6355080" y="2518184"/>
            <a:ext cx="5120640" cy="1913071"/>
          </a:xfrm>
          <a:prstGeom prst="rect">
            <a:avLst/>
          </a:prstGeom>
        </p:spPr>
      </p:pic>
      <p:sp>
        <p:nvSpPr>
          <p:cNvPr id="12" name="Text 7"/>
          <p:cNvSpPr/>
          <p:nvPr/>
        </p:nvSpPr>
        <p:spPr>
          <a:xfrm>
            <a:off x="6355080" y="4614136"/>
            <a:ext cx="530352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5.2. Bounded checks, ranges over three seeds, against ARIMA's rolling-origin rMAE.</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B6. RQ2 at all three horizons: the hit-rate advantage of forecast-then-threshold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B6</a:t>
            </a:r>
            <a:endParaRPr lang="en-US" sz="1000" dirty="0"/>
          </a:p>
        </p:txBody>
      </p:sp>
      <p:sp>
        <p:nvSpPr>
          <p:cNvPr id="7" name="Shape 4"/>
          <p:cNvSpPr/>
          <p:nvPr/>
        </p:nvSpPr>
        <p:spPr>
          <a:xfrm>
            <a:off x="2385389" y="1536192"/>
            <a:ext cx="7420918" cy="3602736"/>
          </a:xfrm>
          <a:prstGeom prst="roundRect">
            <a:avLst>
              <a:gd name="adj" fmla="val 2030"/>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pic>
        <p:nvPicPr>
          <p:cNvPr id="8" name="Image 0" descr="Report Figure 4.4: hit-rate advantage of forecast-then-threshold over its matched classifier, by budget and horizon.">    </p:cNvPr>
          <p:cNvPicPr>
            <a:picLocks noChangeAspect="1"/>
          </p:cNvPicPr>
          <p:nvPr/>
        </p:nvPicPr>
        <p:blipFill>
          <a:blip r:embed="rId1"/>
          <a:stretch>
            <a:fillRect/>
          </a:stretch>
        </p:blipFill>
        <p:spPr>
          <a:xfrm>
            <a:off x="2495117" y="1645920"/>
            <a:ext cx="7201462" cy="3383280"/>
          </a:xfrm>
          <a:prstGeom prst="rect">
            <a:avLst/>
          </a:prstGeom>
        </p:spPr>
      </p:pic>
      <p:sp>
        <p:nvSpPr>
          <p:cNvPr id="9" name="Text 5"/>
          <p:cNvSpPr/>
          <p:nvPr/>
        </p:nvSpPr>
        <p:spPr>
          <a:xfrm>
            <a:off x="548640" y="521208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Figure 4.4. One line per matched pair.</a:t>
            </a:r>
            <a:endParaRPr lang="en-US" sz="1200" dirty="0"/>
          </a:p>
        </p:txBody>
      </p:sp>
      <p:sp>
        <p:nvSpPr>
          <p:cNvPr id="10" name="Shape 6"/>
          <p:cNvSpPr/>
          <p:nvPr/>
        </p:nvSpPr>
        <p:spPr>
          <a:xfrm>
            <a:off x="548640" y="5669280"/>
            <a:ext cx="1371600" cy="685800"/>
          </a:xfrm>
          <a:prstGeom prst="rect">
            <a:avLst/>
          </a:prstGeom>
          <a:solidFill>
            <a:srgbClr val="0B2545"/>
          </a:solidFill>
          <a:ln w="12700">
            <a:solidFill>
              <a:srgbClr val="0B2545"/>
            </a:solidFill>
            <a:prstDash val="solid"/>
          </a:ln>
        </p:spPr>
      </p:sp>
      <p:sp>
        <p:nvSpPr>
          <p:cNvPr id="11" name="Text 7"/>
          <p:cNvSpPr/>
          <p:nvPr/>
        </p:nvSpPr>
        <p:spPr>
          <a:xfrm>
            <a:off x="548640" y="5669280"/>
            <a:ext cx="1371600" cy="685800"/>
          </a:xfrm>
          <a:prstGeom prst="rect">
            <a:avLst/>
          </a:prstGeom>
          <a:noFill/>
          <a:ln/>
        </p:spPr>
        <p:txBody>
          <a:bodyPr wrap="square" lIns="0" tIns="0" rIns="0" bIns="0" rtlCol="0" anchor="ctr"/>
          <a:lstStyle/>
          <a:p>
            <a:pPr algn="ctr" indent="0" marL="0">
              <a:buNone/>
            </a:pPr>
            <a:r>
              <a:rPr lang="en-US" sz="1200" b="1" spc="200" kern="0" dirty="0">
                <a:solidFill>
                  <a:srgbClr val="FFFFFF"/>
                </a:solidFill>
                <a:latin typeface="Calibri" pitchFamily="34" charset="0"/>
                <a:ea typeface="Calibri" pitchFamily="34" charset="-122"/>
                <a:cs typeface="Calibri" pitchFamily="34" charset="-120"/>
              </a:rPr>
              <a:t>TAKEAWAY</a:t>
            </a:r>
            <a:endParaRPr lang="en-US" sz="1200" dirty="0"/>
          </a:p>
        </p:txBody>
      </p:sp>
      <p:sp>
        <p:nvSpPr>
          <p:cNvPr id="12" name="Shape 8"/>
          <p:cNvSpPr/>
          <p:nvPr/>
        </p:nvSpPr>
        <p:spPr>
          <a:xfrm>
            <a:off x="1920240" y="5669280"/>
            <a:ext cx="9722815" cy="685800"/>
          </a:xfrm>
          <a:prstGeom prst="rect">
            <a:avLst/>
          </a:prstGeom>
          <a:solidFill>
            <a:srgbClr val="DCEAF5"/>
          </a:solidFill>
          <a:ln w="12700">
            <a:solidFill>
              <a:srgbClr val="DCEAF5"/>
            </a:solidFill>
            <a:prstDash val="solid"/>
          </a:ln>
        </p:spPr>
      </p:sp>
      <p:sp>
        <p:nvSpPr>
          <p:cNvPr id="13" name="Text 9"/>
          <p:cNvSpPr/>
          <p:nvPr/>
        </p:nvSpPr>
        <p:spPr>
          <a:xfrm>
            <a:off x="2103120" y="5669280"/>
            <a:ext cx="9357055" cy="685800"/>
          </a:xfrm>
          <a:prstGeom prst="rect">
            <a:avLst/>
          </a:prstGeom>
          <a:noFill/>
          <a:ln/>
        </p:spPr>
        <p:txBody>
          <a:bodyPr wrap="square" lIns="0" tIns="0" rIns="0" bIns="0" rtlCol="0" anchor="ctr"/>
          <a:lstStyle/>
          <a:p>
            <a:pPr indent="0" marL="0">
              <a:buNone/>
            </a:pPr>
            <a:r>
              <a:rPr lang="en-US" sz="1550" b="1" dirty="0">
                <a:solidFill>
                  <a:srgbClr val="0B2545"/>
                </a:solidFill>
                <a:latin typeface="Calibri" pitchFamily="34" charset="0"/>
                <a:ea typeface="Calibri" pitchFamily="34" charset="-122"/>
                <a:cs typeface="Calibri" pitchFamily="34" charset="-120"/>
              </a:rPr>
              <a:t>Forecast-then-threshold wins 8 of 12 matched comparisons at one day, 7 of 12 at two and 6 of 12 at three: an edge that narrows.</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B7. Report Table 4.7 in full: best hit rate within an alarm budget</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B7</a:t>
            </a:r>
            <a:endParaRPr lang="en-US" sz="1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097280" y="1600200"/>
          <a:ext cx="9418320" cy="914400"/>
        </p:xfrm>
        <a:graphic>
          <a:graphicData uri="http://schemas.openxmlformats.org/drawingml/2006/table">
            <a:tbl>
              <a:tblPr/>
              <a:tblGrid>
                <a:gridCol w="3931920"/>
                <a:gridCol w="1371600"/>
                <a:gridCol w="1371600"/>
                <a:gridCol w="1371600"/>
                <a:gridCol w="1371600"/>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hit rate, alarms per year</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84048">
                <a:tc>
                  <a:txBody>
                    <a:bodyPr/>
                    <a:lstStyle/>
                    <a:p>
                      <a:pPr algn="l" indent="0" marL="0">
                        <a:buNone/>
                      </a:pPr>
                      <a:r>
                        <a:rPr lang="en-US" sz="1400" b="1" dirty="0">
                          <a:solidFill>
                            <a:srgbClr val="1B2733"/>
                          </a:solidFill>
                          <a:latin typeface="Calibri" pitchFamily="34" charset="0"/>
                          <a:ea typeface="Calibri" pitchFamily="34" charset="-122"/>
                          <a:cs typeface="Calibri" pitchFamily="34" charset="-120"/>
                        </a:rPr>
                        <a:t>Best model,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B2733"/>
                          </a:solidFill>
                          <a:latin typeface="Calibri" pitchFamily="34" charset="0"/>
                          <a:ea typeface="Calibri" pitchFamily="34" charset="-122"/>
                          <a:cs typeface="Calibri" pitchFamily="34" charset="-120"/>
                        </a:rPr>
                        <a:t>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0.366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0.700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0.840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Best model,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0.533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0.685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GRU, 10 seeds,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0.356–0.377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0.546–0.565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0.719–0.735</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0.863–0.881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ARIMA,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0.867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Gradient boosting (change),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0.854</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0.371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0.558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0.723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0.873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0.352</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0.821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Persistence,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0B2545"/>
                          </a:solidFill>
                          <a:latin typeface="Calibri" pitchFamily="34" charset="0"/>
                          <a:ea typeface="Calibri" pitchFamily="34" charset="-122"/>
                          <a:cs typeface="Calibri" pitchFamily="34" charset="-120"/>
                        </a:rPr>
                        <a:t>0.359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DCEAF5"/>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0.507</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0.668</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0.791</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733"/>
                          </a:solidFill>
                          <a:latin typeface="Calibri" pitchFamily="34" charset="0"/>
                          <a:ea typeface="Calibri" pitchFamily="34" charset="-122"/>
                          <a:cs typeface="Calibri" pitchFamily="34" charset="-120"/>
                        </a:rPr>
                        <a:t>Climatology, h = 3</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0.336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0.510</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0.649</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ctr" indent="0" marL="0">
                        <a:buNone/>
                      </a:pPr>
                      <a:r>
                        <a:rPr lang="en-US" sz="1400" dirty="0">
                          <a:solidFill>
                            <a:srgbClr val="1B2733"/>
                          </a:solidFill>
                          <a:latin typeface="Calibri" pitchFamily="34" charset="0"/>
                          <a:ea typeface="Calibri" pitchFamily="34" charset="-122"/>
                          <a:cs typeface="Calibri" pitchFamily="34" charset="-120"/>
                        </a:rPr>
                        <a:t>0.816</a:t>
                      </a:r>
                      <a:endParaRPr lang="en-US" sz="14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
        <p:nvSpPr>
          <p:cNvPr id="8" name="Text 4"/>
          <p:cNvSpPr/>
          <p:nvPr/>
        </p:nvSpPr>
        <p:spPr>
          <a:xfrm>
            <a:off x="1097280" y="5943600"/>
            <a:ext cx="10058400" cy="365760"/>
          </a:xfrm>
          <a:prstGeom prst="rect">
            <a:avLst/>
          </a:prstGeom>
          <a:noFill/>
          <a:ln/>
        </p:spPr>
        <p:txBody>
          <a:bodyPr wrap="square" lIns="0" tIns="0" rIns="0" bIns="0" rtlCol="0" anchor="t"/>
          <a:lstStyle/>
          <a:p>
            <a:pPr indent="0" marL="0">
              <a:buNone/>
            </a:pPr>
            <a:r>
              <a:rPr lang="en-US" sz="1200" i="1" dirty="0">
                <a:solidFill>
                  <a:srgbClr val="5B6B7A"/>
                </a:solidFill>
                <a:latin typeface="Calibri" pitchFamily="34" charset="0"/>
                <a:ea typeface="Calibri" pitchFamily="34" charset="-122"/>
                <a:cs typeface="Calibri" pitchFamily="34" charset="-120"/>
              </a:rPr>
              <a:t>Report Table 4.7. The event is fixed at the health threshold; only the decision threshold varies.</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B8. Likely questions, 1 of 2: scope and framing</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B8</a:t>
            </a:r>
            <a:endParaRPr lang="en-US" sz="1000" dirty="0"/>
          </a:p>
        </p:txBody>
      </p:sp>
      <p:sp>
        <p:nvSpPr>
          <p:cNvPr id="7" name="Shape 4"/>
          <p:cNvSpPr/>
          <p:nvPr/>
        </p:nvSpPr>
        <p:spPr>
          <a:xfrm>
            <a:off x="548640" y="14630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4630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121 µg/m³?</a:t>
            </a:r>
            <a:endParaRPr lang="en-US" sz="1400" dirty="0"/>
          </a:p>
        </p:txBody>
      </p:sp>
      <p:sp>
        <p:nvSpPr>
          <p:cNvPr id="9" name="Text 6"/>
          <p:cNvSpPr/>
          <p:nvPr/>
        </p:nvSpPr>
        <p:spPr>
          <a:xfrm>
            <a:off x="4069080" y="14630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CPCB National Air Quality Index boundary of the category below 'Severe', for the 24-hour mean: a policy threshold, not a round number. Section 3.1.</a:t>
            </a:r>
            <a:endParaRPr lang="en-US" sz="1300" dirty="0"/>
          </a:p>
        </p:txBody>
      </p:sp>
      <p:sp>
        <p:nvSpPr>
          <p:cNvPr id="10" name="Shape 7"/>
          <p:cNvSpPr/>
          <p:nvPr/>
        </p:nvSpPr>
        <p:spPr>
          <a:xfrm>
            <a:off x="548640" y="228600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28600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One station: is it representative?</a:t>
            </a:r>
            <a:endParaRPr lang="en-US" sz="1400" dirty="0"/>
          </a:p>
        </p:txBody>
      </p:sp>
      <p:sp>
        <p:nvSpPr>
          <p:cNvPr id="12" name="Text 9"/>
          <p:cNvSpPr/>
          <p:nvPr/>
        </p:nvSpPr>
        <p:spPr>
          <a:xfrm>
            <a:off x="4069080" y="228600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No claim that it is. It is the only nearby monitor with a full decade; CPCB stations serve data only from 19 Feb 2025. A second station is future work. Section 5.3.</a:t>
            </a:r>
            <a:endParaRPr lang="en-US" sz="1300" dirty="0"/>
          </a:p>
        </p:txBody>
      </p:sp>
      <p:sp>
        <p:nvSpPr>
          <p:cNvPr id="13" name="Shape 10"/>
          <p:cNvSpPr/>
          <p:nvPr/>
        </p:nvSpPr>
        <p:spPr>
          <a:xfrm>
            <a:off x="548640" y="310896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10896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Isn't a higher hit rate at a bigger budget trivial?</a:t>
            </a:r>
            <a:endParaRPr lang="en-US" sz="1400" dirty="0"/>
          </a:p>
        </p:txBody>
      </p:sp>
      <p:sp>
        <p:nvSpPr>
          <p:cNvPr id="15" name="Text 12"/>
          <p:cNvSpPr/>
          <p:nvPr/>
        </p:nvSpPr>
        <p:spPr>
          <a:xfrm>
            <a:off x="4069080" y="310896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Yes, by construction, which is why every model comparison is made at a fixed budget. The finding is the size of the two effects, and that persistence is best at h = 3 and 40 alarms. Section 5.1.</a:t>
            </a:r>
            <a:endParaRPr lang="en-US" sz="1300" dirty="0"/>
          </a:p>
        </p:txBody>
      </p:sp>
      <p:sp>
        <p:nvSpPr>
          <p:cNvPr id="16" name="Shape 13"/>
          <p:cNvSpPr/>
          <p:nvPr/>
        </p:nvSpPr>
        <p:spPr>
          <a:xfrm>
            <a:off x="548640" y="393192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393192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How big is the model effect, exactly?</a:t>
            </a:r>
            <a:endParaRPr lang="en-US" sz="1400" dirty="0"/>
          </a:p>
        </p:txBody>
      </p:sp>
      <p:sp>
        <p:nvSpPr>
          <p:cNvPr id="18" name="Text 15"/>
          <p:cNvSpPr/>
          <p:nvPr/>
        </p:nvSpPr>
        <p:spPr>
          <a:xfrm>
            <a:off x="4069080" y="393192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report says about five points. Recomputed from the sweep file: the spread across all ten models averages 7 points (2 to 12 by horizon and budget), 4 without the lag-7 benchmark, 3 for the fitted models alone. Against 50 for the budget, the conclusion stands.</a:t>
            </a:r>
            <a:endParaRPr lang="en-US" sz="1300" dirty="0"/>
          </a:p>
        </p:txBody>
      </p:sp>
      <p:sp>
        <p:nvSpPr>
          <p:cNvPr id="19" name="Shape 16"/>
          <p:cNvSpPr/>
          <p:nvPr/>
        </p:nvSpPr>
        <p:spPr>
          <a:xfrm>
            <a:off x="548640" y="475488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475488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Is the left panel of slide 4 cherry-picked?</a:t>
            </a:r>
            <a:endParaRPr lang="en-US" sz="1400" dirty="0"/>
          </a:p>
        </p:txBody>
      </p:sp>
      <p:sp>
        <p:nvSpPr>
          <p:cNvPr id="21" name="Text 18"/>
          <p:cNvSpPr/>
          <p:nvPr/>
        </p:nvSpPr>
        <p:spPr>
          <a:xfrm>
            <a:off x="4069080" y="475488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It shows four representative models, as the report's Figure 4.5 does. The lag-7 seasonal-naive benchmark would be lower (0.758 at 100 alarms, h = 1, from the sweep file); it is a deliberately weak reference.</a:t>
            </a:r>
            <a:endParaRPr lang="en-US" sz="1300" dirty="0"/>
          </a:p>
        </p:txBody>
      </p:sp>
      <p:sp>
        <p:nvSpPr>
          <p:cNvPr id="22" name="Shape 19"/>
          <p:cNvSpPr/>
          <p:nvPr/>
        </p:nvSpPr>
        <p:spPr>
          <a:xfrm>
            <a:off x="548640" y="55778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55778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does ARIMA beat the ML models?</a:t>
            </a:r>
            <a:endParaRPr lang="en-US" sz="1400" dirty="0"/>
          </a:p>
        </p:txBody>
      </p:sp>
      <p:sp>
        <p:nvSpPr>
          <p:cNvPr id="24" name="Text 21"/>
          <p:cNvSpPr/>
          <p:nvPr/>
        </p:nvSpPr>
        <p:spPr>
          <a:xfrm>
            <a:off x="4069080" y="55778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Consistent with M4: a few thousand observations and no exogenous structure favour a classical model. ML is also more exposed to the uncleaned tail: ridge 0.997 → 1.118. Sections 2.1, 5.3.</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B9. Likely questions, 2 of 2: evidence and method</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B9</a:t>
            </a:r>
            <a:endParaRPr lang="en-US" sz="1000" dirty="0"/>
          </a:p>
        </p:txBody>
      </p:sp>
      <p:sp>
        <p:nvSpPr>
          <p:cNvPr id="7" name="Shape 4"/>
          <p:cNvSpPr/>
          <p:nvPr/>
        </p:nvSpPr>
        <p:spPr>
          <a:xfrm>
            <a:off x="548640" y="14630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8" name="Text 5"/>
          <p:cNvSpPr/>
          <p:nvPr/>
        </p:nvSpPr>
        <p:spPr>
          <a:xfrm>
            <a:off x="731520" y="14630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rMAE rather than RMSE or MASE?</a:t>
            </a:r>
            <a:endParaRPr lang="en-US" sz="1400" dirty="0"/>
          </a:p>
        </p:txBody>
      </p:sp>
      <p:sp>
        <p:nvSpPr>
          <p:cNvPr id="9" name="Text 6"/>
          <p:cNvSpPr/>
          <p:nvPr/>
        </p:nvSpPr>
        <p:spPr>
          <a:xfrm>
            <a:off x="4069080" y="14630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rMAE divides by persistence on identical rows. MASE divides by training volatility, so it can fall for every model on a calm block. DM uses absolute loss to match. Section 3.6.</a:t>
            </a:r>
            <a:endParaRPr lang="en-US" sz="1300" dirty="0"/>
          </a:p>
        </p:txBody>
      </p:sp>
      <p:sp>
        <p:nvSpPr>
          <p:cNvPr id="10" name="Shape 7"/>
          <p:cNvSpPr/>
          <p:nvPr/>
        </p:nvSpPr>
        <p:spPr>
          <a:xfrm>
            <a:off x="548640" y="228600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1" name="Text 8"/>
          <p:cNvSpPr/>
          <p:nvPr/>
        </p:nvSpPr>
        <p:spPr>
          <a:xfrm>
            <a:off x="731520" y="228600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Are the network wins real?</a:t>
            </a:r>
            <a:endParaRPr lang="en-US" sz="1400" dirty="0"/>
          </a:p>
        </p:txBody>
      </p:sp>
      <p:sp>
        <p:nvSpPr>
          <p:cNvPr id="12" name="Text 9"/>
          <p:cNvSpPr/>
          <p:nvPr/>
        </p:nvSpPr>
        <p:spPr>
          <a:xfrm>
            <a:off x="4069080" y="228600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Numerically ahead in all ten seeds at h = 1; DM p &lt; 0.05 in 4, 5 and 7 of ten (GRU, LSTM, transformer). None beyond one day. After Bonferroni across 27 tests none of the three survive: read as suggestive. Section 3.7.</a:t>
            </a:r>
            <a:endParaRPr lang="en-US" sz="1300" dirty="0"/>
          </a:p>
        </p:txBody>
      </p:sp>
      <p:sp>
        <p:nvSpPr>
          <p:cNvPr id="13" name="Shape 10"/>
          <p:cNvSpPr/>
          <p:nvPr/>
        </p:nvSpPr>
        <p:spPr>
          <a:xfrm>
            <a:off x="548640" y="310896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4" name="Text 11"/>
          <p:cNvSpPr/>
          <p:nvPr/>
        </p:nvSpPr>
        <p:spPr>
          <a:xfrm>
            <a:off x="731520" y="310896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Why ten seeds? Why not tune?</a:t>
            </a:r>
            <a:endParaRPr lang="en-US" sz="1400" dirty="0"/>
          </a:p>
        </p:txBody>
      </p:sp>
      <p:sp>
        <p:nvSpPr>
          <p:cNvPr id="15" name="Text 12"/>
          <p:cNvSpPr/>
          <p:nvPr/>
        </p:nvSpPr>
        <p:spPr>
          <a:xfrm>
            <a:off x="4069080" y="310896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same seed on the same machine moved the GRU almost as much as a new seed, and five to ten overturned the weather result. The GRU was set by inspection; bounded checks say the 3-day setting is the weakest. Section 5.3.</a:t>
            </a:r>
            <a:endParaRPr lang="en-US" sz="1300" dirty="0"/>
          </a:p>
        </p:txBody>
      </p:sp>
      <p:sp>
        <p:nvSpPr>
          <p:cNvPr id="16" name="Shape 13"/>
          <p:cNvSpPr/>
          <p:nvPr/>
        </p:nvSpPr>
        <p:spPr>
          <a:xfrm>
            <a:off x="548640" y="393192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17" name="Text 14"/>
          <p:cNvSpPr/>
          <p:nvPr/>
        </p:nvSpPr>
        <p:spPr>
          <a:xfrm>
            <a:off x="731520" y="393192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How do you know there is no leakage?</a:t>
            </a:r>
            <a:endParaRPr lang="en-US" sz="1400" dirty="0"/>
          </a:p>
        </p:txBody>
      </p:sp>
      <p:sp>
        <p:nvSpPr>
          <p:cNvPr id="18" name="Text 15"/>
          <p:cNvSpPr/>
          <p:nvPr/>
        </p:nvSpPr>
        <p:spPr>
          <a:xfrm>
            <a:off x="4069080" y="393192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The invariant is tested: corrupt the series from a date, rerun, and no earlier forecast may change. One model per horizon fixes the label arithmetic. Section 3.5.</a:t>
            </a:r>
            <a:endParaRPr lang="en-US" sz="1300" dirty="0"/>
          </a:p>
        </p:txBody>
      </p:sp>
      <p:sp>
        <p:nvSpPr>
          <p:cNvPr id="19" name="Shape 16"/>
          <p:cNvSpPr/>
          <p:nvPr/>
        </p:nvSpPr>
        <p:spPr>
          <a:xfrm>
            <a:off x="548640" y="475488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0" name="Text 17"/>
          <p:cNvSpPr/>
          <p:nvPr/>
        </p:nvSpPr>
        <p:spPr>
          <a:xfrm>
            <a:off x="731520" y="475488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ARIMA's θ sits near the boundary?</a:t>
            </a:r>
            <a:endParaRPr lang="en-US" sz="1400" dirty="0"/>
          </a:p>
        </p:txBody>
      </p:sp>
      <p:sp>
        <p:nvSpPr>
          <p:cNvPr id="21" name="Text 18"/>
          <p:cNvSpPr/>
          <p:nvPr/>
        </p:nvSpPr>
        <p:spPr>
          <a:xfrm>
            <a:off x="4069080" y="475488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0.013 inside. It crosses at 3 of 28 refits, each with fewer than 1,700 training days; the optimiser is unconstrained and those forecasts are scored as usual. Section 3.3.1.</a:t>
            </a:r>
            <a:endParaRPr lang="en-US" sz="1300" dirty="0"/>
          </a:p>
        </p:txBody>
      </p:sp>
      <p:sp>
        <p:nvSpPr>
          <p:cNvPr id="22" name="Shape 19"/>
          <p:cNvSpPr/>
          <p:nvPr/>
        </p:nvSpPr>
        <p:spPr>
          <a:xfrm>
            <a:off x="548640" y="5577840"/>
            <a:ext cx="11094415" cy="749808"/>
          </a:xfrm>
          <a:prstGeom prst="roundRect">
            <a:avLst>
              <a:gd name="adj" fmla="val 9756"/>
            </a:avLst>
          </a:prstGeom>
          <a:solidFill>
            <a:srgbClr val="FFFFFF"/>
          </a:solidFill>
          <a:ln w="9525">
            <a:solidFill>
              <a:srgbClr val="D3DCE6"/>
            </a:solidFill>
            <a:prstDash val="solid"/>
          </a:ln>
          <a:effectLst>
            <a:outerShdw sx="100000" sy="100000" kx="0" ky="0" algn="bl" rotWithShape="0" blurRad="76200" dist="25400" dir="5400000">
              <a:srgbClr val="000000">
                <a:alpha val="8000"/>
              </a:srgbClr>
            </a:outerShdw>
          </a:effectLst>
        </p:spPr>
      </p:sp>
      <p:sp>
        <p:nvSpPr>
          <p:cNvPr id="23" name="Text 20"/>
          <p:cNvSpPr/>
          <p:nvPr/>
        </p:nvSpPr>
        <p:spPr>
          <a:xfrm>
            <a:off x="731520" y="5577840"/>
            <a:ext cx="3200400" cy="749808"/>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Would real weather forecasts help?</a:t>
            </a:r>
            <a:endParaRPr lang="en-US" sz="1400" dirty="0"/>
          </a:p>
        </p:txBody>
      </p:sp>
      <p:sp>
        <p:nvSpPr>
          <p:cNvPr id="24" name="Text 21"/>
          <p:cNvSpPr/>
          <p:nvPr/>
        </p:nvSpPr>
        <p:spPr>
          <a:xfrm>
            <a:off x="4069080" y="5577840"/>
            <a:ext cx="7391095" cy="749808"/>
          </a:xfrm>
          <a:prstGeom prst="rect">
            <a:avLst/>
          </a:prstGeom>
          <a:noFill/>
          <a:ln/>
        </p:spPr>
        <p:txBody>
          <a:bodyPr wrap="square" lIns="0" tIns="0" rIns="0" bIns="0" rtlCol="0" anchor="ctr"/>
          <a:lstStyle/>
          <a:p>
            <a:pPr indent="0" marL="0">
              <a:buNone/>
            </a:pPr>
            <a:r>
              <a:rPr lang="en-US" sz="1300" dirty="0">
                <a:solidFill>
                  <a:srgbClr val="1B2733"/>
                </a:solidFill>
                <a:latin typeface="Calibri" pitchFamily="34" charset="0"/>
                <a:ea typeface="Calibri" pitchFamily="34" charset="-122"/>
                <a:cs typeface="Calibri" pitchFamily="34" charset="-120"/>
              </a:rPr>
              <a:t>Untested: only observed weather is used. Weather moved hit rate by at most 1.2 points. Boundary layer height from ERA5 is the stronger candidate. Sections 4.1.1, 6.2.</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548640" y="274320"/>
            <a:ext cx="5486400" cy="274320"/>
          </a:xfrm>
          <a:prstGeom prst="rect">
            <a:avLst/>
          </a:prstGeom>
          <a:noFill/>
          <a:ln/>
        </p:spPr>
        <p:txBody>
          <a:bodyPr wrap="square" lIns="0" tIns="0" rIns="0" bIns="0" rtlCol="0" anchor="ctr"/>
          <a:lstStyle/>
          <a:p>
            <a:pPr indent="0" marL="0">
              <a:buNone/>
            </a:pPr>
            <a:r>
              <a:rPr lang="en-US" sz="1100" b="1" spc="300" kern="0" dirty="0">
                <a:solidFill>
                  <a:srgbClr val="006CAB"/>
                </a:solidFill>
                <a:latin typeface="Calibri" pitchFamily="34" charset="0"/>
                <a:ea typeface="Calibri" pitchFamily="34" charset="-122"/>
                <a:cs typeface="Calibri" pitchFamily="34" charset="-120"/>
              </a:rPr>
              <a:t>BACKUP</a:t>
            </a:r>
            <a:endParaRPr lang="en-US" sz="1100" dirty="0"/>
          </a:p>
        </p:txBody>
      </p:sp>
      <p:sp>
        <p:nvSpPr>
          <p:cNvPr id="3" name="Text 1"/>
          <p:cNvSpPr/>
          <p:nvPr/>
        </p:nvSpPr>
        <p:spPr>
          <a:xfrm>
            <a:off x="548640" y="566928"/>
            <a:ext cx="11094415" cy="914400"/>
          </a:xfrm>
          <a:prstGeom prst="rect">
            <a:avLst/>
          </a:prstGeom>
          <a:noFill/>
          <a:ln/>
        </p:spPr>
        <p:txBody>
          <a:bodyPr wrap="square" lIns="0" tIns="0" rIns="0" bIns="0" rtlCol="0" anchor="t"/>
          <a:lstStyle/>
          <a:p>
            <a:pPr indent="0" marL="0">
              <a:buNone/>
            </a:pPr>
            <a:r>
              <a:rPr lang="en-US" sz="2800" b="1" dirty="0">
                <a:solidFill>
                  <a:srgbClr val="0B2545"/>
                </a:solidFill>
                <a:latin typeface="Calibri" pitchFamily="34" charset="0"/>
                <a:ea typeface="Calibri" pitchFamily="34" charset="-122"/>
                <a:cs typeface="Calibri" pitchFamily="34" charset="-120"/>
              </a:rPr>
              <a:t>B10. The words used in this talk, in plain language</a:t>
            </a:r>
            <a:endParaRPr lang="en-US" sz="2800" dirty="0"/>
          </a:p>
        </p:txBody>
      </p:sp>
      <p:sp>
        <p:nvSpPr>
          <p:cNvPr id="4" name="Text 2"/>
          <p:cNvSpPr/>
          <p:nvPr/>
        </p:nvSpPr>
        <p:spPr>
          <a:xfrm>
            <a:off x="548640" y="6473952"/>
            <a:ext cx="6400800" cy="256032"/>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MTH5000  |  J. V. Chauhan  |  Supervisor: Dr T. Tian</a:t>
            </a:r>
            <a:endParaRPr lang="en-US" sz="1000" dirty="0"/>
          </a:p>
        </p:txBody>
      </p:sp>
      <p:sp>
        <p:nvSpPr>
          <p:cNvPr id="5" name="Text 3"/>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B10</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3291840"/>
                <a:gridCol w="7772400"/>
              </a:tblGrid>
              <a:tr h="33832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In plain words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0B2545"/>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PM2.5</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Fine particles under 2.5 micrometres across, small enough to reach deep into the lungs.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Hazard threshold, 121 µg/m³</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day above this is 'hazardous': the boundary of the 'Very Poor' category of India's air quality index.</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Persistence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simplest forecast: tomorrow equals today.</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ARIMA</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classical time-series model: predicts from recent values and recent errors, with the season added.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Machine learning regressor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flexible model that learns from examples: ridge regression, random forest, gradient boosting.</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Neural network (GRU, LSTM, transformer)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 model that learns patterns from a window of the last 30 days.</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rMAE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Average error compared with persistence on the same days: 1.0 is persistence, below 1 is better.</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Hit rate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share of hazardous days that were caught.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False alarm rate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share of quiet days that were wrongly flagged.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Alarm budget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How many alarms are raised per year: the dial in the talk.</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Seed</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The random starting point of a network's training; the talk reports ten, as a range.</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FFFFF"/>
                    </a:solidFill>
                  </a:tcPr>
                </a:tc>
              </a:tr>
              <a:tr h="338328">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Rolling origin</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c>
                  <a:txBody>
                    <a:bodyPr/>
                    <a:lstStyle/>
                    <a:p>
                      <a:pPr algn="l" indent="0" marL="0">
                        <a:buNone/>
                      </a:pPr>
                      <a:r>
                        <a:rPr lang="en-US" sz="1300" dirty="0">
                          <a:solidFill>
                            <a:srgbClr val="1B2733"/>
                          </a:solidFill>
                          <a:latin typeface="Calibri" pitchFamily="34" charset="0"/>
                          <a:ea typeface="Calibri" pitchFamily="34" charset="-122"/>
                          <a:cs typeface="Calibri" pitchFamily="34" charset="-120"/>
                        </a:rPr>
                        <a:t>Testing as if each forecast were made on its own day, using only the past.</a:t>
                      </a:r>
                      <a:endParaRPr lang="en-US" sz="1300" dirty="0">
                        <a:latin typeface="Calibri" charset="0"/>
                        <a:ea typeface="Calibri" charset="0"/>
                        <a:cs typeface="Calibri" charset="0"/>
                      </a:endParaRPr>
                    </a:p>
                  </a:txBody>
                  <a:tcPr marL="73152" marR="73152" marT="18288" marB="18288" anchor="ctr">
                    <a:lnL w="0" cap="flat" cmpd="sng" algn="ctr">
                      <a:noFill/>
                    </a:lnL>
                    <a:lnR w="0" cap="flat" cmpd="sng" algn="ctr">
                      <a:noFill/>
                    </a:lnR>
                    <a:lnT w="0" cap="flat" cmpd="sng" algn="ctr">
                      <a:noFill/>
                    </a:lnT>
                    <a:lnB w="6350" cap="flat" cmpd="sng" algn="ctr">
                      <a:solidFill>
                        <a:srgbClr val="D3DCE6"/>
                      </a:solidFill>
                      <a:prstDash val="solid"/>
                      <a:round/>
                      <a:headEnd type="none" w="med" len="med"/>
                      <a:tailEnd type="none" w="med" len="med"/>
                    </a:lnB>
                    <a:solidFill>
                      <a:srgbClr val="F9FBFD"/>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for Forecasting Hazardous Air Quality Days in Indian Cities</dc:title>
  <dc:subject>PptxGenJS Presentation</dc:subject>
  <dc:creator>Jaykumar Vinodbhai Chauhan</dc:creator>
  <cp:lastModifiedBy>Jaykumar Vinodbhai Chauhan</cp:lastModifiedBy>
  <cp:revision>1</cp:revision>
  <dcterms:created xsi:type="dcterms:W3CDTF">2026-10-25T11:09:14Z</dcterms:created>
  <dcterms:modified xsi:type="dcterms:W3CDTF">2026-10-25T11:09:14Z</dcterms:modified>
</cp:coreProperties>
</file>