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h=1</c:v>
                </c:pt>
              </c:strCache>
            </c:strRef>
          </c:tx>
          <c:spPr>
            <a:solidFill>
              <a:srgbClr val="1634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Ridge</c:v>
                  </c:pt>
                  <c:pt idx="1">
                    <c:v>RF level</c:v>
                  </c:pt>
                  <c:pt idx="2">
                    <c:v>RF change</c:v>
                  </c:pt>
                  <c:pt idx="3">
                    <c:v>GBM level</c:v>
                  </c:pt>
                  <c:pt idx="4">
                    <c:v>GBM change</c:v>
                  </c:pt>
                </c:lvl>
              </c:multiLvlStrCache>
            </c:multiLvlStrRef>
          </c:cat>
          <c:val>
            <c:numRef>
              <c:f>Sheet1!$B$2:$B$6</c:f>
              <c:numCache>
                <c:formatCode>General</c:formatCode>
                <c:ptCount val="5"/>
                <c:pt idx="0">
                  <c:v>-0.031</c:v>
                </c:pt>
                <c:pt idx="1">
                  <c:v>0.002</c:v>
                </c:pt>
                <c:pt idx="2">
                  <c:v>-0.003</c:v>
                </c:pt>
                <c:pt idx="3">
                  <c:v>-0.082</c:v>
                </c:pt>
                <c:pt idx="4">
                  <c:v>-0.073</c:v>
                </c:pt>
              </c:numCache>
            </c:numRef>
          </c:val>
        </c:ser>
        <c:ser>
          <c:idx val="1"/>
          <c:order val="1"/>
          <c:tx>
            <c:strRef>
              <c:f>Sheet1!$C$1</c:f>
              <c:strCache>
                <c:ptCount val="1"/>
                <c:pt idx="0">
                  <c:v>h=2</c:v>
                </c:pt>
              </c:strCache>
            </c:strRef>
          </c:tx>
          <c:spPr>
            <a:solidFill>
              <a:srgbClr val="3D6D7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Ridge</c:v>
                  </c:pt>
                  <c:pt idx="1">
                    <c:v>RF level</c:v>
                  </c:pt>
                  <c:pt idx="2">
                    <c:v>RF change</c:v>
                  </c:pt>
                  <c:pt idx="3">
                    <c:v>GBM level</c:v>
                  </c:pt>
                  <c:pt idx="4">
                    <c:v>GBM change</c:v>
                  </c:pt>
                </c:lvl>
              </c:multiLvlStrCache>
            </c:multiLvlStrRef>
          </c:cat>
          <c:val>
            <c:numRef>
              <c:f>Sheet1!$C$2:$C$6</c:f>
              <c:numCache>
                <c:formatCode>General</c:formatCode>
                <c:ptCount val="5"/>
                <c:pt idx="0">
                  <c:v>-0.005</c:v>
                </c:pt>
                <c:pt idx="1">
                  <c:v>-0.006</c:v>
                </c:pt>
                <c:pt idx="2">
                  <c:v>-0.001</c:v>
                </c:pt>
                <c:pt idx="3">
                  <c:v>-0.02</c:v>
                </c:pt>
                <c:pt idx="4">
                  <c:v>-0.047</c:v>
                </c:pt>
              </c:numCache>
            </c:numRef>
          </c:val>
        </c:ser>
        <c:ser>
          <c:idx val="2"/>
          <c:order val="2"/>
          <c:tx>
            <c:strRef>
              <c:f>Sheet1!$D$1</c:f>
              <c:strCache>
                <c:ptCount val="1"/>
                <c:pt idx="0">
                  <c:v>h=3</c:v>
                </c:pt>
              </c:strCache>
            </c:strRef>
          </c:tx>
          <c:spPr>
            <a:solidFill>
              <a:srgbClr val="E35D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Ridge</c:v>
                  </c:pt>
                  <c:pt idx="1">
                    <c:v>RF level</c:v>
                  </c:pt>
                  <c:pt idx="2">
                    <c:v>RF change</c:v>
                  </c:pt>
                  <c:pt idx="3">
                    <c:v>GBM level</c:v>
                  </c:pt>
                  <c:pt idx="4">
                    <c:v>GBM change</c:v>
                  </c:pt>
                </c:lvl>
              </c:multiLvlStrCache>
            </c:multiLvlStrRef>
          </c:cat>
          <c:val>
            <c:numRef>
              <c:f>Sheet1!$D$2:$D$6</c:f>
              <c:numCache>
                <c:formatCode>General</c:formatCode>
                <c:ptCount val="5"/>
                <c:pt idx="0">
                  <c:v>0.023</c:v>
                </c:pt>
                <c:pt idx="1">
                  <c:v>0.053</c:v>
                </c:pt>
                <c:pt idx="2">
                  <c:v>0.022</c:v>
                </c:pt>
                <c:pt idx="3">
                  <c:v>-0.029</c:v>
                </c:pt>
                <c:pt idx="4">
                  <c:v>0.006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76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F1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7678"/>
                </a:solidFill>
                <a:latin typeface="Calibri"/>
              </a:defRPr>
            </a:pPr>
            <a:endParaRPr lang="en-US"/>
          </a:p>
        </c:txPr>
        <c:crossAx val="2094734554"/>
        <c:crosses val="autoZero"/>
        <c:crossBetween val="between"/>
        <c:majorUnit val="0.05"/>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h=1</c:v>
                </c:pt>
              </c:strCache>
            </c:strRef>
          </c:tx>
          <c:spPr>
            <a:solidFill>
              <a:srgbClr val="E35D45"/>
            </a:solidFill>
            <a:ln w="38100" cap="flat">
              <a:solidFill>
                <a:srgbClr val="E35D4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35D45"/>
              </a:solidFill>
              <a:ln w="9525" cap="flat">
                <a:solidFill>
                  <a:srgbClr val="E35D45"/>
                </a:solidFill>
                <a:prstDash val="solid"/>
                <a:round/>
              </a:ln>
              <a:effectLst/>
            </c:spPr>
          </c:marker>
          <c:cat>
            <c:multiLvlStrRef>
              <c:f>Sheet1!$A$2:$A$5</c:f>
              <c:multiLvlStrCache>
                <c:ptCount val="4"/>
                <c:lvl>
                  <c:pt idx="0">
                    <c:v>40</c:v>
                  </c:pt>
                  <c:pt idx="1">
                    <c:v>60</c:v>
                  </c:pt>
                  <c:pt idx="2">
                    <c:v>80</c:v>
                  </c:pt>
                  <c:pt idx="3">
                    <c:v>100</c:v>
                  </c:pt>
                </c:lvl>
              </c:multiLvlStrCache>
            </c:multiLvlStrRef>
          </c:cat>
          <c:val>
            <c:numRef>
              <c:f>Sheet1!$B$2:$B$5</c:f>
              <c:numCache>
                <c:formatCode>General</c:formatCode>
                <c:ptCount val="4"/>
                <c:pt idx="0">
                  <c:v>0.379</c:v>
                </c:pt>
                <c:pt idx="1">
                  <c:v>0.567</c:v>
                </c:pt>
                <c:pt idx="2">
                  <c:v>0.735</c:v>
                </c:pt>
                <c:pt idx="3">
                  <c:v>0.881</c:v>
                </c:pt>
              </c:numCache>
            </c:numRef>
          </c:val>
          <c:smooth val="0"/>
        </c:ser>
        <c:ser>
          <c:idx val="1"/>
          <c:order val="1"/>
          <c:tx>
            <c:strRef>
              <c:f>Sheet1!$C$1</c:f>
              <c:strCache>
                <c:ptCount val="1"/>
                <c:pt idx="0">
                  <c:v>h=2</c:v>
                </c:pt>
              </c:strCache>
            </c:strRef>
          </c:tx>
          <c:spPr>
            <a:solidFill>
              <a:srgbClr val="3D6D72"/>
            </a:solidFill>
            <a:ln w="38100" cap="flat">
              <a:solidFill>
                <a:srgbClr val="3D6D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3D6D72"/>
              </a:solidFill>
              <a:ln w="9525" cap="flat">
                <a:solidFill>
                  <a:srgbClr val="3D6D72"/>
                </a:solidFill>
                <a:prstDash val="solid"/>
                <a:round/>
              </a:ln>
              <a:effectLst/>
            </c:spPr>
          </c:marker>
          <c:cat>
            <c:multiLvlStrRef>
              <c:f>Sheet1!$A$2:$A$5</c:f>
              <c:multiLvlStrCache>
                <c:ptCount val="4"/>
                <c:lvl>
                  <c:pt idx="0">
                    <c:v>40</c:v>
                  </c:pt>
                  <c:pt idx="1">
                    <c:v>60</c:v>
                  </c:pt>
                  <c:pt idx="2">
                    <c:v>80</c:v>
                  </c:pt>
                  <c:pt idx="3">
                    <c:v>100</c:v>
                  </c:pt>
                </c:lvl>
              </c:multiLvlStrCache>
            </c:multiLvlStrRef>
          </c:cat>
          <c:val>
            <c:numRef>
              <c:f>Sheet1!$C$2:$C$5</c:f>
              <c:numCache>
                <c:formatCode>General</c:formatCode>
                <c:ptCount val="4"/>
                <c:pt idx="0">
                  <c:v>0.366</c:v>
                </c:pt>
                <c:pt idx="1">
                  <c:v>0.538</c:v>
                </c:pt>
                <c:pt idx="2">
                  <c:v>0.7</c:v>
                </c:pt>
                <c:pt idx="3">
                  <c:v>0.84</c:v>
                </c:pt>
              </c:numCache>
            </c:numRef>
          </c:val>
          <c:smooth val="0"/>
        </c:ser>
        <c:ser>
          <c:idx val="2"/>
          <c:order val="2"/>
          <c:tx>
            <c:strRef>
              <c:f>Sheet1!$D$1</c:f>
              <c:strCache>
                <c:ptCount val="1"/>
                <c:pt idx="0">
                  <c:v>h=3</c:v>
                </c:pt>
              </c:strCache>
            </c:strRef>
          </c:tx>
          <c:spPr>
            <a:solidFill>
              <a:srgbClr val="9FC7C9"/>
            </a:solidFill>
            <a:ln w="38100" cap="flat">
              <a:solidFill>
                <a:srgbClr val="9FC7C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9FC7C9"/>
              </a:solidFill>
              <a:ln w="9525" cap="flat">
                <a:solidFill>
                  <a:srgbClr val="9FC7C9"/>
                </a:solidFill>
                <a:prstDash val="solid"/>
                <a:round/>
              </a:ln>
              <a:effectLst/>
            </c:spPr>
          </c:marker>
          <c:cat>
            <c:multiLvlStrRef>
              <c:f>Sheet1!$A$2:$A$5</c:f>
              <c:multiLvlStrCache>
                <c:ptCount val="4"/>
                <c:lvl>
                  <c:pt idx="0">
                    <c:v>40</c:v>
                  </c:pt>
                  <c:pt idx="1">
                    <c:v>60</c:v>
                  </c:pt>
                  <c:pt idx="2">
                    <c:v>80</c:v>
                  </c:pt>
                  <c:pt idx="3">
                    <c:v>100</c:v>
                  </c:pt>
                </c:lvl>
              </c:multiLvlStrCache>
            </c:multiLvlStrRef>
          </c:cat>
          <c:val>
            <c:numRef>
              <c:f>Sheet1!$D$2:$D$5</c:f>
              <c:numCache>
                <c:formatCode>General</c:formatCode>
                <c:ptCount val="4"/>
                <c:pt idx="0">
                  <c:v>0.359</c:v>
                </c:pt>
                <c:pt idx="1">
                  <c:v>0.533</c:v>
                </c:pt>
                <c:pt idx="2">
                  <c:v>0.685</c:v>
                </c:pt>
                <c:pt idx="3">
                  <c:v>0.827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7678"/>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DF1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76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1F4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343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7E9A9C"/>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23-image-1.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png"/><Relationship Id="rId3" Type="http://schemas.openxmlformats.org/officeDocument/2006/relationships/slideLayout" Target="../slideLayouts/slideLayout3.xml"/><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664084"/>
            <a:ext cx="61558" cy="1193916"/>
          </a:xfrm>
          <a:prstGeom prst="rect">
            <a:avLst/>
          </a:prstGeom>
          <a:solidFill>
            <a:srgbClr val="E35D45">
              <a:alpha val="96000"/>
            </a:srgbClr>
          </a:solidFill>
          <a:ln/>
        </p:spPr>
      </p:sp>
      <p:sp>
        <p:nvSpPr>
          <p:cNvPr id="3" name="Shape 1"/>
          <p:cNvSpPr/>
          <p:nvPr/>
        </p:nvSpPr>
        <p:spPr>
          <a:xfrm>
            <a:off x="71718" y="5644634"/>
            <a:ext cx="61558" cy="1213366"/>
          </a:xfrm>
          <a:prstGeom prst="rect">
            <a:avLst/>
          </a:prstGeom>
          <a:solidFill>
            <a:srgbClr val="E35D45">
              <a:alpha val="96000"/>
            </a:srgbClr>
          </a:solidFill>
          <a:ln/>
        </p:spPr>
      </p:sp>
      <p:sp>
        <p:nvSpPr>
          <p:cNvPr id="4" name="Shape 2"/>
          <p:cNvSpPr/>
          <p:nvPr/>
        </p:nvSpPr>
        <p:spPr>
          <a:xfrm>
            <a:off x="143435" y="5524136"/>
            <a:ext cx="61558" cy="1333864"/>
          </a:xfrm>
          <a:prstGeom prst="rect">
            <a:avLst/>
          </a:prstGeom>
          <a:solidFill>
            <a:srgbClr val="E35D45">
              <a:alpha val="96000"/>
            </a:srgbClr>
          </a:solidFill>
          <a:ln/>
        </p:spPr>
      </p:sp>
      <p:sp>
        <p:nvSpPr>
          <p:cNvPr id="5" name="Shape 3"/>
          <p:cNvSpPr/>
          <p:nvPr/>
        </p:nvSpPr>
        <p:spPr>
          <a:xfrm>
            <a:off x="215153" y="5614984"/>
            <a:ext cx="61558" cy="1243016"/>
          </a:xfrm>
          <a:prstGeom prst="rect">
            <a:avLst/>
          </a:prstGeom>
          <a:solidFill>
            <a:srgbClr val="E35D45">
              <a:alpha val="96000"/>
            </a:srgbClr>
          </a:solidFill>
          <a:ln/>
        </p:spPr>
      </p:sp>
      <p:sp>
        <p:nvSpPr>
          <p:cNvPr id="6" name="Shape 4"/>
          <p:cNvSpPr/>
          <p:nvPr/>
        </p:nvSpPr>
        <p:spPr>
          <a:xfrm>
            <a:off x="286871" y="5793056"/>
            <a:ext cx="61558" cy="1064944"/>
          </a:xfrm>
          <a:prstGeom prst="rect">
            <a:avLst/>
          </a:prstGeom>
          <a:solidFill>
            <a:srgbClr val="E35D45">
              <a:alpha val="96000"/>
            </a:srgbClr>
          </a:solidFill>
          <a:ln/>
        </p:spPr>
      </p:sp>
      <p:sp>
        <p:nvSpPr>
          <p:cNvPr id="7" name="Shape 5"/>
          <p:cNvSpPr/>
          <p:nvPr/>
        </p:nvSpPr>
        <p:spPr>
          <a:xfrm>
            <a:off x="358588" y="6048375"/>
            <a:ext cx="61558" cy="809625"/>
          </a:xfrm>
          <a:prstGeom prst="rect">
            <a:avLst/>
          </a:prstGeom>
          <a:solidFill>
            <a:srgbClr val="E35D45">
              <a:alpha val="96000"/>
            </a:srgbClr>
          </a:solidFill>
          <a:ln/>
        </p:spPr>
      </p:sp>
      <p:sp>
        <p:nvSpPr>
          <p:cNvPr id="8" name="Shape 6"/>
          <p:cNvSpPr/>
          <p:nvPr/>
        </p:nvSpPr>
        <p:spPr>
          <a:xfrm>
            <a:off x="430306" y="5920347"/>
            <a:ext cx="61558" cy="937653"/>
          </a:xfrm>
          <a:prstGeom prst="rect">
            <a:avLst/>
          </a:prstGeom>
          <a:solidFill>
            <a:srgbClr val="E35D45">
              <a:alpha val="96000"/>
            </a:srgbClr>
          </a:solidFill>
          <a:ln/>
        </p:spPr>
      </p:sp>
      <p:sp>
        <p:nvSpPr>
          <p:cNvPr id="9" name="Shape 7"/>
          <p:cNvSpPr/>
          <p:nvPr/>
        </p:nvSpPr>
        <p:spPr>
          <a:xfrm>
            <a:off x="502024" y="5942809"/>
            <a:ext cx="61558" cy="915191"/>
          </a:xfrm>
          <a:prstGeom prst="rect">
            <a:avLst/>
          </a:prstGeom>
          <a:solidFill>
            <a:srgbClr val="E35D45">
              <a:alpha val="96000"/>
            </a:srgbClr>
          </a:solidFill>
          <a:ln/>
        </p:spPr>
      </p:sp>
      <p:sp>
        <p:nvSpPr>
          <p:cNvPr id="10" name="Shape 8"/>
          <p:cNvSpPr/>
          <p:nvPr/>
        </p:nvSpPr>
        <p:spPr>
          <a:xfrm>
            <a:off x="573741" y="4949696"/>
            <a:ext cx="61558" cy="1908304"/>
          </a:xfrm>
          <a:prstGeom prst="rect">
            <a:avLst/>
          </a:prstGeom>
          <a:solidFill>
            <a:srgbClr val="E35D45">
              <a:alpha val="96000"/>
            </a:srgbClr>
          </a:solidFill>
          <a:ln/>
        </p:spPr>
      </p:sp>
      <p:sp>
        <p:nvSpPr>
          <p:cNvPr id="11" name="Shape 9"/>
          <p:cNvSpPr/>
          <p:nvPr/>
        </p:nvSpPr>
        <p:spPr>
          <a:xfrm>
            <a:off x="645459" y="5925912"/>
            <a:ext cx="61558" cy="932088"/>
          </a:xfrm>
          <a:prstGeom prst="rect">
            <a:avLst/>
          </a:prstGeom>
          <a:solidFill>
            <a:srgbClr val="E35D45">
              <a:alpha val="96000"/>
            </a:srgbClr>
          </a:solidFill>
          <a:ln/>
        </p:spPr>
      </p:sp>
      <p:sp>
        <p:nvSpPr>
          <p:cNvPr id="12" name="Shape 10"/>
          <p:cNvSpPr/>
          <p:nvPr/>
        </p:nvSpPr>
        <p:spPr>
          <a:xfrm>
            <a:off x="717176" y="6054826"/>
            <a:ext cx="61558" cy="803174"/>
          </a:xfrm>
          <a:prstGeom prst="rect">
            <a:avLst/>
          </a:prstGeom>
          <a:solidFill>
            <a:srgbClr val="E35D45">
              <a:alpha val="96000"/>
            </a:srgbClr>
          </a:solidFill>
          <a:ln/>
        </p:spPr>
      </p:sp>
      <p:sp>
        <p:nvSpPr>
          <p:cNvPr id="13" name="Shape 11"/>
          <p:cNvSpPr/>
          <p:nvPr/>
        </p:nvSpPr>
        <p:spPr>
          <a:xfrm>
            <a:off x="788894" y="6115406"/>
            <a:ext cx="61558" cy="742594"/>
          </a:xfrm>
          <a:prstGeom prst="rect">
            <a:avLst/>
          </a:prstGeom>
          <a:solidFill>
            <a:srgbClr val="2F5F67">
              <a:alpha val="80000"/>
            </a:srgbClr>
          </a:solidFill>
          <a:ln/>
        </p:spPr>
      </p:sp>
      <p:sp>
        <p:nvSpPr>
          <p:cNvPr id="14" name="Shape 12"/>
          <p:cNvSpPr/>
          <p:nvPr/>
        </p:nvSpPr>
        <p:spPr>
          <a:xfrm>
            <a:off x="860612" y="6337884"/>
            <a:ext cx="61558" cy="520116"/>
          </a:xfrm>
          <a:prstGeom prst="rect">
            <a:avLst/>
          </a:prstGeom>
          <a:solidFill>
            <a:srgbClr val="2F5F67">
              <a:alpha val="80000"/>
            </a:srgbClr>
          </a:solidFill>
          <a:ln/>
        </p:spPr>
      </p:sp>
      <p:sp>
        <p:nvSpPr>
          <p:cNvPr id="15" name="Shape 13"/>
          <p:cNvSpPr/>
          <p:nvPr/>
        </p:nvSpPr>
        <p:spPr>
          <a:xfrm>
            <a:off x="932329" y="6122445"/>
            <a:ext cx="61558" cy="735555"/>
          </a:xfrm>
          <a:prstGeom prst="rect">
            <a:avLst/>
          </a:prstGeom>
          <a:solidFill>
            <a:srgbClr val="2F5F67">
              <a:alpha val="80000"/>
            </a:srgbClr>
          </a:solidFill>
          <a:ln/>
        </p:spPr>
      </p:sp>
      <p:sp>
        <p:nvSpPr>
          <p:cNvPr id="16" name="Shape 14"/>
          <p:cNvSpPr/>
          <p:nvPr/>
        </p:nvSpPr>
        <p:spPr>
          <a:xfrm>
            <a:off x="1004047" y="6010698"/>
            <a:ext cx="61558" cy="847302"/>
          </a:xfrm>
          <a:prstGeom prst="rect">
            <a:avLst/>
          </a:prstGeom>
          <a:solidFill>
            <a:srgbClr val="E35D45">
              <a:alpha val="96000"/>
            </a:srgbClr>
          </a:solidFill>
          <a:ln/>
        </p:spPr>
      </p:sp>
      <p:sp>
        <p:nvSpPr>
          <p:cNvPr id="17" name="Shape 15"/>
          <p:cNvSpPr/>
          <p:nvPr/>
        </p:nvSpPr>
        <p:spPr>
          <a:xfrm>
            <a:off x="1075765" y="4956523"/>
            <a:ext cx="61558" cy="1901477"/>
          </a:xfrm>
          <a:prstGeom prst="rect">
            <a:avLst/>
          </a:prstGeom>
          <a:solidFill>
            <a:srgbClr val="E35D45">
              <a:alpha val="96000"/>
            </a:srgbClr>
          </a:solidFill>
          <a:ln/>
        </p:spPr>
      </p:sp>
      <p:sp>
        <p:nvSpPr>
          <p:cNvPr id="18" name="Shape 16"/>
          <p:cNvSpPr/>
          <p:nvPr/>
        </p:nvSpPr>
        <p:spPr>
          <a:xfrm>
            <a:off x="1147482" y="4699000"/>
            <a:ext cx="61558" cy="2159000"/>
          </a:xfrm>
          <a:prstGeom prst="rect">
            <a:avLst/>
          </a:prstGeom>
          <a:solidFill>
            <a:srgbClr val="E35D45">
              <a:alpha val="96000"/>
            </a:srgbClr>
          </a:solidFill>
          <a:ln/>
        </p:spPr>
      </p:sp>
      <p:sp>
        <p:nvSpPr>
          <p:cNvPr id="19" name="Shape 17"/>
          <p:cNvSpPr/>
          <p:nvPr/>
        </p:nvSpPr>
        <p:spPr>
          <a:xfrm>
            <a:off x="1219200" y="5237144"/>
            <a:ext cx="61558" cy="1620856"/>
          </a:xfrm>
          <a:prstGeom prst="rect">
            <a:avLst/>
          </a:prstGeom>
          <a:solidFill>
            <a:srgbClr val="E35D45">
              <a:alpha val="96000"/>
            </a:srgbClr>
          </a:solidFill>
          <a:ln/>
        </p:spPr>
      </p:sp>
      <p:sp>
        <p:nvSpPr>
          <p:cNvPr id="20" name="Shape 18"/>
          <p:cNvSpPr/>
          <p:nvPr/>
        </p:nvSpPr>
        <p:spPr>
          <a:xfrm>
            <a:off x="1290918" y="5446444"/>
            <a:ext cx="61558" cy="1411556"/>
          </a:xfrm>
          <a:prstGeom prst="rect">
            <a:avLst/>
          </a:prstGeom>
          <a:solidFill>
            <a:srgbClr val="E35D45">
              <a:alpha val="96000"/>
            </a:srgbClr>
          </a:solidFill>
          <a:ln/>
        </p:spPr>
      </p:sp>
      <p:sp>
        <p:nvSpPr>
          <p:cNvPr id="21" name="Shape 19"/>
          <p:cNvSpPr/>
          <p:nvPr/>
        </p:nvSpPr>
        <p:spPr>
          <a:xfrm>
            <a:off x="1362635" y="5612893"/>
            <a:ext cx="61558" cy="1245107"/>
          </a:xfrm>
          <a:prstGeom prst="rect">
            <a:avLst/>
          </a:prstGeom>
          <a:solidFill>
            <a:srgbClr val="E35D45">
              <a:alpha val="96000"/>
            </a:srgbClr>
          </a:solidFill>
          <a:ln/>
        </p:spPr>
      </p:sp>
      <p:sp>
        <p:nvSpPr>
          <p:cNvPr id="22" name="Shape 20"/>
          <p:cNvSpPr/>
          <p:nvPr/>
        </p:nvSpPr>
        <p:spPr>
          <a:xfrm>
            <a:off x="1434353" y="5901126"/>
            <a:ext cx="61558" cy="956874"/>
          </a:xfrm>
          <a:prstGeom prst="rect">
            <a:avLst/>
          </a:prstGeom>
          <a:solidFill>
            <a:srgbClr val="E35D45">
              <a:alpha val="96000"/>
            </a:srgbClr>
          </a:solidFill>
          <a:ln/>
        </p:spPr>
      </p:sp>
      <p:sp>
        <p:nvSpPr>
          <p:cNvPr id="23" name="Shape 21"/>
          <p:cNvSpPr/>
          <p:nvPr/>
        </p:nvSpPr>
        <p:spPr>
          <a:xfrm>
            <a:off x="1506071" y="6029322"/>
            <a:ext cx="61558" cy="828678"/>
          </a:xfrm>
          <a:prstGeom prst="rect">
            <a:avLst/>
          </a:prstGeom>
          <a:solidFill>
            <a:srgbClr val="E35D45">
              <a:alpha val="96000"/>
            </a:srgbClr>
          </a:solidFill>
          <a:ln/>
        </p:spPr>
      </p:sp>
      <p:sp>
        <p:nvSpPr>
          <p:cNvPr id="24" name="Shape 22"/>
          <p:cNvSpPr/>
          <p:nvPr/>
        </p:nvSpPr>
        <p:spPr>
          <a:xfrm>
            <a:off x="1577788" y="4815388"/>
            <a:ext cx="61558" cy="2042612"/>
          </a:xfrm>
          <a:prstGeom prst="rect">
            <a:avLst/>
          </a:prstGeom>
          <a:solidFill>
            <a:srgbClr val="E35D45">
              <a:alpha val="96000"/>
            </a:srgbClr>
          </a:solidFill>
          <a:ln/>
        </p:spPr>
      </p:sp>
      <p:sp>
        <p:nvSpPr>
          <p:cNvPr id="25" name="Shape 23"/>
          <p:cNvSpPr/>
          <p:nvPr/>
        </p:nvSpPr>
        <p:spPr>
          <a:xfrm>
            <a:off x="1649506" y="5638220"/>
            <a:ext cx="61558" cy="1219780"/>
          </a:xfrm>
          <a:prstGeom prst="rect">
            <a:avLst/>
          </a:prstGeom>
          <a:solidFill>
            <a:srgbClr val="E35D45">
              <a:alpha val="96000"/>
            </a:srgbClr>
          </a:solidFill>
          <a:ln/>
        </p:spPr>
      </p:sp>
      <p:sp>
        <p:nvSpPr>
          <p:cNvPr id="26" name="Shape 24"/>
          <p:cNvSpPr/>
          <p:nvPr/>
        </p:nvSpPr>
        <p:spPr>
          <a:xfrm>
            <a:off x="1721224" y="6254541"/>
            <a:ext cx="61558" cy="603459"/>
          </a:xfrm>
          <a:prstGeom prst="rect">
            <a:avLst/>
          </a:prstGeom>
          <a:solidFill>
            <a:srgbClr val="2F5F67">
              <a:alpha val="80000"/>
            </a:srgbClr>
          </a:solidFill>
          <a:ln/>
        </p:spPr>
      </p:sp>
      <p:sp>
        <p:nvSpPr>
          <p:cNvPr id="27" name="Shape 25"/>
          <p:cNvSpPr/>
          <p:nvPr/>
        </p:nvSpPr>
        <p:spPr>
          <a:xfrm>
            <a:off x="1792941" y="5420877"/>
            <a:ext cx="61558" cy="1437123"/>
          </a:xfrm>
          <a:prstGeom prst="rect">
            <a:avLst/>
          </a:prstGeom>
          <a:solidFill>
            <a:srgbClr val="E35D45">
              <a:alpha val="96000"/>
            </a:srgbClr>
          </a:solidFill>
          <a:ln/>
        </p:spPr>
      </p:sp>
      <p:sp>
        <p:nvSpPr>
          <p:cNvPr id="28" name="Shape 26"/>
          <p:cNvSpPr/>
          <p:nvPr/>
        </p:nvSpPr>
        <p:spPr>
          <a:xfrm>
            <a:off x="1864659" y="6125990"/>
            <a:ext cx="61558" cy="732010"/>
          </a:xfrm>
          <a:prstGeom prst="rect">
            <a:avLst/>
          </a:prstGeom>
          <a:solidFill>
            <a:srgbClr val="2F5F67">
              <a:alpha val="80000"/>
            </a:srgbClr>
          </a:solidFill>
          <a:ln/>
        </p:spPr>
      </p:sp>
      <p:sp>
        <p:nvSpPr>
          <p:cNvPr id="29" name="Shape 27"/>
          <p:cNvSpPr/>
          <p:nvPr/>
        </p:nvSpPr>
        <p:spPr>
          <a:xfrm>
            <a:off x="1936376" y="4843599"/>
            <a:ext cx="61558" cy="2014401"/>
          </a:xfrm>
          <a:prstGeom prst="rect">
            <a:avLst/>
          </a:prstGeom>
          <a:solidFill>
            <a:srgbClr val="E35D45">
              <a:alpha val="96000"/>
            </a:srgbClr>
          </a:solidFill>
          <a:ln/>
        </p:spPr>
      </p:sp>
      <p:sp>
        <p:nvSpPr>
          <p:cNvPr id="30" name="Shape 28"/>
          <p:cNvSpPr/>
          <p:nvPr/>
        </p:nvSpPr>
        <p:spPr>
          <a:xfrm>
            <a:off x="2008094" y="5965837"/>
            <a:ext cx="61558" cy="892163"/>
          </a:xfrm>
          <a:prstGeom prst="rect">
            <a:avLst/>
          </a:prstGeom>
          <a:solidFill>
            <a:srgbClr val="E35D45">
              <a:alpha val="96000"/>
            </a:srgbClr>
          </a:solidFill>
          <a:ln/>
        </p:spPr>
      </p:sp>
      <p:sp>
        <p:nvSpPr>
          <p:cNvPr id="31" name="Shape 29"/>
          <p:cNvSpPr/>
          <p:nvPr/>
        </p:nvSpPr>
        <p:spPr>
          <a:xfrm>
            <a:off x="2079812" y="5879620"/>
            <a:ext cx="61558" cy="978380"/>
          </a:xfrm>
          <a:prstGeom prst="rect">
            <a:avLst/>
          </a:prstGeom>
          <a:solidFill>
            <a:srgbClr val="E35D45">
              <a:alpha val="96000"/>
            </a:srgbClr>
          </a:solidFill>
          <a:ln/>
        </p:spPr>
      </p:sp>
      <p:sp>
        <p:nvSpPr>
          <p:cNvPr id="32" name="Shape 30"/>
          <p:cNvSpPr/>
          <p:nvPr/>
        </p:nvSpPr>
        <p:spPr>
          <a:xfrm>
            <a:off x="2151529" y="5362340"/>
            <a:ext cx="61558" cy="1495660"/>
          </a:xfrm>
          <a:prstGeom prst="rect">
            <a:avLst/>
          </a:prstGeom>
          <a:solidFill>
            <a:srgbClr val="E35D45">
              <a:alpha val="96000"/>
            </a:srgbClr>
          </a:solidFill>
          <a:ln/>
        </p:spPr>
      </p:sp>
      <p:sp>
        <p:nvSpPr>
          <p:cNvPr id="33" name="Shape 31"/>
          <p:cNvSpPr/>
          <p:nvPr/>
        </p:nvSpPr>
        <p:spPr>
          <a:xfrm>
            <a:off x="2223247" y="5062049"/>
            <a:ext cx="61558" cy="1795951"/>
          </a:xfrm>
          <a:prstGeom prst="rect">
            <a:avLst/>
          </a:prstGeom>
          <a:solidFill>
            <a:srgbClr val="E35D45">
              <a:alpha val="96000"/>
            </a:srgbClr>
          </a:solidFill>
          <a:ln/>
        </p:spPr>
      </p:sp>
      <p:sp>
        <p:nvSpPr>
          <p:cNvPr id="34" name="Shape 32"/>
          <p:cNvSpPr/>
          <p:nvPr/>
        </p:nvSpPr>
        <p:spPr>
          <a:xfrm>
            <a:off x="2294965" y="5567751"/>
            <a:ext cx="61558" cy="1290249"/>
          </a:xfrm>
          <a:prstGeom prst="rect">
            <a:avLst/>
          </a:prstGeom>
          <a:solidFill>
            <a:srgbClr val="E35D45">
              <a:alpha val="96000"/>
            </a:srgbClr>
          </a:solidFill>
          <a:ln/>
        </p:spPr>
      </p:sp>
      <p:sp>
        <p:nvSpPr>
          <p:cNvPr id="35" name="Shape 33"/>
          <p:cNvSpPr/>
          <p:nvPr/>
        </p:nvSpPr>
        <p:spPr>
          <a:xfrm>
            <a:off x="2366682" y="5483794"/>
            <a:ext cx="61558" cy="1374206"/>
          </a:xfrm>
          <a:prstGeom prst="rect">
            <a:avLst/>
          </a:prstGeom>
          <a:solidFill>
            <a:srgbClr val="E35D45">
              <a:alpha val="96000"/>
            </a:srgbClr>
          </a:solidFill>
          <a:ln/>
        </p:spPr>
      </p:sp>
      <p:sp>
        <p:nvSpPr>
          <p:cNvPr id="36" name="Shape 34"/>
          <p:cNvSpPr/>
          <p:nvPr/>
        </p:nvSpPr>
        <p:spPr>
          <a:xfrm>
            <a:off x="2438400" y="5600421"/>
            <a:ext cx="61558" cy="1257579"/>
          </a:xfrm>
          <a:prstGeom prst="rect">
            <a:avLst/>
          </a:prstGeom>
          <a:solidFill>
            <a:srgbClr val="E35D45">
              <a:alpha val="96000"/>
            </a:srgbClr>
          </a:solidFill>
          <a:ln/>
        </p:spPr>
      </p:sp>
      <p:sp>
        <p:nvSpPr>
          <p:cNvPr id="37" name="Shape 35"/>
          <p:cNvSpPr/>
          <p:nvPr/>
        </p:nvSpPr>
        <p:spPr>
          <a:xfrm>
            <a:off x="2510118" y="5229140"/>
            <a:ext cx="61558" cy="1628860"/>
          </a:xfrm>
          <a:prstGeom prst="rect">
            <a:avLst/>
          </a:prstGeom>
          <a:solidFill>
            <a:srgbClr val="E35D45">
              <a:alpha val="96000"/>
            </a:srgbClr>
          </a:solidFill>
          <a:ln/>
        </p:spPr>
      </p:sp>
      <p:sp>
        <p:nvSpPr>
          <p:cNvPr id="38" name="Shape 36"/>
          <p:cNvSpPr/>
          <p:nvPr/>
        </p:nvSpPr>
        <p:spPr>
          <a:xfrm>
            <a:off x="2581835" y="6019959"/>
            <a:ext cx="61558" cy="838041"/>
          </a:xfrm>
          <a:prstGeom prst="rect">
            <a:avLst/>
          </a:prstGeom>
          <a:solidFill>
            <a:srgbClr val="E35D45">
              <a:alpha val="96000"/>
            </a:srgbClr>
          </a:solidFill>
          <a:ln/>
        </p:spPr>
      </p:sp>
      <p:sp>
        <p:nvSpPr>
          <p:cNvPr id="39" name="Shape 37"/>
          <p:cNvSpPr/>
          <p:nvPr/>
        </p:nvSpPr>
        <p:spPr>
          <a:xfrm>
            <a:off x="2653553" y="5954250"/>
            <a:ext cx="61558" cy="903750"/>
          </a:xfrm>
          <a:prstGeom prst="rect">
            <a:avLst/>
          </a:prstGeom>
          <a:solidFill>
            <a:srgbClr val="E35D45">
              <a:alpha val="96000"/>
            </a:srgbClr>
          </a:solidFill>
          <a:ln/>
        </p:spPr>
      </p:sp>
      <p:sp>
        <p:nvSpPr>
          <p:cNvPr id="40" name="Shape 38"/>
          <p:cNvSpPr/>
          <p:nvPr/>
        </p:nvSpPr>
        <p:spPr>
          <a:xfrm>
            <a:off x="2725271" y="5771295"/>
            <a:ext cx="61558" cy="1086705"/>
          </a:xfrm>
          <a:prstGeom prst="rect">
            <a:avLst/>
          </a:prstGeom>
          <a:solidFill>
            <a:srgbClr val="E35D45">
              <a:alpha val="96000"/>
            </a:srgbClr>
          </a:solidFill>
          <a:ln/>
        </p:spPr>
      </p:sp>
      <p:sp>
        <p:nvSpPr>
          <p:cNvPr id="41" name="Shape 39"/>
          <p:cNvSpPr/>
          <p:nvPr/>
        </p:nvSpPr>
        <p:spPr>
          <a:xfrm>
            <a:off x="2796988" y="5606641"/>
            <a:ext cx="61558" cy="1251359"/>
          </a:xfrm>
          <a:prstGeom prst="rect">
            <a:avLst/>
          </a:prstGeom>
          <a:solidFill>
            <a:srgbClr val="E35D45">
              <a:alpha val="96000"/>
            </a:srgbClr>
          </a:solidFill>
          <a:ln/>
        </p:spPr>
      </p:sp>
      <p:sp>
        <p:nvSpPr>
          <p:cNvPr id="42" name="Shape 40"/>
          <p:cNvSpPr/>
          <p:nvPr/>
        </p:nvSpPr>
        <p:spPr>
          <a:xfrm>
            <a:off x="2868706" y="5306009"/>
            <a:ext cx="61558" cy="1551991"/>
          </a:xfrm>
          <a:prstGeom prst="rect">
            <a:avLst/>
          </a:prstGeom>
          <a:solidFill>
            <a:srgbClr val="E35D45">
              <a:alpha val="96000"/>
            </a:srgbClr>
          </a:solidFill>
          <a:ln/>
        </p:spPr>
      </p:sp>
      <p:sp>
        <p:nvSpPr>
          <p:cNvPr id="43" name="Shape 41"/>
          <p:cNvSpPr/>
          <p:nvPr/>
        </p:nvSpPr>
        <p:spPr>
          <a:xfrm>
            <a:off x="2940424" y="6200891"/>
            <a:ext cx="61558" cy="657109"/>
          </a:xfrm>
          <a:prstGeom prst="rect">
            <a:avLst/>
          </a:prstGeom>
          <a:solidFill>
            <a:srgbClr val="2F5F67">
              <a:alpha val="80000"/>
            </a:srgbClr>
          </a:solidFill>
          <a:ln/>
        </p:spPr>
      </p:sp>
      <p:sp>
        <p:nvSpPr>
          <p:cNvPr id="44" name="Shape 42"/>
          <p:cNvSpPr/>
          <p:nvPr/>
        </p:nvSpPr>
        <p:spPr>
          <a:xfrm>
            <a:off x="3012141" y="6347984"/>
            <a:ext cx="61558" cy="510016"/>
          </a:xfrm>
          <a:prstGeom prst="rect">
            <a:avLst/>
          </a:prstGeom>
          <a:solidFill>
            <a:srgbClr val="2F5F67">
              <a:alpha val="80000"/>
            </a:srgbClr>
          </a:solidFill>
          <a:ln/>
        </p:spPr>
      </p:sp>
      <p:sp>
        <p:nvSpPr>
          <p:cNvPr id="45" name="Shape 43"/>
          <p:cNvSpPr/>
          <p:nvPr/>
        </p:nvSpPr>
        <p:spPr>
          <a:xfrm>
            <a:off x="3083859" y="6263224"/>
            <a:ext cx="61558" cy="594776"/>
          </a:xfrm>
          <a:prstGeom prst="rect">
            <a:avLst/>
          </a:prstGeom>
          <a:solidFill>
            <a:srgbClr val="2F5F67">
              <a:alpha val="80000"/>
            </a:srgbClr>
          </a:solidFill>
          <a:ln/>
        </p:spPr>
      </p:sp>
      <p:sp>
        <p:nvSpPr>
          <p:cNvPr id="46" name="Shape 44"/>
          <p:cNvSpPr/>
          <p:nvPr/>
        </p:nvSpPr>
        <p:spPr>
          <a:xfrm>
            <a:off x="3155576" y="6233361"/>
            <a:ext cx="61558" cy="624639"/>
          </a:xfrm>
          <a:prstGeom prst="rect">
            <a:avLst/>
          </a:prstGeom>
          <a:solidFill>
            <a:srgbClr val="2F5F67">
              <a:alpha val="80000"/>
            </a:srgbClr>
          </a:solidFill>
          <a:ln/>
        </p:spPr>
      </p:sp>
      <p:sp>
        <p:nvSpPr>
          <p:cNvPr id="47" name="Shape 45"/>
          <p:cNvSpPr/>
          <p:nvPr/>
        </p:nvSpPr>
        <p:spPr>
          <a:xfrm>
            <a:off x="3227294" y="6323091"/>
            <a:ext cx="61558" cy="534909"/>
          </a:xfrm>
          <a:prstGeom prst="rect">
            <a:avLst/>
          </a:prstGeom>
          <a:solidFill>
            <a:srgbClr val="2F5F67">
              <a:alpha val="80000"/>
            </a:srgbClr>
          </a:solidFill>
          <a:ln/>
        </p:spPr>
      </p:sp>
      <p:sp>
        <p:nvSpPr>
          <p:cNvPr id="48" name="Shape 46"/>
          <p:cNvSpPr/>
          <p:nvPr/>
        </p:nvSpPr>
        <p:spPr>
          <a:xfrm>
            <a:off x="3299012" y="5683855"/>
            <a:ext cx="61558" cy="1174145"/>
          </a:xfrm>
          <a:prstGeom prst="rect">
            <a:avLst/>
          </a:prstGeom>
          <a:solidFill>
            <a:srgbClr val="E35D45">
              <a:alpha val="96000"/>
            </a:srgbClr>
          </a:solidFill>
          <a:ln/>
        </p:spPr>
      </p:sp>
      <p:sp>
        <p:nvSpPr>
          <p:cNvPr id="49" name="Shape 47"/>
          <p:cNvSpPr/>
          <p:nvPr/>
        </p:nvSpPr>
        <p:spPr>
          <a:xfrm>
            <a:off x="3370729" y="5205360"/>
            <a:ext cx="61558" cy="1652640"/>
          </a:xfrm>
          <a:prstGeom prst="rect">
            <a:avLst/>
          </a:prstGeom>
          <a:solidFill>
            <a:srgbClr val="E35D45">
              <a:alpha val="96000"/>
            </a:srgbClr>
          </a:solidFill>
          <a:ln/>
        </p:spPr>
      </p:sp>
      <p:sp>
        <p:nvSpPr>
          <p:cNvPr id="50" name="Shape 48"/>
          <p:cNvSpPr/>
          <p:nvPr/>
        </p:nvSpPr>
        <p:spPr>
          <a:xfrm>
            <a:off x="3442447" y="5733649"/>
            <a:ext cx="61558" cy="1124351"/>
          </a:xfrm>
          <a:prstGeom prst="rect">
            <a:avLst/>
          </a:prstGeom>
          <a:solidFill>
            <a:srgbClr val="E35D45">
              <a:alpha val="96000"/>
            </a:srgbClr>
          </a:solidFill>
          <a:ln/>
        </p:spPr>
      </p:sp>
      <p:sp>
        <p:nvSpPr>
          <p:cNvPr id="51" name="Shape 49"/>
          <p:cNvSpPr/>
          <p:nvPr/>
        </p:nvSpPr>
        <p:spPr>
          <a:xfrm>
            <a:off x="3514165" y="5537857"/>
            <a:ext cx="61558" cy="1320143"/>
          </a:xfrm>
          <a:prstGeom prst="rect">
            <a:avLst/>
          </a:prstGeom>
          <a:solidFill>
            <a:srgbClr val="E35D45">
              <a:alpha val="96000"/>
            </a:srgbClr>
          </a:solidFill>
          <a:ln/>
        </p:spPr>
      </p:sp>
      <p:sp>
        <p:nvSpPr>
          <p:cNvPr id="52" name="Shape 50"/>
          <p:cNvSpPr/>
          <p:nvPr/>
        </p:nvSpPr>
        <p:spPr>
          <a:xfrm>
            <a:off x="3585882" y="5474362"/>
            <a:ext cx="61558" cy="1383638"/>
          </a:xfrm>
          <a:prstGeom prst="rect">
            <a:avLst/>
          </a:prstGeom>
          <a:solidFill>
            <a:srgbClr val="E35D45">
              <a:alpha val="96000"/>
            </a:srgbClr>
          </a:solidFill>
          <a:ln/>
        </p:spPr>
      </p:sp>
      <p:sp>
        <p:nvSpPr>
          <p:cNvPr id="53" name="Shape 51"/>
          <p:cNvSpPr/>
          <p:nvPr/>
        </p:nvSpPr>
        <p:spPr>
          <a:xfrm>
            <a:off x="3657600" y="5785753"/>
            <a:ext cx="61558" cy="1072247"/>
          </a:xfrm>
          <a:prstGeom prst="rect">
            <a:avLst/>
          </a:prstGeom>
          <a:solidFill>
            <a:srgbClr val="E35D45">
              <a:alpha val="96000"/>
            </a:srgbClr>
          </a:solidFill>
          <a:ln/>
        </p:spPr>
      </p:sp>
      <p:sp>
        <p:nvSpPr>
          <p:cNvPr id="54" name="Shape 52"/>
          <p:cNvSpPr/>
          <p:nvPr/>
        </p:nvSpPr>
        <p:spPr>
          <a:xfrm>
            <a:off x="3729318" y="5853385"/>
            <a:ext cx="61558" cy="1004615"/>
          </a:xfrm>
          <a:prstGeom prst="rect">
            <a:avLst/>
          </a:prstGeom>
          <a:solidFill>
            <a:srgbClr val="E35D45">
              <a:alpha val="96000"/>
            </a:srgbClr>
          </a:solidFill>
          <a:ln/>
        </p:spPr>
      </p:sp>
      <p:sp>
        <p:nvSpPr>
          <p:cNvPr id="55" name="Shape 53"/>
          <p:cNvSpPr/>
          <p:nvPr/>
        </p:nvSpPr>
        <p:spPr>
          <a:xfrm>
            <a:off x="3801035" y="5968757"/>
            <a:ext cx="61558" cy="889243"/>
          </a:xfrm>
          <a:prstGeom prst="rect">
            <a:avLst/>
          </a:prstGeom>
          <a:solidFill>
            <a:srgbClr val="E35D45">
              <a:alpha val="96000"/>
            </a:srgbClr>
          </a:solidFill>
          <a:ln/>
        </p:spPr>
      </p:sp>
      <p:sp>
        <p:nvSpPr>
          <p:cNvPr id="56" name="Shape 54"/>
          <p:cNvSpPr/>
          <p:nvPr/>
        </p:nvSpPr>
        <p:spPr>
          <a:xfrm>
            <a:off x="3872753" y="6166181"/>
            <a:ext cx="61558" cy="691819"/>
          </a:xfrm>
          <a:prstGeom prst="rect">
            <a:avLst/>
          </a:prstGeom>
          <a:solidFill>
            <a:srgbClr val="2F5F67">
              <a:alpha val="80000"/>
            </a:srgbClr>
          </a:solidFill>
          <a:ln/>
        </p:spPr>
      </p:sp>
      <p:sp>
        <p:nvSpPr>
          <p:cNvPr id="57" name="Shape 55"/>
          <p:cNvSpPr/>
          <p:nvPr/>
        </p:nvSpPr>
        <p:spPr>
          <a:xfrm>
            <a:off x="3944471" y="6294669"/>
            <a:ext cx="61558" cy="563331"/>
          </a:xfrm>
          <a:prstGeom prst="rect">
            <a:avLst/>
          </a:prstGeom>
          <a:solidFill>
            <a:srgbClr val="2F5F67">
              <a:alpha val="80000"/>
            </a:srgbClr>
          </a:solidFill>
          <a:ln/>
        </p:spPr>
      </p:sp>
      <p:sp>
        <p:nvSpPr>
          <p:cNvPr id="58" name="Shape 56"/>
          <p:cNvSpPr/>
          <p:nvPr/>
        </p:nvSpPr>
        <p:spPr>
          <a:xfrm>
            <a:off x="4016188" y="6276493"/>
            <a:ext cx="61558" cy="581507"/>
          </a:xfrm>
          <a:prstGeom prst="rect">
            <a:avLst/>
          </a:prstGeom>
          <a:solidFill>
            <a:srgbClr val="2F5F67">
              <a:alpha val="80000"/>
            </a:srgbClr>
          </a:solidFill>
          <a:ln/>
        </p:spPr>
      </p:sp>
      <p:sp>
        <p:nvSpPr>
          <p:cNvPr id="59" name="Shape 57"/>
          <p:cNvSpPr/>
          <p:nvPr/>
        </p:nvSpPr>
        <p:spPr>
          <a:xfrm>
            <a:off x="4087906" y="6162431"/>
            <a:ext cx="61558" cy="695569"/>
          </a:xfrm>
          <a:prstGeom prst="rect">
            <a:avLst/>
          </a:prstGeom>
          <a:solidFill>
            <a:srgbClr val="2F5F67">
              <a:alpha val="80000"/>
            </a:srgbClr>
          </a:solidFill>
          <a:ln/>
        </p:spPr>
      </p:sp>
      <p:sp>
        <p:nvSpPr>
          <p:cNvPr id="60" name="Shape 58"/>
          <p:cNvSpPr/>
          <p:nvPr/>
        </p:nvSpPr>
        <p:spPr>
          <a:xfrm>
            <a:off x="4159624" y="6272036"/>
            <a:ext cx="61558" cy="585964"/>
          </a:xfrm>
          <a:prstGeom prst="rect">
            <a:avLst/>
          </a:prstGeom>
          <a:solidFill>
            <a:srgbClr val="2F5F67">
              <a:alpha val="80000"/>
            </a:srgbClr>
          </a:solidFill>
          <a:ln/>
        </p:spPr>
      </p:sp>
      <p:sp>
        <p:nvSpPr>
          <p:cNvPr id="61" name="Shape 59"/>
          <p:cNvSpPr/>
          <p:nvPr/>
        </p:nvSpPr>
        <p:spPr>
          <a:xfrm>
            <a:off x="4231341" y="6294669"/>
            <a:ext cx="61558" cy="563331"/>
          </a:xfrm>
          <a:prstGeom prst="rect">
            <a:avLst/>
          </a:prstGeom>
          <a:solidFill>
            <a:srgbClr val="2F5F67">
              <a:alpha val="80000"/>
            </a:srgbClr>
          </a:solidFill>
          <a:ln/>
        </p:spPr>
      </p:sp>
      <p:sp>
        <p:nvSpPr>
          <p:cNvPr id="62" name="Shape 60"/>
          <p:cNvSpPr/>
          <p:nvPr/>
        </p:nvSpPr>
        <p:spPr>
          <a:xfrm>
            <a:off x="4303059" y="6390563"/>
            <a:ext cx="61558" cy="467437"/>
          </a:xfrm>
          <a:prstGeom prst="rect">
            <a:avLst/>
          </a:prstGeom>
          <a:solidFill>
            <a:srgbClr val="2F5F67">
              <a:alpha val="80000"/>
            </a:srgbClr>
          </a:solidFill>
          <a:ln/>
        </p:spPr>
      </p:sp>
      <p:sp>
        <p:nvSpPr>
          <p:cNvPr id="63" name="Shape 61"/>
          <p:cNvSpPr/>
          <p:nvPr/>
        </p:nvSpPr>
        <p:spPr>
          <a:xfrm>
            <a:off x="4374776" y="6368810"/>
            <a:ext cx="61558" cy="489190"/>
          </a:xfrm>
          <a:prstGeom prst="rect">
            <a:avLst/>
          </a:prstGeom>
          <a:solidFill>
            <a:srgbClr val="2F5F67">
              <a:alpha val="80000"/>
            </a:srgbClr>
          </a:solidFill>
          <a:ln/>
        </p:spPr>
      </p:sp>
      <p:sp>
        <p:nvSpPr>
          <p:cNvPr id="64" name="Shape 62"/>
          <p:cNvSpPr/>
          <p:nvPr/>
        </p:nvSpPr>
        <p:spPr>
          <a:xfrm>
            <a:off x="4446494" y="6263224"/>
            <a:ext cx="61558" cy="594776"/>
          </a:xfrm>
          <a:prstGeom prst="rect">
            <a:avLst/>
          </a:prstGeom>
          <a:solidFill>
            <a:srgbClr val="2F5F67">
              <a:alpha val="80000"/>
            </a:srgbClr>
          </a:solidFill>
          <a:ln/>
        </p:spPr>
      </p:sp>
      <p:sp>
        <p:nvSpPr>
          <p:cNvPr id="65" name="Shape 63"/>
          <p:cNvSpPr/>
          <p:nvPr/>
        </p:nvSpPr>
        <p:spPr>
          <a:xfrm>
            <a:off x="4518212" y="6204861"/>
            <a:ext cx="61558" cy="653139"/>
          </a:xfrm>
          <a:prstGeom prst="rect">
            <a:avLst/>
          </a:prstGeom>
          <a:solidFill>
            <a:srgbClr val="2F5F67">
              <a:alpha val="80000"/>
            </a:srgbClr>
          </a:solidFill>
          <a:ln/>
        </p:spPr>
      </p:sp>
      <p:sp>
        <p:nvSpPr>
          <p:cNvPr id="66" name="Shape 64"/>
          <p:cNvSpPr/>
          <p:nvPr/>
        </p:nvSpPr>
        <p:spPr>
          <a:xfrm>
            <a:off x="4589929" y="5855978"/>
            <a:ext cx="61558" cy="1002022"/>
          </a:xfrm>
          <a:prstGeom prst="rect">
            <a:avLst/>
          </a:prstGeom>
          <a:solidFill>
            <a:srgbClr val="E35D45">
              <a:alpha val="96000"/>
            </a:srgbClr>
          </a:solidFill>
          <a:ln/>
        </p:spPr>
      </p:sp>
      <p:sp>
        <p:nvSpPr>
          <p:cNvPr id="67" name="Shape 65"/>
          <p:cNvSpPr/>
          <p:nvPr/>
        </p:nvSpPr>
        <p:spPr>
          <a:xfrm>
            <a:off x="4661647" y="5168007"/>
            <a:ext cx="61558" cy="1689993"/>
          </a:xfrm>
          <a:prstGeom prst="rect">
            <a:avLst/>
          </a:prstGeom>
          <a:solidFill>
            <a:srgbClr val="E35D45">
              <a:alpha val="96000"/>
            </a:srgbClr>
          </a:solidFill>
          <a:ln/>
        </p:spPr>
      </p:sp>
      <p:sp>
        <p:nvSpPr>
          <p:cNvPr id="68" name="Shape 66"/>
          <p:cNvSpPr/>
          <p:nvPr/>
        </p:nvSpPr>
        <p:spPr>
          <a:xfrm>
            <a:off x="4733365" y="5610805"/>
            <a:ext cx="61558" cy="1247195"/>
          </a:xfrm>
          <a:prstGeom prst="rect">
            <a:avLst/>
          </a:prstGeom>
          <a:solidFill>
            <a:srgbClr val="E35D45">
              <a:alpha val="96000"/>
            </a:srgbClr>
          </a:solidFill>
          <a:ln/>
        </p:spPr>
      </p:sp>
      <p:sp>
        <p:nvSpPr>
          <p:cNvPr id="69" name="Shape 67"/>
          <p:cNvSpPr/>
          <p:nvPr/>
        </p:nvSpPr>
        <p:spPr>
          <a:xfrm>
            <a:off x="4805082" y="5510554"/>
            <a:ext cx="61558" cy="1347446"/>
          </a:xfrm>
          <a:prstGeom prst="rect">
            <a:avLst/>
          </a:prstGeom>
          <a:solidFill>
            <a:srgbClr val="E35D45">
              <a:alpha val="96000"/>
            </a:srgbClr>
          </a:solidFill>
          <a:ln/>
        </p:spPr>
      </p:sp>
      <p:sp>
        <p:nvSpPr>
          <p:cNvPr id="70" name="Shape 68"/>
          <p:cNvSpPr/>
          <p:nvPr/>
        </p:nvSpPr>
        <p:spPr>
          <a:xfrm>
            <a:off x="4876800" y="5374564"/>
            <a:ext cx="61558" cy="1483436"/>
          </a:xfrm>
          <a:prstGeom prst="rect">
            <a:avLst/>
          </a:prstGeom>
          <a:solidFill>
            <a:srgbClr val="E35D45">
              <a:alpha val="96000"/>
            </a:srgbClr>
          </a:solidFill>
          <a:ln/>
        </p:spPr>
      </p:sp>
      <p:sp>
        <p:nvSpPr>
          <p:cNvPr id="71" name="Shape 69"/>
          <p:cNvSpPr/>
          <p:nvPr/>
        </p:nvSpPr>
        <p:spPr>
          <a:xfrm>
            <a:off x="4948518" y="5699467"/>
            <a:ext cx="61558" cy="1158533"/>
          </a:xfrm>
          <a:prstGeom prst="rect">
            <a:avLst/>
          </a:prstGeom>
          <a:solidFill>
            <a:srgbClr val="E35D45">
              <a:alpha val="96000"/>
            </a:srgbClr>
          </a:solidFill>
          <a:ln/>
        </p:spPr>
      </p:sp>
      <p:sp>
        <p:nvSpPr>
          <p:cNvPr id="72" name="Shape 70"/>
          <p:cNvSpPr/>
          <p:nvPr/>
        </p:nvSpPr>
        <p:spPr>
          <a:xfrm>
            <a:off x="5020235" y="5766519"/>
            <a:ext cx="61558" cy="1091481"/>
          </a:xfrm>
          <a:prstGeom prst="rect">
            <a:avLst/>
          </a:prstGeom>
          <a:solidFill>
            <a:srgbClr val="E35D45">
              <a:alpha val="96000"/>
            </a:srgbClr>
          </a:solidFill>
          <a:ln/>
        </p:spPr>
      </p:sp>
      <p:sp>
        <p:nvSpPr>
          <p:cNvPr id="73" name="Shape 71"/>
          <p:cNvSpPr/>
          <p:nvPr/>
        </p:nvSpPr>
        <p:spPr>
          <a:xfrm>
            <a:off x="5091953" y="5989474"/>
            <a:ext cx="61558" cy="868526"/>
          </a:xfrm>
          <a:prstGeom prst="rect">
            <a:avLst/>
          </a:prstGeom>
          <a:solidFill>
            <a:srgbClr val="E35D45">
              <a:alpha val="96000"/>
            </a:srgbClr>
          </a:solidFill>
          <a:ln/>
        </p:spPr>
      </p:sp>
      <p:sp>
        <p:nvSpPr>
          <p:cNvPr id="74" name="Shape 72"/>
          <p:cNvSpPr/>
          <p:nvPr/>
        </p:nvSpPr>
        <p:spPr>
          <a:xfrm>
            <a:off x="5163671" y="6094678"/>
            <a:ext cx="61558" cy="763322"/>
          </a:xfrm>
          <a:prstGeom prst="rect">
            <a:avLst/>
          </a:prstGeom>
          <a:solidFill>
            <a:srgbClr val="2F5F67">
              <a:alpha val="80000"/>
            </a:srgbClr>
          </a:solidFill>
          <a:ln/>
        </p:spPr>
      </p:sp>
      <p:sp>
        <p:nvSpPr>
          <p:cNvPr id="75" name="Shape 73"/>
          <p:cNvSpPr/>
          <p:nvPr/>
        </p:nvSpPr>
        <p:spPr>
          <a:xfrm>
            <a:off x="5235388" y="5909316"/>
            <a:ext cx="61558" cy="948684"/>
          </a:xfrm>
          <a:prstGeom prst="rect">
            <a:avLst/>
          </a:prstGeom>
          <a:solidFill>
            <a:srgbClr val="E35D45">
              <a:alpha val="96000"/>
            </a:srgbClr>
          </a:solidFill>
          <a:ln/>
        </p:spPr>
      </p:sp>
      <p:sp>
        <p:nvSpPr>
          <p:cNvPr id="76" name="Shape 74"/>
          <p:cNvSpPr/>
          <p:nvPr/>
        </p:nvSpPr>
        <p:spPr>
          <a:xfrm>
            <a:off x="5307106" y="6254541"/>
            <a:ext cx="61558" cy="603459"/>
          </a:xfrm>
          <a:prstGeom prst="rect">
            <a:avLst/>
          </a:prstGeom>
          <a:solidFill>
            <a:srgbClr val="2F5F67">
              <a:alpha val="80000"/>
            </a:srgbClr>
          </a:solidFill>
          <a:ln/>
        </p:spPr>
      </p:sp>
      <p:sp>
        <p:nvSpPr>
          <p:cNvPr id="77" name="Shape 75"/>
          <p:cNvSpPr/>
          <p:nvPr/>
        </p:nvSpPr>
        <p:spPr>
          <a:xfrm>
            <a:off x="5378824" y="6368810"/>
            <a:ext cx="61558" cy="489190"/>
          </a:xfrm>
          <a:prstGeom prst="rect">
            <a:avLst/>
          </a:prstGeom>
          <a:solidFill>
            <a:srgbClr val="2F5F67">
              <a:alpha val="80000"/>
            </a:srgbClr>
          </a:solidFill>
          <a:ln/>
        </p:spPr>
      </p:sp>
      <p:sp>
        <p:nvSpPr>
          <p:cNvPr id="78" name="Shape 76"/>
          <p:cNvSpPr/>
          <p:nvPr/>
        </p:nvSpPr>
        <p:spPr>
          <a:xfrm>
            <a:off x="5450541" y="6342909"/>
            <a:ext cx="61558" cy="515091"/>
          </a:xfrm>
          <a:prstGeom prst="rect">
            <a:avLst/>
          </a:prstGeom>
          <a:solidFill>
            <a:srgbClr val="2F5F67">
              <a:alpha val="80000"/>
            </a:srgbClr>
          </a:solidFill>
          <a:ln/>
        </p:spPr>
      </p:sp>
      <p:sp>
        <p:nvSpPr>
          <p:cNvPr id="79" name="Shape 77"/>
          <p:cNvSpPr/>
          <p:nvPr/>
        </p:nvSpPr>
        <p:spPr>
          <a:xfrm>
            <a:off x="5522259" y="6396161"/>
            <a:ext cx="61558" cy="461839"/>
          </a:xfrm>
          <a:prstGeom prst="rect">
            <a:avLst/>
          </a:prstGeom>
          <a:solidFill>
            <a:srgbClr val="2F5F67">
              <a:alpha val="80000"/>
            </a:srgbClr>
          </a:solidFill>
          <a:ln/>
        </p:spPr>
      </p:sp>
      <p:sp>
        <p:nvSpPr>
          <p:cNvPr id="80" name="Shape 78"/>
          <p:cNvSpPr/>
          <p:nvPr/>
        </p:nvSpPr>
        <p:spPr>
          <a:xfrm>
            <a:off x="5593976" y="6237539"/>
            <a:ext cx="61558" cy="620461"/>
          </a:xfrm>
          <a:prstGeom prst="rect">
            <a:avLst/>
          </a:prstGeom>
          <a:solidFill>
            <a:srgbClr val="2F5F67">
              <a:alpha val="80000"/>
            </a:srgbClr>
          </a:solidFill>
          <a:ln/>
        </p:spPr>
      </p:sp>
      <p:sp>
        <p:nvSpPr>
          <p:cNvPr id="81" name="Shape 79"/>
          <p:cNvSpPr/>
          <p:nvPr/>
        </p:nvSpPr>
        <p:spPr>
          <a:xfrm>
            <a:off x="5665694" y="5951376"/>
            <a:ext cx="61558" cy="906624"/>
          </a:xfrm>
          <a:prstGeom prst="rect">
            <a:avLst/>
          </a:prstGeom>
          <a:solidFill>
            <a:srgbClr val="E35D45">
              <a:alpha val="96000"/>
            </a:srgbClr>
          </a:solidFill>
          <a:ln/>
        </p:spPr>
      </p:sp>
      <p:sp>
        <p:nvSpPr>
          <p:cNvPr id="82" name="Shape 80"/>
          <p:cNvSpPr/>
          <p:nvPr/>
        </p:nvSpPr>
        <p:spPr>
          <a:xfrm>
            <a:off x="5737412" y="5399319"/>
            <a:ext cx="61558" cy="1458681"/>
          </a:xfrm>
          <a:prstGeom prst="rect">
            <a:avLst/>
          </a:prstGeom>
          <a:solidFill>
            <a:srgbClr val="E35D45">
              <a:alpha val="96000"/>
            </a:srgbClr>
          </a:solidFill>
          <a:ln/>
        </p:spPr>
      </p:sp>
      <p:sp>
        <p:nvSpPr>
          <p:cNvPr id="83" name="Shape 81"/>
          <p:cNvSpPr/>
          <p:nvPr/>
        </p:nvSpPr>
        <p:spPr>
          <a:xfrm>
            <a:off x="5809129" y="5606641"/>
            <a:ext cx="61558" cy="1251359"/>
          </a:xfrm>
          <a:prstGeom prst="rect">
            <a:avLst/>
          </a:prstGeom>
          <a:solidFill>
            <a:srgbClr val="E35D45">
              <a:alpha val="96000"/>
            </a:srgbClr>
          </a:solidFill>
          <a:ln/>
        </p:spPr>
      </p:sp>
      <p:sp>
        <p:nvSpPr>
          <p:cNvPr id="84" name="Shape 82"/>
          <p:cNvSpPr/>
          <p:nvPr/>
        </p:nvSpPr>
        <p:spPr>
          <a:xfrm>
            <a:off x="5880847" y="5472483"/>
            <a:ext cx="61558" cy="1385517"/>
          </a:xfrm>
          <a:prstGeom prst="rect">
            <a:avLst/>
          </a:prstGeom>
          <a:solidFill>
            <a:srgbClr val="E35D45">
              <a:alpha val="96000"/>
            </a:srgbClr>
          </a:solidFill>
          <a:ln/>
        </p:spPr>
      </p:sp>
      <p:sp>
        <p:nvSpPr>
          <p:cNvPr id="85" name="Shape 83"/>
          <p:cNvSpPr/>
          <p:nvPr/>
        </p:nvSpPr>
        <p:spPr>
          <a:xfrm>
            <a:off x="5952565" y="5655400"/>
            <a:ext cx="61558" cy="1202600"/>
          </a:xfrm>
          <a:prstGeom prst="rect">
            <a:avLst/>
          </a:prstGeom>
          <a:solidFill>
            <a:srgbClr val="E35D45">
              <a:alpha val="96000"/>
            </a:srgbClr>
          </a:solidFill>
          <a:ln/>
        </p:spPr>
      </p:sp>
      <p:sp>
        <p:nvSpPr>
          <p:cNvPr id="86" name="Shape 84"/>
          <p:cNvSpPr/>
          <p:nvPr/>
        </p:nvSpPr>
        <p:spPr>
          <a:xfrm>
            <a:off x="6024282" y="5664084"/>
            <a:ext cx="61558" cy="1193916"/>
          </a:xfrm>
          <a:prstGeom prst="rect">
            <a:avLst/>
          </a:prstGeom>
          <a:solidFill>
            <a:srgbClr val="E35D45">
              <a:alpha val="96000"/>
            </a:srgbClr>
          </a:solidFill>
          <a:ln/>
        </p:spPr>
      </p:sp>
      <p:sp>
        <p:nvSpPr>
          <p:cNvPr id="87" name="Shape 85"/>
          <p:cNvSpPr/>
          <p:nvPr/>
        </p:nvSpPr>
        <p:spPr>
          <a:xfrm>
            <a:off x="6096000" y="6074499"/>
            <a:ext cx="61558" cy="783501"/>
          </a:xfrm>
          <a:prstGeom prst="rect">
            <a:avLst/>
          </a:prstGeom>
          <a:solidFill>
            <a:srgbClr val="2F5F67">
              <a:alpha val="80000"/>
            </a:srgbClr>
          </a:solidFill>
          <a:ln/>
        </p:spPr>
      </p:sp>
      <p:sp>
        <p:nvSpPr>
          <p:cNvPr id="88" name="Shape 86"/>
          <p:cNvSpPr/>
          <p:nvPr/>
        </p:nvSpPr>
        <p:spPr>
          <a:xfrm>
            <a:off x="6167718" y="6016860"/>
            <a:ext cx="61558" cy="841140"/>
          </a:xfrm>
          <a:prstGeom prst="rect">
            <a:avLst/>
          </a:prstGeom>
          <a:solidFill>
            <a:srgbClr val="E35D45">
              <a:alpha val="96000"/>
            </a:srgbClr>
          </a:solidFill>
          <a:ln/>
        </p:spPr>
      </p:sp>
      <p:sp>
        <p:nvSpPr>
          <p:cNvPr id="89" name="Shape 87"/>
          <p:cNvSpPr/>
          <p:nvPr/>
        </p:nvSpPr>
        <p:spPr>
          <a:xfrm>
            <a:off x="6239435" y="6064602"/>
            <a:ext cx="61558" cy="793398"/>
          </a:xfrm>
          <a:prstGeom prst="rect">
            <a:avLst/>
          </a:prstGeom>
          <a:solidFill>
            <a:srgbClr val="2F5F67">
              <a:alpha val="80000"/>
            </a:srgbClr>
          </a:solidFill>
          <a:ln/>
        </p:spPr>
      </p:sp>
      <p:sp>
        <p:nvSpPr>
          <p:cNvPr id="90" name="Shape 88"/>
          <p:cNvSpPr/>
          <p:nvPr/>
        </p:nvSpPr>
        <p:spPr>
          <a:xfrm>
            <a:off x="6311153" y="6074499"/>
            <a:ext cx="61558" cy="783501"/>
          </a:xfrm>
          <a:prstGeom prst="rect">
            <a:avLst/>
          </a:prstGeom>
          <a:solidFill>
            <a:srgbClr val="2F5F67">
              <a:alpha val="80000"/>
            </a:srgbClr>
          </a:solidFill>
          <a:ln/>
        </p:spPr>
      </p:sp>
      <p:sp>
        <p:nvSpPr>
          <p:cNvPr id="91" name="Shape 89"/>
          <p:cNvSpPr/>
          <p:nvPr/>
        </p:nvSpPr>
        <p:spPr>
          <a:xfrm>
            <a:off x="6382871" y="5942809"/>
            <a:ext cx="61558" cy="915191"/>
          </a:xfrm>
          <a:prstGeom prst="rect">
            <a:avLst/>
          </a:prstGeom>
          <a:solidFill>
            <a:srgbClr val="E35D45">
              <a:alpha val="96000"/>
            </a:srgbClr>
          </a:solidFill>
          <a:ln/>
        </p:spPr>
      </p:sp>
      <p:sp>
        <p:nvSpPr>
          <p:cNvPr id="92" name="Shape 90"/>
          <p:cNvSpPr/>
          <p:nvPr/>
        </p:nvSpPr>
        <p:spPr>
          <a:xfrm>
            <a:off x="6454588" y="6216920"/>
            <a:ext cx="61558" cy="641080"/>
          </a:xfrm>
          <a:prstGeom prst="rect">
            <a:avLst/>
          </a:prstGeom>
          <a:solidFill>
            <a:srgbClr val="2F5F67">
              <a:alpha val="80000"/>
            </a:srgbClr>
          </a:solidFill>
          <a:ln/>
        </p:spPr>
      </p:sp>
      <p:sp>
        <p:nvSpPr>
          <p:cNvPr id="93" name="Shape 91"/>
          <p:cNvSpPr/>
          <p:nvPr/>
        </p:nvSpPr>
        <p:spPr>
          <a:xfrm>
            <a:off x="6526306" y="6285509"/>
            <a:ext cx="61558" cy="572491"/>
          </a:xfrm>
          <a:prstGeom prst="rect">
            <a:avLst/>
          </a:prstGeom>
          <a:solidFill>
            <a:srgbClr val="2F5F67">
              <a:alpha val="80000"/>
            </a:srgbClr>
          </a:solidFill>
          <a:ln/>
        </p:spPr>
      </p:sp>
      <p:sp>
        <p:nvSpPr>
          <p:cNvPr id="94" name="Shape 92"/>
          <p:cNvSpPr/>
          <p:nvPr/>
        </p:nvSpPr>
        <p:spPr>
          <a:xfrm>
            <a:off x="6598024" y="6368810"/>
            <a:ext cx="61558" cy="489190"/>
          </a:xfrm>
          <a:prstGeom prst="rect">
            <a:avLst/>
          </a:prstGeom>
          <a:solidFill>
            <a:srgbClr val="2F5F67">
              <a:alpha val="80000"/>
            </a:srgbClr>
          </a:solidFill>
          <a:ln/>
        </p:spPr>
      </p:sp>
      <p:sp>
        <p:nvSpPr>
          <p:cNvPr id="95" name="Shape 93"/>
          <p:cNvSpPr/>
          <p:nvPr/>
        </p:nvSpPr>
        <p:spPr>
          <a:xfrm>
            <a:off x="6669741" y="6374157"/>
            <a:ext cx="61558" cy="483843"/>
          </a:xfrm>
          <a:prstGeom prst="rect">
            <a:avLst/>
          </a:prstGeom>
          <a:solidFill>
            <a:srgbClr val="2F5F67">
              <a:alpha val="80000"/>
            </a:srgbClr>
          </a:solidFill>
          <a:ln/>
        </p:spPr>
      </p:sp>
      <p:sp>
        <p:nvSpPr>
          <p:cNvPr id="96" name="Shape 94"/>
          <p:cNvSpPr/>
          <p:nvPr/>
        </p:nvSpPr>
        <p:spPr>
          <a:xfrm>
            <a:off x="6741459" y="6337884"/>
            <a:ext cx="61558" cy="520116"/>
          </a:xfrm>
          <a:prstGeom prst="rect">
            <a:avLst/>
          </a:prstGeom>
          <a:solidFill>
            <a:srgbClr val="2F5F67">
              <a:alpha val="80000"/>
            </a:srgbClr>
          </a:solidFill>
          <a:ln/>
        </p:spPr>
      </p:sp>
      <p:sp>
        <p:nvSpPr>
          <p:cNvPr id="97" name="Shape 95"/>
          <p:cNvSpPr/>
          <p:nvPr/>
        </p:nvSpPr>
        <p:spPr>
          <a:xfrm>
            <a:off x="6813176" y="6254541"/>
            <a:ext cx="61558" cy="603459"/>
          </a:xfrm>
          <a:prstGeom prst="rect">
            <a:avLst/>
          </a:prstGeom>
          <a:solidFill>
            <a:srgbClr val="2F5F67">
              <a:alpha val="80000"/>
            </a:srgbClr>
          </a:solidFill>
          <a:ln/>
        </p:spPr>
      </p:sp>
      <p:sp>
        <p:nvSpPr>
          <p:cNvPr id="98" name="Shape 96"/>
          <p:cNvSpPr/>
          <p:nvPr/>
        </p:nvSpPr>
        <p:spPr>
          <a:xfrm>
            <a:off x="6884894" y="6147630"/>
            <a:ext cx="61558" cy="710370"/>
          </a:xfrm>
          <a:prstGeom prst="rect">
            <a:avLst/>
          </a:prstGeom>
          <a:solidFill>
            <a:srgbClr val="2F5F67">
              <a:alpha val="80000"/>
            </a:srgbClr>
          </a:solidFill>
          <a:ln/>
        </p:spPr>
      </p:sp>
      <p:sp>
        <p:nvSpPr>
          <p:cNvPr id="99" name="Shape 97"/>
          <p:cNvSpPr/>
          <p:nvPr/>
        </p:nvSpPr>
        <p:spPr>
          <a:xfrm>
            <a:off x="6956612" y="5453835"/>
            <a:ext cx="61558" cy="1404165"/>
          </a:xfrm>
          <a:prstGeom prst="rect">
            <a:avLst/>
          </a:prstGeom>
          <a:solidFill>
            <a:srgbClr val="E35D45">
              <a:alpha val="96000"/>
            </a:srgbClr>
          </a:solidFill>
          <a:ln/>
        </p:spPr>
      </p:sp>
      <p:sp>
        <p:nvSpPr>
          <p:cNvPr id="100" name="Shape 98"/>
          <p:cNvSpPr/>
          <p:nvPr/>
        </p:nvSpPr>
        <p:spPr>
          <a:xfrm>
            <a:off x="7028329" y="5766519"/>
            <a:ext cx="61558" cy="1091481"/>
          </a:xfrm>
          <a:prstGeom prst="rect">
            <a:avLst/>
          </a:prstGeom>
          <a:solidFill>
            <a:srgbClr val="E35D45">
              <a:alpha val="96000"/>
            </a:srgbClr>
          </a:solidFill>
          <a:ln/>
        </p:spPr>
      </p:sp>
      <p:sp>
        <p:nvSpPr>
          <p:cNvPr id="101" name="Shape 99"/>
          <p:cNvSpPr/>
          <p:nvPr/>
        </p:nvSpPr>
        <p:spPr>
          <a:xfrm>
            <a:off x="7100047" y="5780912"/>
            <a:ext cx="61558" cy="1077088"/>
          </a:xfrm>
          <a:prstGeom prst="rect">
            <a:avLst/>
          </a:prstGeom>
          <a:solidFill>
            <a:srgbClr val="E35D45">
              <a:alpha val="96000"/>
            </a:srgbClr>
          </a:solidFill>
          <a:ln/>
        </p:spPr>
      </p:sp>
      <p:sp>
        <p:nvSpPr>
          <p:cNvPr id="102" name="Shape 100"/>
          <p:cNvSpPr/>
          <p:nvPr/>
        </p:nvSpPr>
        <p:spPr>
          <a:xfrm>
            <a:off x="7171765" y="5610805"/>
            <a:ext cx="61558" cy="1247195"/>
          </a:xfrm>
          <a:prstGeom prst="rect">
            <a:avLst/>
          </a:prstGeom>
          <a:solidFill>
            <a:srgbClr val="E35D45">
              <a:alpha val="96000"/>
            </a:srgbClr>
          </a:solidFill>
          <a:ln/>
        </p:spPr>
      </p:sp>
      <p:sp>
        <p:nvSpPr>
          <p:cNvPr id="103" name="Shape 101"/>
          <p:cNvSpPr/>
          <p:nvPr/>
        </p:nvSpPr>
        <p:spPr>
          <a:xfrm>
            <a:off x="7243482" y="5329654"/>
            <a:ext cx="61558" cy="1528346"/>
          </a:xfrm>
          <a:prstGeom prst="rect">
            <a:avLst/>
          </a:prstGeom>
          <a:solidFill>
            <a:srgbClr val="E35D45">
              <a:alpha val="96000"/>
            </a:srgbClr>
          </a:solidFill>
          <a:ln/>
        </p:spPr>
      </p:sp>
      <p:sp>
        <p:nvSpPr>
          <p:cNvPr id="104" name="Shape 102"/>
          <p:cNvSpPr/>
          <p:nvPr/>
        </p:nvSpPr>
        <p:spPr>
          <a:xfrm>
            <a:off x="7315200" y="5901126"/>
            <a:ext cx="61558" cy="956874"/>
          </a:xfrm>
          <a:prstGeom prst="rect">
            <a:avLst/>
          </a:prstGeom>
          <a:solidFill>
            <a:srgbClr val="E35D45">
              <a:alpha val="96000"/>
            </a:srgbClr>
          </a:solidFill>
          <a:ln/>
        </p:spPr>
      </p:sp>
      <p:sp>
        <p:nvSpPr>
          <p:cNvPr id="105" name="Shape 103"/>
          <p:cNvSpPr/>
          <p:nvPr/>
        </p:nvSpPr>
        <p:spPr>
          <a:xfrm>
            <a:off x="7386918" y="6077826"/>
            <a:ext cx="61558" cy="780174"/>
          </a:xfrm>
          <a:prstGeom prst="rect">
            <a:avLst/>
          </a:prstGeom>
          <a:solidFill>
            <a:srgbClr val="2F5F67">
              <a:alpha val="80000"/>
            </a:srgbClr>
          </a:solidFill>
          <a:ln/>
        </p:spPr>
      </p:sp>
      <p:sp>
        <p:nvSpPr>
          <p:cNvPr id="106" name="Shape 104"/>
          <p:cNvSpPr/>
          <p:nvPr/>
        </p:nvSpPr>
        <p:spPr>
          <a:xfrm>
            <a:off x="7458635" y="6125990"/>
            <a:ext cx="61558" cy="732010"/>
          </a:xfrm>
          <a:prstGeom prst="rect">
            <a:avLst/>
          </a:prstGeom>
          <a:solidFill>
            <a:srgbClr val="2F5F67">
              <a:alpha val="80000"/>
            </a:srgbClr>
          </a:solidFill>
          <a:ln/>
        </p:spPr>
      </p:sp>
      <p:sp>
        <p:nvSpPr>
          <p:cNvPr id="107" name="Shape 105"/>
          <p:cNvSpPr/>
          <p:nvPr/>
        </p:nvSpPr>
        <p:spPr>
          <a:xfrm>
            <a:off x="7530353" y="6038793"/>
            <a:ext cx="61558" cy="819207"/>
          </a:xfrm>
          <a:prstGeom prst="rect">
            <a:avLst/>
          </a:prstGeom>
          <a:solidFill>
            <a:srgbClr val="E35D45">
              <a:alpha val="96000"/>
            </a:srgbClr>
          </a:solidFill>
          <a:ln/>
        </p:spPr>
      </p:sp>
      <p:sp>
        <p:nvSpPr>
          <p:cNvPr id="108" name="Shape 106"/>
          <p:cNvSpPr/>
          <p:nvPr/>
        </p:nvSpPr>
        <p:spPr>
          <a:xfrm>
            <a:off x="7602071" y="6169951"/>
            <a:ext cx="61558" cy="688049"/>
          </a:xfrm>
          <a:prstGeom prst="rect">
            <a:avLst/>
          </a:prstGeom>
          <a:solidFill>
            <a:srgbClr val="2F5F67">
              <a:alpha val="80000"/>
            </a:srgbClr>
          </a:solidFill>
          <a:ln/>
        </p:spPr>
      </p:sp>
      <p:sp>
        <p:nvSpPr>
          <p:cNvPr id="109" name="Shape 107"/>
          <p:cNvSpPr/>
          <p:nvPr/>
        </p:nvSpPr>
        <p:spPr>
          <a:xfrm>
            <a:off x="7673788" y="6308696"/>
            <a:ext cx="61558" cy="549304"/>
          </a:xfrm>
          <a:prstGeom prst="rect">
            <a:avLst/>
          </a:prstGeom>
          <a:solidFill>
            <a:srgbClr val="2F5F67">
              <a:alpha val="80000"/>
            </a:srgbClr>
          </a:solidFill>
          <a:ln/>
        </p:spPr>
      </p:sp>
      <p:sp>
        <p:nvSpPr>
          <p:cNvPr id="110" name="Shape 108"/>
          <p:cNvSpPr/>
          <p:nvPr/>
        </p:nvSpPr>
        <p:spPr>
          <a:xfrm>
            <a:off x="7745506" y="6401828"/>
            <a:ext cx="61558" cy="456172"/>
          </a:xfrm>
          <a:prstGeom prst="rect">
            <a:avLst/>
          </a:prstGeom>
          <a:solidFill>
            <a:srgbClr val="2F5F67">
              <a:alpha val="80000"/>
            </a:srgbClr>
          </a:solidFill>
          <a:ln/>
        </p:spPr>
      </p:sp>
      <p:sp>
        <p:nvSpPr>
          <p:cNvPr id="111" name="Shape 109"/>
          <p:cNvSpPr/>
          <p:nvPr/>
        </p:nvSpPr>
        <p:spPr>
          <a:xfrm>
            <a:off x="7817224" y="6437430"/>
            <a:ext cx="61558" cy="420570"/>
          </a:xfrm>
          <a:prstGeom prst="rect">
            <a:avLst/>
          </a:prstGeom>
          <a:solidFill>
            <a:srgbClr val="2F5F67">
              <a:alpha val="80000"/>
            </a:srgbClr>
          </a:solidFill>
          <a:ln/>
        </p:spPr>
      </p:sp>
      <p:sp>
        <p:nvSpPr>
          <p:cNvPr id="112" name="Shape 110"/>
          <p:cNvSpPr/>
          <p:nvPr/>
        </p:nvSpPr>
        <p:spPr>
          <a:xfrm>
            <a:off x="7888941" y="6363521"/>
            <a:ext cx="61558" cy="494479"/>
          </a:xfrm>
          <a:prstGeom prst="rect">
            <a:avLst/>
          </a:prstGeom>
          <a:solidFill>
            <a:srgbClr val="2F5F67">
              <a:alpha val="80000"/>
            </a:srgbClr>
          </a:solidFill>
          <a:ln/>
        </p:spPr>
      </p:sp>
      <p:sp>
        <p:nvSpPr>
          <p:cNvPr id="113" name="Shape 111"/>
          <p:cNvSpPr/>
          <p:nvPr/>
        </p:nvSpPr>
        <p:spPr>
          <a:xfrm>
            <a:off x="7960659" y="6337884"/>
            <a:ext cx="61558" cy="520116"/>
          </a:xfrm>
          <a:prstGeom prst="rect">
            <a:avLst/>
          </a:prstGeom>
          <a:solidFill>
            <a:srgbClr val="2F5F67">
              <a:alpha val="80000"/>
            </a:srgbClr>
          </a:solidFill>
          <a:ln/>
        </p:spPr>
      </p:sp>
      <p:sp>
        <p:nvSpPr>
          <p:cNvPr id="114" name="Shape 112"/>
          <p:cNvSpPr/>
          <p:nvPr/>
        </p:nvSpPr>
        <p:spPr>
          <a:xfrm>
            <a:off x="8032376" y="6245981"/>
            <a:ext cx="61558" cy="612019"/>
          </a:xfrm>
          <a:prstGeom prst="rect">
            <a:avLst/>
          </a:prstGeom>
          <a:solidFill>
            <a:srgbClr val="2F5F67">
              <a:alpha val="80000"/>
            </a:srgbClr>
          </a:solidFill>
          <a:ln/>
        </p:spPr>
      </p:sp>
      <p:sp>
        <p:nvSpPr>
          <p:cNvPr id="115" name="Shape 113"/>
          <p:cNvSpPr/>
          <p:nvPr/>
        </p:nvSpPr>
        <p:spPr>
          <a:xfrm>
            <a:off x="8104094" y="6013774"/>
            <a:ext cx="61558" cy="844226"/>
          </a:xfrm>
          <a:prstGeom prst="rect">
            <a:avLst/>
          </a:prstGeom>
          <a:solidFill>
            <a:srgbClr val="E35D45">
              <a:alpha val="96000"/>
            </a:srgbClr>
          </a:solidFill>
          <a:ln/>
        </p:spPr>
      </p:sp>
      <p:sp>
        <p:nvSpPr>
          <p:cNvPr id="116" name="Shape 114"/>
          <p:cNvSpPr/>
          <p:nvPr/>
        </p:nvSpPr>
        <p:spPr>
          <a:xfrm>
            <a:off x="8175812" y="5493291"/>
            <a:ext cx="61558" cy="1364709"/>
          </a:xfrm>
          <a:prstGeom prst="rect">
            <a:avLst/>
          </a:prstGeom>
          <a:solidFill>
            <a:srgbClr val="E35D45">
              <a:alpha val="96000"/>
            </a:srgbClr>
          </a:solidFill>
          <a:ln/>
        </p:spPr>
      </p:sp>
      <p:sp>
        <p:nvSpPr>
          <p:cNvPr id="117" name="Shape 115"/>
          <p:cNvSpPr/>
          <p:nvPr/>
        </p:nvSpPr>
        <p:spPr>
          <a:xfrm>
            <a:off x="8247529" y="5518298"/>
            <a:ext cx="61558" cy="1339702"/>
          </a:xfrm>
          <a:prstGeom prst="rect">
            <a:avLst/>
          </a:prstGeom>
          <a:solidFill>
            <a:srgbClr val="E35D45">
              <a:alpha val="96000"/>
            </a:srgbClr>
          </a:solidFill>
          <a:ln/>
        </p:spPr>
      </p:sp>
      <p:sp>
        <p:nvSpPr>
          <p:cNvPr id="118" name="Shape 116"/>
          <p:cNvSpPr/>
          <p:nvPr/>
        </p:nvSpPr>
        <p:spPr>
          <a:xfrm>
            <a:off x="8319247" y="5757027"/>
            <a:ext cx="61558" cy="1100973"/>
          </a:xfrm>
          <a:prstGeom prst="rect">
            <a:avLst/>
          </a:prstGeom>
          <a:solidFill>
            <a:srgbClr val="E35D45">
              <a:alpha val="96000"/>
            </a:srgbClr>
          </a:solidFill>
          <a:ln/>
        </p:spPr>
      </p:sp>
      <p:sp>
        <p:nvSpPr>
          <p:cNvPr id="119" name="Shape 117"/>
          <p:cNvSpPr/>
          <p:nvPr/>
        </p:nvSpPr>
        <p:spPr>
          <a:xfrm>
            <a:off x="8390965" y="5522187"/>
            <a:ext cx="61558" cy="1335813"/>
          </a:xfrm>
          <a:prstGeom prst="rect">
            <a:avLst/>
          </a:prstGeom>
          <a:solidFill>
            <a:srgbClr val="E35D45">
              <a:alpha val="96000"/>
            </a:srgbClr>
          </a:solidFill>
          <a:ln/>
        </p:spPr>
      </p:sp>
      <p:sp>
        <p:nvSpPr>
          <p:cNvPr id="120" name="Shape 118"/>
          <p:cNvSpPr/>
          <p:nvPr/>
        </p:nvSpPr>
        <p:spPr>
          <a:xfrm>
            <a:off x="8462682" y="5311045"/>
            <a:ext cx="61558" cy="1546955"/>
          </a:xfrm>
          <a:prstGeom prst="rect">
            <a:avLst/>
          </a:prstGeom>
          <a:solidFill>
            <a:srgbClr val="E35D45">
              <a:alpha val="96000"/>
            </a:srgbClr>
          </a:solidFill>
          <a:ln/>
        </p:spPr>
      </p:sp>
      <p:sp>
        <p:nvSpPr>
          <p:cNvPr id="121" name="Shape 119"/>
          <p:cNvSpPr/>
          <p:nvPr/>
        </p:nvSpPr>
        <p:spPr>
          <a:xfrm>
            <a:off x="8534400" y="5461264"/>
            <a:ext cx="61558" cy="1396736"/>
          </a:xfrm>
          <a:prstGeom prst="rect">
            <a:avLst/>
          </a:prstGeom>
          <a:solidFill>
            <a:srgbClr val="E35D45">
              <a:alpha val="96000"/>
            </a:srgbClr>
          </a:solidFill>
          <a:ln/>
        </p:spPr>
      </p:sp>
      <p:sp>
        <p:nvSpPr>
          <p:cNvPr id="122" name="Shape 120"/>
          <p:cNvSpPr/>
          <p:nvPr/>
        </p:nvSpPr>
        <p:spPr>
          <a:xfrm>
            <a:off x="8606118" y="5771295"/>
            <a:ext cx="61558" cy="1086705"/>
          </a:xfrm>
          <a:prstGeom prst="rect">
            <a:avLst/>
          </a:prstGeom>
          <a:solidFill>
            <a:srgbClr val="E35D45">
              <a:alpha val="96000"/>
            </a:srgbClr>
          </a:solidFill>
          <a:ln/>
        </p:spPr>
      </p:sp>
      <p:sp>
        <p:nvSpPr>
          <p:cNvPr id="123" name="Shape 121"/>
          <p:cNvSpPr/>
          <p:nvPr/>
        </p:nvSpPr>
        <p:spPr>
          <a:xfrm>
            <a:off x="8677835" y="6147630"/>
            <a:ext cx="61558" cy="710370"/>
          </a:xfrm>
          <a:prstGeom prst="rect">
            <a:avLst/>
          </a:prstGeom>
          <a:solidFill>
            <a:srgbClr val="2F5F67">
              <a:alpha val="80000"/>
            </a:srgbClr>
          </a:solidFill>
          <a:ln/>
        </p:spPr>
      </p:sp>
      <p:sp>
        <p:nvSpPr>
          <p:cNvPr id="124" name="Shape 122"/>
          <p:cNvSpPr/>
          <p:nvPr/>
        </p:nvSpPr>
        <p:spPr>
          <a:xfrm>
            <a:off x="8749553" y="5795501"/>
            <a:ext cx="61558" cy="1062499"/>
          </a:xfrm>
          <a:prstGeom prst="rect">
            <a:avLst/>
          </a:prstGeom>
          <a:solidFill>
            <a:srgbClr val="E35D45">
              <a:alpha val="96000"/>
            </a:srgbClr>
          </a:solidFill>
          <a:ln/>
        </p:spPr>
      </p:sp>
      <p:sp>
        <p:nvSpPr>
          <p:cNvPr id="125" name="Shape 123"/>
          <p:cNvSpPr/>
          <p:nvPr/>
        </p:nvSpPr>
        <p:spPr>
          <a:xfrm>
            <a:off x="8821271" y="6185243"/>
            <a:ext cx="61558" cy="672757"/>
          </a:xfrm>
          <a:prstGeom prst="rect">
            <a:avLst/>
          </a:prstGeom>
          <a:solidFill>
            <a:srgbClr val="2F5F67">
              <a:alpha val="80000"/>
            </a:srgbClr>
          </a:solidFill>
          <a:ln/>
        </p:spPr>
      </p:sp>
      <p:sp>
        <p:nvSpPr>
          <p:cNvPr id="126" name="Shape 124"/>
          <p:cNvSpPr/>
          <p:nvPr/>
        </p:nvSpPr>
        <p:spPr>
          <a:xfrm>
            <a:off x="8892988" y="5960025"/>
            <a:ext cx="61558" cy="897975"/>
          </a:xfrm>
          <a:prstGeom prst="rect">
            <a:avLst/>
          </a:prstGeom>
          <a:solidFill>
            <a:srgbClr val="E35D45">
              <a:alpha val="96000"/>
            </a:srgbClr>
          </a:solidFill>
          <a:ln/>
        </p:spPr>
      </p:sp>
      <p:sp>
        <p:nvSpPr>
          <p:cNvPr id="127" name="Shape 125"/>
          <p:cNvSpPr/>
          <p:nvPr/>
        </p:nvSpPr>
        <p:spPr>
          <a:xfrm>
            <a:off x="8964706" y="6140344"/>
            <a:ext cx="61558" cy="717656"/>
          </a:xfrm>
          <a:prstGeom prst="rect">
            <a:avLst/>
          </a:prstGeom>
          <a:solidFill>
            <a:srgbClr val="2F5F67">
              <a:alpha val="80000"/>
            </a:srgbClr>
          </a:solidFill>
          <a:ln/>
        </p:spPr>
      </p:sp>
      <p:sp>
        <p:nvSpPr>
          <p:cNvPr id="128" name="Shape 126"/>
          <p:cNvSpPr/>
          <p:nvPr/>
        </p:nvSpPr>
        <p:spPr>
          <a:xfrm>
            <a:off x="9036424" y="6081167"/>
            <a:ext cx="61558" cy="776833"/>
          </a:xfrm>
          <a:prstGeom prst="rect">
            <a:avLst/>
          </a:prstGeom>
          <a:solidFill>
            <a:srgbClr val="2F5F67">
              <a:alpha val="80000"/>
            </a:srgbClr>
          </a:solidFill>
          <a:ln/>
        </p:spPr>
      </p:sp>
      <p:sp>
        <p:nvSpPr>
          <p:cNvPr id="129" name="Shape 127"/>
          <p:cNvSpPr/>
          <p:nvPr/>
        </p:nvSpPr>
        <p:spPr>
          <a:xfrm>
            <a:off x="9108141" y="6212875"/>
            <a:ext cx="61558" cy="645125"/>
          </a:xfrm>
          <a:prstGeom prst="rect">
            <a:avLst/>
          </a:prstGeom>
          <a:solidFill>
            <a:srgbClr val="2F5F67">
              <a:alpha val="80000"/>
            </a:srgbClr>
          </a:solidFill>
          <a:ln/>
        </p:spPr>
      </p:sp>
      <p:sp>
        <p:nvSpPr>
          <p:cNvPr id="130" name="Shape 128"/>
          <p:cNvSpPr/>
          <p:nvPr/>
        </p:nvSpPr>
        <p:spPr>
          <a:xfrm>
            <a:off x="9179859" y="6308696"/>
            <a:ext cx="61558" cy="549304"/>
          </a:xfrm>
          <a:prstGeom prst="rect">
            <a:avLst/>
          </a:prstGeom>
          <a:solidFill>
            <a:srgbClr val="2F5F67">
              <a:alpha val="80000"/>
            </a:srgbClr>
          </a:solidFill>
          <a:ln/>
        </p:spPr>
      </p:sp>
      <p:sp>
        <p:nvSpPr>
          <p:cNvPr id="131" name="Shape 129"/>
          <p:cNvSpPr/>
          <p:nvPr/>
        </p:nvSpPr>
        <p:spPr>
          <a:xfrm>
            <a:off x="9251576" y="6456413"/>
            <a:ext cx="61558" cy="401587"/>
          </a:xfrm>
          <a:prstGeom prst="rect">
            <a:avLst/>
          </a:prstGeom>
          <a:solidFill>
            <a:srgbClr val="2F5F67">
              <a:alpha val="80000"/>
            </a:srgbClr>
          </a:solidFill>
          <a:ln/>
        </p:spPr>
      </p:sp>
      <p:sp>
        <p:nvSpPr>
          <p:cNvPr id="132" name="Shape 130"/>
          <p:cNvSpPr/>
          <p:nvPr/>
        </p:nvSpPr>
        <p:spPr>
          <a:xfrm>
            <a:off x="9323294" y="6347984"/>
            <a:ext cx="61558" cy="510016"/>
          </a:xfrm>
          <a:prstGeom prst="rect">
            <a:avLst/>
          </a:prstGeom>
          <a:solidFill>
            <a:srgbClr val="2F5F67">
              <a:alpha val="80000"/>
            </a:srgbClr>
          </a:solidFill>
          <a:ln/>
        </p:spPr>
      </p:sp>
      <p:sp>
        <p:nvSpPr>
          <p:cNvPr id="133" name="Shape 131"/>
          <p:cNvSpPr/>
          <p:nvPr/>
        </p:nvSpPr>
        <p:spPr>
          <a:xfrm>
            <a:off x="9395012" y="6363521"/>
            <a:ext cx="61558" cy="494479"/>
          </a:xfrm>
          <a:prstGeom prst="rect">
            <a:avLst/>
          </a:prstGeom>
          <a:solidFill>
            <a:srgbClr val="2F5F67">
              <a:alpha val="80000"/>
            </a:srgbClr>
          </a:solidFill>
          <a:ln/>
        </p:spPr>
      </p:sp>
      <p:sp>
        <p:nvSpPr>
          <p:cNvPr id="134" name="Shape 132"/>
          <p:cNvSpPr/>
          <p:nvPr/>
        </p:nvSpPr>
        <p:spPr>
          <a:xfrm>
            <a:off x="9466729" y="6208856"/>
            <a:ext cx="61558" cy="649144"/>
          </a:xfrm>
          <a:prstGeom prst="rect">
            <a:avLst/>
          </a:prstGeom>
          <a:solidFill>
            <a:srgbClr val="2F5F67">
              <a:alpha val="80000"/>
            </a:srgbClr>
          </a:solidFill>
          <a:ln/>
        </p:spPr>
      </p:sp>
      <p:sp>
        <p:nvSpPr>
          <p:cNvPr id="135" name="Shape 133"/>
          <p:cNvSpPr/>
          <p:nvPr/>
        </p:nvSpPr>
        <p:spPr>
          <a:xfrm>
            <a:off x="9538447" y="5853385"/>
            <a:ext cx="61558" cy="1004615"/>
          </a:xfrm>
          <a:prstGeom prst="rect">
            <a:avLst/>
          </a:prstGeom>
          <a:solidFill>
            <a:srgbClr val="E35D45">
              <a:alpha val="96000"/>
            </a:srgbClr>
          </a:solidFill>
          <a:ln/>
        </p:spPr>
      </p:sp>
      <p:sp>
        <p:nvSpPr>
          <p:cNvPr id="136" name="Shape 134"/>
          <p:cNvSpPr/>
          <p:nvPr/>
        </p:nvSpPr>
        <p:spPr>
          <a:xfrm>
            <a:off x="9610165" y="5442764"/>
            <a:ext cx="61558" cy="1415236"/>
          </a:xfrm>
          <a:prstGeom prst="rect">
            <a:avLst/>
          </a:prstGeom>
          <a:solidFill>
            <a:srgbClr val="E35D45">
              <a:alpha val="96000"/>
            </a:srgbClr>
          </a:solidFill>
          <a:ln/>
        </p:spPr>
      </p:sp>
      <p:sp>
        <p:nvSpPr>
          <p:cNvPr id="137" name="Shape 135"/>
          <p:cNvSpPr/>
          <p:nvPr/>
        </p:nvSpPr>
        <p:spPr>
          <a:xfrm>
            <a:off x="9681882" y="4998015"/>
            <a:ext cx="61558" cy="1859985"/>
          </a:xfrm>
          <a:prstGeom prst="rect">
            <a:avLst/>
          </a:prstGeom>
          <a:solidFill>
            <a:srgbClr val="E35D45">
              <a:alpha val="96000"/>
            </a:srgbClr>
          </a:solidFill>
          <a:ln/>
        </p:spPr>
      </p:sp>
      <p:sp>
        <p:nvSpPr>
          <p:cNvPr id="138" name="Shape 136"/>
          <p:cNvSpPr/>
          <p:nvPr/>
        </p:nvSpPr>
        <p:spPr>
          <a:xfrm>
            <a:off x="9753600" y="5464994"/>
            <a:ext cx="61558" cy="1393006"/>
          </a:xfrm>
          <a:prstGeom prst="rect">
            <a:avLst/>
          </a:prstGeom>
          <a:solidFill>
            <a:srgbClr val="E35D45">
              <a:alpha val="96000"/>
            </a:srgbClr>
          </a:solidFill>
          <a:ln/>
        </p:spPr>
      </p:sp>
      <p:sp>
        <p:nvSpPr>
          <p:cNvPr id="139" name="Shape 137"/>
          <p:cNvSpPr/>
          <p:nvPr/>
        </p:nvSpPr>
        <p:spPr>
          <a:xfrm>
            <a:off x="9825318" y="5543781"/>
            <a:ext cx="61558" cy="1314219"/>
          </a:xfrm>
          <a:prstGeom prst="rect">
            <a:avLst/>
          </a:prstGeom>
          <a:solidFill>
            <a:srgbClr val="E35D45">
              <a:alpha val="96000"/>
            </a:srgbClr>
          </a:solidFill>
          <a:ln/>
        </p:spPr>
      </p:sp>
      <p:sp>
        <p:nvSpPr>
          <p:cNvPr id="140" name="Shape 138"/>
          <p:cNvSpPr/>
          <p:nvPr/>
        </p:nvSpPr>
        <p:spPr>
          <a:xfrm>
            <a:off x="9897035" y="5686073"/>
            <a:ext cx="61558" cy="1171927"/>
          </a:xfrm>
          <a:prstGeom prst="rect">
            <a:avLst/>
          </a:prstGeom>
          <a:solidFill>
            <a:srgbClr val="E35D45">
              <a:alpha val="96000"/>
            </a:srgbClr>
          </a:solidFill>
          <a:ln/>
        </p:spPr>
      </p:sp>
      <p:sp>
        <p:nvSpPr>
          <p:cNvPr id="141" name="Shape 139"/>
          <p:cNvSpPr/>
          <p:nvPr/>
        </p:nvSpPr>
        <p:spPr>
          <a:xfrm>
            <a:off x="9968753" y="5761763"/>
            <a:ext cx="61558" cy="1096237"/>
          </a:xfrm>
          <a:prstGeom prst="rect">
            <a:avLst/>
          </a:prstGeom>
          <a:solidFill>
            <a:srgbClr val="E35D45">
              <a:alpha val="96000"/>
            </a:srgbClr>
          </a:solidFill>
          <a:ln/>
        </p:spPr>
      </p:sp>
      <p:sp>
        <p:nvSpPr>
          <p:cNvPr id="142" name="Shape 140"/>
          <p:cNvSpPr/>
          <p:nvPr/>
        </p:nvSpPr>
        <p:spPr>
          <a:xfrm>
            <a:off x="10040471" y="5986485"/>
            <a:ext cx="61558" cy="871515"/>
          </a:xfrm>
          <a:prstGeom prst="rect">
            <a:avLst/>
          </a:prstGeom>
          <a:solidFill>
            <a:srgbClr val="E35D45">
              <a:alpha val="96000"/>
            </a:srgbClr>
          </a:solidFill>
          <a:ln/>
        </p:spPr>
      </p:sp>
      <p:sp>
        <p:nvSpPr>
          <p:cNvPr id="143" name="Shape 141"/>
          <p:cNvSpPr/>
          <p:nvPr/>
        </p:nvSpPr>
        <p:spPr>
          <a:xfrm>
            <a:off x="10112188" y="6136729"/>
            <a:ext cx="61558" cy="721271"/>
          </a:xfrm>
          <a:prstGeom prst="rect">
            <a:avLst/>
          </a:prstGeom>
          <a:solidFill>
            <a:srgbClr val="2F5F67">
              <a:alpha val="80000"/>
            </a:srgbClr>
          </a:solidFill>
          <a:ln/>
        </p:spPr>
      </p:sp>
      <p:sp>
        <p:nvSpPr>
          <p:cNvPr id="144" name="Shape 142"/>
          <p:cNvSpPr/>
          <p:nvPr/>
        </p:nvSpPr>
        <p:spPr>
          <a:xfrm>
            <a:off x="10183906" y="6151301"/>
            <a:ext cx="61558" cy="706699"/>
          </a:xfrm>
          <a:prstGeom prst="rect">
            <a:avLst/>
          </a:prstGeom>
          <a:solidFill>
            <a:srgbClr val="2F5F67">
              <a:alpha val="80000"/>
            </a:srgbClr>
          </a:solidFill>
          <a:ln/>
        </p:spPr>
      </p:sp>
      <p:sp>
        <p:nvSpPr>
          <p:cNvPr id="145" name="Shape 143"/>
          <p:cNvSpPr/>
          <p:nvPr/>
        </p:nvSpPr>
        <p:spPr>
          <a:xfrm>
            <a:off x="10255624" y="6077826"/>
            <a:ext cx="61558" cy="780174"/>
          </a:xfrm>
          <a:prstGeom prst="rect">
            <a:avLst/>
          </a:prstGeom>
          <a:solidFill>
            <a:srgbClr val="2F5F67">
              <a:alpha val="80000"/>
            </a:srgbClr>
          </a:solidFill>
          <a:ln/>
        </p:spPr>
      </p:sp>
      <p:sp>
        <p:nvSpPr>
          <p:cNvPr id="146" name="Shape 144"/>
          <p:cNvSpPr/>
          <p:nvPr/>
        </p:nvSpPr>
        <p:spPr>
          <a:xfrm>
            <a:off x="10327341" y="5810293"/>
            <a:ext cx="61558" cy="1047707"/>
          </a:xfrm>
          <a:prstGeom prst="rect">
            <a:avLst/>
          </a:prstGeom>
          <a:solidFill>
            <a:srgbClr val="E35D45">
              <a:alpha val="96000"/>
            </a:srgbClr>
          </a:solidFill>
          <a:ln/>
        </p:spPr>
      </p:sp>
      <p:sp>
        <p:nvSpPr>
          <p:cNvPr id="147" name="Shape 145"/>
          <p:cNvSpPr/>
          <p:nvPr/>
        </p:nvSpPr>
        <p:spPr>
          <a:xfrm>
            <a:off x="10399059" y="6237539"/>
            <a:ext cx="61558" cy="620461"/>
          </a:xfrm>
          <a:prstGeom prst="rect">
            <a:avLst/>
          </a:prstGeom>
          <a:solidFill>
            <a:srgbClr val="2F5F67">
              <a:alpha val="80000"/>
            </a:srgbClr>
          </a:solidFill>
          <a:ln/>
        </p:spPr>
      </p:sp>
      <p:sp>
        <p:nvSpPr>
          <p:cNvPr id="148" name="Shape 146"/>
          <p:cNvSpPr/>
          <p:nvPr/>
        </p:nvSpPr>
        <p:spPr>
          <a:xfrm>
            <a:off x="10470776" y="6254541"/>
            <a:ext cx="61558" cy="603459"/>
          </a:xfrm>
          <a:prstGeom prst="rect">
            <a:avLst/>
          </a:prstGeom>
          <a:solidFill>
            <a:srgbClr val="2F5F67">
              <a:alpha val="80000"/>
            </a:srgbClr>
          </a:solidFill>
          <a:ln/>
        </p:spPr>
      </p:sp>
      <p:sp>
        <p:nvSpPr>
          <p:cNvPr id="149" name="Shape 147"/>
          <p:cNvSpPr/>
          <p:nvPr/>
        </p:nvSpPr>
        <p:spPr>
          <a:xfrm>
            <a:off x="10542494" y="6327976"/>
            <a:ext cx="61558" cy="530024"/>
          </a:xfrm>
          <a:prstGeom prst="rect">
            <a:avLst/>
          </a:prstGeom>
          <a:solidFill>
            <a:srgbClr val="2F5F67">
              <a:alpha val="80000"/>
            </a:srgbClr>
          </a:solidFill>
          <a:ln/>
        </p:spPr>
      </p:sp>
      <p:sp>
        <p:nvSpPr>
          <p:cNvPr id="150" name="Shape 148"/>
          <p:cNvSpPr/>
          <p:nvPr/>
        </p:nvSpPr>
        <p:spPr>
          <a:xfrm>
            <a:off x="10614212" y="6443661"/>
            <a:ext cx="61558" cy="414339"/>
          </a:xfrm>
          <a:prstGeom prst="rect">
            <a:avLst/>
          </a:prstGeom>
          <a:solidFill>
            <a:srgbClr val="2F5F67">
              <a:alpha val="80000"/>
            </a:srgbClr>
          </a:solidFill>
          <a:ln/>
        </p:spPr>
      </p:sp>
      <p:sp>
        <p:nvSpPr>
          <p:cNvPr id="151" name="Shape 149"/>
          <p:cNvSpPr/>
          <p:nvPr/>
        </p:nvSpPr>
        <p:spPr>
          <a:xfrm>
            <a:off x="10685929" y="6390563"/>
            <a:ext cx="61558" cy="467437"/>
          </a:xfrm>
          <a:prstGeom prst="rect">
            <a:avLst/>
          </a:prstGeom>
          <a:solidFill>
            <a:srgbClr val="2F5F67">
              <a:alpha val="80000"/>
            </a:srgbClr>
          </a:solidFill>
          <a:ln/>
        </p:spPr>
      </p:sp>
      <p:sp>
        <p:nvSpPr>
          <p:cNvPr id="152" name="Shape 150"/>
          <p:cNvSpPr/>
          <p:nvPr/>
        </p:nvSpPr>
        <p:spPr>
          <a:xfrm>
            <a:off x="10757647" y="6374157"/>
            <a:ext cx="61558" cy="483843"/>
          </a:xfrm>
          <a:prstGeom prst="rect">
            <a:avLst/>
          </a:prstGeom>
          <a:solidFill>
            <a:srgbClr val="2F5F67">
              <a:alpha val="80000"/>
            </a:srgbClr>
          </a:solidFill>
          <a:ln/>
        </p:spPr>
      </p:sp>
      <p:sp>
        <p:nvSpPr>
          <p:cNvPr id="153" name="Shape 151"/>
          <p:cNvSpPr/>
          <p:nvPr/>
        </p:nvSpPr>
        <p:spPr>
          <a:xfrm>
            <a:off x="10829365" y="6379563"/>
            <a:ext cx="61558" cy="478437"/>
          </a:xfrm>
          <a:prstGeom prst="rect">
            <a:avLst/>
          </a:prstGeom>
          <a:solidFill>
            <a:srgbClr val="2F5F67">
              <a:alpha val="80000"/>
            </a:srgbClr>
          </a:solidFill>
          <a:ln/>
        </p:spPr>
      </p:sp>
      <p:sp>
        <p:nvSpPr>
          <p:cNvPr id="154" name="Shape 152"/>
          <p:cNvSpPr/>
          <p:nvPr/>
        </p:nvSpPr>
        <p:spPr>
          <a:xfrm>
            <a:off x="10901082" y="6308696"/>
            <a:ext cx="61558" cy="549304"/>
          </a:xfrm>
          <a:prstGeom prst="rect">
            <a:avLst/>
          </a:prstGeom>
          <a:solidFill>
            <a:srgbClr val="2F5F67">
              <a:alpha val="80000"/>
            </a:srgbClr>
          </a:solidFill>
          <a:ln/>
        </p:spPr>
      </p:sp>
      <p:sp>
        <p:nvSpPr>
          <p:cNvPr id="155" name="Shape 153"/>
          <p:cNvSpPr/>
          <p:nvPr/>
        </p:nvSpPr>
        <p:spPr>
          <a:xfrm>
            <a:off x="10972800" y="5832881"/>
            <a:ext cx="61558" cy="1025119"/>
          </a:xfrm>
          <a:prstGeom prst="rect">
            <a:avLst/>
          </a:prstGeom>
          <a:solidFill>
            <a:srgbClr val="E35D45">
              <a:alpha val="96000"/>
            </a:srgbClr>
          </a:solidFill>
          <a:ln/>
        </p:spPr>
      </p:sp>
      <p:sp>
        <p:nvSpPr>
          <p:cNvPr id="156" name="Shape 154"/>
          <p:cNvSpPr/>
          <p:nvPr/>
        </p:nvSpPr>
        <p:spPr>
          <a:xfrm>
            <a:off x="11044518" y="5555711"/>
            <a:ext cx="61558" cy="1302289"/>
          </a:xfrm>
          <a:prstGeom prst="rect">
            <a:avLst/>
          </a:prstGeom>
          <a:solidFill>
            <a:srgbClr val="E35D45">
              <a:alpha val="96000"/>
            </a:srgbClr>
          </a:solidFill>
          <a:ln/>
        </p:spPr>
      </p:sp>
      <p:sp>
        <p:nvSpPr>
          <p:cNvPr id="157" name="Shape 155"/>
          <p:cNvSpPr/>
          <p:nvPr/>
        </p:nvSpPr>
        <p:spPr>
          <a:xfrm>
            <a:off x="11116235" y="5749962"/>
            <a:ext cx="61558" cy="1108038"/>
          </a:xfrm>
          <a:prstGeom prst="rect">
            <a:avLst/>
          </a:prstGeom>
          <a:solidFill>
            <a:srgbClr val="E35D45">
              <a:alpha val="96000"/>
            </a:srgbClr>
          </a:solidFill>
          <a:ln/>
        </p:spPr>
      </p:sp>
      <p:sp>
        <p:nvSpPr>
          <p:cNvPr id="158" name="Shape 156"/>
          <p:cNvSpPr/>
          <p:nvPr/>
        </p:nvSpPr>
        <p:spPr>
          <a:xfrm>
            <a:off x="11187953" y="5444603"/>
            <a:ext cx="61558" cy="1413397"/>
          </a:xfrm>
          <a:prstGeom prst="rect">
            <a:avLst/>
          </a:prstGeom>
          <a:solidFill>
            <a:srgbClr val="E35D45">
              <a:alpha val="96000"/>
            </a:srgbClr>
          </a:solidFill>
          <a:ln/>
        </p:spPr>
      </p:sp>
      <p:sp>
        <p:nvSpPr>
          <p:cNvPr id="159" name="Shape 157"/>
          <p:cNvSpPr/>
          <p:nvPr/>
        </p:nvSpPr>
        <p:spPr>
          <a:xfrm>
            <a:off x="11259671" y="5640354"/>
            <a:ext cx="61558" cy="1217646"/>
          </a:xfrm>
          <a:prstGeom prst="rect">
            <a:avLst/>
          </a:prstGeom>
          <a:solidFill>
            <a:srgbClr val="E35D45">
              <a:alpha val="96000"/>
            </a:srgbClr>
          </a:solidFill>
          <a:ln/>
        </p:spPr>
      </p:sp>
      <p:sp>
        <p:nvSpPr>
          <p:cNvPr id="160" name="Shape 158"/>
          <p:cNvSpPr/>
          <p:nvPr/>
        </p:nvSpPr>
        <p:spPr>
          <a:xfrm>
            <a:off x="11331388" y="5474362"/>
            <a:ext cx="61558" cy="1383638"/>
          </a:xfrm>
          <a:prstGeom prst="rect">
            <a:avLst/>
          </a:prstGeom>
          <a:solidFill>
            <a:srgbClr val="E35D45">
              <a:alpha val="96000"/>
            </a:srgbClr>
          </a:solidFill>
          <a:ln/>
        </p:spPr>
      </p:sp>
      <p:sp>
        <p:nvSpPr>
          <p:cNvPr id="161" name="Shape 159"/>
          <p:cNvSpPr/>
          <p:nvPr/>
        </p:nvSpPr>
        <p:spPr>
          <a:xfrm>
            <a:off x="11403106" y="5866416"/>
            <a:ext cx="61558" cy="991584"/>
          </a:xfrm>
          <a:prstGeom prst="rect">
            <a:avLst/>
          </a:prstGeom>
          <a:solidFill>
            <a:srgbClr val="E35D45">
              <a:alpha val="96000"/>
            </a:srgbClr>
          </a:solidFill>
          <a:ln/>
        </p:spPr>
      </p:sp>
      <p:sp>
        <p:nvSpPr>
          <p:cNvPr id="162" name="Shape 160"/>
          <p:cNvSpPr/>
          <p:nvPr/>
        </p:nvSpPr>
        <p:spPr>
          <a:xfrm>
            <a:off x="11474824" y="6108433"/>
            <a:ext cx="61558" cy="749567"/>
          </a:xfrm>
          <a:prstGeom prst="rect">
            <a:avLst/>
          </a:prstGeom>
          <a:solidFill>
            <a:srgbClr val="2F5F67">
              <a:alpha val="80000"/>
            </a:srgbClr>
          </a:solidFill>
          <a:ln/>
        </p:spPr>
      </p:sp>
      <p:sp>
        <p:nvSpPr>
          <p:cNvPr id="163" name="Shape 161"/>
          <p:cNvSpPr/>
          <p:nvPr/>
        </p:nvSpPr>
        <p:spPr>
          <a:xfrm>
            <a:off x="11546541" y="6189121"/>
            <a:ext cx="61558" cy="668879"/>
          </a:xfrm>
          <a:prstGeom prst="rect">
            <a:avLst/>
          </a:prstGeom>
          <a:solidFill>
            <a:srgbClr val="2F5F67">
              <a:alpha val="80000"/>
            </a:srgbClr>
          </a:solidFill>
          <a:ln/>
        </p:spPr>
      </p:sp>
      <p:sp>
        <p:nvSpPr>
          <p:cNvPr id="164" name="Shape 162"/>
          <p:cNvSpPr/>
          <p:nvPr/>
        </p:nvSpPr>
        <p:spPr>
          <a:xfrm>
            <a:off x="11618259" y="6208856"/>
            <a:ext cx="61558" cy="649144"/>
          </a:xfrm>
          <a:prstGeom prst="rect">
            <a:avLst/>
          </a:prstGeom>
          <a:solidFill>
            <a:srgbClr val="2F5F67">
              <a:alpha val="80000"/>
            </a:srgbClr>
          </a:solidFill>
          <a:ln/>
        </p:spPr>
      </p:sp>
      <p:sp>
        <p:nvSpPr>
          <p:cNvPr id="165" name="Shape 163"/>
          <p:cNvSpPr/>
          <p:nvPr/>
        </p:nvSpPr>
        <p:spPr>
          <a:xfrm>
            <a:off x="11689976" y="6108433"/>
            <a:ext cx="61558" cy="749567"/>
          </a:xfrm>
          <a:prstGeom prst="rect">
            <a:avLst/>
          </a:prstGeom>
          <a:solidFill>
            <a:srgbClr val="2F5F67">
              <a:alpha val="80000"/>
            </a:srgbClr>
          </a:solidFill>
          <a:ln/>
        </p:spPr>
      </p:sp>
      <p:sp>
        <p:nvSpPr>
          <p:cNvPr id="166" name="Shape 164"/>
          <p:cNvSpPr/>
          <p:nvPr/>
        </p:nvSpPr>
        <p:spPr>
          <a:xfrm>
            <a:off x="11761694" y="6212875"/>
            <a:ext cx="61558" cy="645125"/>
          </a:xfrm>
          <a:prstGeom prst="rect">
            <a:avLst/>
          </a:prstGeom>
          <a:solidFill>
            <a:srgbClr val="2F5F67">
              <a:alpha val="80000"/>
            </a:srgbClr>
          </a:solidFill>
          <a:ln/>
        </p:spPr>
      </p:sp>
      <p:sp>
        <p:nvSpPr>
          <p:cNvPr id="167" name="Shape 165"/>
          <p:cNvSpPr/>
          <p:nvPr/>
        </p:nvSpPr>
        <p:spPr>
          <a:xfrm>
            <a:off x="11833412" y="6299306"/>
            <a:ext cx="61558" cy="558694"/>
          </a:xfrm>
          <a:prstGeom prst="rect">
            <a:avLst/>
          </a:prstGeom>
          <a:solidFill>
            <a:srgbClr val="2F5F67">
              <a:alpha val="80000"/>
            </a:srgbClr>
          </a:solidFill>
          <a:ln/>
        </p:spPr>
      </p:sp>
      <p:sp>
        <p:nvSpPr>
          <p:cNvPr id="168" name="Shape 166"/>
          <p:cNvSpPr/>
          <p:nvPr/>
        </p:nvSpPr>
        <p:spPr>
          <a:xfrm>
            <a:off x="11905129" y="6327976"/>
            <a:ext cx="61558" cy="530024"/>
          </a:xfrm>
          <a:prstGeom prst="rect">
            <a:avLst/>
          </a:prstGeom>
          <a:solidFill>
            <a:srgbClr val="2F5F67">
              <a:alpha val="80000"/>
            </a:srgbClr>
          </a:solidFill>
          <a:ln/>
        </p:spPr>
      </p:sp>
      <p:sp>
        <p:nvSpPr>
          <p:cNvPr id="169" name="Shape 167"/>
          <p:cNvSpPr/>
          <p:nvPr/>
        </p:nvSpPr>
        <p:spPr>
          <a:xfrm>
            <a:off x="11976847" y="6280983"/>
            <a:ext cx="61558" cy="577017"/>
          </a:xfrm>
          <a:prstGeom prst="rect">
            <a:avLst/>
          </a:prstGeom>
          <a:solidFill>
            <a:srgbClr val="2F5F67">
              <a:alpha val="80000"/>
            </a:srgbClr>
          </a:solidFill>
          <a:ln/>
        </p:spPr>
      </p:sp>
      <p:sp>
        <p:nvSpPr>
          <p:cNvPr id="170" name="Shape 168"/>
          <p:cNvSpPr/>
          <p:nvPr/>
        </p:nvSpPr>
        <p:spPr>
          <a:xfrm>
            <a:off x="12048565" y="6401828"/>
            <a:ext cx="61558" cy="456172"/>
          </a:xfrm>
          <a:prstGeom prst="rect">
            <a:avLst/>
          </a:prstGeom>
          <a:solidFill>
            <a:srgbClr val="2F5F67">
              <a:alpha val="80000"/>
            </a:srgbClr>
          </a:solidFill>
          <a:ln/>
        </p:spPr>
      </p:sp>
      <p:sp>
        <p:nvSpPr>
          <p:cNvPr id="171" name="Shape 169"/>
          <p:cNvSpPr/>
          <p:nvPr/>
        </p:nvSpPr>
        <p:spPr>
          <a:xfrm>
            <a:off x="12120282" y="6342909"/>
            <a:ext cx="61558" cy="515091"/>
          </a:xfrm>
          <a:prstGeom prst="rect">
            <a:avLst/>
          </a:prstGeom>
          <a:solidFill>
            <a:srgbClr val="2F5F67">
              <a:alpha val="80000"/>
            </a:srgbClr>
          </a:solidFill>
          <a:ln/>
        </p:spPr>
      </p:sp>
      <p:sp>
        <p:nvSpPr>
          <p:cNvPr id="172" name="Shape 170"/>
          <p:cNvSpPr/>
          <p:nvPr/>
        </p:nvSpPr>
        <p:spPr>
          <a:xfrm>
            <a:off x="0" y="6064250"/>
            <a:ext cx="12192000" cy="12700"/>
          </a:xfrm>
          <a:prstGeom prst="rect">
            <a:avLst/>
          </a:prstGeom>
          <a:solidFill>
            <a:srgbClr val="F0A999">
              <a:alpha val="85000"/>
            </a:srgbClr>
          </a:solidFill>
          <a:ln/>
        </p:spPr>
      </p:sp>
      <p:sp>
        <p:nvSpPr>
          <p:cNvPr id="173" name="Text 171"/>
          <p:cNvSpPr/>
          <p:nvPr/>
        </p:nvSpPr>
        <p:spPr>
          <a:xfrm>
            <a:off x="762000" y="5905500"/>
            <a:ext cx="2870200" cy="317500"/>
          </a:xfrm>
          <a:prstGeom prst="roundRect">
            <a:avLst>
              <a:gd name="adj" fmla="val 50000"/>
            </a:avLst>
          </a:prstGeom>
          <a:solidFill>
            <a:srgbClr val="0E2125"/>
          </a:solidFill>
          <a:ln w="19050">
            <a:solidFill>
              <a:srgbClr val="E35D45"/>
            </a:solidFill>
          </a:ln>
        </p:spPr>
        <p:txBody>
          <a:bodyPr wrap="square" rtlCol="0" anchor="ctr"/>
          <a:lstStyle/>
          <a:p>
            <a:pPr algn="ctr" indent="0" marL="0">
              <a:buNone/>
            </a:pPr>
            <a:r>
              <a:rPr lang="en-US" sz="1050" b="1" spc="120" kern="0" dirty="0">
                <a:solidFill>
                  <a:srgbClr val="F0A999"/>
                </a:solidFill>
                <a:latin typeface="Calibri" pitchFamily="34" charset="0"/>
                <a:ea typeface="Calibri" pitchFamily="34" charset="-122"/>
                <a:cs typeface="Calibri" pitchFamily="34" charset="-120"/>
              </a:rPr>
              <a:t>121 µg/m³   ·   HEALTH THRESHOLD</a:t>
            </a:r>
            <a:endParaRPr lang="en-US" sz="1050" dirty="0"/>
          </a:p>
        </p:txBody>
      </p:sp>
      <p:pic>
        <p:nvPicPr>
          <p:cNvPr id="174" name="Image 0" descr="/Users/jc/Desktop/PROJECT MTH5000/presentation/pptx_src/bg/monash-logo-white.png">    </p:cNvPr>
          <p:cNvPicPr>
            <a:picLocks noChangeAspect="1"/>
          </p:cNvPicPr>
          <p:nvPr/>
        </p:nvPicPr>
        <p:blipFill>
          <a:blip r:embed="rId2"/>
          <a:stretch>
            <a:fillRect/>
          </a:stretch>
        </p:blipFill>
        <p:spPr>
          <a:xfrm>
            <a:off x="9906000" y="609600"/>
            <a:ext cx="1574800" cy="460375"/>
          </a:xfrm>
          <a:prstGeom prst="rect">
            <a:avLst/>
          </a:prstGeom>
        </p:spPr>
      </p:pic>
      <p:sp>
        <p:nvSpPr>
          <p:cNvPr id="175" name="Text 172"/>
          <p:cNvSpPr/>
          <p:nvPr/>
        </p:nvSpPr>
        <p:spPr>
          <a:xfrm>
            <a:off x="762000" y="952500"/>
            <a:ext cx="5715000" cy="228600"/>
          </a:xfrm>
          <a:prstGeom prst="rect">
            <a:avLst/>
          </a:prstGeom>
          <a:noFill/>
          <a:ln/>
        </p:spPr>
        <p:txBody>
          <a:bodyPr wrap="square" rtlCol="0" anchor="ctr"/>
          <a:lstStyle/>
          <a:p>
            <a:pPr indent="0" marL="0">
              <a:buNone/>
            </a:pPr>
            <a:r>
              <a:rPr lang="en-US" sz="1150" b="1" spc="180" kern="0" dirty="0">
                <a:solidFill>
                  <a:srgbClr val="E35D45"/>
                </a:solidFill>
                <a:latin typeface="Calibri" pitchFamily="34" charset="0"/>
                <a:ea typeface="Calibri" pitchFamily="34" charset="-122"/>
                <a:cs typeface="Calibri" pitchFamily="34" charset="-120"/>
              </a:rPr>
              <a:t>MTH5000 · MASTERS RESEARCH PROJECT</a:t>
            </a:r>
            <a:endParaRPr lang="en-US" sz="1150" dirty="0"/>
          </a:p>
        </p:txBody>
      </p:sp>
      <p:sp>
        <p:nvSpPr>
          <p:cNvPr id="176" name="Text 173"/>
          <p:cNvSpPr/>
          <p:nvPr/>
        </p:nvSpPr>
        <p:spPr>
          <a:xfrm>
            <a:off x="762000" y="1308100"/>
            <a:ext cx="8509000" cy="1524000"/>
          </a:xfrm>
          <a:prstGeom prst="rect">
            <a:avLst/>
          </a:prstGeom>
          <a:noFill/>
          <a:ln/>
        </p:spPr>
        <p:txBody>
          <a:bodyPr wrap="square" rtlCol="0" anchor="t"/>
          <a:lstStyle/>
          <a:p>
            <a:pPr indent="0" marL="0">
              <a:lnSpc>
                <a:spcPct val="102000"/>
              </a:lnSpc>
              <a:buNone/>
            </a:pPr>
            <a:r>
              <a:rPr lang="en-US" sz="5200" b="1" dirty="0">
                <a:solidFill>
                  <a:srgbClr val="FFFFFF"/>
                </a:solidFill>
                <a:latin typeface="Calibri" pitchFamily="34" charset="0"/>
                <a:ea typeface="Calibri" pitchFamily="34" charset="-122"/>
                <a:cs typeface="Calibri" pitchFamily="34" charset="-120"/>
              </a:rPr>
              <a:t>Forecasting Hazardous</a:t>
            </a:r>
            <a:endParaRPr lang="en-US" sz="5200" dirty="0"/>
          </a:p>
          <a:p>
            <a:pPr indent="0" marL="0">
              <a:lnSpc>
                <a:spcPct val="102000"/>
              </a:lnSpc>
              <a:buNone/>
            </a:pPr>
            <a:r>
              <a:rPr lang="en-US" sz="5200" b="1" dirty="0">
                <a:solidFill>
                  <a:srgbClr val="FFFFFF"/>
                </a:solidFill>
                <a:latin typeface="Calibri" pitchFamily="34" charset="0"/>
                <a:ea typeface="Calibri" pitchFamily="34" charset="-122"/>
                <a:cs typeface="Calibri" pitchFamily="34" charset="-120"/>
              </a:rPr>
              <a:t>Air Quality Days</a:t>
            </a:r>
            <a:endParaRPr lang="en-US" sz="5200" dirty="0"/>
          </a:p>
        </p:txBody>
      </p:sp>
      <p:sp>
        <p:nvSpPr>
          <p:cNvPr id="177" name="Text 174"/>
          <p:cNvSpPr/>
          <p:nvPr/>
        </p:nvSpPr>
        <p:spPr>
          <a:xfrm>
            <a:off x="762000" y="2933700"/>
            <a:ext cx="7493000" cy="635000"/>
          </a:xfrm>
          <a:prstGeom prst="rect">
            <a:avLst/>
          </a:prstGeom>
          <a:noFill/>
          <a:ln/>
        </p:spPr>
        <p:txBody>
          <a:bodyPr wrap="square" rtlCol="0" anchor="t"/>
          <a:lstStyle/>
          <a:p>
            <a:pPr indent="0" marL="0">
              <a:lnSpc>
                <a:spcPct val="140000"/>
              </a:lnSpc>
              <a:buNone/>
            </a:pPr>
            <a:r>
              <a:rPr lang="en-US" sz="1700" dirty="0">
                <a:solidFill>
                  <a:srgbClr val="AFC6C8"/>
                </a:solidFill>
                <a:latin typeface="Calibri" pitchFamily="34" charset="0"/>
                <a:ea typeface="Calibri" pitchFamily="34" charset="-122"/>
                <a:cs typeface="Calibri" pitchFamily="34" charset="-120"/>
              </a:rPr>
              <a:t>Ten specifications at a Delhi monitor, one to three days ahead — and the alarm budget that outweighs every one of them.</a:t>
            </a:r>
            <a:endParaRPr lang="en-US" sz="1700" dirty="0"/>
          </a:p>
        </p:txBody>
      </p:sp>
      <p:sp>
        <p:nvSpPr>
          <p:cNvPr id="178" name="Text 175"/>
          <p:cNvSpPr/>
          <p:nvPr/>
        </p:nvSpPr>
        <p:spPr>
          <a:xfrm>
            <a:off x="762000" y="3810000"/>
            <a:ext cx="7620000" cy="2286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Jaykumar Vinodbhai Chauhan  ·  34710280</a:t>
            </a:r>
            <a:endParaRPr lang="en-US" sz="1300" dirty="0"/>
          </a:p>
        </p:txBody>
      </p:sp>
      <p:sp>
        <p:nvSpPr>
          <p:cNvPr id="179" name="Text 176"/>
          <p:cNvSpPr/>
          <p:nvPr/>
        </p:nvSpPr>
        <p:spPr>
          <a:xfrm>
            <a:off x="762000" y="4064000"/>
            <a:ext cx="7620000" cy="203200"/>
          </a:xfrm>
          <a:prstGeom prst="rect">
            <a:avLst/>
          </a:prstGeom>
          <a:noFill/>
          <a:ln/>
        </p:spPr>
        <p:txBody>
          <a:bodyPr wrap="square" rtlCol="0" anchor="ctr"/>
          <a:lstStyle/>
          <a:p>
            <a:pPr indent="0" marL="0">
              <a:buNone/>
            </a:pPr>
            <a:r>
              <a:rPr lang="en-US" sz="1150" dirty="0">
                <a:solidFill>
                  <a:srgbClr val="7E9A9C"/>
                </a:solidFill>
                <a:latin typeface="Calibri" pitchFamily="34" charset="0"/>
                <a:ea typeface="Calibri" pitchFamily="34" charset="-122"/>
                <a:cs typeface="Calibri" pitchFamily="34" charset="-120"/>
              </a:rPr>
              <a:t>Supervisor: Dr Tianhai Tian  ·  School of Mathematics, Monash University</a:t>
            </a:r>
            <a:endParaRPr lang="en-US" sz="1150" dirty="0"/>
          </a:p>
        </p:txBody>
      </p:sp>
      <p:sp>
        <p:nvSpPr>
          <p:cNvPr id="180" name="Text 177"/>
          <p:cNvSpPr/>
          <p:nvPr/>
        </p:nvSpPr>
        <p:spPr>
          <a:xfrm>
            <a:off x="5207000" y="4445000"/>
            <a:ext cx="6223000" cy="177800"/>
          </a:xfrm>
          <a:prstGeom prst="rect">
            <a:avLst/>
          </a:prstGeom>
          <a:noFill/>
          <a:ln/>
        </p:spPr>
        <p:txBody>
          <a:bodyPr wrap="square" rtlCol="0" anchor="ctr"/>
          <a:lstStyle/>
          <a:p>
            <a:pPr algn="r" indent="0" marL="0">
              <a:buNone/>
            </a:pPr>
            <a:r>
              <a:rPr lang="en-US" sz="950" dirty="0">
                <a:solidFill>
                  <a:srgbClr val="6E9093"/>
                </a:solidFill>
                <a:latin typeface="Calibri" pitchFamily="34" charset="0"/>
                <a:ea typeface="Calibri" pitchFamily="34" charset="-122"/>
                <a:cs typeface="Calibri" pitchFamily="34" charset="-120"/>
              </a:rPr>
              <a:t>Peak daily PM2.5 per ~18-day window, 2016–2026 · 3,093 usable days · square-root scale</a:t>
            </a:r>
            <a:endParaRPr lang="en-US" sz="95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7E9A9C"/>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AGENDA</a:t>
            </a:r>
            <a:endParaRPr lang="en-US" sz="1000" dirty="0"/>
          </a:p>
        </p:txBody>
      </p:sp>
      <p:sp>
        <p:nvSpPr>
          <p:cNvPr id="3" name="Text 1"/>
          <p:cNvSpPr/>
          <p:nvPr/>
        </p:nvSpPr>
        <p:spPr>
          <a:xfrm>
            <a:off x="698500" y="863600"/>
            <a:ext cx="7620000" cy="571500"/>
          </a:xfrm>
          <a:prstGeom prst="rect">
            <a:avLst/>
          </a:prstGeom>
          <a:noFill/>
          <a:ln/>
        </p:spPr>
        <p:txBody>
          <a:bodyPr wrap="square" rtlCol="0" anchor="t"/>
          <a:lstStyle/>
          <a:p>
            <a:pPr indent="0" marL="0">
              <a:buNone/>
            </a:pPr>
            <a:r>
              <a:rPr lang="en-US" sz="3100" b="1" dirty="0">
                <a:solidFill>
                  <a:srgbClr val="16343A"/>
                </a:solidFill>
                <a:latin typeface="Calibri" pitchFamily="34" charset="0"/>
                <a:ea typeface="Calibri" pitchFamily="34" charset="-122"/>
                <a:cs typeface="Calibri" pitchFamily="34" charset="-120"/>
              </a:rPr>
              <a:t>What we'll cover</a:t>
            </a:r>
            <a:endParaRPr lang="en-US" sz="3100" dirty="0"/>
          </a:p>
        </p:txBody>
      </p:sp>
      <p:sp>
        <p:nvSpPr>
          <p:cNvPr id="4" name="Shape 2"/>
          <p:cNvSpPr/>
          <p:nvPr/>
        </p:nvSpPr>
        <p:spPr>
          <a:xfrm>
            <a:off x="698500" y="1638300"/>
            <a:ext cx="10795000" cy="12700"/>
          </a:xfrm>
          <a:prstGeom prst="rect">
            <a:avLst/>
          </a:prstGeom>
          <a:solidFill>
            <a:srgbClr val="DCE3E3"/>
          </a:solidFill>
          <a:ln/>
        </p:spPr>
      </p:sp>
      <p:sp>
        <p:nvSpPr>
          <p:cNvPr id="5" name="Shape 3"/>
          <p:cNvSpPr/>
          <p:nvPr/>
        </p:nvSpPr>
        <p:spPr>
          <a:xfrm>
            <a:off x="698500" y="1981200"/>
            <a:ext cx="3429000" cy="1816100"/>
          </a:xfrm>
          <a:prstGeom prst="roundRect">
            <a:avLst>
              <a:gd name="adj" fmla="val 7049"/>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27100" y="2209800"/>
            <a:ext cx="762000" cy="381000"/>
          </a:xfrm>
          <a:prstGeom prst="rect">
            <a:avLst/>
          </a:prstGeom>
          <a:noFill/>
          <a:ln/>
        </p:spPr>
        <p:txBody>
          <a:bodyPr wrap="square" rtlCol="0" anchor="ctr"/>
          <a:lstStyle/>
          <a:p>
            <a:pPr indent="0" marL="0">
              <a:buNone/>
            </a:pPr>
            <a:r>
              <a:rPr lang="en-US" sz="2200" b="1" dirty="0">
                <a:solidFill>
                  <a:srgbClr val="F0A999"/>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927100" y="2628900"/>
            <a:ext cx="2984500" cy="279400"/>
          </a:xfrm>
          <a:prstGeom prst="rect">
            <a:avLst/>
          </a:prstGeom>
          <a:noFill/>
          <a:ln/>
        </p:spPr>
        <p:txBody>
          <a:bodyPr wrap="square" rtlCol="0" anchor="ctr"/>
          <a:lstStyle/>
          <a:p>
            <a:pPr indent="0" marL="0">
              <a:buNone/>
            </a:pPr>
            <a:r>
              <a:rPr lang="en-US" sz="1550" b="1" dirty="0">
                <a:solidFill>
                  <a:srgbClr val="16343A"/>
                </a:solidFill>
                <a:latin typeface="Calibri" pitchFamily="34" charset="0"/>
                <a:ea typeface="Calibri" pitchFamily="34" charset="-122"/>
                <a:cs typeface="Calibri" pitchFamily="34" charset="-120"/>
              </a:rPr>
              <a:t>Introduction</a:t>
            </a:r>
            <a:endParaRPr lang="en-US" sz="1550" dirty="0"/>
          </a:p>
        </p:txBody>
      </p:sp>
      <p:sp>
        <p:nvSpPr>
          <p:cNvPr id="8" name="Text 6"/>
          <p:cNvSpPr/>
          <p:nvPr/>
        </p:nvSpPr>
        <p:spPr>
          <a:xfrm>
            <a:off x="927100" y="2933700"/>
            <a:ext cx="2984500" cy="698500"/>
          </a:xfrm>
          <a:prstGeom prst="rect">
            <a:avLst/>
          </a:prstGeom>
          <a:noFill/>
          <a:ln/>
        </p:spPr>
        <p:txBody>
          <a:bodyPr wrap="square" rtlCol="0" anchor="t"/>
          <a:lstStyle/>
          <a:p>
            <a:pPr indent="0" marL="0">
              <a:lnSpc>
                <a:spcPct val="145000"/>
              </a:lnSpc>
              <a:buNone/>
            </a:pPr>
            <a:r>
              <a:rPr lang="en-US" sz="1050" dirty="0">
                <a:solidFill>
                  <a:srgbClr val="5C7678"/>
                </a:solidFill>
                <a:latin typeface="Calibri" pitchFamily="34" charset="0"/>
                <a:ea typeface="Calibri" pitchFamily="34" charset="-122"/>
                <a:cs typeface="Calibri" pitchFamily="34" charset="-120"/>
              </a:rPr>
              <a:t>Why this matters, and what three questions it answers</a:t>
            </a:r>
            <a:endParaRPr lang="en-US" sz="1050" dirty="0"/>
          </a:p>
        </p:txBody>
      </p:sp>
      <p:sp>
        <p:nvSpPr>
          <p:cNvPr id="9" name="Shape 7"/>
          <p:cNvSpPr/>
          <p:nvPr/>
        </p:nvSpPr>
        <p:spPr>
          <a:xfrm>
            <a:off x="4381500" y="1981200"/>
            <a:ext cx="3429000" cy="1816100"/>
          </a:xfrm>
          <a:prstGeom prst="roundRect">
            <a:avLst>
              <a:gd name="adj" fmla="val 7049"/>
            </a:avLst>
          </a:prstGeom>
          <a:solidFill>
            <a:srgbClr val="FFFFFF"/>
          </a:solidFill>
          <a:ln/>
          <a:effectLst>
            <a:outerShdw sx="100000" sy="100000" kx="0" ky="0" algn="bl" rotWithShape="0" blurRad="127000" dist="38100" dir="5400000">
              <a:srgbClr val="16343A">
                <a:alpha val="16000"/>
              </a:srgbClr>
            </a:outerShdw>
          </a:effectLst>
        </p:spPr>
      </p:sp>
      <p:sp>
        <p:nvSpPr>
          <p:cNvPr id="10" name="Text 8"/>
          <p:cNvSpPr/>
          <p:nvPr/>
        </p:nvSpPr>
        <p:spPr>
          <a:xfrm>
            <a:off x="4610100" y="2209800"/>
            <a:ext cx="762000" cy="381000"/>
          </a:xfrm>
          <a:prstGeom prst="rect">
            <a:avLst/>
          </a:prstGeom>
          <a:noFill/>
          <a:ln/>
        </p:spPr>
        <p:txBody>
          <a:bodyPr wrap="square" rtlCol="0" anchor="ctr"/>
          <a:lstStyle/>
          <a:p>
            <a:pPr indent="0" marL="0">
              <a:buNone/>
            </a:pPr>
            <a:r>
              <a:rPr lang="en-US" sz="2200" b="1" dirty="0">
                <a:solidFill>
                  <a:srgbClr val="F0A999"/>
                </a:solidFill>
                <a:latin typeface="Calibri" pitchFamily="34" charset="0"/>
                <a:ea typeface="Calibri" pitchFamily="34" charset="-122"/>
                <a:cs typeface="Calibri" pitchFamily="34" charset="-120"/>
              </a:rPr>
              <a:t>02</a:t>
            </a:r>
            <a:endParaRPr lang="en-US" sz="2200" dirty="0"/>
          </a:p>
        </p:txBody>
      </p:sp>
      <p:sp>
        <p:nvSpPr>
          <p:cNvPr id="11" name="Text 9"/>
          <p:cNvSpPr/>
          <p:nvPr/>
        </p:nvSpPr>
        <p:spPr>
          <a:xfrm>
            <a:off x="4610100" y="2628900"/>
            <a:ext cx="2984500" cy="279400"/>
          </a:xfrm>
          <a:prstGeom prst="rect">
            <a:avLst/>
          </a:prstGeom>
          <a:noFill/>
          <a:ln/>
        </p:spPr>
        <p:txBody>
          <a:bodyPr wrap="square" rtlCol="0" anchor="ctr"/>
          <a:lstStyle/>
          <a:p>
            <a:pPr indent="0" marL="0">
              <a:buNone/>
            </a:pPr>
            <a:r>
              <a:rPr lang="en-US" sz="1550" b="1" dirty="0">
                <a:solidFill>
                  <a:srgbClr val="16343A"/>
                </a:solidFill>
                <a:latin typeface="Calibri" pitchFamily="34" charset="0"/>
                <a:ea typeface="Calibri" pitchFamily="34" charset="-122"/>
                <a:cs typeface="Calibri" pitchFamily="34" charset="-120"/>
              </a:rPr>
              <a:t>Literature Review</a:t>
            </a:r>
            <a:endParaRPr lang="en-US" sz="1550" dirty="0"/>
          </a:p>
        </p:txBody>
      </p:sp>
      <p:sp>
        <p:nvSpPr>
          <p:cNvPr id="12" name="Text 10"/>
          <p:cNvSpPr/>
          <p:nvPr/>
        </p:nvSpPr>
        <p:spPr>
          <a:xfrm>
            <a:off x="4610100" y="2933700"/>
            <a:ext cx="2984500" cy="698500"/>
          </a:xfrm>
          <a:prstGeom prst="rect">
            <a:avLst/>
          </a:prstGeom>
          <a:noFill/>
          <a:ln/>
        </p:spPr>
        <p:txBody>
          <a:bodyPr wrap="square" rtlCol="0" anchor="t"/>
          <a:lstStyle/>
          <a:p>
            <a:pPr indent="0" marL="0">
              <a:lnSpc>
                <a:spcPct val="145000"/>
              </a:lnSpc>
              <a:buNone/>
            </a:pPr>
            <a:r>
              <a:rPr lang="en-US" sz="1050" dirty="0">
                <a:solidFill>
                  <a:srgbClr val="5C7678"/>
                </a:solidFill>
                <a:latin typeface="Calibri" pitchFamily="34" charset="0"/>
                <a:ea typeface="Calibri" pitchFamily="34" charset="-122"/>
                <a:cs typeface="Calibri" pitchFamily="34" charset="-120"/>
              </a:rPr>
              <a:t>Classical, ML and deep learning methods, and the gap this fills</a:t>
            </a:r>
            <a:endParaRPr lang="en-US" sz="1050" dirty="0"/>
          </a:p>
        </p:txBody>
      </p:sp>
      <p:sp>
        <p:nvSpPr>
          <p:cNvPr id="13" name="Shape 11"/>
          <p:cNvSpPr/>
          <p:nvPr/>
        </p:nvSpPr>
        <p:spPr>
          <a:xfrm>
            <a:off x="8064500" y="1981200"/>
            <a:ext cx="3429000" cy="1816100"/>
          </a:xfrm>
          <a:prstGeom prst="roundRect">
            <a:avLst>
              <a:gd name="adj" fmla="val 7049"/>
            </a:avLst>
          </a:prstGeom>
          <a:solidFill>
            <a:srgbClr val="FFFFFF"/>
          </a:solidFill>
          <a:ln/>
          <a:effectLst>
            <a:outerShdw sx="100000" sy="100000" kx="0" ky="0" algn="bl" rotWithShape="0" blurRad="127000" dist="38100" dir="5400000">
              <a:srgbClr val="16343A">
                <a:alpha val="16000"/>
              </a:srgbClr>
            </a:outerShdw>
          </a:effectLst>
        </p:spPr>
      </p:sp>
      <p:sp>
        <p:nvSpPr>
          <p:cNvPr id="14" name="Text 12"/>
          <p:cNvSpPr/>
          <p:nvPr/>
        </p:nvSpPr>
        <p:spPr>
          <a:xfrm>
            <a:off x="8293100" y="2209800"/>
            <a:ext cx="762000" cy="381000"/>
          </a:xfrm>
          <a:prstGeom prst="rect">
            <a:avLst/>
          </a:prstGeom>
          <a:noFill/>
          <a:ln/>
        </p:spPr>
        <p:txBody>
          <a:bodyPr wrap="square" rtlCol="0" anchor="ctr"/>
          <a:lstStyle/>
          <a:p>
            <a:pPr indent="0" marL="0">
              <a:buNone/>
            </a:pPr>
            <a:r>
              <a:rPr lang="en-US" sz="2200" b="1" dirty="0">
                <a:solidFill>
                  <a:srgbClr val="F0A999"/>
                </a:solidFill>
                <a:latin typeface="Calibri" pitchFamily="34" charset="0"/>
                <a:ea typeface="Calibri" pitchFamily="34" charset="-122"/>
                <a:cs typeface="Calibri" pitchFamily="34" charset="-120"/>
              </a:rPr>
              <a:t>03</a:t>
            </a:r>
            <a:endParaRPr lang="en-US" sz="2200" dirty="0"/>
          </a:p>
        </p:txBody>
      </p:sp>
      <p:sp>
        <p:nvSpPr>
          <p:cNvPr id="15" name="Text 13"/>
          <p:cNvSpPr/>
          <p:nvPr/>
        </p:nvSpPr>
        <p:spPr>
          <a:xfrm>
            <a:off x="8293100" y="2628900"/>
            <a:ext cx="2984500" cy="279400"/>
          </a:xfrm>
          <a:prstGeom prst="rect">
            <a:avLst/>
          </a:prstGeom>
          <a:noFill/>
          <a:ln/>
        </p:spPr>
        <p:txBody>
          <a:bodyPr wrap="square" rtlCol="0" anchor="ctr"/>
          <a:lstStyle/>
          <a:p>
            <a:pPr indent="0" marL="0">
              <a:buNone/>
            </a:pPr>
            <a:r>
              <a:rPr lang="en-US" sz="1550" b="1" dirty="0">
                <a:solidFill>
                  <a:srgbClr val="16343A"/>
                </a:solidFill>
                <a:latin typeface="Calibri" pitchFamily="34" charset="0"/>
                <a:ea typeface="Calibri" pitchFamily="34" charset="-122"/>
                <a:cs typeface="Calibri" pitchFamily="34" charset="-120"/>
              </a:rPr>
              <a:t>Methodology</a:t>
            </a:r>
            <a:endParaRPr lang="en-US" sz="1550" dirty="0"/>
          </a:p>
        </p:txBody>
      </p:sp>
      <p:sp>
        <p:nvSpPr>
          <p:cNvPr id="16" name="Text 14"/>
          <p:cNvSpPr/>
          <p:nvPr/>
        </p:nvSpPr>
        <p:spPr>
          <a:xfrm>
            <a:off x="8293100" y="2933700"/>
            <a:ext cx="2984500" cy="698500"/>
          </a:xfrm>
          <a:prstGeom prst="rect">
            <a:avLst/>
          </a:prstGeom>
          <a:noFill/>
          <a:ln/>
        </p:spPr>
        <p:txBody>
          <a:bodyPr wrap="square" rtlCol="0" anchor="t"/>
          <a:lstStyle/>
          <a:p>
            <a:pPr indent="0" marL="0">
              <a:lnSpc>
                <a:spcPct val="145000"/>
              </a:lnSpc>
              <a:buNone/>
            </a:pPr>
            <a:r>
              <a:rPr lang="en-US" sz="1050" dirty="0">
                <a:solidFill>
                  <a:srgbClr val="5C7678"/>
                </a:solidFill>
                <a:latin typeface="Calibri" pitchFamily="34" charset="0"/>
                <a:ea typeface="Calibri" pitchFamily="34" charset="-122"/>
                <a:cs typeface="Calibri" pitchFamily="34" charset="-120"/>
              </a:rPr>
              <a:t>Data, two real defects, twelve models, one evaluation harness</a:t>
            </a:r>
            <a:endParaRPr lang="en-US" sz="1050" dirty="0"/>
          </a:p>
        </p:txBody>
      </p:sp>
      <p:sp>
        <p:nvSpPr>
          <p:cNvPr id="17" name="Shape 15"/>
          <p:cNvSpPr/>
          <p:nvPr/>
        </p:nvSpPr>
        <p:spPr>
          <a:xfrm>
            <a:off x="698500" y="4038600"/>
            <a:ext cx="3429000" cy="1816100"/>
          </a:xfrm>
          <a:prstGeom prst="roundRect">
            <a:avLst>
              <a:gd name="adj" fmla="val 7049"/>
            </a:avLst>
          </a:prstGeom>
          <a:solidFill>
            <a:srgbClr val="16343A"/>
          </a:solidFill>
          <a:ln/>
        </p:spPr>
      </p:sp>
      <p:sp>
        <p:nvSpPr>
          <p:cNvPr id="18" name="Text 16"/>
          <p:cNvSpPr/>
          <p:nvPr/>
        </p:nvSpPr>
        <p:spPr>
          <a:xfrm>
            <a:off x="927100" y="4267200"/>
            <a:ext cx="762000" cy="381000"/>
          </a:xfrm>
          <a:prstGeom prst="rect">
            <a:avLst/>
          </a:prstGeom>
          <a:noFill/>
          <a:ln/>
        </p:spPr>
        <p:txBody>
          <a:bodyPr wrap="square" rtlCol="0" anchor="ctr"/>
          <a:lstStyle/>
          <a:p>
            <a:pPr indent="0" marL="0">
              <a:buNone/>
            </a:pPr>
            <a:r>
              <a:rPr lang="en-US" sz="2200" b="1" dirty="0">
                <a:solidFill>
                  <a:srgbClr val="E35D45"/>
                </a:solidFill>
                <a:latin typeface="Calibri" pitchFamily="34" charset="0"/>
                <a:ea typeface="Calibri" pitchFamily="34" charset="-122"/>
                <a:cs typeface="Calibri" pitchFamily="34" charset="-120"/>
              </a:rPr>
              <a:t>04</a:t>
            </a:r>
            <a:endParaRPr lang="en-US" sz="2200" dirty="0"/>
          </a:p>
        </p:txBody>
      </p:sp>
      <p:sp>
        <p:nvSpPr>
          <p:cNvPr id="19" name="Text 17"/>
          <p:cNvSpPr/>
          <p:nvPr/>
        </p:nvSpPr>
        <p:spPr>
          <a:xfrm>
            <a:off x="927100" y="4686300"/>
            <a:ext cx="2984500" cy="27940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Results</a:t>
            </a:r>
            <a:endParaRPr lang="en-US" sz="1550" dirty="0"/>
          </a:p>
        </p:txBody>
      </p:sp>
      <p:sp>
        <p:nvSpPr>
          <p:cNvPr id="20" name="Text 18"/>
          <p:cNvSpPr/>
          <p:nvPr/>
        </p:nvSpPr>
        <p:spPr>
          <a:xfrm>
            <a:off x="927100" y="4991100"/>
            <a:ext cx="2984500" cy="698500"/>
          </a:xfrm>
          <a:prstGeom prst="rect">
            <a:avLst/>
          </a:prstGeom>
          <a:noFill/>
          <a:ln/>
        </p:spPr>
        <p:txBody>
          <a:bodyPr wrap="square" rtlCol="0" anchor="t"/>
          <a:lstStyle/>
          <a:p>
            <a:pPr indent="0" marL="0">
              <a:lnSpc>
                <a:spcPct val="145000"/>
              </a:lnSpc>
              <a:buNone/>
            </a:pPr>
            <a:r>
              <a:rPr lang="en-US" sz="1050" dirty="0">
                <a:solidFill>
                  <a:srgbClr val="AFC6C8"/>
                </a:solidFill>
                <a:latin typeface="Calibri" pitchFamily="34" charset="0"/>
                <a:ea typeface="Calibri" pitchFamily="34" charset="-122"/>
                <a:cs typeface="Calibri" pitchFamily="34" charset="-120"/>
              </a:rPr>
              <a:t>Accuracy, weather, the two arms, and the decision threshold</a:t>
            </a:r>
            <a:endParaRPr lang="en-US" sz="1050" dirty="0"/>
          </a:p>
        </p:txBody>
      </p:sp>
      <p:sp>
        <p:nvSpPr>
          <p:cNvPr id="21" name="Shape 19"/>
          <p:cNvSpPr/>
          <p:nvPr/>
        </p:nvSpPr>
        <p:spPr>
          <a:xfrm>
            <a:off x="4381500" y="4038600"/>
            <a:ext cx="3429000" cy="1816100"/>
          </a:xfrm>
          <a:prstGeom prst="roundRect">
            <a:avLst>
              <a:gd name="adj" fmla="val 7049"/>
            </a:avLst>
          </a:prstGeom>
          <a:solidFill>
            <a:srgbClr val="FFFFFF"/>
          </a:solidFill>
          <a:ln/>
          <a:effectLst>
            <a:outerShdw sx="100000" sy="100000" kx="0" ky="0" algn="bl" rotWithShape="0" blurRad="127000" dist="38100" dir="5400000">
              <a:srgbClr val="16343A">
                <a:alpha val="16000"/>
              </a:srgbClr>
            </a:outerShdw>
          </a:effectLst>
        </p:spPr>
      </p:sp>
      <p:sp>
        <p:nvSpPr>
          <p:cNvPr id="22" name="Text 20"/>
          <p:cNvSpPr/>
          <p:nvPr/>
        </p:nvSpPr>
        <p:spPr>
          <a:xfrm>
            <a:off x="4610100" y="4267200"/>
            <a:ext cx="762000" cy="381000"/>
          </a:xfrm>
          <a:prstGeom prst="rect">
            <a:avLst/>
          </a:prstGeom>
          <a:noFill/>
          <a:ln/>
        </p:spPr>
        <p:txBody>
          <a:bodyPr wrap="square" rtlCol="0" anchor="ctr"/>
          <a:lstStyle/>
          <a:p>
            <a:pPr indent="0" marL="0">
              <a:buNone/>
            </a:pPr>
            <a:r>
              <a:rPr lang="en-US" sz="2200" b="1" dirty="0">
                <a:solidFill>
                  <a:srgbClr val="F0A999"/>
                </a:solidFill>
                <a:latin typeface="Calibri" pitchFamily="34" charset="0"/>
                <a:ea typeface="Calibri" pitchFamily="34" charset="-122"/>
                <a:cs typeface="Calibri" pitchFamily="34" charset="-120"/>
              </a:rPr>
              <a:t>05</a:t>
            </a:r>
            <a:endParaRPr lang="en-US" sz="2200" dirty="0"/>
          </a:p>
        </p:txBody>
      </p:sp>
      <p:sp>
        <p:nvSpPr>
          <p:cNvPr id="23" name="Text 21"/>
          <p:cNvSpPr/>
          <p:nvPr/>
        </p:nvSpPr>
        <p:spPr>
          <a:xfrm>
            <a:off x="4610100" y="4686300"/>
            <a:ext cx="2984500" cy="279400"/>
          </a:xfrm>
          <a:prstGeom prst="rect">
            <a:avLst/>
          </a:prstGeom>
          <a:noFill/>
          <a:ln/>
        </p:spPr>
        <p:txBody>
          <a:bodyPr wrap="square" rtlCol="0" anchor="ctr"/>
          <a:lstStyle/>
          <a:p>
            <a:pPr indent="0" marL="0">
              <a:buNone/>
            </a:pPr>
            <a:r>
              <a:rPr lang="en-US" sz="1550" b="1" dirty="0">
                <a:solidFill>
                  <a:srgbClr val="16343A"/>
                </a:solidFill>
                <a:latin typeface="Calibri" pitchFamily="34" charset="0"/>
                <a:ea typeface="Calibri" pitchFamily="34" charset="-122"/>
                <a:cs typeface="Calibri" pitchFamily="34" charset="-120"/>
              </a:rPr>
              <a:t>Discussion</a:t>
            </a:r>
            <a:endParaRPr lang="en-US" sz="1550" dirty="0"/>
          </a:p>
        </p:txBody>
      </p:sp>
      <p:sp>
        <p:nvSpPr>
          <p:cNvPr id="24" name="Text 22"/>
          <p:cNvSpPr/>
          <p:nvPr/>
        </p:nvSpPr>
        <p:spPr>
          <a:xfrm>
            <a:off x="4610100" y="4991100"/>
            <a:ext cx="2984500" cy="698500"/>
          </a:xfrm>
          <a:prstGeom prst="rect">
            <a:avLst/>
          </a:prstGeom>
          <a:noFill/>
          <a:ln/>
        </p:spPr>
        <p:txBody>
          <a:bodyPr wrap="square" rtlCol="0" anchor="t"/>
          <a:lstStyle/>
          <a:p>
            <a:pPr indent="0" marL="0">
              <a:lnSpc>
                <a:spcPct val="145000"/>
              </a:lnSpc>
              <a:buNone/>
            </a:pPr>
            <a:r>
              <a:rPr lang="en-US" sz="1050" dirty="0">
                <a:solidFill>
                  <a:srgbClr val="5C7678"/>
                </a:solidFill>
                <a:latin typeface="Calibri" pitchFamily="34" charset="0"/>
                <a:ea typeface="Calibri" pitchFamily="34" charset="-122"/>
                <a:cs typeface="Calibri" pitchFamily="34" charset="-120"/>
              </a:rPr>
              <a:t>What the numbers mean, how large a difference is, and the limits</a:t>
            </a:r>
            <a:endParaRPr lang="en-US" sz="1050" dirty="0"/>
          </a:p>
        </p:txBody>
      </p:sp>
      <p:sp>
        <p:nvSpPr>
          <p:cNvPr id="25" name="Shape 23"/>
          <p:cNvSpPr/>
          <p:nvPr/>
        </p:nvSpPr>
        <p:spPr>
          <a:xfrm>
            <a:off x="8064500" y="4038600"/>
            <a:ext cx="3429000" cy="1816100"/>
          </a:xfrm>
          <a:prstGeom prst="roundRect">
            <a:avLst>
              <a:gd name="adj" fmla="val 7049"/>
            </a:avLst>
          </a:prstGeom>
          <a:solidFill>
            <a:srgbClr val="FFFFFF"/>
          </a:solidFill>
          <a:ln/>
          <a:effectLst>
            <a:outerShdw sx="100000" sy="100000" kx="0" ky="0" algn="bl" rotWithShape="0" blurRad="127000" dist="38100" dir="5400000">
              <a:srgbClr val="16343A">
                <a:alpha val="16000"/>
              </a:srgbClr>
            </a:outerShdw>
          </a:effectLst>
        </p:spPr>
      </p:sp>
      <p:sp>
        <p:nvSpPr>
          <p:cNvPr id="26" name="Text 24"/>
          <p:cNvSpPr/>
          <p:nvPr/>
        </p:nvSpPr>
        <p:spPr>
          <a:xfrm>
            <a:off x="8293100" y="4267200"/>
            <a:ext cx="762000" cy="381000"/>
          </a:xfrm>
          <a:prstGeom prst="rect">
            <a:avLst/>
          </a:prstGeom>
          <a:noFill/>
          <a:ln/>
        </p:spPr>
        <p:txBody>
          <a:bodyPr wrap="square" rtlCol="0" anchor="ctr"/>
          <a:lstStyle/>
          <a:p>
            <a:pPr indent="0" marL="0">
              <a:buNone/>
            </a:pPr>
            <a:r>
              <a:rPr lang="en-US" sz="2200" b="1" dirty="0">
                <a:solidFill>
                  <a:srgbClr val="F0A999"/>
                </a:solidFill>
                <a:latin typeface="Calibri" pitchFamily="34" charset="0"/>
                <a:ea typeface="Calibri" pitchFamily="34" charset="-122"/>
                <a:cs typeface="Calibri" pitchFamily="34" charset="-120"/>
              </a:rPr>
              <a:t>06</a:t>
            </a:r>
            <a:endParaRPr lang="en-US" sz="2200" dirty="0"/>
          </a:p>
        </p:txBody>
      </p:sp>
      <p:sp>
        <p:nvSpPr>
          <p:cNvPr id="27" name="Text 25"/>
          <p:cNvSpPr/>
          <p:nvPr/>
        </p:nvSpPr>
        <p:spPr>
          <a:xfrm>
            <a:off x="8293100" y="4686300"/>
            <a:ext cx="2984500" cy="279400"/>
          </a:xfrm>
          <a:prstGeom prst="rect">
            <a:avLst/>
          </a:prstGeom>
          <a:noFill/>
          <a:ln/>
        </p:spPr>
        <p:txBody>
          <a:bodyPr wrap="square" rtlCol="0" anchor="ctr"/>
          <a:lstStyle/>
          <a:p>
            <a:pPr indent="0" marL="0">
              <a:buNone/>
            </a:pPr>
            <a:r>
              <a:rPr lang="en-US" sz="1550" b="1" dirty="0">
                <a:solidFill>
                  <a:srgbClr val="16343A"/>
                </a:solidFill>
                <a:latin typeface="Calibri" pitchFamily="34" charset="0"/>
                <a:ea typeface="Calibri" pitchFamily="34" charset="-122"/>
                <a:cs typeface="Calibri" pitchFamily="34" charset="-120"/>
              </a:rPr>
              <a:t>Conclusion</a:t>
            </a:r>
            <a:endParaRPr lang="en-US" sz="1550" dirty="0"/>
          </a:p>
        </p:txBody>
      </p:sp>
      <p:sp>
        <p:nvSpPr>
          <p:cNvPr id="28" name="Text 26"/>
          <p:cNvSpPr/>
          <p:nvPr/>
        </p:nvSpPr>
        <p:spPr>
          <a:xfrm>
            <a:off x="8293100" y="4991100"/>
            <a:ext cx="2984500" cy="698500"/>
          </a:xfrm>
          <a:prstGeom prst="rect">
            <a:avLst/>
          </a:prstGeom>
          <a:noFill/>
          <a:ln/>
        </p:spPr>
        <p:txBody>
          <a:bodyPr wrap="square" rtlCol="0" anchor="t"/>
          <a:lstStyle/>
          <a:p>
            <a:pPr indent="0" marL="0">
              <a:lnSpc>
                <a:spcPct val="145000"/>
              </a:lnSpc>
              <a:buNone/>
            </a:pPr>
            <a:r>
              <a:rPr lang="en-US" sz="1050" dirty="0">
                <a:solidFill>
                  <a:srgbClr val="5C7678"/>
                </a:solidFill>
                <a:latin typeface="Calibri" pitchFamily="34" charset="0"/>
                <a:ea typeface="Calibri" pitchFamily="34" charset="-122"/>
                <a:cs typeface="Calibri" pitchFamily="34" charset="-120"/>
              </a:rPr>
              <a:t>What was found, and what comes next</a:t>
            </a:r>
            <a:endParaRPr lang="en-US" sz="1050" dirty="0"/>
          </a:p>
        </p:txBody>
      </p:sp>
      <p:sp>
        <p:nvSpPr>
          <p:cNvPr id="29" name="Text 27"/>
          <p:cNvSpPr/>
          <p:nvPr/>
        </p:nvSpPr>
        <p:spPr>
          <a:xfrm>
            <a:off x="698500" y="6235700"/>
            <a:ext cx="10795000" cy="190500"/>
          </a:xfrm>
          <a:prstGeom prst="rect">
            <a:avLst/>
          </a:prstGeom>
          <a:noFill/>
          <a:ln/>
        </p:spPr>
        <p:txBody>
          <a:bodyPr wrap="square" rtlCol="0" anchor="ctr"/>
          <a:lstStyle/>
          <a:p>
            <a:pPr indent="0" marL="0">
              <a:buNone/>
            </a:pPr>
            <a:r>
              <a:rPr lang="en-US" sz="1000" dirty="0">
                <a:solidFill>
                  <a:srgbClr val="7E9A9C"/>
                </a:solidFill>
                <a:latin typeface="Calibri" pitchFamily="34" charset="0"/>
                <a:ea typeface="Calibri" pitchFamily="34" charset="-122"/>
                <a:cs typeface="Calibri" pitchFamily="34" charset="-120"/>
              </a:rPr>
              <a:t>Results is where the central finding lands — the alarm budget, not the model.</a:t>
            </a:r>
            <a:endParaRPr lang="en-US" sz="10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93000" y="952500"/>
            <a:ext cx="4445000" cy="3556000"/>
          </a:xfrm>
          <a:prstGeom prst="rect">
            <a:avLst/>
          </a:prstGeom>
          <a:noFill/>
          <a:ln/>
        </p:spPr>
        <p:txBody>
          <a:bodyPr wrap="square" rtlCol="0" anchor="t"/>
          <a:lstStyle/>
          <a:p>
            <a:pPr algn="r" indent="0" marL="0">
              <a:buNone/>
            </a:pPr>
            <a:r>
              <a:rPr lang="en-US" sz="20000" b="1" dirty="0">
                <a:solidFill>
                  <a:srgbClr val="1E4850"/>
                </a:solidFill>
                <a:latin typeface="Calibri" pitchFamily="34" charset="0"/>
                <a:ea typeface="Calibri" pitchFamily="34" charset="-122"/>
                <a:cs typeface="Calibri" pitchFamily="34" charset="-120"/>
              </a:rPr>
              <a:t>01</a:t>
            </a:r>
            <a:endParaRPr lang="en-US" sz="20000" dirty="0"/>
          </a:p>
        </p:txBody>
      </p:sp>
      <p:sp>
        <p:nvSpPr>
          <p:cNvPr id="3" name="Shape 1"/>
          <p:cNvSpPr/>
          <p:nvPr/>
        </p:nvSpPr>
        <p:spPr>
          <a:xfrm>
            <a:off x="0" y="6401503"/>
            <a:ext cx="287020" cy="456497"/>
          </a:xfrm>
          <a:prstGeom prst="rect">
            <a:avLst/>
          </a:prstGeom>
          <a:solidFill>
            <a:srgbClr val="E35D45">
              <a:alpha val="78000"/>
            </a:srgbClr>
          </a:solidFill>
          <a:ln/>
        </p:spPr>
      </p:sp>
      <p:sp>
        <p:nvSpPr>
          <p:cNvPr id="4" name="Shape 2"/>
          <p:cNvSpPr/>
          <p:nvPr/>
        </p:nvSpPr>
        <p:spPr>
          <a:xfrm>
            <a:off x="304800" y="6394066"/>
            <a:ext cx="287020" cy="463934"/>
          </a:xfrm>
          <a:prstGeom prst="rect">
            <a:avLst/>
          </a:prstGeom>
          <a:solidFill>
            <a:srgbClr val="E35D45">
              <a:alpha val="78000"/>
            </a:srgbClr>
          </a:solidFill>
          <a:ln/>
        </p:spPr>
      </p:sp>
      <p:sp>
        <p:nvSpPr>
          <p:cNvPr id="5" name="Shape 3"/>
          <p:cNvSpPr/>
          <p:nvPr/>
        </p:nvSpPr>
        <p:spPr>
          <a:xfrm>
            <a:off x="609600" y="6347993"/>
            <a:ext cx="287020" cy="510007"/>
          </a:xfrm>
          <a:prstGeom prst="rect">
            <a:avLst/>
          </a:prstGeom>
          <a:solidFill>
            <a:srgbClr val="E35D45">
              <a:alpha val="78000"/>
            </a:srgbClr>
          </a:solidFill>
          <a:ln/>
        </p:spPr>
      </p:sp>
      <p:sp>
        <p:nvSpPr>
          <p:cNvPr id="6" name="Shape 4"/>
          <p:cNvSpPr/>
          <p:nvPr/>
        </p:nvSpPr>
        <p:spPr>
          <a:xfrm>
            <a:off x="914400" y="6382729"/>
            <a:ext cx="287020" cy="475271"/>
          </a:xfrm>
          <a:prstGeom prst="rect">
            <a:avLst/>
          </a:prstGeom>
          <a:solidFill>
            <a:srgbClr val="E35D45">
              <a:alpha val="78000"/>
            </a:srgbClr>
          </a:solidFill>
          <a:ln/>
        </p:spPr>
      </p:sp>
      <p:sp>
        <p:nvSpPr>
          <p:cNvPr id="7" name="Shape 5"/>
          <p:cNvSpPr/>
          <p:nvPr/>
        </p:nvSpPr>
        <p:spPr>
          <a:xfrm>
            <a:off x="1219200" y="6450815"/>
            <a:ext cx="287020" cy="407185"/>
          </a:xfrm>
          <a:prstGeom prst="rect">
            <a:avLst/>
          </a:prstGeom>
          <a:solidFill>
            <a:srgbClr val="E35D45">
              <a:alpha val="78000"/>
            </a:srgbClr>
          </a:solidFill>
          <a:ln/>
        </p:spPr>
      </p:sp>
      <p:sp>
        <p:nvSpPr>
          <p:cNvPr id="8" name="Shape 6"/>
          <p:cNvSpPr/>
          <p:nvPr/>
        </p:nvSpPr>
        <p:spPr>
          <a:xfrm>
            <a:off x="1524000" y="6548438"/>
            <a:ext cx="287020" cy="309563"/>
          </a:xfrm>
          <a:prstGeom prst="rect">
            <a:avLst/>
          </a:prstGeom>
          <a:solidFill>
            <a:srgbClr val="E35D45">
              <a:alpha val="78000"/>
            </a:srgbClr>
          </a:solidFill>
          <a:ln/>
        </p:spPr>
      </p:sp>
      <p:sp>
        <p:nvSpPr>
          <p:cNvPr id="9" name="Shape 7"/>
          <p:cNvSpPr/>
          <p:nvPr/>
        </p:nvSpPr>
        <p:spPr>
          <a:xfrm>
            <a:off x="1828800" y="6499486"/>
            <a:ext cx="287020" cy="358514"/>
          </a:xfrm>
          <a:prstGeom prst="rect">
            <a:avLst/>
          </a:prstGeom>
          <a:solidFill>
            <a:srgbClr val="E35D45">
              <a:alpha val="78000"/>
            </a:srgbClr>
          </a:solidFill>
          <a:ln/>
        </p:spPr>
      </p:sp>
      <p:sp>
        <p:nvSpPr>
          <p:cNvPr id="10" name="Shape 8"/>
          <p:cNvSpPr/>
          <p:nvPr/>
        </p:nvSpPr>
        <p:spPr>
          <a:xfrm>
            <a:off x="2133600" y="6508074"/>
            <a:ext cx="287020" cy="349926"/>
          </a:xfrm>
          <a:prstGeom prst="rect">
            <a:avLst/>
          </a:prstGeom>
          <a:solidFill>
            <a:srgbClr val="E35D45">
              <a:alpha val="78000"/>
            </a:srgbClr>
          </a:solidFill>
          <a:ln/>
        </p:spPr>
      </p:sp>
      <p:sp>
        <p:nvSpPr>
          <p:cNvPr id="11" name="Shape 9"/>
          <p:cNvSpPr/>
          <p:nvPr/>
        </p:nvSpPr>
        <p:spPr>
          <a:xfrm>
            <a:off x="2438400" y="6128354"/>
            <a:ext cx="287020" cy="729646"/>
          </a:xfrm>
          <a:prstGeom prst="rect">
            <a:avLst/>
          </a:prstGeom>
          <a:solidFill>
            <a:srgbClr val="E35D45">
              <a:alpha val="78000"/>
            </a:srgbClr>
          </a:solidFill>
          <a:ln/>
        </p:spPr>
      </p:sp>
      <p:sp>
        <p:nvSpPr>
          <p:cNvPr id="12" name="Shape 10"/>
          <p:cNvSpPr/>
          <p:nvPr/>
        </p:nvSpPr>
        <p:spPr>
          <a:xfrm>
            <a:off x="2743200" y="6501613"/>
            <a:ext cx="287020" cy="356387"/>
          </a:xfrm>
          <a:prstGeom prst="rect">
            <a:avLst/>
          </a:prstGeom>
          <a:solidFill>
            <a:srgbClr val="E35D45">
              <a:alpha val="78000"/>
            </a:srgbClr>
          </a:solidFill>
          <a:ln/>
        </p:spPr>
      </p:sp>
      <p:sp>
        <p:nvSpPr>
          <p:cNvPr id="13" name="Shape 11"/>
          <p:cNvSpPr/>
          <p:nvPr/>
        </p:nvSpPr>
        <p:spPr>
          <a:xfrm>
            <a:off x="3048000" y="6550904"/>
            <a:ext cx="287020" cy="307096"/>
          </a:xfrm>
          <a:prstGeom prst="rect">
            <a:avLst/>
          </a:prstGeom>
          <a:solidFill>
            <a:srgbClr val="E35D45">
              <a:alpha val="78000"/>
            </a:srgbClr>
          </a:solidFill>
          <a:ln/>
        </p:spPr>
      </p:sp>
      <p:sp>
        <p:nvSpPr>
          <p:cNvPr id="14" name="Shape 12"/>
          <p:cNvSpPr/>
          <p:nvPr/>
        </p:nvSpPr>
        <p:spPr>
          <a:xfrm>
            <a:off x="3352800" y="6574067"/>
            <a:ext cx="287020" cy="283933"/>
          </a:xfrm>
          <a:prstGeom prst="rect">
            <a:avLst/>
          </a:prstGeom>
          <a:solidFill>
            <a:srgbClr val="2F5F67">
              <a:alpha val="50000"/>
            </a:srgbClr>
          </a:solidFill>
          <a:ln/>
        </p:spPr>
      </p:sp>
      <p:sp>
        <p:nvSpPr>
          <p:cNvPr id="15" name="Shape 13"/>
          <p:cNvSpPr/>
          <p:nvPr/>
        </p:nvSpPr>
        <p:spPr>
          <a:xfrm>
            <a:off x="3657600" y="6659132"/>
            <a:ext cx="287020" cy="198868"/>
          </a:xfrm>
          <a:prstGeom prst="rect">
            <a:avLst/>
          </a:prstGeom>
          <a:solidFill>
            <a:srgbClr val="2F5F67">
              <a:alpha val="50000"/>
            </a:srgbClr>
          </a:solidFill>
          <a:ln/>
        </p:spPr>
      </p:sp>
      <p:sp>
        <p:nvSpPr>
          <p:cNvPr id="16" name="Shape 14"/>
          <p:cNvSpPr/>
          <p:nvPr/>
        </p:nvSpPr>
        <p:spPr>
          <a:xfrm>
            <a:off x="3962400" y="6576758"/>
            <a:ext cx="287020" cy="281242"/>
          </a:xfrm>
          <a:prstGeom prst="rect">
            <a:avLst/>
          </a:prstGeom>
          <a:solidFill>
            <a:srgbClr val="2F5F67">
              <a:alpha val="50000"/>
            </a:srgbClr>
          </a:solidFill>
          <a:ln/>
        </p:spPr>
      </p:sp>
      <p:sp>
        <p:nvSpPr>
          <p:cNvPr id="17" name="Shape 15"/>
          <p:cNvSpPr/>
          <p:nvPr/>
        </p:nvSpPr>
        <p:spPr>
          <a:xfrm>
            <a:off x="4267200" y="6534032"/>
            <a:ext cx="287020" cy="323968"/>
          </a:xfrm>
          <a:prstGeom prst="rect">
            <a:avLst/>
          </a:prstGeom>
          <a:solidFill>
            <a:srgbClr val="E35D45">
              <a:alpha val="78000"/>
            </a:srgbClr>
          </a:solidFill>
          <a:ln/>
        </p:spPr>
      </p:sp>
      <p:sp>
        <p:nvSpPr>
          <p:cNvPr id="18" name="Shape 16"/>
          <p:cNvSpPr/>
          <p:nvPr/>
        </p:nvSpPr>
        <p:spPr>
          <a:xfrm>
            <a:off x="4572000" y="6130965"/>
            <a:ext cx="287020" cy="727035"/>
          </a:xfrm>
          <a:prstGeom prst="rect">
            <a:avLst/>
          </a:prstGeom>
          <a:solidFill>
            <a:srgbClr val="E35D45">
              <a:alpha val="78000"/>
            </a:srgbClr>
          </a:solidFill>
          <a:ln/>
        </p:spPr>
      </p:sp>
      <p:sp>
        <p:nvSpPr>
          <p:cNvPr id="19" name="Shape 17"/>
          <p:cNvSpPr/>
          <p:nvPr/>
        </p:nvSpPr>
        <p:spPr>
          <a:xfrm>
            <a:off x="4876800" y="6032500"/>
            <a:ext cx="287020" cy="825500"/>
          </a:xfrm>
          <a:prstGeom prst="rect">
            <a:avLst/>
          </a:prstGeom>
          <a:solidFill>
            <a:srgbClr val="E35D45">
              <a:alpha val="78000"/>
            </a:srgbClr>
          </a:solidFill>
          <a:ln/>
        </p:spPr>
      </p:sp>
      <p:sp>
        <p:nvSpPr>
          <p:cNvPr id="20" name="Shape 18"/>
          <p:cNvSpPr/>
          <p:nvPr/>
        </p:nvSpPr>
        <p:spPr>
          <a:xfrm>
            <a:off x="5181600" y="6238261"/>
            <a:ext cx="287020" cy="619739"/>
          </a:xfrm>
          <a:prstGeom prst="rect">
            <a:avLst/>
          </a:prstGeom>
          <a:solidFill>
            <a:srgbClr val="E35D45">
              <a:alpha val="78000"/>
            </a:srgbClr>
          </a:solidFill>
          <a:ln/>
        </p:spPr>
      </p:sp>
      <p:sp>
        <p:nvSpPr>
          <p:cNvPr id="21" name="Shape 19"/>
          <p:cNvSpPr/>
          <p:nvPr/>
        </p:nvSpPr>
        <p:spPr>
          <a:xfrm>
            <a:off x="5486400" y="6318288"/>
            <a:ext cx="287020" cy="539712"/>
          </a:xfrm>
          <a:prstGeom prst="rect">
            <a:avLst/>
          </a:prstGeom>
          <a:solidFill>
            <a:srgbClr val="E35D45">
              <a:alpha val="78000"/>
            </a:srgbClr>
          </a:solidFill>
          <a:ln/>
        </p:spPr>
      </p:sp>
      <p:sp>
        <p:nvSpPr>
          <p:cNvPr id="22" name="Shape 20"/>
          <p:cNvSpPr/>
          <p:nvPr/>
        </p:nvSpPr>
        <p:spPr>
          <a:xfrm>
            <a:off x="5791200" y="6381930"/>
            <a:ext cx="287020" cy="476070"/>
          </a:xfrm>
          <a:prstGeom prst="rect">
            <a:avLst/>
          </a:prstGeom>
          <a:solidFill>
            <a:srgbClr val="E35D45">
              <a:alpha val="78000"/>
            </a:srgbClr>
          </a:solidFill>
          <a:ln/>
        </p:spPr>
      </p:sp>
      <p:sp>
        <p:nvSpPr>
          <p:cNvPr id="23" name="Shape 21"/>
          <p:cNvSpPr/>
          <p:nvPr/>
        </p:nvSpPr>
        <p:spPr>
          <a:xfrm>
            <a:off x="6096000" y="6492136"/>
            <a:ext cx="287020" cy="365864"/>
          </a:xfrm>
          <a:prstGeom prst="rect">
            <a:avLst/>
          </a:prstGeom>
          <a:solidFill>
            <a:srgbClr val="E35D45">
              <a:alpha val="78000"/>
            </a:srgbClr>
          </a:solidFill>
          <a:ln/>
        </p:spPr>
      </p:sp>
      <p:sp>
        <p:nvSpPr>
          <p:cNvPr id="24" name="Shape 22"/>
          <p:cNvSpPr/>
          <p:nvPr/>
        </p:nvSpPr>
        <p:spPr>
          <a:xfrm>
            <a:off x="6400800" y="6541153"/>
            <a:ext cx="287020" cy="316847"/>
          </a:xfrm>
          <a:prstGeom prst="rect">
            <a:avLst/>
          </a:prstGeom>
          <a:solidFill>
            <a:srgbClr val="E35D45">
              <a:alpha val="78000"/>
            </a:srgbClr>
          </a:solidFill>
          <a:ln/>
        </p:spPr>
      </p:sp>
      <p:sp>
        <p:nvSpPr>
          <p:cNvPr id="25" name="Shape 23"/>
          <p:cNvSpPr/>
          <p:nvPr/>
        </p:nvSpPr>
        <p:spPr>
          <a:xfrm>
            <a:off x="6705600" y="6077001"/>
            <a:ext cx="287020" cy="780999"/>
          </a:xfrm>
          <a:prstGeom prst="rect">
            <a:avLst/>
          </a:prstGeom>
          <a:solidFill>
            <a:srgbClr val="E35D45">
              <a:alpha val="78000"/>
            </a:srgbClr>
          </a:solidFill>
          <a:ln/>
        </p:spPr>
      </p:sp>
      <p:sp>
        <p:nvSpPr>
          <p:cNvPr id="26" name="Shape 24"/>
          <p:cNvSpPr/>
          <p:nvPr/>
        </p:nvSpPr>
        <p:spPr>
          <a:xfrm>
            <a:off x="7010400" y="6391613"/>
            <a:ext cx="287020" cy="466387"/>
          </a:xfrm>
          <a:prstGeom prst="rect">
            <a:avLst/>
          </a:prstGeom>
          <a:solidFill>
            <a:srgbClr val="E35D45">
              <a:alpha val="78000"/>
            </a:srgbClr>
          </a:solidFill>
          <a:ln/>
        </p:spPr>
      </p:sp>
      <p:sp>
        <p:nvSpPr>
          <p:cNvPr id="27" name="Shape 25"/>
          <p:cNvSpPr/>
          <p:nvPr/>
        </p:nvSpPr>
        <p:spPr>
          <a:xfrm>
            <a:off x="7315200" y="6627266"/>
            <a:ext cx="287020" cy="230734"/>
          </a:xfrm>
          <a:prstGeom prst="rect">
            <a:avLst/>
          </a:prstGeom>
          <a:solidFill>
            <a:srgbClr val="2F5F67">
              <a:alpha val="50000"/>
            </a:srgbClr>
          </a:solidFill>
          <a:ln/>
        </p:spPr>
      </p:sp>
      <p:sp>
        <p:nvSpPr>
          <p:cNvPr id="28" name="Shape 26"/>
          <p:cNvSpPr/>
          <p:nvPr/>
        </p:nvSpPr>
        <p:spPr>
          <a:xfrm>
            <a:off x="7620000" y="6308512"/>
            <a:ext cx="287020" cy="549488"/>
          </a:xfrm>
          <a:prstGeom prst="rect">
            <a:avLst/>
          </a:prstGeom>
          <a:solidFill>
            <a:srgbClr val="E35D45">
              <a:alpha val="78000"/>
            </a:srgbClr>
          </a:solidFill>
          <a:ln/>
        </p:spPr>
      </p:sp>
      <p:sp>
        <p:nvSpPr>
          <p:cNvPr id="29" name="Shape 27"/>
          <p:cNvSpPr/>
          <p:nvPr/>
        </p:nvSpPr>
        <p:spPr>
          <a:xfrm>
            <a:off x="7924800" y="6578114"/>
            <a:ext cx="287020" cy="279886"/>
          </a:xfrm>
          <a:prstGeom prst="rect">
            <a:avLst/>
          </a:prstGeom>
          <a:solidFill>
            <a:srgbClr val="2F5F67">
              <a:alpha val="50000"/>
            </a:srgbClr>
          </a:solidFill>
          <a:ln/>
        </p:spPr>
      </p:sp>
      <p:sp>
        <p:nvSpPr>
          <p:cNvPr id="30" name="Shape 28"/>
          <p:cNvSpPr/>
          <p:nvPr/>
        </p:nvSpPr>
        <p:spPr>
          <a:xfrm>
            <a:off x="8229600" y="6087788"/>
            <a:ext cx="287020" cy="770212"/>
          </a:xfrm>
          <a:prstGeom prst="rect">
            <a:avLst/>
          </a:prstGeom>
          <a:solidFill>
            <a:srgbClr val="E35D45">
              <a:alpha val="78000"/>
            </a:srgbClr>
          </a:solidFill>
          <a:ln/>
        </p:spPr>
      </p:sp>
      <p:sp>
        <p:nvSpPr>
          <p:cNvPr id="31" name="Shape 29"/>
          <p:cNvSpPr/>
          <p:nvPr/>
        </p:nvSpPr>
        <p:spPr>
          <a:xfrm>
            <a:off x="8534400" y="6516879"/>
            <a:ext cx="287020" cy="341121"/>
          </a:xfrm>
          <a:prstGeom prst="rect">
            <a:avLst/>
          </a:prstGeom>
          <a:solidFill>
            <a:srgbClr val="E35D45">
              <a:alpha val="78000"/>
            </a:srgbClr>
          </a:solidFill>
          <a:ln/>
        </p:spPr>
      </p:sp>
      <p:sp>
        <p:nvSpPr>
          <p:cNvPr id="32" name="Shape 30"/>
          <p:cNvSpPr/>
          <p:nvPr/>
        </p:nvSpPr>
        <p:spPr>
          <a:xfrm>
            <a:off x="8839200" y="6483914"/>
            <a:ext cx="287020" cy="374086"/>
          </a:xfrm>
          <a:prstGeom prst="rect">
            <a:avLst/>
          </a:prstGeom>
          <a:solidFill>
            <a:srgbClr val="E35D45">
              <a:alpha val="78000"/>
            </a:srgbClr>
          </a:solidFill>
          <a:ln/>
        </p:spPr>
      </p:sp>
      <p:sp>
        <p:nvSpPr>
          <p:cNvPr id="33" name="Shape 31"/>
          <p:cNvSpPr/>
          <p:nvPr/>
        </p:nvSpPr>
        <p:spPr>
          <a:xfrm>
            <a:off x="9144000" y="6286130"/>
            <a:ext cx="287020" cy="571870"/>
          </a:xfrm>
          <a:prstGeom prst="rect">
            <a:avLst/>
          </a:prstGeom>
          <a:solidFill>
            <a:srgbClr val="E35D45">
              <a:alpha val="78000"/>
            </a:srgbClr>
          </a:solidFill>
          <a:ln/>
        </p:spPr>
      </p:sp>
      <p:sp>
        <p:nvSpPr>
          <p:cNvPr id="34" name="Shape 32"/>
          <p:cNvSpPr/>
          <p:nvPr/>
        </p:nvSpPr>
        <p:spPr>
          <a:xfrm>
            <a:off x="9448800" y="6171313"/>
            <a:ext cx="287020" cy="686687"/>
          </a:xfrm>
          <a:prstGeom prst="rect">
            <a:avLst/>
          </a:prstGeom>
          <a:solidFill>
            <a:srgbClr val="E35D45">
              <a:alpha val="78000"/>
            </a:srgbClr>
          </a:solidFill>
          <a:ln/>
        </p:spPr>
      </p:sp>
      <p:sp>
        <p:nvSpPr>
          <p:cNvPr id="35" name="Shape 33"/>
          <p:cNvSpPr/>
          <p:nvPr/>
        </p:nvSpPr>
        <p:spPr>
          <a:xfrm>
            <a:off x="9753600" y="6364669"/>
            <a:ext cx="287020" cy="493331"/>
          </a:xfrm>
          <a:prstGeom prst="rect">
            <a:avLst/>
          </a:prstGeom>
          <a:solidFill>
            <a:srgbClr val="E35D45">
              <a:alpha val="78000"/>
            </a:srgbClr>
          </a:solidFill>
          <a:ln/>
        </p:spPr>
      </p:sp>
      <p:sp>
        <p:nvSpPr>
          <p:cNvPr id="36" name="Shape 34"/>
          <p:cNvSpPr/>
          <p:nvPr/>
        </p:nvSpPr>
        <p:spPr>
          <a:xfrm>
            <a:off x="10058400" y="6332568"/>
            <a:ext cx="287020" cy="525432"/>
          </a:xfrm>
          <a:prstGeom prst="rect">
            <a:avLst/>
          </a:prstGeom>
          <a:solidFill>
            <a:srgbClr val="E35D45">
              <a:alpha val="78000"/>
            </a:srgbClr>
          </a:solidFill>
          <a:ln/>
        </p:spPr>
      </p:sp>
      <p:sp>
        <p:nvSpPr>
          <p:cNvPr id="37" name="Shape 35"/>
          <p:cNvSpPr/>
          <p:nvPr/>
        </p:nvSpPr>
        <p:spPr>
          <a:xfrm>
            <a:off x="10363200" y="6377161"/>
            <a:ext cx="287020" cy="480839"/>
          </a:xfrm>
          <a:prstGeom prst="rect">
            <a:avLst/>
          </a:prstGeom>
          <a:solidFill>
            <a:srgbClr val="E35D45">
              <a:alpha val="78000"/>
            </a:srgbClr>
          </a:solidFill>
          <a:ln/>
        </p:spPr>
      </p:sp>
      <p:sp>
        <p:nvSpPr>
          <p:cNvPr id="38" name="Shape 36"/>
          <p:cNvSpPr/>
          <p:nvPr/>
        </p:nvSpPr>
        <p:spPr>
          <a:xfrm>
            <a:off x="10668000" y="6235201"/>
            <a:ext cx="287020" cy="622799"/>
          </a:xfrm>
          <a:prstGeom prst="rect">
            <a:avLst/>
          </a:prstGeom>
          <a:solidFill>
            <a:srgbClr val="E35D45">
              <a:alpha val="78000"/>
            </a:srgbClr>
          </a:solidFill>
          <a:ln/>
        </p:spPr>
      </p:sp>
      <p:sp>
        <p:nvSpPr>
          <p:cNvPr id="39" name="Shape 37"/>
          <p:cNvSpPr/>
          <p:nvPr/>
        </p:nvSpPr>
        <p:spPr>
          <a:xfrm>
            <a:off x="10972800" y="6537572"/>
            <a:ext cx="287020" cy="320428"/>
          </a:xfrm>
          <a:prstGeom prst="rect">
            <a:avLst/>
          </a:prstGeom>
          <a:solidFill>
            <a:srgbClr val="E35D45">
              <a:alpha val="78000"/>
            </a:srgbClr>
          </a:solidFill>
          <a:ln/>
        </p:spPr>
      </p:sp>
      <p:sp>
        <p:nvSpPr>
          <p:cNvPr id="40" name="Shape 38"/>
          <p:cNvSpPr/>
          <p:nvPr/>
        </p:nvSpPr>
        <p:spPr>
          <a:xfrm>
            <a:off x="11277600" y="6512448"/>
            <a:ext cx="287020" cy="345552"/>
          </a:xfrm>
          <a:prstGeom prst="rect">
            <a:avLst/>
          </a:prstGeom>
          <a:solidFill>
            <a:srgbClr val="E35D45">
              <a:alpha val="78000"/>
            </a:srgbClr>
          </a:solidFill>
          <a:ln/>
        </p:spPr>
      </p:sp>
      <p:sp>
        <p:nvSpPr>
          <p:cNvPr id="41" name="Shape 39"/>
          <p:cNvSpPr/>
          <p:nvPr/>
        </p:nvSpPr>
        <p:spPr>
          <a:xfrm>
            <a:off x="11582400" y="6442495"/>
            <a:ext cx="287020" cy="415505"/>
          </a:xfrm>
          <a:prstGeom prst="rect">
            <a:avLst/>
          </a:prstGeom>
          <a:solidFill>
            <a:srgbClr val="E35D45">
              <a:alpha val="78000"/>
            </a:srgbClr>
          </a:solidFill>
          <a:ln/>
        </p:spPr>
      </p:sp>
      <p:sp>
        <p:nvSpPr>
          <p:cNvPr id="42" name="Shape 40"/>
          <p:cNvSpPr/>
          <p:nvPr/>
        </p:nvSpPr>
        <p:spPr>
          <a:xfrm>
            <a:off x="11887200" y="6379539"/>
            <a:ext cx="287020" cy="478461"/>
          </a:xfrm>
          <a:prstGeom prst="rect">
            <a:avLst/>
          </a:prstGeom>
          <a:solidFill>
            <a:srgbClr val="E35D45">
              <a:alpha val="78000"/>
            </a:srgbClr>
          </a:solidFill>
          <a:ln/>
        </p:spPr>
      </p:sp>
      <p:sp>
        <p:nvSpPr>
          <p:cNvPr id="43" name="Shape 41"/>
          <p:cNvSpPr/>
          <p:nvPr/>
        </p:nvSpPr>
        <p:spPr>
          <a:xfrm>
            <a:off x="0" y="6546850"/>
            <a:ext cx="12192000" cy="12700"/>
          </a:xfrm>
          <a:prstGeom prst="rect">
            <a:avLst/>
          </a:prstGeom>
          <a:solidFill>
            <a:srgbClr val="F0A999">
              <a:alpha val="50000"/>
            </a:srgbClr>
          </a:solidFill>
          <a:ln/>
        </p:spPr>
      </p:sp>
      <p:sp>
        <p:nvSpPr>
          <p:cNvPr id="44" name="Text 42"/>
          <p:cNvSpPr/>
          <p:nvPr/>
        </p:nvSpPr>
        <p:spPr>
          <a:xfrm>
            <a:off x="889000" y="2527300"/>
            <a:ext cx="5715000" cy="228600"/>
          </a:xfrm>
          <a:prstGeom prst="rect">
            <a:avLst/>
          </a:prstGeom>
          <a:noFill/>
          <a:ln/>
        </p:spPr>
        <p:txBody>
          <a:bodyPr wrap="square" rtlCol="0" anchor="ctr"/>
          <a:lstStyle/>
          <a:p>
            <a:pPr indent="0" marL="0">
              <a:buNone/>
            </a:pPr>
            <a:r>
              <a:rPr lang="en-US" sz="1100" b="1" spc="180" kern="0" dirty="0">
                <a:solidFill>
                  <a:srgbClr val="E35D45"/>
                </a:solidFill>
                <a:latin typeface="Calibri" pitchFamily="34" charset="0"/>
                <a:ea typeface="Calibri" pitchFamily="34" charset="-122"/>
                <a:cs typeface="Calibri" pitchFamily="34" charset="-120"/>
              </a:rPr>
              <a:t>CHAPTER 01 OF 06</a:t>
            </a:r>
            <a:endParaRPr lang="en-US" sz="1100" dirty="0"/>
          </a:p>
        </p:txBody>
      </p:sp>
      <p:sp>
        <p:nvSpPr>
          <p:cNvPr id="45" name="Text 43"/>
          <p:cNvSpPr/>
          <p:nvPr/>
        </p:nvSpPr>
        <p:spPr>
          <a:xfrm>
            <a:off x="889000" y="2794000"/>
            <a:ext cx="6350000" cy="762000"/>
          </a:xfrm>
          <a:prstGeom prst="rect">
            <a:avLst/>
          </a:prstGeom>
          <a:noFill/>
          <a:ln/>
        </p:spPr>
        <p:txBody>
          <a:bodyPr wrap="square"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Introduction</a:t>
            </a:r>
            <a:endParaRPr lang="en-US" sz="4600" dirty="0"/>
          </a:p>
        </p:txBody>
      </p:sp>
      <p:sp>
        <p:nvSpPr>
          <p:cNvPr id="46" name="Text 44"/>
          <p:cNvSpPr/>
          <p:nvPr/>
        </p:nvSpPr>
        <p:spPr>
          <a:xfrm>
            <a:off x="889000" y="3683000"/>
            <a:ext cx="5461000" cy="635000"/>
          </a:xfrm>
          <a:prstGeom prst="rect">
            <a:avLst/>
          </a:prstGeom>
          <a:noFill/>
          <a:ln/>
        </p:spPr>
        <p:txBody>
          <a:bodyPr wrap="square" rtlCol="0" anchor="t"/>
          <a:lstStyle/>
          <a:p>
            <a:pPr indent="0" marL="0">
              <a:lnSpc>
                <a:spcPct val="140000"/>
              </a:lnSpc>
              <a:buNone/>
            </a:pPr>
            <a:r>
              <a:rPr lang="en-US" sz="1500" dirty="0">
                <a:solidFill>
                  <a:srgbClr val="AFC6C8"/>
                </a:solidFill>
                <a:latin typeface="Calibri" pitchFamily="34" charset="0"/>
                <a:ea typeface="Calibri" pitchFamily="34" charset="-122"/>
                <a:cs typeface="Calibri" pitchFamily="34" charset="-120"/>
              </a:rPr>
              <a:t>Why a forecast only helps if it arrives before the hazardous day — and the three questions that follow.</a:t>
            </a:r>
            <a:endParaRPr lang="en-US" sz="1500" dirty="0"/>
          </a:p>
        </p:txBody>
      </p:sp>
      <p:sp>
        <p:nvSpPr>
          <p:cNvPr id="47" name="Shape 45"/>
          <p:cNvSpPr/>
          <p:nvPr/>
        </p:nvSpPr>
        <p:spPr>
          <a:xfrm>
            <a:off x="889000" y="4445000"/>
            <a:ext cx="546100" cy="44450"/>
          </a:xfrm>
          <a:prstGeom prst="roundRect">
            <a:avLst>
              <a:gd name="adj" fmla="val 41143"/>
            </a:avLst>
          </a:prstGeom>
          <a:solidFill>
            <a:srgbClr val="E35D45"/>
          </a:solidFill>
          <a:ln/>
        </p:spPr>
      </p:sp>
      <p:sp>
        <p:nvSpPr>
          <p:cNvPr id="48" name="Shape 46"/>
          <p:cNvSpPr/>
          <p:nvPr/>
        </p:nvSpPr>
        <p:spPr>
          <a:xfrm>
            <a:off x="1498600" y="4445000"/>
            <a:ext cx="546100" cy="44450"/>
          </a:xfrm>
          <a:prstGeom prst="roundRect">
            <a:avLst>
              <a:gd name="adj" fmla="val 41143"/>
            </a:avLst>
          </a:prstGeom>
          <a:solidFill>
            <a:srgbClr val="2F5F67"/>
          </a:solidFill>
          <a:ln/>
        </p:spPr>
      </p:sp>
      <p:sp>
        <p:nvSpPr>
          <p:cNvPr id="49" name="Shape 47"/>
          <p:cNvSpPr/>
          <p:nvPr/>
        </p:nvSpPr>
        <p:spPr>
          <a:xfrm>
            <a:off x="2108200" y="4445000"/>
            <a:ext cx="546100" cy="44450"/>
          </a:xfrm>
          <a:prstGeom prst="roundRect">
            <a:avLst>
              <a:gd name="adj" fmla="val 41143"/>
            </a:avLst>
          </a:prstGeom>
          <a:solidFill>
            <a:srgbClr val="2F5F67"/>
          </a:solidFill>
          <a:ln/>
        </p:spPr>
      </p:sp>
      <p:sp>
        <p:nvSpPr>
          <p:cNvPr id="50" name="Shape 48"/>
          <p:cNvSpPr/>
          <p:nvPr/>
        </p:nvSpPr>
        <p:spPr>
          <a:xfrm>
            <a:off x="2717800" y="4445000"/>
            <a:ext cx="546100" cy="44450"/>
          </a:xfrm>
          <a:prstGeom prst="roundRect">
            <a:avLst>
              <a:gd name="adj" fmla="val 41143"/>
            </a:avLst>
          </a:prstGeom>
          <a:solidFill>
            <a:srgbClr val="2F5F67"/>
          </a:solidFill>
          <a:ln/>
        </p:spPr>
      </p:sp>
      <p:sp>
        <p:nvSpPr>
          <p:cNvPr id="51" name="Shape 49"/>
          <p:cNvSpPr/>
          <p:nvPr/>
        </p:nvSpPr>
        <p:spPr>
          <a:xfrm>
            <a:off x="3327400" y="4445000"/>
            <a:ext cx="546100" cy="44450"/>
          </a:xfrm>
          <a:prstGeom prst="roundRect">
            <a:avLst>
              <a:gd name="adj" fmla="val 41143"/>
            </a:avLst>
          </a:prstGeom>
          <a:solidFill>
            <a:srgbClr val="2F5F67"/>
          </a:solidFill>
          <a:ln/>
        </p:spPr>
      </p:sp>
      <p:sp>
        <p:nvSpPr>
          <p:cNvPr id="52" name="Shape 50"/>
          <p:cNvSpPr/>
          <p:nvPr/>
        </p:nvSpPr>
        <p:spPr>
          <a:xfrm>
            <a:off x="3937000" y="4445000"/>
            <a:ext cx="546100" cy="44450"/>
          </a:xfrm>
          <a:prstGeom prst="roundRect">
            <a:avLst>
              <a:gd name="adj" fmla="val 41143"/>
            </a:avLst>
          </a:prstGeom>
          <a:solidFill>
            <a:srgbClr val="2F5F67"/>
          </a:solidFill>
          <a:ln/>
        </p:spPr>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7E9A9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INTRODUCTION</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Motivation</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Text 3"/>
          <p:cNvSpPr/>
          <p:nvPr/>
        </p:nvSpPr>
        <p:spPr>
          <a:xfrm>
            <a:off x="698500" y="1879600"/>
            <a:ext cx="6477000" cy="2921000"/>
          </a:xfrm>
          <a:prstGeom prst="rect">
            <a:avLst/>
          </a:prstGeom>
          <a:noFill/>
          <a:ln/>
        </p:spPr>
        <p:txBody>
          <a:bodyPr wrap="square" rtlCol="0" anchor="t"/>
          <a:lstStyle/>
          <a:p>
            <a:pPr marL="203200" indent="-203200">
              <a:lnSpc>
                <a:spcPct val="150000"/>
              </a:lnSpc>
              <a:spcAft>
                <a:spcPts val="1200"/>
              </a:spcAft>
              <a:buSzPct val="100000"/>
              <a:buChar char="●"/>
            </a:pPr>
            <a:r>
              <a:rPr lang="en-US" sz="1350" dirty="0">
                <a:solidFill>
                  <a:srgbClr val="1C2B2C"/>
                </a:solidFill>
                <a:latin typeface="Calibri" pitchFamily="34" charset="0"/>
                <a:ea typeface="Calibri" pitchFamily="34" charset="-122"/>
                <a:cs typeface="Calibri" pitchFamily="34" charset="-120"/>
              </a:rPr>
              <a:t>PM2.5 in Indian cities regularly reaches hazardous levels; sustained exposure raises cardiopulmonary and all-cause mortality</a:t>
            </a:r>
            <a:endParaRPr lang="en-US" sz="1350" dirty="0"/>
          </a:p>
          <a:p>
            <a:pPr marL="203200" indent="-203200">
              <a:lnSpc>
                <a:spcPct val="150000"/>
              </a:lnSpc>
              <a:spcAft>
                <a:spcPts val="1200"/>
              </a:spcAft>
              <a:buSzPct val="100000"/>
              <a:buChar char="●"/>
            </a:pPr>
            <a:r>
              <a:rPr lang="en-US" sz="1350" dirty="0">
                <a:solidFill>
                  <a:srgbClr val="1C2B2C"/>
                </a:solidFill>
                <a:latin typeface="Calibri" pitchFamily="34" charset="0"/>
                <a:ea typeface="Calibri" pitchFamily="34" charset="-122"/>
                <a:cs typeface="Calibri" pitchFamily="34" charset="-120"/>
              </a:rPr>
              <a:t>A forecast only helps if it arrives before the hazardous day — same-day warnings are of limited use</a:t>
            </a:r>
            <a:endParaRPr lang="en-US" sz="1350" dirty="0"/>
          </a:p>
          <a:p>
            <a:pPr marL="203200" indent="-203200">
              <a:lnSpc>
                <a:spcPct val="150000"/>
              </a:lnSpc>
              <a:spcAft>
                <a:spcPts val="1200"/>
              </a:spcAft>
              <a:buSzPct val="100000"/>
              <a:buChar char="●"/>
            </a:pPr>
            <a:r>
              <a:rPr lang="en-US" sz="1350" dirty="0">
                <a:solidFill>
                  <a:srgbClr val="1C2B2C"/>
                </a:solidFill>
                <a:latin typeface="Calibri" pitchFamily="34" charset="0"/>
                <a:ea typeface="Calibri" pitchFamily="34" charset="-122"/>
                <a:cs typeface="Calibri" pitchFamily="34" charset="-120"/>
              </a:rPr>
              <a:t>Daily PM2.5 has exploitable structure: day-to-day persistence, a strong annual cycle, dependence on recent conditions</a:t>
            </a:r>
            <a:endParaRPr lang="en-US" sz="1350" dirty="0"/>
          </a:p>
          <a:p>
            <a:pPr marL="203200" indent="-203200">
              <a:lnSpc>
                <a:spcPct val="150000"/>
              </a:lnSpc>
              <a:spcAft>
                <a:spcPts val="1200"/>
              </a:spcAft>
              <a:buSzPct val="100000"/>
              <a:buChar char="●"/>
            </a:pPr>
            <a:r>
              <a:rPr lang="en-US" sz="1350" dirty="0">
                <a:solidFill>
                  <a:srgbClr val="1C2B2C"/>
                </a:solidFill>
                <a:latin typeface="Calibri" pitchFamily="34" charset="0"/>
                <a:ea typeface="Calibri" pitchFamily="34" charset="-122"/>
                <a:cs typeface="Calibri" pitchFamily="34" charset="-120"/>
              </a:rPr>
              <a:t>My own motivation: growing up in India, seasonal smog was ordinary life, not an abstract statistic</a:t>
            </a:r>
            <a:endParaRPr lang="en-US" sz="1350" dirty="0"/>
          </a:p>
        </p:txBody>
      </p:sp>
      <p:sp>
        <p:nvSpPr>
          <p:cNvPr id="6" name="Shape 4"/>
          <p:cNvSpPr/>
          <p:nvPr/>
        </p:nvSpPr>
        <p:spPr>
          <a:xfrm>
            <a:off x="7810500" y="1905000"/>
            <a:ext cx="3683000" cy="1778000"/>
          </a:xfrm>
          <a:prstGeom prst="roundRect">
            <a:avLst>
              <a:gd name="adj" fmla="val 7200"/>
            </a:avLst>
          </a:prstGeom>
          <a:solidFill>
            <a:srgbClr val="16343A"/>
          </a:solidFill>
          <a:ln/>
        </p:spPr>
      </p:sp>
      <p:sp>
        <p:nvSpPr>
          <p:cNvPr id="7" name="Text 5"/>
          <p:cNvSpPr/>
          <p:nvPr/>
        </p:nvSpPr>
        <p:spPr>
          <a:xfrm>
            <a:off x="8115300" y="2120900"/>
            <a:ext cx="3111500" cy="203200"/>
          </a:xfrm>
          <a:prstGeom prst="rect">
            <a:avLst/>
          </a:prstGeom>
          <a:noFill/>
          <a:ln/>
        </p:spPr>
        <p:txBody>
          <a:bodyPr wrap="square" rtlCol="0" anchor="ctr"/>
          <a:lstStyle/>
          <a:p>
            <a:pPr indent="0" marL="0">
              <a:buNone/>
            </a:pPr>
            <a:r>
              <a:rPr lang="en-US" sz="900" b="1" spc="140" kern="0" dirty="0">
                <a:solidFill>
                  <a:srgbClr val="F0A999"/>
                </a:solidFill>
                <a:latin typeface="Calibri" pitchFamily="34" charset="0"/>
                <a:ea typeface="Calibri" pitchFamily="34" charset="-122"/>
                <a:cs typeface="Calibri" pitchFamily="34" charset="-120"/>
              </a:rPr>
              <a:t>THE EVENT BEING FORECAST</a:t>
            </a:r>
            <a:endParaRPr lang="en-US" sz="900" dirty="0"/>
          </a:p>
        </p:txBody>
      </p:sp>
      <p:sp>
        <p:nvSpPr>
          <p:cNvPr id="8" name="Text 6"/>
          <p:cNvSpPr/>
          <p:nvPr/>
        </p:nvSpPr>
        <p:spPr>
          <a:xfrm>
            <a:off x="8115300" y="2387600"/>
            <a:ext cx="3111500" cy="698500"/>
          </a:xfrm>
          <a:prstGeom prst="rect">
            <a:avLst/>
          </a:prstGeom>
          <a:noFill/>
          <a:ln/>
        </p:spPr>
        <p:txBody>
          <a:bodyPr wrap="square" rtlCol="0" anchor="t"/>
          <a:lstStyle/>
          <a:p>
            <a:pPr indent="0" marL="0">
              <a:buNone/>
            </a:pPr>
            <a:r>
              <a:rPr lang="en-US" sz="4500" b="1" dirty="0">
                <a:solidFill>
                  <a:srgbClr val="FFFFFF"/>
                </a:solidFill>
                <a:latin typeface="Calibri" pitchFamily="34" charset="0"/>
                <a:ea typeface="Calibri" pitchFamily="34" charset="-122"/>
                <a:cs typeface="Calibri" pitchFamily="34" charset="-120"/>
              </a:rPr>
              <a:t>920 days</a:t>
            </a:r>
            <a:endParaRPr lang="en-US" sz="4500" dirty="0"/>
          </a:p>
        </p:txBody>
      </p:sp>
      <p:sp>
        <p:nvSpPr>
          <p:cNvPr id="9" name="Text 7"/>
          <p:cNvSpPr/>
          <p:nvPr/>
        </p:nvSpPr>
        <p:spPr>
          <a:xfrm>
            <a:off x="8115300" y="3086100"/>
            <a:ext cx="3111500" cy="533400"/>
          </a:xfrm>
          <a:prstGeom prst="rect">
            <a:avLst/>
          </a:prstGeom>
          <a:noFill/>
          <a:ln/>
        </p:spPr>
        <p:txBody>
          <a:bodyPr wrap="square" rtlCol="0" anchor="t"/>
          <a:lstStyle/>
          <a:p>
            <a:pPr indent="0" marL="0">
              <a:lnSpc>
                <a:spcPct val="135000"/>
              </a:lnSpc>
              <a:buNone/>
            </a:pPr>
            <a:r>
              <a:rPr lang="en-US" sz="1100" dirty="0">
                <a:solidFill>
                  <a:srgbClr val="AFC6C8"/>
                </a:solidFill>
                <a:latin typeface="Calibri" pitchFamily="34" charset="0"/>
                <a:ea typeface="Calibri" pitchFamily="34" charset="-122"/>
                <a:cs typeface="Calibri" pitchFamily="34" charset="-120"/>
              </a:rPr>
              <a:t>above the 121 µg/m³ health threshold — 29.7% of the usable record.</a:t>
            </a:r>
            <a:endParaRPr lang="en-US" sz="1100" dirty="0"/>
          </a:p>
        </p:txBody>
      </p:sp>
      <p:sp>
        <p:nvSpPr>
          <p:cNvPr id="10" name="Shape 8"/>
          <p:cNvSpPr/>
          <p:nvPr/>
        </p:nvSpPr>
        <p:spPr>
          <a:xfrm>
            <a:off x="7810500" y="3860800"/>
            <a:ext cx="3683000" cy="1206500"/>
          </a:xfrm>
          <a:prstGeom prst="roundRect">
            <a:avLst>
              <a:gd name="adj" fmla="val 10611"/>
            </a:avLst>
          </a:prstGeom>
          <a:solidFill>
            <a:srgbClr val="FFFFFF"/>
          </a:solidFill>
          <a:ln/>
          <a:effectLst>
            <a:outerShdw sx="100000" sy="100000" kx="0" ky="0" algn="bl" rotWithShape="0" blurRad="127000" dist="38100" dir="5400000">
              <a:srgbClr val="16343A">
                <a:alpha val="16000"/>
              </a:srgbClr>
            </a:outerShdw>
          </a:effectLst>
        </p:spPr>
      </p:sp>
      <p:sp>
        <p:nvSpPr>
          <p:cNvPr id="11" name="Text 9"/>
          <p:cNvSpPr/>
          <p:nvPr/>
        </p:nvSpPr>
        <p:spPr>
          <a:xfrm>
            <a:off x="8115300" y="4076700"/>
            <a:ext cx="3111500" cy="203200"/>
          </a:xfrm>
          <a:prstGeom prst="rect">
            <a:avLst/>
          </a:prstGeom>
          <a:noFill/>
          <a:ln/>
        </p:spPr>
        <p:txBody>
          <a:bodyPr wrap="square" rtlCol="0" anchor="ctr"/>
          <a:lstStyle/>
          <a:p>
            <a:pPr indent="0" marL="0">
              <a:buNone/>
            </a:pPr>
            <a:r>
              <a:rPr lang="en-US" sz="900" b="1" spc="140" kern="0" dirty="0">
                <a:solidFill>
                  <a:srgbClr val="5C7678"/>
                </a:solidFill>
                <a:latin typeface="Calibri" pitchFamily="34" charset="0"/>
                <a:ea typeface="Calibri" pitchFamily="34" charset="-122"/>
                <a:cs typeface="Calibri" pitchFamily="34" charset="-120"/>
              </a:rPr>
              <a:t>RECORD LENGTH</a:t>
            </a:r>
            <a:endParaRPr lang="en-US" sz="900" dirty="0"/>
          </a:p>
        </p:txBody>
      </p:sp>
      <p:sp>
        <p:nvSpPr>
          <p:cNvPr id="12" name="Text 10"/>
          <p:cNvSpPr/>
          <p:nvPr/>
        </p:nvSpPr>
        <p:spPr>
          <a:xfrm>
            <a:off x="8115300" y="4318000"/>
            <a:ext cx="3111500" cy="482600"/>
          </a:xfrm>
          <a:prstGeom prst="rect">
            <a:avLst/>
          </a:prstGeom>
          <a:noFill/>
          <a:ln/>
        </p:spPr>
        <p:txBody>
          <a:bodyPr wrap="square" rtlCol="0" anchor="t"/>
          <a:lstStyle/>
          <a:p>
            <a:pPr indent="0" marL="0">
              <a:buNone/>
            </a:pPr>
            <a:r>
              <a:rPr lang="en-US" sz="3100" b="1" dirty="0">
                <a:solidFill>
                  <a:srgbClr val="16343A"/>
                </a:solidFill>
                <a:latin typeface="Calibri" pitchFamily="34" charset="0"/>
                <a:ea typeface="Calibri" pitchFamily="34" charset="-122"/>
                <a:cs typeface="Calibri" pitchFamily="34" charset="-120"/>
              </a:rPr>
              <a:t>3,093</a:t>
            </a:r>
            <a:endParaRPr lang="en-US" sz="3100" dirty="0"/>
          </a:p>
        </p:txBody>
      </p:sp>
      <p:sp>
        <p:nvSpPr>
          <p:cNvPr id="13" name="Text 11"/>
          <p:cNvSpPr/>
          <p:nvPr/>
        </p:nvSpPr>
        <p:spPr>
          <a:xfrm>
            <a:off x="8115300" y="4787900"/>
            <a:ext cx="3111500" cy="215900"/>
          </a:xfrm>
          <a:prstGeom prst="rect">
            <a:avLst/>
          </a:prstGeom>
          <a:noFill/>
          <a:ln/>
        </p:spPr>
        <p:txBody>
          <a:bodyPr wrap="square" rtlCol="0" anchor="ctr"/>
          <a:lstStyle/>
          <a:p>
            <a:pPr indent="0" marL="0">
              <a:buNone/>
            </a:pPr>
            <a:r>
              <a:rPr lang="en-US" sz="1050" dirty="0">
                <a:solidFill>
                  <a:srgbClr val="5C7678"/>
                </a:solidFill>
                <a:latin typeface="Calibri" pitchFamily="34" charset="0"/>
                <a:ea typeface="Calibri" pitchFamily="34" charset="-122"/>
                <a:cs typeface="Calibri" pitchFamily="34" charset="-120"/>
              </a:rPr>
              <a:t>usable daily means, 2016–2026</a:t>
            </a:r>
            <a:endParaRPr lang="en-US" sz="1050" dirty="0"/>
          </a:p>
        </p:txBody>
      </p:sp>
      <p:sp>
        <p:nvSpPr>
          <p:cNvPr id="14" name="Text 12"/>
          <p:cNvSpPr/>
          <p:nvPr/>
        </p:nvSpPr>
        <p:spPr>
          <a:xfrm>
            <a:off x="698500" y="5892800"/>
            <a:ext cx="10795000" cy="215900"/>
          </a:xfrm>
          <a:prstGeom prst="rect">
            <a:avLst/>
          </a:prstGeom>
          <a:noFill/>
          <a:ln/>
        </p:spPr>
        <p:txBody>
          <a:bodyPr wrap="square" rtlCol="0" anchor="ctr"/>
          <a:lstStyle/>
          <a:p>
            <a:pPr indent="0" marL="0">
              <a:buNone/>
            </a:pPr>
            <a:r>
              <a:rPr lang="en-US" sz="1050" dirty="0">
                <a:solidFill>
                  <a:srgbClr val="7E9A9C"/>
                </a:solidFill>
                <a:latin typeface="Calibri" pitchFamily="34" charset="0"/>
                <a:ea typeface="Calibri" pitchFamily="34" charset="-122"/>
                <a:cs typeface="Calibri" pitchFamily="34" charset="-120"/>
              </a:rPr>
              <a:t>A forecast issued on the morning of a hazardous day cannot change anyone's behaviour — the lead time is the point.</a:t>
            </a:r>
            <a:endParaRPr lang="en-US" sz="105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INTRODUCTION</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Research problem and significance</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879600"/>
            <a:ext cx="5270500" cy="1905000"/>
          </a:xfrm>
          <a:prstGeom prst="roundRect">
            <a:avLst>
              <a:gd name="adj" fmla="val 6720"/>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90600" y="21336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THE GAP IN THE LITERATURE</a:t>
            </a:r>
            <a:endParaRPr lang="en-US" sz="900" dirty="0"/>
          </a:p>
        </p:txBody>
      </p:sp>
      <p:sp>
        <p:nvSpPr>
          <p:cNvPr id="7" name="Text 5"/>
          <p:cNvSpPr/>
          <p:nvPr/>
        </p:nvSpPr>
        <p:spPr>
          <a:xfrm>
            <a:off x="990600" y="2438400"/>
            <a:ext cx="4699000" cy="1143000"/>
          </a:xfrm>
          <a:prstGeom prst="rect">
            <a:avLst/>
          </a:prstGeom>
          <a:noFill/>
          <a:ln/>
        </p:spPr>
        <p:txBody>
          <a:bodyPr wrap="square" rtlCol="0" anchor="t"/>
          <a:lstStyle/>
          <a:p>
            <a:pPr indent="0" marL="0">
              <a:lnSpc>
                <a:spcPct val="150000"/>
              </a:lnSpc>
              <a:buNone/>
            </a:pPr>
            <a:r>
              <a:rPr lang="en-US" sz="1300" dirty="0">
                <a:solidFill>
                  <a:srgbClr val="1C2B2C"/>
                </a:solidFill>
                <a:latin typeface="Calibri" pitchFamily="34" charset="0"/>
                <a:ea typeface="Calibri" pitchFamily="34" charset="-122"/>
                <a:cs typeface="Calibri" pitchFamily="34" charset="-120"/>
              </a:rPr>
              <a:t>Existing ML studies of Indian air quality report average error only — not decomposed by the operating point a warning actually uses.</a:t>
            </a:r>
            <a:endParaRPr lang="en-US" sz="1300" dirty="0"/>
          </a:p>
        </p:txBody>
      </p:sp>
      <p:sp>
        <p:nvSpPr>
          <p:cNvPr id="8" name="Shape 6"/>
          <p:cNvSpPr/>
          <p:nvPr/>
        </p:nvSpPr>
        <p:spPr>
          <a:xfrm>
            <a:off x="6223000" y="1879600"/>
            <a:ext cx="5270500" cy="1905000"/>
          </a:xfrm>
          <a:prstGeom prst="roundRect">
            <a:avLst>
              <a:gd name="adj" fmla="val 6720"/>
            </a:avLst>
          </a:prstGeom>
          <a:solidFill>
            <a:srgbClr val="FFFFFF"/>
          </a:solidFill>
          <a:ln/>
          <a:effectLst>
            <a:outerShdw sx="100000" sy="100000" kx="0" ky="0" algn="bl" rotWithShape="0" blurRad="127000" dist="38100" dir="5400000">
              <a:srgbClr val="16343A">
                <a:alpha val="16000"/>
              </a:srgbClr>
            </a:outerShdw>
          </a:effectLst>
        </p:spPr>
      </p:sp>
      <p:sp>
        <p:nvSpPr>
          <p:cNvPr id="9" name="Text 7"/>
          <p:cNvSpPr/>
          <p:nvPr/>
        </p:nvSpPr>
        <p:spPr>
          <a:xfrm>
            <a:off x="6515100" y="21336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WHY AVERAGE ERROR MISLEADS</a:t>
            </a:r>
            <a:endParaRPr lang="en-US" sz="900" dirty="0"/>
          </a:p>
        </p:txBody>
      </p:sp>
      <p:sp>
        <p:nvSpPr>
          <p:cNvPr id="10" name="Text 8"/>
          <p:cNvSpPr/>
          <p:nvPr/>
        </p:nvSpPr>
        <p:spPr>
          <a:xfrm>
            <a:off x="6515100" y="2438400"/>
            <a:ext cx="4699000" cy="1143000"/>
          </a:xfrm>
          <a:prstGeom prst="rect">
            <a:avLst/>
          </a:prstGeom>
          <a:noFill/>
          <a:ln/>
        </p:spPr>
        <p:txBody>
          <a:bodyPr wrap="square" rtlCol="0" anchor="t"/>
          <a:lstStyle/>
          <a:p>
            <a:pPr indent="0" marL="0">
              <a:lnSpc>
                <a:spcPct val="150000"/>
              </a:lnSpc>
              <a:buNone/>
            </a:pPr>
            <a:r>
              <a:rPr lang="en-US" sz="1300" dirty="0">
                <a:solidFill>
                  <a:srgbClr val="1C2B2C"/>
                </a:solidFill>
                <a:latin typeface="Calibri" pitchFamily="34" charset="0"/>
                <a:ea typeface="Calibri" pitchFamily="34" charset="-122"/>
                <a:cs typeface="Calibri" pitchFamily="34" charset="-120"/>
              </a:rPr>
              <a:t>Good average error can still mean a poor warning system — and the reverse also holds.</a:t>
            </a:r>
            <a:endParaRPr lang="en-US" sz="1300" dirty="0"/>
          </a:p>
        </p:txBody>
      </p:sp>
      <p:sp>
        <p:nvSpPr>
          <p:cNvPr id="11" name="Shape 9"/>
          <p:cNvSpPr/>
          <p:nvPr/>
        </p:nvSpPr>
        <p:spPr>
          <a:xfrm>
            <a:off x="698500" y="3987800"/>
            <a:ext cx="5270500" cy="1905000"/>
          </a:xfrm>
          <a:prstGeom prst="roundRect">
            <a:avLst>
              <a:gd name="adj" fmla="val 6720"/>
            </a:avLst>
          </a:prstGeom>
          <a:solidFill>
            <a:srgbClr val="FFFFFF"/>
          </a:solidFill>
          <a:ln/>
          <a:effectLst>
            <a:outerShdw sx="100000" sy="100000" kx="0" ky="0" algn="bl" rotWithShape="0" blurRad="127000" dist="38100" dir="5400000">
              <a:srgbClr val="16343A">
                <a:alpha val="16000"/>
              </a:srgbClr>
            </a:outerShdw>
          </a:effectLst>
        </p:spPr>
      </p:sp>
      <p:sp>
        <p:nvSpPr>
          <p:cNvPr id="12" name="Text 10"/>
          <p:cNvSpPr/>
          <p:nvPr/>
        </p:nvSpPr>
        <p:spPr>
          <a:xfrm>
            <a:off x="990600" y="42418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AN ASSUMPTION WORTH TESTING</a:t>
            </a:r>
            <a:endParaRPr lang="en-US" sz="900" dirty="0"/>
          </a:p>
        </p:txBody>
      </p:sp>
      <p:sp>
        <p:nvSpPr>
          <p:cNvPr id="13" name="Text 11"/>
          <p:cNvSpPr/>
          <p:nvPr/>
        </p:nvSpPr>
        <p:spPr>
          <a:xfrm>
            <a:off x="990600" y="4546600"/>
            <a:ext cx="4699000" cy="1143000"/>
          </a:xfrm>
          <a:prstGeom prst="rect">
            <a:avLst/>
          </a:prstGeom>
          <a:noFill/>
          <a:ln/>
        </p:spPr>
        <p:txBody>
          <a:bodyPr wrap="square" rtlCol="0" anchor="t"/>
          <a:lstStyle/>
          <a:p>
            <a:pPr indent="0" marL="0">
              <a:lnSpc>
                <a:spcPct val="150000"/>
              </a:lnSpc>
              <a:buNone/>
            </a:pPr>
            <a:r>
              <a:rPr lang="en-US" sz="1300" dirty="0">
                <a:solidFill>
                  <a:srgbClr val="1C2B2C"/>
                </a:solidFill>
                <a:latin typeface="Calibri" pitchFamily="34" charset="0"/>
                <a:ea typeface="Calibri" pitchFamily="34" charset="-122"/>
                <a:cs typeface="Calibri" pitchFamily="34" charset="-120"/>
              </a:rPr>
              <a:t>The approved proposal assumed a weekly cycle alongside the annual one. It is tested directly here, not carried over.</a:t>
            </a:r>
            <a:endParaRPr lang="en-US" sz="1300" dirty="0"/>
          </a:p>
        </p:txBody>
      </p:sp>
      <p:sp>
        <p:nvSpPr>
          <p:cNvPr id="14" name="Shape 12"/>
          <p:cNvSpPr/>
          <p:nvPr/>
        </p:nvSpPr>
        <p:spPr>
          <a:xfrm>
            <a:off x="6223000" y="3987800"/>
            <a:ext cx="5270500" cy="1905000"/>
          </a:xfrm>
          <a:prstGeom prst="roundRect">
            <a:avLst>
              <a:gd name="adj" fmla="val 6720"/>
            </a:avLst>
          </a:prstGeom>
          <a:solidFill>
            <a:srgbClr val="16343A"/>
          </a:solidFill>
          <a:ln/>
        </p:spPr>
      </p:sp>
      <p:sp>
        <p:nvSpPr>
          <p:cNvPr id="15" name="Text 13"/>
          <p:cNvSpPr/>
          <p:nvPr/>
        </p:nvSpPr>
        <p:spPr>
          <a:xfrm>
            <a:off x="6515100" y="4241800"/>
            <a:ext cx="4699000" cy="203200"/>
          </a:xfrm>
          <a:prstGeom prst="rect">
            <a:avLst/>
          </a:prstGeom>
          <a:noFill/>
          <a:ln/>
        </p:spPr>
        <p:txBody>
          <a:bodyPr wrap="square" rtlCol="0" anchor="ctr"/>
          <a:lstStyle/>
          <a:p>
            <a:pPr indent="0" marL="0">
              <a:buNone/>
            </a:pPr>
            <a:r>
              <a:rPr lang="en-US" sz="900" b="1" spc="140" kern="0" dirty="0">
                <a:solidFill>
                  <a:srgbClr val="F0A999"/>
                </a:solidFill>
                <a:latin typeface="Calibri" pitchFamily="34" charset="0"/>
                <a:ea typeface="Calibri" pitchFamily="34" charset="-122"/>
                <a:cs typeface="Calibri" pitchFamily="34" charset="-120"/>
              </a:rPr>
              <a:t>SIGNIFICANCE</a:t>
            </a:r>
            <a:endParaRPr lang="en-US" sz="900" dirty="0"/>
          </a:p>
        </p:txBody>
      </p:sp>
      <p:sp>
        <p:nvSpPr>
          <p:cNvPr id="16" name="Text 14"/>
          <p:cNvSpPr/>
          <p:nvPr/>
        </p:nvSpPr>
        <p:spPr>
          <a:xfrm>
            <a:off x="6515100" y="4546600"/>
            <a:ext cx="4699000" cy="1143000"/>
          </a:xfrm>
          <a:prstGeom prst="rect">
            <a:avLst/>
          </a:prstGeom>
          <a:noFill/>
          <a:ln/>
        </p:spPr>
        <p:txBody>
          <a:bodyPr wrap="square" rtlCol="0" anchor="t"/>
          <a:lstStyle/>
          <a:p>
            <a:pPr indent="0" marL="0">
              <a:lnSpc>
                <a:spcPct val="150000"/>
              </a:lnSpc>
              <a:buNone/>
            </a:pPr>
            <a:r>
              <a:rPr lang="en-US" sz="1300" dirty="0">
                <a:solidFill>
                  <a:srgbClr val="FFFFFF"/>
                </a:solidFill>
                <a:latin typeface="Calibri" pitchFamily="34" charset="0"/>
                <a:ea typeface="Calibri" pitchFamily="34" charset="-122"/>
                <a:cs typeface="Calibri" pitchFamily="34" charset="-120"/>
              </a:rPr>
              <a:t>If the decision threshold dominates the model, then the alarm budget is the more consequential design choice.</a:t>
            </a:r>
            <a:endParaRPr lang="en-US" sz="13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INTRODUCTION</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Objectives and research questions</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Text 3"/>
          <p:cNvSpPr/>
          <p:nvPr/>
        </p:nvSpPr>
        <p:spPr>
          <a:xfrm>
            <a:off x="698500" y="1816100"/>
            <a:ext cx="5080000" cy="215900"/>
          </a:xfrm>
          <a:prstGeom prst="rect">
            <a:avLst/>
          </a:prstGeom>
          <a:noFill/>
          <a:ln/>
        </p:spPr>
        <p:txBody>
          <a:bodyPr wrap="square" rtlCol="0" anchor="ctr"/>
          <a:lstStyle/>
          <a:p>
            <a:pPr indent="0" marL="0">
              <a:buNone/>
            </a:pPr>
            <a:r>
              <a:rPr lang="en-US" sz="1050" b="1" spc="160" kern="0" dirty="0">
                <a:solidFill>
                  <a:srgbClr val="5C7678"/>
                </a:solidFill>
                <a:latin typeface="Calibri" pitchFamily="34" charset="0"/>
                <a:ea typeface="Calibri" pitchFamily="34" charset="-122"/>
                <a:cs typeface="Calibri" pitchFamily="34" charset="-120"/>
              </a:rPr>
              <a:t>OBJECTIVES</a:t>
            </a:r>
            <a:endParaRPr lang="en-US" sz="1050" dirty="0"/>
          </a:p>
        </p:txBody>
      </p:sp>
      <p:sp>
        <p:nvSpPr>
          <p:cNvPr id="6" name="Text 4"/>
          <p:cNvSpPr/>
          <p:nvPr/>
        </p:nvSpPr>
        <p:spPr>
          <a:xfrm>
            <a:off x="698500" y="2120900"/>
            <a:ext cx="330200" cy="330200"/>
          </a:xfrm>
          <a:prstGeom prst="roundRect">
            <a:avLst>
              <a:gd name="adj" fmla="val 50000"/>
            </a:avLst>
          </a:prstGeom>
          <a:solidFill>
            <a:srgbClr val="CDDBDB"/>
          </a:solidFill>
          <a:ln/>
        </p:spPr>
        <p:txBody>
          <a:bodyPr wrap="square" lIns="0" tIns="0" rIns="0" bIns="0" rtlCol="0" anchor="ctr"/>
          <a:lstStyle/>
          <a:p>
            <a:pPr algn="ctr" indent="0" marL="0">
              <a:buNone/>
            </a:pPr>
            <a:r>
              <a:rPr lang="en-US" sz="1200" b="1" dirty="0">
                <a:solidFill>
                  <a:srgbClr val="16343A"/>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81100" y="2146300"/>
            <a:ext cx="4445000" cy="635000"/>
          </a:xfrm>
          <a:prstGeom prst="rect">
            <a:avLst/>
          </a:prstGeom>
          <a:noFill/>
          <a:ln/>
        </p:spPr>
        <p:txBody>
          <a:bodyPr wrap="square" rtlCol="0" anchor="t"/>
          <a:lstStyle/>
          <a:p>
            <a:pPr indent="0" marL="0">
              <a:lnSpc>
                <a:spcPct val="140000"/>
              </a:lnSpc>
              <a:buNone/>
            </a:pPr>
            <a:r>
              <a:rPr lang="en-US" sz="1250" dirty="0">
                <a:solidFill>
                  <a:srgbClr val="1C2B2C"/>
                </a:solidFill>
                <a:latin typeface="Calibri" pitchFamily="34" charset="0"/>
                <a:ea typeface="Calibri" pitchFamily="34" charset="-122"/>
                <a:cs typeface="Calibri" pitchFamily="34" charset="-120"/>
              </a:rPr>
              <a:t>Evaluate classical, ML and deep learning models 1–3 days ahead, under a leakage-tested protocol</a:t>
            </a:r>
            <a:endParaRPr lang="en-US" sz="1250" dirty="0"/>
          </a:p>
        </p:txBody>
      </p:sp>
      <p:sp>
        <p:nvSpPr>
          <p:cNvPr id="8" name="Text 6"/>
          <p:cNvSpPr/>
          <p:nvPr/>
        </p:nvSpPr>
        <p:spPr>
          <a:xfrm>
            <a:off x="698500" y="3009900"/>
            <a:ext cx="330200" cy="330200"/>
          </a:xfrm>
          <a:prstGeom prst="roundRect">
            <a:avLst>
              <a:gd name="adj" fmla="val 50000"/>
            </a:avLst>
          </a:prstGeom>
          <a:solidFill>
            <a:srgbClr val="CDDBDB"/>
          </a:solidFill>
          <a:ln/>
        </p:spPr>
        <p:txBody>
          <a:bodyPr wrap="square" lIns="0" tIns="0" rIns="0" bIns="0" rtlCol="0" anchor="ctr"/>
          <a:lstStyle/>
          <a:p>
            <a:pPr algn="ctr" indent="0" marL="0">
              <a:buNone/>
            </a:pPr>
            <a:r>
              <a:rPr lang="en-US" sz="1200" b="1" dirty="0">
                <a:solidFill>
                  <a:srgbClr val="16343A"/>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181100" y="3035300"/>
            <a:ext cx="4445000" cy="635000"/>
          </a:xfrm>
          <a:prstGeom prst="rect">
            <a:avLst/>
          </a:prstGeom>
          <a:noFill/>
          <a:ln/>
        </p:spPr>
        <p:txBody>
          <a:bodyPr wrap="square" rtlCol="0" anchor="t"/>
          <a:lstStyle/>
          <a:p>
            <a:pPr indent="0" marL="0">
              <a:lnSpc>
                <a:spcPct val="140000"/>
              </a:lnSpc>
              <a:buNone/>
            </a:pPr>
            <a:r>
              <a:rPr lang="en-US" sz="1250" dirty="0">
                <a:solidFill>
                  <a:srgbClr val="1C2B2C"/>
                </a:solidFill>
                <a:latin typeface="Calibri" pitchFamily="34" charset="0"/>
                <a:ea typeface="Calibri" pitchFamily="34" charset="-122"/>
                <a:cs typeface="Calibri" pitchFamily="34" charset="-120"/>
              </a:rPr>
              <a:t>Compare forecast-then-threshold against direct classification</a:t>
            </a:r>
            <a:endParaRPr lang="en-US" sz="1250" dirty="0"/>
          </a:p>
        </p:txBody>
      </p:sp>
      <p:sp>
        <p:nvSpPr>
          <p:cNvPr id="10" name="Text 8"/>
          <p:cNvSpPr/>
          <p:nvPr/>
        </p:nvSpPr>
        <p:spPr>
          <a:xfrm>
            <a:off x="698500" y="3898900"/>
            <a:ext cx="330200" cy="330200"/>
          </a:xfrm>
          <a:prstGeom prst="roundRect">
            <a:avLst>
              <a:gd name="adj" fmla="val 50000"/>
            </a:avLst>
          </a:prstGeom>
          <a:solidFill>
            <a:srgbClr val="CDDBDB"/>
          </a:solidFill>
          <a:ln/>
        </p:spPr>
        <p:txBody>
          <a:bodyPr wrap="square" lIns="0" tIns="0" rIns="0" bIns="0" rtlCol="0" anchor="ctr"/>
          <a:lstStyle/>
          <a:p>
            <a:pPr algn="ctr" indent="0" marL="0">
              <a:buNone/>
            </a:pPr>
            <a:r>
              <a:rPr lang="en-US" sz="1200" b="1" dirty="0">
                <a:solidFill>
                  <a:srgbClr val="16343A"/>
                </a:solidFill>
                <a:latin typeface="Calibri" pitchFamily="34" charset="0"/>
                <a:ea typeface="Calibri" pitchFamily="34" charset="-122"/>
                <a:cs typeface="Calibri" pitchFamily="34" charset="-120"/>
              </a:rPr>
              <a:t>3</a:t>
            </a:r>
            <a:endParaRPr lang="en-US" sz="1200" dirty="0"/>
          </a:p>
        </p:txBody>
      </p:sp>
      <p:sp>
        <p:nvSpPr>
          <p:cNvPr id="11" name="Text 9"/>
          <p:cNvSpPr/>
          <p:nvPr/>
        </p:nvSpPr>
        <p:spPr>
          <a:xfrm>
            <a:off x="1181100" y="3924300"/>
            <a:ext cx="4445000" cy="635000"/>
          </a:xfrm>
          <a:prstGeom prst="rect">
            <a:avLst/>
          </a:prstGeom>
          <a:noFill/>
          <a:ln/>
        </p:spPr>
        <p:txBody>
          <a:bodyPr wrap="square" rtlCol="0" anchor="t"/>
          <a:lstStyle/>
          <a:p>
            <a:pPr indent="0" marL="0">
              <a:lnSpc>
                <a:spcPct val="140000"/>
              </a:lnSpc>
              <a:buNone/>
            </a:pPr>
            <a:r>
              <a:rPr lang="en-US" sz="1250" dirty="0">
                <a:solidFill>
                  <a:srgbClr val="1C2B2C"/>
                </a:solidFill>
                <a:latin typeface="Calibri" pitchFamily="34" charset="0"/>
                <a:ea typeface="Calibri" pitchFamily="34" charset="-122"/>
                <a:cs typeface="Calibri" pitchFamily="34" charset="-120"/>
              </a:rPr>
              <a:t>Quantify skill as a warning system under a varying threshold</a:t>
            </a:r>
            <a:endParaRPr lang="en-US" sz="1250" dirty="0"/>
          </a:p>
        </p:txBody>
      </p:sp>
      <p:sp>
        <p:nvSpPr>
          <p:cNvPr id="12" name="Shape 10"/>
          <p:cNvSpPr/>
          <p:nvPr/>
        </p:nvSpPr>
        <p:spPr>
          <a:xfrm>
            <a:off x="6032500" y="1816100"/>
            <a:ext cx="12700" cy="3009900"/>
          </a:xfrm>
          <a:prstGeom prst="rect">
            <a:avLst/>
          </a:prstGeom>
          <a:solidFill>
            <a:srgbClr val="DCE3E3"/>
          </a:solidFill>
          <a:ln/>
        </p:spPr>
      </p:sp>
      <p:sp>
        <p:nvSpPr>
          <p:cNvPr id="13" name="Text 11"/>
          <p:cNvSpPr/>
          <p:nvPr/>
        </p:nvSpPr>
        <p:spPr>
          <a:xfrm>
            <a:off x="6413500" y="1816100"/>
            <a:ext cx="5080000" cy="215900"/>
          </a:xfrm>
          <a:prstGeom prst="rect">
            <a:avLst/>
          </a:prstGeom>
          <a:noFill/>
          <a:ln/>
        </p:spPr>
        <p:txBody>
          <a:bodyPr wrap="square" rtlCol="0" anchor="ctr"/>
          <a:lstStyle/>
          <a:p>
            <a:pPr indent="0" marL="0">
              <a:buNone/>
            </a:pPr>
            <a:r>
              <a:rPr lang="en-US" sz="1050" b="1" spc="160" kern="0" dirty="0">
                <a:solidFill>
                  <a:srgbClr val="5C7678"/>
                </a:solidFill>
                <a:latin typeface="Calibri" pitchFamily="34" charset="0"/>
                <a:ea typeface="Calibri" pitchFamily="34" charset="-122"/>
                <a:cs typeface="Calibri" pitchFamily="34" charset="-120"/>
              </a:rPr>
              <a:t>RESEARCH QUESTIONS</a:t>
            </a:r>
            <a:endParaRPr lang="en-US" sz="1050" dirty="0"/>
          </a:p>
        </p:txBody>
      </p:sp>
      <p:sp>
        <p:nvSpPr>
          <p:cNvPr id="14" name="Text 12"/>
          <p:cNvSpPr/>
          <p:nvPr/>
        </p:nvSpPr>
        <p:spPr>
          <a:xfrm>
            <a:off x="6413500" y="2120900"/>
            <a:ext cx="330200" cy="330200"/>
          </a:xfrm>
          <a:prstGeom prst="roundRect">
            <a:avLst>
              <a:gd name="adj" fmla="val 50000"/>
            </a:avLst>
          </a:prstGeom>
          <a:solidFill>
            <a:srgbClr val="CDDBDB"/>
          </a:solidFill>
          <a:ln/>
        </p:spPr>
        <p:txBody>
          <a:bodyPr wrap="square" lIns="0" tIns="0" rIns="0" bIns="0" rtlCol="0" anchor="ctr"/>
          <a:lstStyle/>
          <a:p>
            <a:pPr algn="ctr" indent="0" marL="0">
              <a:buNone/>
            </a:pPr>
            <a:r>
              <a:rPr lang="en-US" sz="1000" b="1" dirty="0">
                <a:solidFill>
                  <a:srgbClr val="16343A"/>
                </a:solidFill>
                <a:latin typeface="Calibri" pitchFamily="34" charset="0"/>
                <a:ea typeface="Calibri" pitchFamily="34" charset="-122"/>
                <a:cs typeface="Calibri" pitchFamily="34" charset="-120"/>
              </a:rPr>
              <a:t>Q1</a:t>
            </a:r>
            <a:endParaRPr lang="en-US" sz="1000" dirty="0"/>
          </a:p>
        </p:txBody>
      </p:sp>
      <p:sp>
        <p:nvSpPr>
          <p:cNvPr id="15" name="Text 13"/>
          <p:cNvSpPr/>
          <p:nvPr/>
        </p:nvSpPr>
        <p:spPr>
          <a:xfrm>
            <a:off x="6896100" y="2146300"/>
            <a:ext cx="4445000" cy="635000"/>
          </a:xfrm>
          <a:prstGeom prst="rect">
            <a:avLst/>
          </a:prstGeom>
          <a:noFill/>
          <a:ln/>
        </p:spPr>
        <p:txBody>
          <a:bodyPr wrap="square" rtlCol="0" anchor="t"/>
          <a:lstStyle/>
          <a:p>
            <a:pPr indent="0" marL="0">
              <a:lnSpc>
                <a:spcPct val="140000"/>
              </a:lnSpc>
              <a:buNone/>
            </a:pPr>
            <a:r>
              <a:rPr lang="en-US" sz="1250" dirty="0">
                <a:solidFill>
                  <a:srgbClr val="1C2B2C"/>
                </a:solidFill>
                <a:latin typeface="Calibri" pitchFamily="34" charset="0"/>
                <a:ea typeface="Calibri" pitchFamily="34" charset="-122"/>
                <a:cs typeface="Calibri" pitchFamily="34" charset="-120"/>
              </a:rPr>
              <a:t>How accurately can PM2.5 be forecast 1–3 days ahead?</a:t>
            </a:r>
            <a:endParaRPr lang="en-US" sz="1250" dirty="0"/>
          </a:p>
        </p:txBody>
      </p:sp>
      <p:sp>
        <p:nvSpPr>
          <p:cNvPr id="16" name="Text 14"/>
          <p:cNvSpPr/>
          <p:nvPr/>
        </p:nvSpPr>
        <p:spPr>
          <a:xfrm>
            <a:off x="6413500" y="3009900"/>
            <a:ext cx="330200" cy="330200"/>
          </a:xfrm>
          <a:prstGeom prst="roundRect">
            <a:avLst>
              <a:gd name="adj" fmla="val 50000"/>
            </a:avLst>
          </a:prstGeom>
          <a:solidFill>
            <a:srgbClr val="CDDBDB"/>
          </a:solidFill>
          <a:ln/>
        </p:spPr>
        <p:txBody>
          <a:bodyPr wrap="square" lIns="0" tIns="0" rIns="0" bIns="0" rtlCol="0" anchor="ctr"/>
          <a:lstStyle/>
          <a:p>
            <a:pPr algn="ctr" indent="0" marL="0">
              <a:buNone/>
            </a:pPr>
            <a:r>
              <a:rPr lang="en-US" sz="1000" b="1" dirty="0">
                <a:solidFill>
                  <a:srgbClr val="16343A"/>
                </a:solidFill>
                <a:latin typeface="Calibri" pitchFamily="34" charset="0"/>
                <a:ea typeface="Calibri" pitchFamily="34" charset="-122"/>
                <a:cs typeface="Calibri" pitchFamily="34" charset="-120"/>
              </a:rPr>
              <a:t>Q2</a:t>
            </a:r>
            <a:endParaRPr lang="en-US" sz="1000" dirty="0"/>
          </a:p>
        </p:txBody>
      </p:sp>
      <p:sp>
        <p:nvSpPr>
          <p:cNvPr id="17" name="Text 15"/>
          <p:cNvSpPr/>
          <p:nvPr/>
        </p:nvSpPr>
        <p:spPr>
          <a:xfrm>
            <a:off x="6896100" y="3035300"/>
            <a:ext cx="4445000" cy="635000"/>
          </a:xfrm>
          <a:prstGeom prst="rect">
            <a:avLst/>
          </a:prstGeom>
          <a:noFill/>
          <a:ln/>
        </p:spPr>
        <p:txBody>
          <a:bodyPr wrap="square" rtlCol="0" anchor="t"/>
          <a:lstStyle/>
          <a:p>
            <a:pPr indent="0" marL="0">
              <a:lnSpc>
                <a:spcPct val="140000"/>
              </a:lnSpc>
              <a:buNone/>
            </a:pPr>
            <a:r>
              <a:rPr lang="en-US" sz="1250" dirty="0">
                <a:solidFill>
                  <a:srgbClr val="1C2B2C"/>
                </a:solidFill>
                <a:latin typeface="Calibri" pitchFamily="34" charset="0"/>
                <a:ea typeface="Calibri" pitchFamily="34" charset="-122"/>
                <a:cs typeface="Calibri" pitchFamily="34" charset="-120"/>
              </a:rPr>
              <a:t>Threshold a forecast, or classify the exceedance directly?</a:t>
            </a:r>
            <a:endParaRPr lang="en-US" sz="1250" dirty="0"/>
          </a:p>
        </p:txBody>
      </p:sp>
      <p:sp>
        <p:nvSpPr>
          <p:cNvPr id="18" name="Text 16"/>
          <p:cNvSpPr/>
          <p:nvPr/>
        </p:nvSpPr>
        <p:spPr>
          <a:xfrm>
            <a:off x="6413500" y="3898900"/>
            <a:ext cx="330200" cy="330200"/>
          </a:xfrm>
          <a:prstGeom prst="roundRect">
            <a:avLst>
              <a:gd name="adj" fmla="val 50000"/>
            </a:avLst>
          </a:prstGeom>
          <a:solidFill>
            <a:srgbClr val="E35D45"/>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19" name="Text 17"/>
          <p:cNvSpPr/>
          <p:nvPr/>
        </p:nvSpPr>
        <p:spPr>
          <a:xfrm>
            <a:off x="6896100" y="3924300"/>
            <a:ext cx="4445000" cy="635000"/>
          </a:xfrm>
          <a:prstGeom prst="rect">
            <a:avLst/>
          </a:prstGeom>
          <a:noFill/>
          <a:ln/>
        </p:spPr>
        <p:txBody>
          <a:bodyPr wrap="square" rtlCol="0" anchor="t"/>
          <a:lstStyle/>
          <a:p>
            <a:pPr indent="0" marL="0">
              <a:lnSpc>
                <a:spcPct val="140000"/>
              </a:lnSpc>
              <a:buNone/>
            </a:pPr>
            <a:r>
              <a:rPr lang="en-US" sz="1250" b="1" dirty="0">
                <a:solidFill>
                  <a:srgbClr val="16343A"/>
                </a:solidFill>
                <a:latin typeface="Calibri" pitchFamily="34" charset="0"/>
                <a:ea typeface="Calibri" pitchFamily="34" charset="-122"/>
                <a:cs typeface="Calibri" pitchFamily="34" charset="-120"/>
              </a:rPr>
              <a:t>What hit rate / false alarm rate trade-off does each give?</a:t>
            </a:r>
            <a:endParaRPr lang="en-US" sz="1250" dirty="0"/>
          </a:p>
        </p:txBody>
      </p:sp>
      <p:sp>
        <p:nvSpPr>
          <p:cNvPr id="20" name="Shape 18"/>
          <p:cNvSpPr/>
          <p:nvPr/>
        </p:nvSpPr>
        <p:spPr>
          <a:xfrm>
            <a:off x="698500" y="5372100"/>
            <a:ext cx="10795000" cy="787400"/>
          </a:xfrm>
          <a:prstGeom prst="roundRect">
            <a:avLst>
              <a:gd name="adj" fmla="val 16258"/>
            </a:avLst>
          </a:prstGeom>
          <a:solidFill>
            <a:srgbClr val="16343A"/>
          </a:solidFill>
          <a:ln/>
        </p:spPr>
      </p:sp>
      <p:sp>
        <p:nvSpPr>
          <p:cNvPr id="21" name="Text 19"/>
          <p:cNvSpPr/>
          <p:nvPr/>
        </p:nvSpPr>
        <p:spPr>
          <a:xfrm>
            <a:off x="1079500" y="5372100"/>
            <a:ext cx="10033000" cy="787400"/>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Q3's answer turns out to dominate Q1 and Q2 — and the report is organised around that.</a:t>
            </a:r>
            <a:endParaRPr lang="en-US" sz="15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93000" y="952500"/>
            <a:ext cx="4445000" cy="3556000"/>
          </a:xfrm>
          <a:prstGeom prst="rect">
            <a:avLst/>
          </a:prstGeom>
          <a:noFill/>
          <a:ln/>
        </p:spPr>
        <p:txBody>
          <a:bodyPr wrap="square" rtlCol="0" anchor="t"/>
          <a:lstStyle/>
          <a:p>
            <a:pPr algn="r" indent="0" marL="0">
              <a:buNone/>
            </a:pPr>
            <a:r>
              <a:rPr lang="en-US" sz="20000" b="1" dirty="0">
                <a:solidFill>
                  <a:srgbClr val="1E4850"/>
                </a:solidFill>
                <a:latin typeface="Calibri" pitchFamily="34" charset="0"/>
                <a:ea typeface="Calibri" pitchFamily="34" charset="-122"/>
                <a:cs typeface="Calibri" pitchFamily="34" charset="-120"/>
              </a:rPr>
              <a:t>02</a:t>
            </a:r>
            <a:endParaRPr lang="en-US" sz="20000" dirty="0"/>
          </a:p>
        </p:txBody>
      </p:sp>
      <p:sp>
        <p:nvSpPr>
          <p:cNvPr id="3" name="Shape 1"/>
          <p:cNvSpPr/>
          <p:nvPr/>
        </p:nvSpPr>
        <p:spPr>
          <a:xfrm>
            <a:off x="0" y="6492136"/>
            <a:ext cx="287020" cy="365864"/>
          </a:xfrm>
          <a:prstGeom prst="rect">
            <a:avLst/>
          </a:prstGeom>
          <a:solidFill>
            <a:srgbClr val="E35D45">
              <a:alpha val="78000"/>
            </a:srgbClr>
          </a:solidFill>
          <a:ln/>
        </p:spPr>
      </p:sp>
      <p:sp>
        <p:nvSpPr>
          <p:cNvPr id="4" name="Shape 2"/>
          <p:cNvSpPr/>
          <p:nvPr/>
        </p:nvSpPr>
        <p:spPr>
          <a:xfrm>
            <a:off x="304800" y="6541153"/>
            <a:ext cx="287020" cy="316847"/>
          </a:xfrm>
          <a:prstGeom prst="rect">
            <a:avLst/>
          </a:prstGeom>
          <a:solidFill>
            <a:srgbClr val="E35D45">
              <a:alpha val="78000"/>
            </a:srgbClr>
          </a:solidFill>
          <a:ln/>
        </p:spPr>
      </p:sp>
      <p:sp>
        <p:nvSpPr>
          <p:cNvPr id="5" name="Shape 3"/>
          <p:cNvSpPr/>
          <p:nvPr/>
        </p:nvSpPr>
        <p:spPr>
          <a:xfrm>
            <a:off x="609600" y="6077001"/>
            <a:ext cx="287020" cy="780999"/>
          </a:xfrm>
          <a:prstGeom prst="rect">
            <a:avLst/>
          </a:prstGeom>
          <a:solidFill>
            <a:srgbClr val="E35D45">
              <a:alpha val="78000"/>
            </a:srgbClr>
          </a:solidFill>
          <a:ln/>
        </p:spPr>
      </p:sp>
      <p:sp>
        <p:nvSpPr>
          <p:cNvPr id="6" name="Shape 4"/>
          <p:cNvSpPr/>
          <p:nvPr/>
        </p:nvSpPr>
        <p:spPr>
          <a:xfrm>
            <a:off x="914400" y="6391613"/>
            <a:ext cx="287020" cy="466387"/>
          </a:xfrm>
          <a:prstGeom prst="rect">
            <a:avLst/>
          </a:prstGeom>
          <a:solidFill>
            <a:srgbClr val="E35D45">
              <a:alpha val="78000"/>
            </a:srgbClr>
          </a:solidFill>
          <a:ln/>
        </p:spPr>
      </p:sp>
      <p:sp>
        <p:nvSpPr>
          <p:cNvPr id="7" name="Shape 5"/>
          <p:cNvSpPr/>
          <p:nvPr/>
        </p:nvSpPr>
        <p:spPr>
          <a:xfrm>
            <a:off x="1219200" y="6627266"/>
            <a:ext cx="287020" cy="230734"/>
          </a:xfrm>
          <a:prstGeom prst="rect">
            <a:avLst/>
          </a:prstGeom>
          <a:solidFill>
            <a:srgbClr val="2F5F67">
              <a:alpha val="50000"/>
            </a:srgbClr>
          </a:solidFill>
          <a:ln/>
        </p:spPr>
      </p:sp>
      <p:sp>
        <p:nvSpPr>
          <p:cNvPr id="8" name="Shape 6"/>
          <p:cNvSpPr/>
          <p:nvPr/>
        </p:nvSpPr>
        <p:spPr>
          <a:xfrm>
            <a:off x="1524000" y="6308512"/>
            <a:ext cx="287020" cy="549488"/>
          </a:xfrm>
          <a:prstGeom prst="rect">
            <a:avLst/>
          </a:prstGeom>
          <a:solidFill>
            <a:srgbClr val="E35D45">
              <a:alpha val="78000"/>
            </a:srgbClr>
          </a:solidFill>
          <a:ln/>
        </p:spPr>
      </p:sp>
      <p:sp>
        <p:nvSpPr>
          <p:cNvPr id="9" name="Shape 7"/>
          <p:cNvSpPr/>
          <p:nvPr/>
        </p:nvSpPr>
        <p:spPr>
          <a:xfrm>
            <a:off x="1828800" y="6578114"/>
            <a:ext cx="287020" cy="279886"/>
          </a:xfrm>
          <a:prstGeom prst="rect">
            <a:avLst/>
          </a:prstGeom>
          <a:solidFill>
            <a:srgbClr val="2F5F67">
              <a:alpha val="50000"/>
            </a:srgbClr>
          </a:solidFill>
          <a:ln/>
        </p:spPr>
      </p:sp>
      <p:sp>
        <p:nvSpPr>
          <p:cNvPr id="10" name="Shape 8"/>
          <p:cNvSpPr/>
          <p:nvPr/>
        </p:nvSpPr>
        <p:spPr>
          <a:xfrm>
            <a:off x="2133600" y="6087788"/>
            <a:ext cx="287020" cy="770212"/>
          </a:xfrm>
          <a:prstGeom prst="rect">
            <a:avLst/>
          </a:prstGeom>
          <a:solidFill>
            <a:srgbClr val="E35D45">
              <a:alpha val="78000"/>
            </a:srgbClr>
          </a:solidFill>
          <a:ln/>
        </p:spPr>
      </p:sp>
      <p:sp>
        <p:nvSpPr>
          <p:cNvPr id="11" name="Shape 9"/>
          <p:cNvSpPr/>
          <p:nvPr/>
        </p:nvSpPr>
        <p:spPr>
          <a:xfrm>
            <a:off x="2438400" y="6516879"/>
            <a:ext cx="287020" cy="341121"/>
          </a:xfrm>
          <a:prstGeom prst="rect">
            <a:avLst/>
          </a:prstGeom>
          <a:solidFill>
            <a:srgbClr val="E35D45">
              <a:alpha val="78000"/>
            </a:srgbClr>
          </a:solidFill>
          <a:ln/>
        </p:spPr>
      </p:sp>
      <p:sp>
        <p:nvSpPr>
          <p:cNvPr id="12" name="Shape 10"/>
          <p:cNvSpPr/>
          <p:nvPr/>
        </p:nvSpPr>
        <p:spPr>
          <a:xfrm>
            <a:off x="2743200" y="6483914"/>
            <a:ext cx="287020" cy="374086"/>
          </a:xfrm>
          <a:prstGeom prst="rect">
            <a:avLst/>
          </a:prstGeom>
          <a:solidFill>
            <a:srgbClr val="E35D45">
              <a:alpha val="78000"/>
            </a:srgbClr>
          </a:solidFill>
          <a:ln/>
        </p:spPr>
      </p:sp>
      <p:sp>
        <p:nvSpPr>
          <p:cNvPr id="13" name="Shape 11"/>
          <p:cNvSpPr/>
          <p:nvPr/>
        </p:nvSpPr>
        <p:spPr>
          <a:xfrm>
            <a:off x="3048000" y="6286130"/>
            <a:ext cx="287020" cy="571870"/>
          </a:xfrm>
          <a:prstGeom prst="rect">
            <a:avLst/>
          </a:prstGeom>
          <a:solidFill>
            <a:srgbClr val="E35D45">
              <a:alpha val="78000"/>
            </a:srgbClr>
          </a:solidFill>
          <a:ln/>
        </p:spPr>
      </p:sp>
      <p:sp>
        <p:nvSpPr>
          <p:cNvPr id="14" name="Shape 12"/>
          <p:cNvSpPr/>
          <p:nvPr/>
        </p:nvSpPr>
        <p:spPr>
          <a:xfrm>
            <a:off x="3352800" y="6171313"/>
            <a:ext cx="287020" cy="686687"/>
          </a:xfrm>
          <a:prstGeom prst="rect">
            <a:avLst/>
          </a:prstGeom>
          <a:solidFill>
            <a:srgbClr val="E35D45">
              <a:alpha val="78000"/>
            </a:srgbClr>
          </a:solidFill>
          <a:ln/>
        </p:spPr>
      </p:sp>
      <p:sp>
        <p:nvSpPr>
          <p:cNvPr id="15" name="Shape 13"/>
          <p:cNvSpPr/>
          <p:nvPr/>
        </p:nvSpPr>
        <p:spPr>
          <a:xfrm>
            <a:off x="3657600" y="6364669"/>
            <a:ext cx="287020" cy="493331"/>
          </a:xfrm>
          <a:prstGeom prst="rect">
            <a:avLst/>
          </a:prstGeom>
          <a:solidFill>
            <a:srgbClr val="E35D45">
              <a:alpha val="78000"/>
            </a:srgbClr>
          </a:solidFill>
          <a:ln/>
        </p:spPr>
      </p:sp>
      <p:sp>
        <p:nvSpPr>
          <p:cNvPr id="16" name="Shape 14"/>
          <p:cNvSpPr/>
          <p:nvPr/>
        </p:nvSpPr>
        <p:spPr>
          <a:xfrm>
            <a:off x="3962400" y="6332568"/>
            <a:ext cx="287020" cy="525432"/>
          </a:xfrm>
          <a:prstGeom prst="rect">
            <a:avLst/>
          </a:prstGeom>
          <a:solidFill>
            <a:srgbClr val="E35D45">
              <a:alpha val="78000"/>
            </a:srgbClr>
          </a:solidFill>
          <a:ln/>
        </p:spPr>
      </p:sp>
      <p:sp>
        <p:nvSpPr>
          <p:cNvPr id="17" name="Shape 15"/>
          <p:cNvSpPr/>
          <p:nvPr/>
        </p:nvSpPr>
        <p:spPr>
          <a:xfrm>
            <a:off x="4267200" y="6377161"/>
            <a:ext cx="287020" cy="480839"/>
          </a:xfrm>
          <a:prstGeom prst="rect">
            <a:avLst/>
          </a:prstGeom>
          <a:solidFill>
            <a:srgbClr val="E35D45">
              <a:alpha val="78000"/>
            </a:srgbClr>
          </a:solidFill>
          <a:ln/>
        </p:spPr>
      </p:sp>
      <p:sp>
        <p:nvSpPr>
          <p:cNvPr id="18" name="Shape 16"/>
          <p:cNvSpPr/>
          <p:nvPr/>
        </p:nvSpPr>
        <p:spPr>
          <a:xfrm>
            <a:off x="4572000" y="6235201"/>
            <a:ext cx="287020" cy="622799"/>
          </a:xfrm>
          <a:prstGeom prst="rect">
            <a:avLst/>
          </a:prstGeom>
          <a:solidFill>
            <a:srgbClr val="E35D45">
              <a:alpha val="78000"/>
            </a:srgbClr>
          </a:solidFill>
          <a:ln/>
        </p:spPr>
      </p:sp>
      <p:sp>
        <p:nvSpPr>
          <p:cNvPr id="19" name="Shape 17"/>
          <p:cNvSpPr/>
          <p:nvPr/>
        </p:nvSpPr>
        <p:spPr>
          <a:xfrm>
            <a:off x="4876800" y="6537572"/>
            <a:ext cx="287020" cy="320428"/>
          </a:xfrm>
          <a:prstGeom prst="rect">
            <a:avLst/>
          </a:prstGeom>
          <a:solidFill>
            <a:srgbClr val="E35D45">
              <a:alpha val="78000"/>
            </a:srgbClr>
          </a:solidFill>
          <a:ln/>
        </p:spPr>
      </p:sp>
      <p:sp>
        <p:nvSpPr>
          <p:cNvPr id="20" name="Shape 18"/>
          <p:cNvSpPr/>
          <p:nvPr/>
        </p:nvSpPr>
        <p:spPr>
          <a:xfrm>
            <a:off x="5181600" y="6512448"/>
            <a:ext cx="287020" cy="345552"/>
          </a:xfrm>
          <a:prstGeom prst="rect">
            <a:avLst/>
          </a:prstGeom>
          <a:solidFill>
            <a:srgbClr val="E35D45">
              <a:alpha val="78000"/>
            </a:srgbClr>
          </a:solidFill>
          <a:ln/>
        </p:spPr>
      </p:sp>
      <p:sp>
        <p:nvSpPr>
          <p:cNvPr id="21" name="Shape 19"/>
          <p:cNvSpPr/>
          <p:nvPr/>
        </p:nvSpPr>
        <p:spPr>
          <a:xfrm>
            <a:off x="5486400" y="6442495"/>
            <a:ext cx="287020" cy="415505"/>
          </a:xfrm>
          <a:prstGeom prst="rect">
            <a:avLst/>
          </a:prstGeom>
          <a:solidFill>
            <a:srgbClr val="E35D45">
              <a:alpha val="78000"/>
            </a:srgbClr>
          </a:solidFill>
          <a:ln/>
        </p:spPr>
      </p:sp>
      <p:sp>
        <p:nvSpPr>
          <p:cNvPr id="22" name="Shape 20"/>
          <p:cNvSpPr/>
          <p:nvPr/>
        </p:nvSpPr>
        <p:spPr>
          <a:xfrm>
            <a:off x="5791200" y="6379539"/>
            <a:ext cx="287020" cy="478461"/>
          </a:xfrm>
          <a:prstGeom prst="rect">
            <a:avLst/>
          </a:prstGeom>
          <a:solidFill>
            <a:srgbClr val="E35D45">
              <a:alpha val="78000"/>
            </a:srgbClr>
          </a:solidFill>
          <a:ln/>
        </p:spPr>
      </p:sp>
      <p:sp>
        <p:nvSpPr>
          <p:cNvPr id="23" name="Shape 21"/>
          <p:cNvSpPr/>
          <p:nvPr/>
        </p:nvSpPr>
        <p:spPr>
          <a:xfrm>
            <a:off x="6096000" y="6264592"/>
            <a:ext cx="287020" cy="593408"/>
          </a:xfrm>
          <a:prstGeom prst="rect">
            <a:avLst/>
          </a:prstGeom>
          <a:solidFill>
            <a:srgbClr val="E35D45">
              <a:alpha val="78000"/>
            </a:srgbClr>
          </a:solidFill>
          <a:ln/>
        </p:spPr>
      </p:sp>
      <p:sp>
        <p:nvSpPr>
          <p:cNvPr id="24" name="Shape 22"/>
          <p:cNvSpPr/>
          <p:nvPr/>
        </p:nvSpPr>
        <p:spPr>
          <a:xfrm>
            <a:off x="6400800" y="6606752"/>
            <a:ext cx="287020" cy="251248"/>
          </a:xfrm>
          <a:prstGeom prst="rect">
            <a:avLst/>
          </a:prstGeom>
          <a:solidFill>
            <a:srgbClr val="2F5F67">
              <a:alpha val="50000"/>
            </a:srgbClr>
          </a:solidFill>
          <a:ln/>
        </p:spPr>
      </p:sp>
      <p:sp>
        <p:nvSpPr>
          <p:cNvPr id="25" name="Shape 23"/>
          <p:cNvSpPr/>
          <p:nvPr/>
        </p:nvSpPr>
        <p:spPr>
          <a:xfrm>
            <a:off x="6705600" y="6662994"/>
            <a:ext cx="287020" cy="195006"/>
          </a:xfrm>
          <a:prstGeom prst="rect">
            <a:avLst/>
          </a:prstGeom>
          <a:solidFill>
            <a:srgbClr val="2F5F67">
              <a:alpha val="50000"/>
            </a:srgbClr>
          </a:solidFill>
          <a:ln/>
        </p:spPr>
      </p:sp>
      <p:sp>
        <p:nvSpPr>
          <p:cNvPr id="26" name="Shape 24"/>
          <p:cNvSpPr/>
          <p:nvPr/>
        </p:nvSpPr>
        <p:spPr>
          <a:xfrm>
            <a:off x="7010400" y="6630586"/>
            <a:ext cx="287020" cy="227414"/>
          </a:xfrm>
          <a:prstGeom prst="rect">
            <a:avLst/>
          </a:prstGeom>
          <a:solidFill>
            <a:srgbClr val="2F5F67">
              <a:alpha val="50000"/>
            </a:srgbClr>
          </a:solidFill>
          <a:ln/>
        </p:spPr>
      </p:sp>
      <p:sp>
        <p:nvSpPr>
          <p:cNvPr id="27" name="Shape 25"/>
          <p:cNvSpPr/>
          <p:nvPr/>
        </p:nvSpPr>
        <p:spPr>
          <a:xfrm>
            <a:off x="7315200" y="6619167"/>
            <a:ext cx="287020" cy="238833"/>
          </a:xfrm>
          <a:prstGeom prst="rect">
            <a:avLst/>
          </a:prstGeom>
          <a:solidFill>
            <a:srgbClr val="2F5F67">
              <a:alpha val="50000"/>
            </a:srgbClr>
          </a:solidFill>
          <a:ln/>
        </p:spPr>
      </p:sp>
      <p:sp>
        <p:nvSpPr>
          <p:cNvPr id="28" name="Shape 26"/>
          <p:cNvSpPr/>
          <p:nvPr/>
        </p:nvSpPr>
        <p:spPr>
          <a:xfrm>
            <a:off x="7620000" y="6653476"/>
            <a:ext cx="287020" cy="204524"/>
          </a:xfrm>
          <a:prstGeom prst="rect">
            <a:avLst/>
          </a:prstGeom>
          <a:solidFill>
            <a:srgbClr val="2F5F67">
              <a:alpha val="50000"/>
            </a:srgbClr>
          </a:solidFill>
          <a:ln/>
        </p:spPr>
      </p:sp>
      <p:sp>
        <p:nvSpPr>
          <p:cNvPr id="29" name="Shape 27"/>
          <p:cNvSpPr/>
          <p:nvPr/>
        </p:nvSpPr>
        <p:spPr>
          <a:xfrm>
            <a:off x="7924800" y="6409062"/>
            <a:ext cx="287020" cy="448938"/>
          </a:xfrm>
          <a:prstGeom prst="rect">
            <a:avLst/>
          </a:prstGeom>
          <a:solidFill>
            <a:srgbClr val="E35D45">
              <a:alpha val="78000"/>
            </a:srgbClr>
          </a:solidFill>
          <a:ln/>
        </p:spPr>
      </p:sp>
      <p:sp>
        <p:nvSpPr>
          <p:cNvPr id="30" name="Shape 28"/>
          <p:cNvSpPr/>
          <p:nvPr/>
        </p:nvSpPr>
        <p:spPr>
          <a:xfrm>
            <a:off x="8229600" y="6226108"/>
            <a:ext cx="287020" cy="631892"/>
          </a:xfrm>
          <a:prstGeom prst="rect">
            <a:avLst/>
          </a:prstGeom>
          <a:solidFill>
            <a:srgbClr val="E35D45">
              <a:alpha val="78000"/>
            </a:srgbClr>
          </a:solidFill>
          <a:ln/>
        </p:spPr>
      </p:sp>
      <p:sp>
        <p:nvSpPr>
          <p:cNvPr id="31" name="Shape 29"/>
          <p:cNvSpPr/>
          <p:nvPr/>
        </p:nvSpPr>
        <p:spPr>
          <a:xfrm>
            <a:off x="8534400" y="6428101"/>
            <a:ext cx="287020" cy="429899"/>
          </a:xfrm>
          <a:prstGeom prst="rect">
            <a:avLst/>
          </a:prstGeom>
          <a:solidFill>
            <a:srgbClr val="E35D45">
              <a:alpha val="78000"/>
            </a:srgbClr>
          </a:solidFill>
          <a:ln/>
        </p:spPr>
      </p:sp>
      <p:sp>
        <p:nvSpPr>
          <p:cNvPr id="32" name="Shape 30"/>
          <p:cNvSpPr/>
          <p:nvPr/>
        </p:nvSpPr>
        <p:spPr>
          <a:xfrm>
            <a:off x="8839200" y="6353239"/>
            <a:ext cx="287020" cy="504761"/>
          </a:xfrm>
          <a:prstGeom prst="rect">
            <a:avLst/>
          </a:prstGeom>
          <a:solidFill>
            <a:srgbClr val="E35D45">
              <a:alpha val="78000"/>
            </a:srgbClr>
          </a:solidFill>
          <a:ln/>
        </p:spPr>
      </p:sp>
      <p:sp>
        <p:nvSpPr>
          <p:cNvPr id="33" name="Shape 31"/>
          <p:cNvSpPr/>
          <p:nvPr/>
        </p:nvSpPr>
        <p:spPr>
          <a:xfrm>
            <a:off x="9144000" y="6328962"/>
            <a:ext cx="287020" cy="529038"/>
          </a:xfrm>
          <a:prstGeom prst="rect">
            <a:avLst/>
          </a:prstGeom>
          <a:solidFill>
            <a:srgbClr val="E35D45">
              <a:alpha val="78000"/>
            </a:srgbClr>
          </a:solidFill>
          <a:ln/>
        </p:spPr>
      </p:sp>
      <p:sp>
        <p:nvSpPr>
          <p:cNvPr id="34" name="Shape 32"/>
          <p:cNvSpPr/>
          <p:nvPr/>
        </p:nvSpPr>
        <p:spPr>
          <a:xfrm>
            <a:off x="9448800" y="6448023"/>
            <a:ext cx="287020" cy="409977"/>
          </a:xfrm>
          <a:prstGeom prst="rect">
            <a:avLst/>
          </a:prstGeom>
          <a:solidFill>
            <a:srgbClr val="E35D45">
              <a:alpha val="78000"/>
            </a:srgbClr>
          </a:solidFill>
          <a:ln/>
        </p:spPr>
      </p:sp>
      <p:sp>
        <p:nvSpPr>
          <p:cNvPr id="35" name="Shape 33"/>
          <p:cNvSpPr/>
          <p:nvPr/>
        </p:nvSpPr>
        <p:spPr>
          <a:xfrm>
            <a:off x="9753600" y="6473883"/>
            <a:ext cx="287020" cy="384117"/>
          </a:xfrm>
          <a:prstGeom prst="rect">
            <a:avLst/>
          </a:prstGeom>
          <a:solidFill>
            <a:srgbClr val="E35D45">
              <a:alpha val="78000"/>
            </a:srgbClr>
          </a:solidFill>
          <a:ln/>
        </p:spPr>
      </p:sp>
      <p:sp>
        <p:nvSpPr>
          <p:cNvPr id="36" name="Shape 34"/>
          <p:cNvSpPr/>
          <p:nvPr/>
        </p:nvSpPr>
        <p:spPr>
          <a:xfrm>
            <a:off x="10058400" y="6517995"/>
            <a:ext cx="287020" cy="340005"/>
          </a:xfrm>
          <a:prstGeom prst="rect">
            <a:avLst/>
          </a:prstGeom>
          <a:solidFill>
            <a:srgbClr val="E35D45">
              <a:alpha val="78000"/>
            </a:srgbClr>
          </a:solidFill>
          <a:ln/>
        </p:spPr>
      </p:sp>
      <p:sp>
        <p:nvSpPr>
          <p:cNvPr id="37" name="Shape 35"/>
          <p:cNvSpPr/>
          <p:nvPr/>
        </p:nvSpPr>
        <p:spPr>
          <a:xfrm>
            <a:off x="10363200" y="6593481"/>
            <a:ext cx="287020" cy="264519"/>
          </a:xfrm>
          <a:prstGeom prst="rect">
            <a:avLst/>
          </a:prstGeom>
          <a:solidFill>
            <a:srgbClr val="2F5F67">
              <a:alpha val="50000"/>
            </a:srgbClr>
          </a:solidFill>
          <a:ln/>
        </p:spPr>
      </p:sp>
      <p:sp>
        <p:nvSpPr>
          <p:cNvPr id="38" name="Shape 36"/>
          <p:cNvSpPr/>
          <p:nvPr/>
        </p:nvSpPr>
        <p:spPr>
          <a:xfrm>
            <a:off x="10668000" y="6642609"/>
            <a:ext cx="287020" cy="215391"/>
          </a:xfrm>
          <a:prstGeom prst="rect">
            <a:avLst/>
          </a:prstGeom>
          <a:solidFill>
            <a:srgbClr val="2F5F67">
              <a:alpha val="50000"/>
            </a:srgbClr>
          </a:solidFill>
          <a:ln/>
        </p:spPr>
      </p:sp>
      <p:sp>
        <p:nvSpPr>
          <p:cNvPr id="39" name="Shape 37"/>
          <p:cNvSpPr/>
          <p:nvPr/>
        </p:nvSpPr>
        <p:spPr>
          <a:xfrm>
            <a:off x="10972800" y="6635659"/>
            <a:ext cx="287020" cy="222341"/>
          </a:xfrm>
          <a:prstGeom prst="rect">
            <a:avLst/>
          </a:prstGeom>
          <a:solidFill>
            <a:srgbClr val="2F5F67">
              <a:alpha val="50000"/>
            </a:srgbClr>
          </a:solidFill>
          <a:ln/>
        </p:spPr>
      </p:sp>
      <p:sp>
        <p:nvSpPr>
          <p:cNvPr id="40" name="Shape 38"/>
          <p:cNvSpPr/>
          <p:nvPr/>
        </p:nvSpPr>
        <p:spPr>
          <a:xfrm>
            <a:off x="11277600" y="6592047"/>
            <a:ext cx="287020" cy="265953"/>
          </a:xfrm>
          <a:prstGeom prst="rect">
            <a:avLst/>
          </a:prstGeom>
          <a:solidFill>
            <a:srgbClr val="2F5F67">
              <a:alpha val="50000"/>
            </a:srgbClr>
          </a:solidFill>
          <a:ln/>
        </p:spPr>
      </p:sp>
      <p:sp>
        <p:nvSpPr>
          <p:cNvPr id="41" name="Shape 39"/>
          <p:cNvSpPr/>
          <p:nvPr/>
        </p:nvSpPr>
        <p:spPr>
          <a:xfrm>
            <a:off x="11582400" y="6633955"/>
            <a:ext cx="287020" cy="224045"/>
          </a:xfrm>
          <a:prstGeom prst="rect">
            <a:avLst/>
          </a:prstGeom>
          <a:solidFill>
            <a:srgbClr val="2F5F67">
              <a:alpha val="50000"/>
            </a:srgbClr>
          </a:solidFill>
          <a:ln/>
        </p:spPr>
      </p:sp>
      <p:sp>
        <p:nvSpPr>
          <p:cNvPr id="42" name="Shape 40"/>
          <p:cNvSpPr/>
          <p:nvPr/>
        </p:nvSpPr>
        <p:spPr>
          <a:xfrm>
            <a:off x="11887200" y="6642609"/>
            <a:ext cx="287020" cy="215391"/>
          </a:xfrm>
          <a:prstGeom prst="rect">
            <a:avLst/>
          </a:prstGeom>
          <a:solidFill>
            <a:srgbClr val="2F5F67">
              <a:alpha val="50000"/>
            </a:srgbClr>
          </a:solidFill>
          <a:ln/>
        </p:spPr>
      </p:sp>
      <p:sp>
        <p:nvSpPr>
          <p:cNvPr id="43" name="Shape 41"/>
          <p:cNvSpPr/>
          <p:nvPr/>
        </p:nvSpPr>
        <p:spPr>
          <a:xfrm>
            <a:off x="0" y="6546850"/>
            <a:ext cx="12192000" cy="12700"/>
          </a:xfrm>
          <a:prstGeom prst="rect">
            <a:avLst/>
          </a:prstGeom>
          <a:solidFill>
            <a:srgbClr val="F0A999">
              <a:alpha val="50000"/>
            </a:srgbClr>
          </a:solidFill>
          <a:ln/>
        </p:spPr>
      </p:sp>
      <p:sp>
        <p:nvSpPr>
          <p:cNvPr id="44" name="Text 42"/>
          <p:cNvSpPr/>
          <p:nvPr/>
        </p:nvSpPr>
        <p:spPr>
          <a:xfrm>
            <a:off x="889000" y="2527300"/>
            <a:ext cx="5715000" cy="228600"/>
          </a:xfrm>
          <a:prstGeom prst="rect">
            <a:avLst/>
          </a:prstGeom>
          <a:noFill/>
          <a:ln/>
        </p:spPr>
        <p:txBody>
          <a:bodyPr wrap="square" rtlCol="0" anchor="ctr"/>
          <a:lstStyle/>
          <a:p>
            <a:pPr indent="0" marL="0">
              <a:buNone/>
            </a:pPr>
            <a:r>
              <a:rPr lang="en-US" sz="1100" b="1" spc="180" kern="0" dirty="0">
                <a:solidFill>
                  <a:srgbClr val="E35D45"/>
                </a:solidFill>
                <a:latin typeface="Calibri" pitchFamily="34" charset="0"/>
                <a:ea typeface="Calibri" pitchFamily="34" charset="-122"/>
                <a:cs typeface="Calibri" pitchFamily="34" charset="-120"/>
              </a:rPr>
              <a:t>CHAPTER 02 OF 06</a:t>
            </a:r>
            <a:endParaRPr lang="en-US" sz="1100" dirty="0"/>
          </a:p>
        </p:txBody>
      </p:sp>
      <p:sp>
        <p:nvSpPr>
          <p:cNvPr id="45" name="Text 43"/>
          <p:cNvSpPr/>
          <p:nvPr/>
        </p:nvSpPr>
        <p:spPr>
          <a:xfrm>
            <a:off x="889000" y="2794000"/>
            <a:ext cx="6350000" cy="762000"/>
          </a:xfrm>
          <a:prstGeom prst="rect">
            <a:avLst/>
          </a:prstGeom>
          <a:noFill/>
          <a:ln/>
        </p:spPr>
        <p:txBody>
          <a:bodyPr wrap="square"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Literature Review</a:t>
            </a:r>
            <a:endParaRPr lang="en-US" sz="4600" dirty="0"/>
          </a:p>
        </p:txBody>
      </p:sp>
      <p:sp>
        <p:nvSpPr>
          <p:cNvPr id="46" name="Text 44"/>
          <p:cNvSpPr/>
          <p:nvPr/>
        </p:nvSpPr>
        <p:spPr>
          <a:xfrm>
            <a:off x="889000" y="3683000"/>
            <a:ext cx="5461000" cy="635000"/>
          </a:xfrm>
          <a:prstGeom prst="rect">
            <a:avLst/>
          </a:prstGeom>
          <a:noFill/>
          <a:ln/>
        </p:spPr>
        <p:txBody>
          <a:bodyPr wrap="square" rtlCol="0" anchor="t"/>
          <a:lstStyle/>
          <a:p>
            <a:pPr indent="0" marL="0">
              <a:lnSpc>
                <a:spcPct val="140000"/>
              </a:lnSpc>
              <a:buNone/>
            </a:pPr>
            <a:r>
              <a:rPr lang="en-US" sz="1500" dirty="0">
                <a:solidFill>
                  <a:srgbClr val="AFC6C8"/>
                </a:solidFill>
                <a:latin typeface="Calibri" pitchFamily="34" charset="0"/>
                <a:ea typeface="Calibri" pitchFamily="34" charset="-122"/>
                <a:cs typeface="Calibri" pitchFamily="34" charset="-120"/>
              </a:rPr>
              <a:t>Where these methods come from — and the one thing the Delhi literature never does.</a:t>
            </a:r>
            <a:endParaRPr lang="en-US" sz="1500" dirty="0"/>
          </a:p>
        </p:txBody>
      </p:sp>
      <p:sp>
        <p:nvSpPr>
          <p:cNvPr id="47" name="Shape 45"/>
          <p:cNvSpPr/>
          <p:nvPr/>
        </p:nvSpPr>
        <p:spPr>
          <a:xfrm>
            <a:off x="889000" y="4445000"/>
            <a:ext cx="546100" cy="44450"/>
          </a:xfrm>
          <a:prstGeom prst="roundRect">
            <a:avLst>
              <a:gd name="adj" fmla="val 41143"/>
            </a:avLst>
          </a:prstGeom>
          <a:solidFill>
            <a:srgbClr val="2F5F67"/>
          </a:solidFill>
          <a:ln/>
        </p:spPr>
      </p:sp>
      <p:sp>
        <p:nvSpPr>
          <p:cNvPr id="48" name="Shape 46"/>
          <p:cNvSpPr/>
          <p:nvPr/>
        </p:nvSpPr>
        <p:spPr>
          <a:xfrm>
            <a:off x="1498600" y="4445000"/>
            <a:ext cx="546100" cy="44450"/>
          </a:xfrm>
          <a:prstGeom prst="roundRect">
            <a:avLst>
              <a:gd name="adj" fmla="val 41143"/>
            </a:avLst>
          </a:prstGeom>
          <a:solidFill>
            <a:srgbClr val="E35D45"/>
          </a:solidFill>
          <a:ln/>
        </p:spPr>
      </p:sp>
      <p:sp>
        <p:nvSpPr>
          <p:cNvPr id="49" name="Shape 47"/>
          <p:cNvSpPr/>
          <p:nvPr/>
        </p:nvSpPr>
        <p:spPr>
          <a:xfrm>
            <a:off x="2108200" y="4445000"/>
            <a:ext cx="546100" cy="44450"/>
          </a:xfrm>
          <a:prstGeom prst="roundRect">
            <a:avLst>
              <a:gd name="adj" fmla="val 41143"/>
            </a:avLst>
          </a:prstGeom>
          <a:solidFill>
            <a:srgbClr val="2F5F67"/>
          </a:solidFill>
          <a:ln/>
        </p:spPr>
      </p:sp>
      <p:sp>
        <p:nvSpPr>
          <p:cNvPr id="50" name="Shape 48"/>
          <p:cNvSpPr/>
          <p:nvPr/>
        </p:nvSpPr>
        <p:spPr>
          <a:xfrm>
            <a:off x="2717800" y="4445000"/>
            <a:ext cx="546100" cy="44450"/>
          </a:xfrm>
          <a:prstGeom prst="roundRect">
            <a:avLst>
              <a:gd name="adj" fmla="val 41143"/>
            </a:avLst>
          </a:prstGeom>
          <a:solidFill>
            <a:srgbClr val="2F5F67"/>
          </a:solidFill>
          <a:ln/>
        </p:spPr>
      </p:sp>
      <p:sp>
        <p:nvSpPr>
          <p:cNvPr id="51" name="Shape 49"/>
          <p:cNvSpPr/>
          <p:nvPr/>
        </p:nvSpPr>
        <p:spPr>
          <a:xfrm>
            <a:off x="3327400" y="4445000"/>
            <a:ext cx="546100" cy="44450"/>
          </a:xfrm>
          <a:prstGeom prst="roundRect">
            <a:avLst>
              <a:gd name="adj" fmla="val 41143"/>
            </a:avLst>
          </a:prstGeom>
          <a:solidFill>
            <a:srgbClr val="2F5F67"/>
          </a:solidFill>
          <a:ln/>
        </p:spPr>
      </p:sp>
      <p:sp>
        <p:nvSpPr>
          <p:cNvPr id="52" name="Shape 50"/>
          <p:cNvSpPr/>
          <p:nvPr/>
        </p:nvSpPr>
        <p:spPr>
          <a:xfrm>
            <a:off x="3937000" y="4445000"/>
            <a:ext cx="546100" cy="44450"/>
          </a:xfrm>
          <a:prstGeom prst="roundRect">
            <a:avLst>
              <a:gd name="adj" fmla="val 41143"/>
            </a:avLst>
          </a:prstGeom>
          <a:solidFill>
            <a:srgbClr val="2F5F67"/>
          </a:solidFill>
          <a:ln/>
        </p:spPr>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7E9A9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LITERATURE REVIEW</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Classical and machine learning methods</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Text 3"/>
          <p:cNvSpPr/>
          <p:nvPr/>
        </p:nvSpPr>
        <p:spPr>
          <a:xfrm>
            <a:off x="698500" y="1841500"/>
            <a:ext cx="6667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ARIMA (BOX–JENKINS)</a:t>
            </a:r>
            <a:endParaRPr lang="en-US" sz="900" dirty="0"/>
          </a:p>
        </p:txBody>
      </p:sp>
      <p:sp>
        <p:nvSpPr>
          <p:cNvPr id="6" name="Text 4"/>
          <p:cNvSpPr/>
          <p:nvPr/>
        </p:nvSpPr>
        <p:spPr>
          <a:xfrm>
            <a:off x="698500" y="2095500"/>
            <a:ext cx="6667500" cy="8890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Differenced series, own past values and errors; order chosen by an AIC grid (Hyndman &amp; Khandakar, 2008); Fourier terms carry complex seasonality (De Livera et al., 2011).</a:t>
            </a:r>
            <a:endParaRPr lang="en-US" sz="1200" dirty="0"/>
          </a:p>
        </p:txBody>
      </p:sp>
      <p:sp>
        <p:nvSpPr>
          <p:cNvPr id="7" name="Shape 5"/>
          <p:cNvSpPr/>
          <p:nvPr/>
        </p:nvSpPr>
        <p:spPr>
          <a:xfrm>
            <a:off x="698500" y="2933700"/>
            <a:ext cx="6667500" cy="12700"/>
          </a:xfrm>
          <a:prstGeom prst="rect">
            <a:avLst/>
          </a:prstGeom>
          <a:solidFill>
            <a:srgbClr val="DCE3E3"/>
          </a:solidFill>
          <a:ln/>
        </p:spPr>
      </p:sp>
      <p:sp>
        <p:nvSpPr>
          <p:cNvPr id="8" name="Text 6"/>
          <p:cNvSpPr/>
          <p:nvPr/>
        </p:nvSpPr>
        <p:spPr>
          <a:xfrm>
            <a:off x="698500" y="3136900"/>
            <a:ext cx="6667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THE MACHINE LEARNING LINEAGE</a:t>
            </a:r>
            <a:endParaRPr lang="en-US" sz="900" dirty="0"/>
          </a:p>
        </p:txBody>
      </p:sp>
      <p:sp>
        <p:nvSpPr>
          <p:cNvPr id="9" name="Text 7"/>
          <p:cNvSpPr/>
          <p:nvPr/>
        </p:nvSpPr>
        <p:spPr>
          <a:xfrm>
            <a:off x="698500" y="3390900"/>
            <a:ext cx="6667500" cy="8890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Ridge (Hoerl &amp; Kennard, 1970); random forest = bagging (Breiman, 1996) + trees (Breiman et al., 2017) + decorrelation (Breiman, 2001); gradient boosting, additive and stagewise (Friedman, 2001).</a:t>
            </a:r>
            <a:endParaRPr lang="en-US" sz="1200" dirty="0"/>
          </a:p>
        </p:txBody>
      </p:sp>
      <p:sp>
        <p:nvSpPr>
          <p:cNvPr id="10" name="Shape 8"/>
          <p:cNvSpPr/>
          <p:nvPr/>
        </p:nvSpPr>
        <p:spPr>
          <a:xfrm>
            <a:off x="698500" y="4229100"/>
            <a:ext cx="6667500" cy="12700"/>
          </a:xfrm>
          <a:prstGeom prst="rect">
            <a:avLst/>
          </a:prstGeom>
          <a:solidFill>
            <a:srgbClr val="DCE3E3"/>
          </a:solidFill>
          <a:ln/>
        </p:spPr>
      </p:sp>
      <p:sp>
        <p:nvSpPr>
          <p:cNvPr id="11" name="Text 9"/>
          <p:cNvSpPr/>
          <p:nvPr/>
        </p:nvSpPr>
        <p:spPr>
          <a:xfrm>
            <a:off x="698500" y="4432300"/>
            <a:ext cx="6667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COMPETITION EVIDENCE</a:t>
            </a:r>
            <a:endParaRPr lang="en-US" sz="900" dirty="0"/>
          </a:p>
        </p:txBody>
      </p:sp>
      <p:sp>
        <p:nvSpPr>
          <p:cNvPr id="12" name="Text 10"/>
          <p:cNvSpPr/>
          <p:nvPr/>
        </p:nvSpPr>
        <p:spPr>
          <a:xfrm>
            <a:off x="698500" y="4686300"/>
            <a:ext cx="6667500" cy="8890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Flexible learners need not beat ARIMA on short series (M3/M4: Makridakis et al., 2018/2020); an LSTM lost to ARIMA head-to-head (Siami-Namini et al., 2018) — but gradient boosting won M5, where genuine exogenous structure existed (Makridakis et al., 2022).</a:t>
            </a:r>
            <a:endParaRPr lang="en-US" sz="1200" dirty="0"/>
          </a:p>
        </p:txBody>
      </p:sp>
      <p:sp>
        <p:nvSpPr>
          <p:cNvPr id="13" name="Shape 11"/>
          <p:cNvSpPr/>
          <p:nvPr/>
        </p:nvSpPr>
        <p:spPr>
          <a:xfrm>
            <a:off x="7937500" y="1841500"/>
            <a:ext cx="3556000" cy="2222500"/>
          </a:xfrm>
          <a:prstGeom prst="roundRect">
            <a:avLst>
              <a:gd name="adj" fmla="val 5760"/>
            </a:avLst>
          </a:prstGeom>
          <a:solidFill>
            <a:srgbClr val="16343A"/>
          </a:solidFill>
          <a:ln/>
        </p:spPr>
      </p:sp>
      <p:sp>
        <p:nvSpPr>
          <p:cNvPr id="14" name="Text 12"/>
          <p:cNvSpPr/>
          <p:nvPr/>
        </p:nvSpPr>
        <p:spPr>
          <a:xfrm>
            <a:off x="8242300" y="2095500"/>
            <a:ext cx="2984500" cy="203200"/>
          </a:xfrm>
          <a:prstGeom prst="rect">
            <a:avLst/>
          </a:prstGeom>
          <a:noFill/>
          <a:ln/>
        </p:spPr>
        <p:txBody>
          <a:bodyPr wrap="square" rtlCol="0" anchor="ctr"/>
          <a:lstStyle/>
          <a:p>
            <a:pPr indent="0" marL="0">
              <a:buNone/>
            </a:pPr>
            <a:r>
              <a:rPr lang="en-US" sz="900" b="1" spc="140" kern="0" dirty="0">
                <a:solidFill>
                  <a:srgbClr val="F0A999"/>
                </a:solidFill>
                <a:latin typeface="Calibri" pitchFamily="34" charset="0"/>
                <a:ea typeface="Calibri" pitchFamily="34" charset="-122"/>
                <a:cs typeface="Calibri" pitchFamily="34" charset="-120"/>
              </a:rPr>
              <a:t>TAKEAWAY</a:t>
            </a:r>
            <a:endParaRPr lang="en-US" sz="900" dirty="0"/>
          </a:p>
        </p:txBody>
      </p:sp>
      <p:sp>
        <p:nvSpPr>
          <p:cNvPr id="15" name="Text 13"/>
          <p:cNvSpPr/>
          <p:nvPr/>
        </p:nvSpPr>
        <p:spPr>
          <a:xfrm>
            <a:off x="8242300" y="2387600"/>
            <a:ext cx="2984500" cy="1460500"/>
          </a:xfrm>
          <a:prstGeom prst="rect">
            <a:avLst/>
          </a:prstGeom>
          <a:noFill/>
          <a:ln/>
        </p:spPr>
        <p:txBody>
          <a:bodyPr wrap="square" rtlCol="0" anchor="t"/>
          <a:lstStyle/>
          <a:p>
            <a:pPr indent="0" marL="0">
              <a:lnSpc>
                <a:spcPct val="150000"/>
              </a:lnSpc>
              <a:buNone/>
            </a:pPr>
            <a:r>
              <a:rPr lang="en-US" sz="1300" dirty="0">
                <a:solidFill>
                  <a:srgbClr val="FFFFFF"/>
                </a:solidFill>
                <a:latin typeface="Calibri" pitchFamily="34" charset="0"/>
                <a:ea typeface="Calibri" pitchFamily="34" charset="-122"/>
                <a:cs typeface="Calibri" pitchFamily="34" charset="-120"/>
              </a:rPr>
              <a:t>The deciding factor is exploitable structure, not “ML vs. classical” in the abstract — and this project's single series sits closer to M4 than M5.</a:t>
            </a:r>
            <a:endParaRPr lang="en-US" sz="1300" dirty="0"/>
          </a:p>
        </p:txBody>
      </p:sp>
      <p:sp>
        <p:nvSpPr>
          <p:cNvPr id="16" name="Shape 14"/>
          <p:cNvSpPr/>
          <p:nvPr/>
        </p:nvSpPr>
        <p:spPr>
          <a:xfrm>
            <a:off x="7937500" y="4267200"/>
            <a:ext cx="3556000" cy="1689100"/>
          </a:xfrm>
          <a:prstGeom prst="roundRect">
            <a:avLst>
              <a:gd name="adj" fmla="val 7579"/>
            </a:avLst>
          </a:prstGeom>
          <a:solidFill>
            <a:srgbClr val="FFFFFF"/>
          </a:solidFill>
          <a:ln/>
          <a:effectLst>
            <a:outerShdw sx="100000" sy="100000" kx="0" ky="0" algn="bl" rotWithShape="0" blurRad="127000" dist="38100" dir="5400000">
              <a:srgbClr val="16343A">
                <a:alpha val="16000"/>
              </a:srgbClr>
            </a:outerShdw>
          </a:effectLst>
        </p:spPr>
      </p:sp>
      <p:sp>
        <p:nvSpPr>
          <p:cNvPr id="17" name="Text 15"/>
          <p:cNvSpPr/>
          <p:nvPr/>
        </p:nvSpPr>
        <p:spPr>
          <a:xfrm>
            <a:off x="8242300" y="4521200"/>
            <a:ext cx="2984500" cy="203200"/>
          </a:xfrm>
          <a:prstGeom prst="rect">
            <a:avLst/>
          </a:prstGeom>
          <a:noFill/>
          <a:ln/>
        </p:spPr>
        <p:txBody>
          <a:bodyPr wrap="square" rtlCol="0" anchor="ctr"/>
          <a:lstStyle/>
          <a:p>
            <a:pPr indent="0" marL="0">
              <a:buNone/>
            </a:pPr>
            <a:r>
              <a:rPr lang="en-US" sz="900" b="1" spc="140" kern="0" dirty="0">
                <a:solidFill>
                  <a:srgbClr val="5C7678"/>
                </a:solidFill>
                <a:latin typeface="Calibri" pitchFamily="34" charset="0"/>
                <a:ea typeface="Calibri" pitchFamily="34" charset="-122"/>
                <a:cs typeface="Calibri" pitchFamily="34" charset="-120"/>
              </a:rPr>
              <a:t>AND HOW IT IS TESTED</a:t>
            </a:r>
            <a:endParaRPr lang="en-US" sz="900" dirty="0"/>
          </a:p>
        </p:txBody>
      </p:sp>
      <p:sp>
        <p:nvSpPr>
          <p:cNvPr id="18" name="Text 16"/>
          <p:cNvSpPr/>
          <p:nvPr/>
        </p:nvSpPr>
        <p:spPr>
          <a:xfrm>
            <a:off x="8242300" y="4813300"/>
            <a:ext cx="2984500" cy="1016000"/>
          </a:xfrm>
          <a:prstGeom prst="rect">
            <a:avLst/>
          </a:prstGeom>
          <a:noFill/>
          <a:ln/>
        </p:spPr>
        <p:txBody>
          <a:bodyPr wrap="square" rtlCol="0" anchor="t"/>
          <a:lstStyle/>
          <a:p>
            <a:pPr indent="0" marL="0">
              <a:lnSpc>
                <a:spcPct val="150000"/>
              </a:lnSpc>
              <a:buNone/>
            </a:pPr>
            <a:r>
              <a:rPr lang="en-US" sz="1150" dirty="0">
                <a:solidFill>
                  <a:srgbClr val="1C2B2C"/>
                </a:solidFill>
                <a:latin typeface="Calibri" pitchFamily="34" charset="0"/>
                <a:ea typeface="Calibri" pitchFamily="34" charset="-122"/>
                <a:cs typeface="Calibri" pitchFamily="34" charset="-120"/>
              </a:rPr>
              <a:t>A single train-test split understates variability (Tashman, 2000; Hewamalage et al., 2023) — the motivation for rolling-origin evaluation.</a:t>
            </a:r>
            <a:endParaRPr lang="en-US" sz="115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LITERATURE REVIEW</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Deep learning: narrowing to a GRU</a:t>
            </a:r>
            <a:endParaRPr lang="en-US" sz="2900" dirty="0"/>
          </a:p>
        </p:txBody>
      </p:sp>
      <p:sp>
        <p:nvSpPr>
          <p:cNvPr id="4" name="Text 2"/>
          <p:cNvSpPr/>
          <p:nvPr/>
        </p:nvSpPr>
        <p:spPr>
          <a:xfrm>
            <a:off x="7493000" y="889000"/>
            <a:ext cx="4000500" cy="381000"/>
          </a:xfrm>
          <a:prstGeom prst="rect">
            <a:avLst/>
          </a:prstGeom>
          <a:noFill/>
          <a:ln/>
        </p:spPr>
        <p:txBody>
          <a:bodyPr wrap="square" rtlCol="0" anchor="t"/>
          <a:lstStyle/>
          <a:p>
            <a:pPr algn="r" indent="0" marL="0">
              <a:lnSpc>
                <a:spcPct val="135000"/>
              </a:lnSpc>
              <a:buNone/>
            </a:pPr>
            <a:r>
              <a:rPr lang="en-US" sz="1150" dirty="0">
                <a:solidFill>
                  <a:srgbClr val="5C7678"/>
                </a:solidFill>
                <a:latin typeface="Calibri" pitchFamily="34" charset="0"/>
                <a:ea typeface="Calibri" pitchFamily="34" charset="-122"/>
                <a:cs typeface="Calibri" pitchFamily="34" charset="-120"/>
              </a:rPr>
              <a:t>Each ruled out a priori for a stated reason — then the two closest were fitted in full, and both beat the GRU.</a:t>
            </a:r>
            <a:endParaRPr lang="en-US" sz="1150" dirty="0"/>
          </a:p>
        </p:txBody>
      </p:sp>
      <p:sp>
        <p:nvSpPr>
          <p:cNvPr id="5" name="Shape 3"/>
          <p:cNvSpPr/>
          <p:nvPr/>
        </p:nvSpPr>
        <p:spPr>
          <a:xfrm>
            <a:off x="698500" y="1473200"/>
            <a:ext cx="10795000" cy="12700"/>
          </a:xfrm>
          <a:prstGeom prst="rect">
            <a:avLst/>
          </a:prstGeom>
          <a:solidFill>
            <a:srgbClr val="DCE3E3"/>
          </a:solidFill>
          <a:ln/>
        </p:spPr>
      </p:sp>
      <p:sp>
        <p:nvSpPr>
          <p:cNvPr id="6" name="Shape 4"/>
          <p:cNvSpPr/>
          <p:nvPr/>
        </p:nvSpPr>
        <p:spPr>
          <a:xfrm>
            <a:off x="698500" y="1816100"/>
            <a:ext cx="10795000" cy="584200"/>
          </a:xfrm>
          <a:prstGeom prst="roundRect">
            <a:avLst>
              <a:gd name="adj" fmla="val 21913"/>
            </a:avLst>
          </a:prstGeom>
          <a:solidFill>
            <a:srgbClr val="FFFFFF"/>
          </a:solidFill>
          <a:ln/>
        </p:spPr>
      </p:sp>
      <p:sp>
        <p:nvSpPr>
          <p:cNvPr id="7" name="Text 5"/>
          <p:cNvSpPr/>
          <p:nvPr/>
        </p:nvSpPr>
        <p:spPr>
          <a:xfrm>
            <a:off x="889000" y="1968500"/>
            <a:ext cx="279400" cy="279400"/>
          </a:xfrm>
          <a:prstGeom prst="roundRect">
            <a:avLst>
              <a:gd name="adj" fmla="val 50000"/>
            </a:avLst>
          </a:prstGeom>
          <a:solidFill>
            <a:srgbClr val="E6EBEB"/>
          </a:solidFill>
          <a:ln/>
        </p:spPr>
        <p:txBody>
          <a:bodyPr wrap="square" lIns="0" tIns="0" rIns="0" bIns="0" rtlCol="0" anchor="ctr"/>
          <a:lstStyle/>
          <a:p>
            <a:pPr algn="ctr" indent="0" marL="0">
              <a:buNone/>
            </a:pPr>
            <a:r>
              <a:rPr lang="en-US" sz="1100" b="1" dirty="0">
                <a:solidFill>
                  <a:srgbClr val="8FA3A4"/>
                </a:solidFill>
                <a:latin typeface="Calibri" pitchFamily="34" charset="0"/>
                <a:ea typeface="Calibri" pitchFamily="34" charset="-122"/>
                <a:cs typeface="Calibri" pitchFamily="34" charset="-120"/>
              </a:rPr>
              <a:t>✕</a:t>
            </a:r>
            <a:endParaRPr lang="en-US" sz="1100" dirty="0"/>
          </a:p>
        </p:txBody>
      </p:sp>
      <p:sp>
        <p:nvSpPr>
          <p:cNvPr id="8" name="Text 6"/>
          <p:cNvSpPr/>
          <p:nvPr/>
        </p:nvSpPr>
        <p:spPr>
          <a:xfrm>
            <a:off x="1346200" y="1816100"/>
            <a:ext cx="1905000" cy="584200"/>
          </a:xfrm>
          <a:prstGeom prst="rect">
            <a:avLst/>
          </a:prstGeom>
          <a:noFill/>
          <a:ln/>
        </p:spPr>
        <p:txBody>
          <a:bodyPr wrap="square" rtlCol="0" anchor="ctr"/>
          <a:lstStyle/>
          <a:p>
            <a:pPr indent="0" marL="0">
              <a:buNone/>
            </a:pPr>
            <a:r>
              <a:rPr lang="en-US" sz="1350" b="1" dirty="0">
                <a:solidFill>
                  <a:srgbClr val="16343A"/>
                </a:solidFill>
                <a:latin typeface="Calibri" pitchFamily="34" charset="0"/>
                <a:ea typeface="Calibri" pitchFamily="34" charset="-122"/>
                <a:cs typeface="Calibri" pitchFamily="34" charset="-120"/>
              </a:rPr>
              <a:t>MLP</a:t>
            </a:r>
            <a:endParaRPr lang="en-US" sz="1350" dirty="0"/>
          </a:p>
        </p:txBody>
      </p:sp>
      <p:sp>
        <p:nvSpPr>
          <p:cNvPr id="9" name="Text 7"/>
          <p:cNvSpPr/>
          <p:nvPr/>
        </p:nvSpPr>
        <p:spPr>
          <a:xfrm>
            <a:off x="3302000" y="1816100"/>
            <a:ext cx="7937500" cy="584200"/>
          </a:xfrm>
          <a:prstGeom prst="rect">
            <a:avLst/>
          </a:prstGeom>
          <a:noFill/>
          <a:ln/>
        </p:spPr>
        <p:txBody>
          <a:bodyPr wrap="square" rtlCol="0" anchor="ctr"/>
          <a:lstStyle/>
          <a:p>
            <a:pPr indent="0" marL="0">
              <a:buNone/>
            </a:pPr>
            <a:r>
              <a:rPr lang="en-US" sz="1150" dirty="0">
                <a:solidFill>
                  <a:srgbClr val="5C7678"/>
                </a:solidFill>
                <a:latin typeface="Calibri" pitchFamily="34" charset="0"/>
                <a:ea typeface="Calibri" pitchFamily="34" charset="-122"/>
                <a:cs typeface="Calibri" pitchFamily="34" charset="-120"/>
              </a:rPr>
              <a:t>No sense of sequence order — needs the same hand-built lag table the regression and tree models already use (Hornik et al., 1989)</a:t>
            </a:r>
            <a:endParaRPr lang="en-US" sz="1150" dirty="0"/>
          </a:p>
        </p:txBody>
      </p:sp>
      <p:sp>
        <p:nvSpPr>
          <p:cNvPr id="10" name="Shape 8"/>
          <p:cNvSpPr/>
          <p:nvPr/>
        </p:nvSpPr>
        <p:spPr>
          <a:xfrm>
            <a:off x="698500" y="2489200"/>
            <a:ext cx="10795000" cy="584200"/>
          </a:xfrm>
          <a:prstGeom prst="roundRect">
            <a:avLst>
              <a:gd name="adj" fmla="val 21913"/>
            </a:avLst>
          </a:prstGeom>
          <a:solidFill>
            <a:srgbClr val="FFFFFF"/>
          </a:solidFill>
          <a:ln/>
        </p:spPr>
      </p:sp>
      <p:sp>
        <p:nvSpPr>
          <p:cNvPr id="11" name="Text 9"/>
          <p:cNvSpPr/>
          <p:nvPr/>
        </p:nvSpPr>
        <p:spPr>
          <a:xfrm>
            <a:off x="889000" y="2641600"/>
            <a:ext cx="279400" cy="279400"/>
          </a:xfrm>
          <a:prstGeom prst="roundRect">
            <a:avLst>
              <a:gd name="adj" fmla="val 50000"/>
            </a:avLst>
          </a:prstGeom>
          <a:solidFill>
            <a:srgbClr val="E6EBEB"/>
          </a:solidFill>
          <a:ln/>
        </p:spPr>
        <p:txBody>
          <a:bodyPr wrap="square" lIns="0" tIns="0" rIns="0" bIns="0" rtlCol="0" anchor="ctr"/>
          <a:lstStyle/>
          <a:p>
            <a:pPr algn="ctr" indent="0" marL="0">
              <a:buNone/>
            </a:pPr>
            <a:r>
              <a:rPr lang="en-US" sz="1100" b="1" dirty="0">
                <a:solidFill>
                  <a:srgbClr val="8FA3A4"/>
                </a:solidFill>
                <a:latin typeface="Calibri" pitchFamily="34" charset="0"/>
                <a:ea typeface="Calibri" pitchFamily="34" charset="-122"/>
                <a:cs typeface="Calibri" pitchFamily="34" charset="-120"/>
              </a:rPr>
              <a:t>✕</a:t>
            </a:r>
            <a:endParaRPr lang="en-US" sz="1100" dirty="0"/>
          </a:p>
        </p:txBody>
      </p:sp>
      <p:sp>
        <p:nvSpPr>
          <p:cNvPr id="12" name="Text 10"/>
          <p:cNvSpPr/>
          <p:nvPr/>
        </p:nvSpPr>
        <p:spPr>
          <a:xfrm>
            <a:off x="1346200" y="2489200"/>
            <a:ext cx="1905000" cy="584200"/>
          </a:xfrm>
          <a:prstGeom prst="rect">
            <a:avLst/>
          </a:prstGeom>
          <a:noFill/>
          <a:ln/>
        </p:spPr>
        <p:txBody>
          <a:bodyPr wrap="square" rtlCol="0" anchor="ctr"/>
          <a:lstStyle/>
          <a:p>
            <a:pPr indent="0" marL="0">
              <a:buNone/>
            </a:pPr>
            <a:r>
              <a:rPr lang="en-US" sz="1350" b="1" dirty="0">
                <a:solidFill>
                  <a:srgbClr val="16343A"/>
                </a:solidFill>
                <a:latin typeface="Calibri" pitchFamily="34" charset="0"/>
                <a:ea typeface="Calibri" pitchFamily="34" charset="-122"/>
                <a:cs typeface="Calibri" pitchFamily="34" charset="-120"/>
              </a:rPr>
              <a:t>CNN</a:t>
            </a:r>
            <a:endParaRPr lang="en-US" sz="1350" dirty="0"/>
          </a:p>
        </p:txBody>
      </p:sp>
      <p:sp>
        <p:nvSpPr>
          <p:cNvPr id="13" name="Text 11"/>
          <p:cNvSpPr/>
          <p:nvPr/>
        </p:nvSpPr>
        <p:spPr>
          <a:xfrm>
            <a:off x="3302000" y="2489200"/>
            <a:ext cx="7937500" cy="584200"/>
          </a:xfrm>
          <a:prstGeom prst="rect">
            <a:avLst/>
          </a:prstGeom>
          <a:noFill/>
          <a:ln/>
        </p:spPr>
        <p:txBody>
          <a:bodyPr wrap="square" rtlCol="0" anchor="ctr"/>
          <a:lstStyle/>
          <a:p>
            <a:pPr indent="0" marL="0">
              <a:buNone/>
            </a:pPr>
            <a:r>
              <a:rPr lang="en-US" sz="1150" dirty="0">
                <a:solidFill>
                  <a:srgbClr val="5C7678"/>
                </a:solidFill>
                <a:latin typeface="Calibri" pitchFamily="34" charset="0"/>
                <a:ea typeface="Calibri" pitchFamily="34" charset="-122"/>
                <a:cs typeface="Calibri" pitchFamily="34" charset="-120"/>
              </a:rPr>
              <a:t>Fixed receptive field, ill-suited to an annual cycle already handed to every model as Fourier terms (LeCun et al., 1998)</a:t>
            </a:r>
            <a:endParaRPr lang="en-US" sz="1150" dirty="0"/>
          </a:p>
        </p:txBody>
      </p:sp>
      <p:sp>
        <p:nvSpPr>
          <p:cNvPr id="14" name="Shape 12"/>
          <p:cNvSpPr/>
          <p:nvPr/>
        </p:nvSpPr>
        <p:spPr>
          <a:xfrm>
            <a:off x="698500" y="3162300"/>
            <a:ext cx="10795000" cy="584200"/>
          </a:xfrm>
          <a:prstGeom prst="roundRect">
            <a:avLst>
              <a:gd name="adj" fmla="val 21913"/>
            </a:avLst>
          </a:prstGeom>
          <a:solidFill>
            <a:srgbClr val="FFFFFF"/>
          </a:solidFill>
          <a:ln/>
        </p:spPr>
      </p:sp>
      <p:sp>
        <p:nvSpPr>
          <p:cNvPr id="15" name="Text 13"/>
          <p:cNvSpPr/>
          <p:nvPr/>
        </p:nvSpPr>
        <p:spPr>
          <a:xfrm>
            <a:off x="889000" y="3314700"/>
            <a:ext cx="279400" cy="279400"/>
          </a:xfrm>
          <a:prstGeom prst="roundRect">
            <a:avLst>
              <a:gd name="adj" fmla="val 50000"/>
            </a:avLst>
          </a:prstGeom>
          <a:solidFill>
            <a:srgbClr val="F7DAD3"/>
          </a:solidFill>
          <a:ln/>
        </p:spPr>
        <p:txBody>
          <a:bodyPr wrap="square" lIns="0" tIns="0" rIns="0" bIns="0" rtlCol="0" anchor="ctr"/>
          <a:lstStyle/>
          <a:p>
            <a:pPr algn="ctr" indent="0" marL="0">
              <a:buNone/>
            </a:pPr>
            <a:r>
              <a:rPr lang="en-US" sz="1100" b="1" dirty="0">
                <a:solidFill>
                  <a:srgbClr val="E35D45"/>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1346200" y="3162300"/>
            <a:ext cx="1905000" cy="584200"/>
          </a:xfrm>
          <a:prstGeom prst="rect">
            <a:avLst/>
          </a:prstGeom>
          <a:noFill/>
          <a:ln/>
        </p:spPr>
        <p:txBody>
          <a:bodyPr wrap="square" rtlCol="0" anchor="ctr"/>
          <a:lstStyle/>
          <a:p>
            <a:pPr indent="0" marL="0">
              <a:buNone/>
            </a:pPr>
            <a:r>
              <a:rPr lang="en-US" sz="1350" b="1" dirty="0">
                <a:solidFill>
                  <a:srgbClr val="16343A"/>
                </a:solidFill>
                <a:latin typeface="Calibri" pitchFamily="34" charset="0"/>
                <a:ea typeface="Calibri" pitchFamily="34" charset="-122"/>
                <a:cs typeface="Calibri" pitchFamily="34" charset="-120"/>
              </a:rPr>
              <a:t>Transformer / TFT</a:t>
            </a:r>
            <a:endParaRPr lang="en-US" sz="1350" dirty="0"/>
          </a:p>
        </p:txBody>
      </p:sp>
      <p:sp>
        <p:nvSpPr>
          <p:cNvPr id="17" name="Text 15"/>
          <p:cNvSpPr/>
          <p:nvPr/>
        </p:nvSpPr>
        <p:spPr>
          <a:xfrm>
            <a:off x="3302000" y="3162300"/>
            <a:ext cx="7937500" cy="584200"/>
          </a:xfrm>
          <a:prstGeom prst="rect">
            <a:avLst/>
          </a:prstGeom>
          <a:noFill/>
          <a:ln/>
        </p:spPr>
        <p:txBody>
          <a:bodyPr wrap="square" rtlCol="0" anchor="ctr"/>
          <a:lstStyle/>
          <a:p>
            <a:pPr indent="0" marL="0">
              <a:buNone/>
            </a:pPr>
            <a:r>
              <a:rPr lang="en-US" sz="1150" dirty="0">
                <a:solidFill>
                  <a:srgbClr val="5C7678"/>
                </a:solidFill>
                <a:latin typeface="Calibri" pitchFamily="34" charset="0"/>
                <a:ea typeface="Calibri" pitchFamily="34" charset="-122"/>
                <a:cs typeface="Calibri" pitchFamily="34" charset="-120"/>
              </a:rPr>
              <a:t>Large parameter counts, tuned for datasets orders of magnitude bigger than ~3,000 observations (Lim et al., 2021) — fitted in full after Dr Tian challenged that premise, and it beats the GRU</a:t>
            </a:r>
            <a:endParaRPr lang="en-US" sz="1150" dirty="0"/>
          </a:p>
        </p:txBody>
      </p:sp>
      <p:sp>
        <p:nvSpPr>
          <p:cNvPr id="18" name="Shape 16"/>
          <p:cNvSpPr/>
          <p:nvPr/>
        </p:nvSpPr>
        <p:spPr>
          <a:xfrm>
            <a:off x="698500" y="3835400"/>
            <a:ext cx="10795000" cy="584200"/>
          </a:xfrm>
          <a:prstGeom prst="roundRect">
            <a:avLst>
              <a:gd name="adj" fmla="val 21913"/>
            </a:avLst>
          </a:prstGeom>
          <a:solidFill>
            <a:srgbClr val="FFFFFF"/>
          </a:solidFill>
          <a:ln/>
        </p:spPr>
      </p:sp>
      <p:sp>
        <p:nvSpPr>
          <p:cNvPr id="19" name="Text 17"/>
          <p:cNvSpPr/>
          <p:nvPr/>
        </p:nvSpPr>
        <p:spPr>
          <a:xfrm>
            <a:off x="889000" y="3987800"/>
            <a:ext cx="279400" cy="279400"/>
          </a:xfrm>
          <a:prstGeom prst="roundRect">
            <a:avLst>
              <a:gd name="adj" fmla="val 50000"/>
            </a:avLst>
          </a:prstGeom>
          <a:solidFill>
            <a:srgbClr val="E6EBEB"/>
          </a:solidFill>
          <a:ln/>
        </p:spPr>
        <p:txBody>
          <a:bodyPr wrap="square" lIns="0" tIns="0" rIns="0" bIns="0" rtlCol="0" anchor="ctr"/>
          <a:lstStyle/>
          <a:p>
            <a:pPr algn="ctr" indent="0" marL="0">
              <a:buNone/>
            </a:pPr>
            <a:r>
              <a:rPr lang="en-US" sz="1100" b="1" dirty="0">
                <a:solidFill>
                  <a:srgbClr val="8FA3A4"/>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1346200" y="3835400"/>
            <a:ext cx="1905000" cy="584200"/>
          </a:xfrm>
          <a:prstGeom prst="rect">
            <a:avLst/>
          </a:prstGeom>
          <a:noFill/>
          <a:ln/>
        </p:spPr>
        <p:txBody>
          <a:bodyPr wrap="square" rtlCol="0" anchor="ctr"/>
          <a:lstStyle/>
          <a:p>
            <a:pPr indent="0" marL="0">
              <a:buNone/>
            </a:pPr>
            <a:r>
              <a:rPr lang="en-US" sz="1350" b="1" dirty="0">
                <a:solidFill>
                  <a:srgbClr val="16343A"/>
                </a:solidFill>
                <a:latin typeface="Calibri" pitchFamily="34" charset="0"/>
                <a:ea typeface="Calibri" pitchFamily="34" charset="-122"/>
                <a:cs typeface="Calibri" pitchFamily="34" charset="-120"/>
              </a:rPr>
              <a:t>Plain RNN</a:t>
            </a:r>
            <a:endParaRPr lang="en-US" sz="1350" dirty="0"/>
          </a:p>
        </p:txBody>
      </p:sp>
      <p:sp>
        <p:nvSpPr>
          <p:cNvPr id="21" name="Text 19"/>
          <p:cNvSpPr/>
          <p:nvPr/>
        </p:nvSpPr>
        <p:spPr>
          <a:xfrm>
            <a:off x="3302000" y="3835400"/>
            <a:ext cx="7937500" cy="584200"/>
          </a:xfrm>
          <a:prstGeom prst="rect">
            <a:avLst/>
          </a:prstGeom>
          <a:noFill/>
          <a:ln/>
        </p:spPr>
        <p:txBody>
          <a:bodyPr wrap="square" rtlCol="0" anchor="ctr"/>
          <a:lstStyle/>
          <a:p>
            <a:pPr indent="0" marL="0">
              <a:buNone/>
            </a:pPr>
            <a:r>
              <a:rPr lang="en-US" sz="1150" dirty="0">
                <a:solidFill>
                  <a:srgbClr val="5C7678"/>
                </a:solidFill>
                <a:latin typeface="Calibri" pitchFamily="34" charset="0"/>
                <a:ea typeface="Calibri" pitchFamily="34" charset="-122"/>
                <a:cs typeface="Calibri" pitchFamily="34" charset="-120"/>
              </a:rPr>
              <a:t>Vanishing and exploding gradients over long sequences (Bengio et al., 1994)</a:t>
            </a:r>
            <a:endParaRPr lang="en-US" sz="1150" dirty="0"/>
          </a:p>
        </p:txBody>
      </p:sp>
      <p:sp>
        <p:nvSpPr>
          <p:cNvPr id="22" name="Shape 20"/>
          <p:cNvSpPr/>
          <p:nvPr/>
        </p:nvSpPr>
        <p:spPr>
          <a:xfrm>
            <a:off x="698500" y="4508500"/>
            <a:ext cx="10795000" cy="584200"/>
          </a:xfrm>
          <a:prstGeom prst="roundRect">
            <a:avLst>
              <a:gd name="adj" fmla="val 21913"/>
            </a:avLst>
          </a:prstGeom>
          <a:solidFill>
            <a:srgbClr val="FFFFFF"/>
          </a:solidFill>
          <a:ln/>
        </p:spPr>
      </p:sp>
      <p:sp>
        <p:nvSpPr>
          <p:cNvPr id="23" name="Text 21"/>
          <p:cNvSpPr/>
          <p:nvPr/>
        </p:nvSpPr>
        <p:spPr>
          <a:xfrm>
            <a:off x="889000" y="4660900"/>
            <a:ext cx="279400" cy="279400"/>
          </a:xfrm>
          <a:prstGeom prst="roundRect">
            <a:avLst>
              <a:gd name="adj" fmla="val 50000"/>
            </a:avLst>
          </a:prstGeom>
          <a:solidFill>
            <a:srgbClr val="F7DAD3"/>
          </a:solidFill>
          <a:ln/>
        </p:spPr>
        <p:txBody>
          <a:bodyPr wrap="square" lIns="0" tIns="0" rIns="0" bIns="0" rtlCol="0" anchor="ctr"/>
          <a:lstStyle/>
          <a:p>
            <a:pPr algn="ctr" indent="0" marL="0">
              <a:buNone/>
            </a:pPr>
            <a:r>
              <a:rPr lang="en-US" sz="1100" b="1" dirty="0">
                <a:solidFill>
                  <a:srgbClr val="E35D45"/>
                </a:solidFill>
                <a:latin typeface="Calibri" pitchFamily="34" charset="0"/>
                <a:ea typeface="Calibri" pitchFamily="34" charset="-122"/>
                <a:cs typeface="Calibri" pitchFamily="34" charset="-120"/>
              </a:rPr>
              <a:t>→</a:t>
            </a:r>
            <a:endParaRPr lang="en-US" sz="1100" dirty="0"/>
          </a:p>
        </p:txBody>
      </p:sp>
      <p:sp>
        <p:nvSpPr>
          <p:cNvPr id="24" name="Text 22"/>
          <p:cNvSpPr/>
          <p:nvPr/>
        </p:nvSpPr>
        <p:spPr>
          <a:xfrm>
            <a:off x="1346200" y="4508500"/>
            <a:ext cx="1905000" cy="584200"/>
          </a:xfrm>
          <a:prstGeom prst="rect">
            <a:avLst/>
          </a:prstGeom>
          <a:noFill/>
          <a:ln/>
        </p:spPr>
        <p:txBody>
          <a:bodyPr wrap="square" rtlCol="0" anchor="ctr"/>
          <a:lstStyle/>
          <a:p>
            <a:pPr indent="0" marL="0">
              <a:buNone/>
            </a:pPr>
            <a:r>
              <a:rPr lang="en-US" sz="1350" b="1" dirty="0">
                <a:solidFill>
                  <a:srgbClr val="16343A"/>
                </a:solidFill>
                <a:latin typeface="Calibri" pitchFamily="34" charset="0"/>
                <a:ea typeface="Calibri" pitchFamily="34" charset="-122"/>
                <a:cs typeface="Calibri" pitchFamily="34" charset="-120"/>
              </a:rPr>
              <a:t>LSTM</a:t>
            </a:r>
            <a:endParaRPr lang="en-US" sz="1350" dirty="0"/>
          </a:p>
        </p:txBody>
      </p:sp>
      <p:sp>
        <p:nvSpPr>
          <p:cNvPr id="25" name="Text 23"/>
          <p:cNvSpPr/>
          <p:nvPr/>
        </p:nvSpPr>
        <p:spPr>
          <a:xfrm>
            <a:off x="3302000" y="4508500"/>
            <a:ext cx="7937500" cy="584200"/>
          </a:xfrm>
          <a:prstGeom prst="rect">
            <a:avLst/>
          </a:prstGeom>
          <a:noFill/>
          <a:ln/>
        </p:spPr>
        <p:txBody>
          <a:bodyPr wrap="square" rtlCol="0" anchor="ctr"/>
          <a:lstStyle/>
          <a:p>
            <a:pPr indent="0" marL="0">
              <a:buNone/>
            </a:pPr>
            <a:r>
              <a:rPr lang="en-US" sz="1150" dirty="0">
                <a:solidFill>
                  <a:srgbClr val="5C7678"/>
                </a:solidFill>
                <a:latin typeface="Calibri" pitchFamily="34" charset="0"/>
                <a:ea typeface="Calibri" pitchFamily="34" charset="-122"/>
                <a:cs typeface="Calibri" pitchFamily="34" charset="-120"/>
              </a:rPr>
              <a:t>Fixes that with 3 gates and a memory cell — more parameters than this dataset needs (Hochreiter &amp; Schmidhuber, 1997) — fitted in full on Dr Tian's advice, and it wins too</a:t>
            </a:r>
            <a:endParaRPr lang="en-US" sz="1150" dirty="0"/>
          </a:p>
        </p:txBody>
      </p:sp>
      <p:sp>
        <p:nvSpPr>
          <p:cNvPr id="26" name="Shape 24"/>
          <p:cNvSpPr/>
          <p:nvPr/>
        </p:nvSpPr>
        <p:spPr>
          <a:xfrm>
            <a:off x="698500" y="5181600"/>
            <a:ext cx="10795000" cy="685800"/>
          </a:xfrm>
          <a:prstGeom prst="roundRect">
            <a:avLst>
              <a:gd name="adj" fmla="val 18667"/>
            </a:avLst>
          </a:prstGeom>
          <a:solidFill>
            <a:srgbClr val="16343A"/>
          </a:solidFill>
          <a:ln/>
        </p:spPr>
      </p:sp>
      <p:sp>
        <p:nvSpPr>
          <p:cNvPr id="27" name="Text 25"/>
          <p:cNvSpPr/>
          <p:nvPr/>
        </p:nvSpPr>
        <p:spPr>
          <a:xfrm>
            <a:off x="889000" y="5384800"/>
            <a:ext cx="279400" cy="279400"/>
          </a:xfrm>
          <a:prstGeom prst="roundRect">
            <a:avLst>
              <a:gd name="adj" fmla="val 50000"/>
            </a:avLst>
          </a:prstGeom>
          <a:solidFill>
            <a:srgbClr val="E35D45"/>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8" name="Text 26"/>
          <p:cNvSpPr/>
          <p:nvPr/>
        </p:nvSpPr>
        <p:spPr>
          <a:xfrm>
            <a:off x="1346200" y="5181600"/>
            <a:ext cx="1905000" cy="6858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GRU</a:t>
            </a:r>
            <a:endParaRPr lang="en-US" sz="1450" dirty="0"/>
          </a:p>
        </p:txBody>
      </p:sp>
      <p:sp>
        <p:nvSpPr>
          <p:cNvPr id="29" name="Text 27"/>
          <p:cNvSpPr/>
          <p:nvPr/>
        </p:nvSpPr>
        <p:spPr>
          <a:xfrm>
            <a:off x="3302000" y="5181600"/>
            <a:ext cx="7937500" cy="685800"/>
          </a:xfrm>
          <a:prstGeom prst="rect">
            <a:avLst/>
          </a:prstGeom>
          <a:noFill/>
          <a:ln/>
        </p:spPr>
        <p:txBody>
          <a:bodyPr wrap="square" rtlCol="0" anchor="ctr"/>
          <a:lstStyle/>
          <a:p>
            <a:pPr indent="0" marL="0">
              <a:buNone/>
            </a:pPr>
            <a:r>
              <a:rPr lang="en-US" sz="1100" dirty="0">
                <a:solidFill>
                  <a:srgbClr val="C9DCDC"/>
                </a:solidFill>
                <a:latin typeface="Calibri" pitchFamily="34" charset="0"/>
                <a:ea typeface="Calibri" pitchFamily="34" charset="-122"/>
                <a:cs typeface="Calibri" pitchFamily="34" charset="-120"/>
              </a:rPr>
              <a:t>2 gates, no memory cell, same gradient-flow property, smaller parameter count (Cho et al., 2014). Chapter 4 tests both size arguments directly — and supports neither.</a:t>
            </a:r>
            <a:endParaRPr lang="en-US" sz="11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LITERATURE REVIEW</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Delhi air quality, and the research gap</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828800"/>
            <a:ext cx="5270500" cy="1574800"/>
          </a:xfrm>
          <a:prstGeom prst="roundRect">
            <a:avLst>
              <a:gd name="adj" fmla="val 8129"/>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90600" y="20574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WHERE DELHI'S POLLUTION COMES FROM</a:t>
            </a:r>
            <a:endParaRPr lang="en-US" sz="900" dirty="0"/>
          </a:p>
        </p:txBody>
      </p:sp>
      <p:sp>
        <p:nvSpPr>
          <p:cNvPr id="7" name="Text 5"/>
          <p:cNvSpPr/>
          <p:nvPr/>
        </p:nvSpPr>
        <p:spPr>
          <a:xfrm>
            <a:off x="990600" y="2336800"/>
            <a:ext cx="4699000" cy="9525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Traffic, industry and seasonal stubble burning (Guttikunda et al., 2014; Cusworth et al., 2018; Jethva et al., 2019).</a:t>
            </a:r>
            <a:endParaRPr lang="en-US" sz="1200" dirty="0"/>
          </a:p>
        </p:txBody>
      </p:sp>
      <p:sp>
        <p:nvSpPr>
          <p:cNvPr id="8" name="Shape 6"/>
          <p:cNvSpPr/>
          <p:nvPr/>
        </p:nvSpPr>
        <p:spPr>
          <a:xfrm>
            <a:off x="6223000" y="1828800"/>
            <a:ext cx="5270500" cy="1574800"/>
          </a:xfrm>
          <a:prstGeom prst="roundRect">
            <a:avLst>
              <a:gd name="adj" fmla="val 8129"/>
            </a:avLst>
          </a:prstGeom>
          <a:solidFill>
            <a:srgbClr val="FFFFFF"/>
          </a:solidFill>
          <a:ln/>
          <a:effectLst>
            <a:outerShdw sx="100000" sy="100000" kx="0" ky="0" algn="bl" rotWithShape="0" blurRad="127000" dist="38100" dir="5400000">
              <a:srgbClr val="16343A">
                <a:alpha val="16000"/>
              </a:srgbClr>
            </a:outerShdw>
          </a:effectLst>
        </p:spPr>
      </p:sp>
      <p:sp>
        <p:nvSpPr>
          <p:cNvPr id="9" name="Text 7"/>
          <p:cNvSpPr/>
          <p:nvPr/>
        </p:nvSpPr>
        <p:spPr>
          <a:xfrm>
            <a:off x="6515100" y="20574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PRIOR DELHI PM2.5 ML STUDIES</a:t>
            </a:r>
            <a:endParaRPr lang="en-US" sz="900" dirty="0"/>
          </a:p>
        </p:txBody>
      </p:sp>
      <p:sp>
        <p:nvSpPr>
          <p:cNvPr id="10" name="Text 8"/>
          <p:cNvSpPr/>
          <p:nvPr/>
        </p:nvSpPr>
        <p:spPr>
          <a:xfrm>
            <a:off x="6515100" y="2336800"/>
            <a:ext cx="4699000" cy="9525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Masood &amp; Ahmad (2020) and Singh &amp; Srivastava (2025) score accuracy only — none evaluates forecasts as a warning system with an explicit alarm budget.</a:t>
            </a:r>
            <a:endParaRPr lang="en-US" sz="1200" dirty="0"/>
          </a:p>
        </p:txBody>
      </p:sp>
      <p:sp>
        <p:nvSpPr>
          <p:cNvPr id="11" name="Shape 9"/>
          <p:cNvSpPr/>
          <p:nvPr/>
        </p:nvSpPr>
        <p:spPr>
          <a:xfrm>
            <a:off x="698500" y="3556000"/>
            <a:ext cx="5270500" cy="1574800"/>
          </a:xfrm>
          <a:prstGeom prst="roundRect">
            <a:avLst>
              <a:gd name="adj" fmla="val 8129"/>
            </a:avLst>
          </a:prstGeom>
          <a:solidFill>
            <a:srgbClr val="FFFFFF"/>
          </a:solidFill>
          <a:ln/>
          <a:effectLst>
            <a:outerShdw sx="100000" sy="100000" kx="0" ky="0" algn="bl" rotWithShape="0" blurRad="127000" dist="38100" dir="5400000">
              <a:srgbClr val="16343A">
                <a:alpha val="16000"/>
              </a:srgbClr>
            </a:outerShdw>
          </a:effectLst>
        </p:spPr>
      </p:sp>
      <p:sp>
        <p:nvSpPr>
          <p:cNvPr id="12" name="Text 10"/>
          <p:cNvSpPr/>
          <p:nvPr/>
        </p:nvSpPr>
        <p:spPr>
          <a:xfrm>
            <a:off x="990600" y="37846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FORECAST VERIFICATION</a:t>
            </a:r>
            <a:endParaRPr lang="en-US" sz="900" dirty="0"/>
          </a:p>
        </p:txBody>
      </p:sp>
      <p:sp>
        <p:nvSpPr>
          <p:cNvPr id="13" name="Text 11"/>
          <p:cNvSpPr/>
          <p:nvPr/>
        </p:nvSpPr>
        <p:spPr>
          <a:xfrm>
            <a:off x="990600" y="4064000"/>
            <a:ext cx="4699000" cy="9525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Match measures to the decision (Jolliffe &amp; Stephenson, 2012); CSI (Schaefer, 1990); plain accuracy misleads on imbalanced events (He &amp; Garcia, 2009; Saito &amp; Rehmsmeier, 2015).</a:t>
            </a:r>
            <a:endParaRPr lang="en-US" sz="1200" dirty="0"/>
          </a:p>
        </p:txBody>
      </p:sp>
      <p:sp>
        <p:nvSpPr>
          <p:cNvPr id="14" name="Shape 12"/>
          <p:cNvSpPr/>
          <p:nvPr/>
        </p:nvSpPr>
        <p:spPr>
          <a:xfrm>
            <a:off x="6223000" y="3556000"/>
            <a:ext cx="5270500" cy="1574800"/>
          </a:xfrm>
          <a:prstGeom prst="roundRect">
            <a:avLst>
              <a:gd name="adj" fmla="val 8129"/>
            </a:avLst>
          </a:prstGeom>
          <a:solidFill>
            <a:srgbClr val="FFFFFF"/>
          </a:solidFill>
          <a:ln/>
          <a:effectLst>
            <a:outerShdw sx="100000" sy="100000" kx="0" ky="0" algn="bl" rotWithShape="0" blurRad="127000" dist="38100" dir="5400000">
              <a:srgbClr val="16343A">
                <a:alpha val="16000"/>
              </a:srgbClr>
            </a:outerShdw>
          </a:effectLst>
        </p:spPr>
      </p:sp>
      <p:sp>
        <p:nvSpPr>
          <p:cNvPr id="15" name="Text 13"/>
          <p:cNvSpPr/>
          <p:nvPr/>
        </p:nvSpPr>
        <p:spPr>
          <a:xfrm>
            <a:off x="6515100" y="37846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DATA QUALITY</a:t>
            </a:r>
            <a:endParaRPr lang="en-US" sz="900" dirty="0"/>
          </a:p>
        </p:txBody>
      </p:sp>
      <p:sp>
        <p:nvSpPr>
          <p:cNvPr id="16" name="Text 14"/>
          <p:cNvSpPr/>
          <p:nvPr/>
        </p:nvSpPr>
        <p:spPr>
          <a:xfrm>
            <a:off x="6515100" y="4064000"/>
            <a:ext cx="4699000" cy="9525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The literature on negative readings (Jiang et al., 2023) and on missingness mirrors the two defects found in this project's own source data.</a:t>
            </a:r>
            <a:endParaRPr lang="en-US" sz="1200" dirty="0"/>
          </a:p>
        </p:txBody>
      </p:sp>
      <p:sp>
        <p:nvSpPr>
          <p:cNvPr id="17" name="Shape 15"/>
          <p:cNvSpPr/>
          <p:nvPr/>
        </p:nvSpPr>
        <p:spPr>
          <a:xfrm>
            <a:off x="698500" y="5372100"/>
            <a:ext cx="10795000" cy="787400"/>
          </a:xfrm>
          <a:prstGeom prst="roundRect">
            <a:avLst>
              <a:gd name="adj" fmla="val 16258"/>
            </a:avLst>
          </a:prstGeom>
          <a:solidFill>
            <a:srgbClr val="16343A"/>
          </a:solidFill>
          <a:ln/>
        </p:spPr>
      </p:sp>
      <p:sp>
        <p:nvSpPr>
          <p:cNvPr id="18" name="Text 16"/>
          <p:cNvSpPr/>
          <p:nvPr/>
        </p:nvSpPr>
        <p:spPr>
          <a:xfrm>
            <a:off x="1054100" y="5537200"/>
            <a:ext cx="1905000" cy="190500"/>
          </a:xfrm>
          <a:prstGeom prst="rect">
            <a:avLst/>
          </a:prstGeom>
          <a:noFill/>
          <a:ln/>
        </p:spPr>
        <p:txBody>
          <a:bodyPr wrap="square" rtlCol="0" anchor="ctr"/>
          <a:lstStyle/>
          <a:p>
            <a:pPr indent="0" marL="0">
              <a:buNone/>
            </a:pPr>
            <a:r>
              <a:rPr lang="en-US" sz="950" b="1" spc="140" kern="0" dirty="0">
                <a:solidFill>
                  <a:srgbClr val="F0A999"/>
                </a:solidFill>
                <a:latin typeface="Calibri" pitchFamily="34" charset="0"/>
                <a:ea typeface="Calibri" pitchFamily="34" charset="-122"/>
                <a:cs typeface="Calibri" pitchFamily="34" charset="-120"/>
              </a:rPr>
              <a:t>THE GAP</a:t>
            </a:r>
            <a:endParaRPr lang="en-US" sz="950" dirty="0"/>
          </a:p>
        </p:txBody>
      </p:sp>
      <p:sp>
        <p:nvSpPr>
          <p:cNvPr id="19" name="Text 17"/>
          <p:cNvSpPr/>
          <p:nvPr/>
        </p:nvSpPr>
        <p:spPr>
          <a:xfrm>
            <a:off x="1054100" y="5715000"/>
            <a:ext cx="10033000" cy="3175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Evaluate the comparison against an explicit alarm budget — Chapter 4 shows it changes which model wins.</a:t>
            </a:r>
            <a:endParaRPr lang="en-US" sz="14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93000" y="952500"/>
            <a:ext cx="4445000" cy="3556000"/>
          </a:xfrm>
          <a:prstGeom prst="rect">
            <a:avLst/>
          </a:prstGeom>
          <a:noFill/>
          <a:ln/>
        </p:spPr>
        <p:txBody>
          <a:bodyPr wrap="square" rtlCol="0" anchor="t"/>
          <a:lstStyle/>
          <a:p>
            <a:pPr algn="r" indent="0" marL="0">
              <a:buNone/>
            </a:pPr>
            <a:r>
              <a:rPr lang="en-US" sz="20000" b="1" dirty="0">
                <a:solidFill>
                  <a:srgbClr val="1E4850"/>
                </a:solidFill>
                <a:latin typeface="Calibri" pitchFamily="34" charset="0"/>
                <a:ea typeface="Calibri" pitchFamily="34" charset="-122"/>
                <a:cs typeface="Calibri" pitchFamily="34" charset="-120"/>
              </a:rPr>
              <a:t>03</a:t>
            </a:r>
            <a:endParaRPr lang="en-US" sz="20000" dirty="0"/>
          </a:p>
        </p:txBody>
      </p:sp>
      <p:sp>
        <p:nvSpPr>
          <p:cNvPr id="3" name="Shape 1"/>
          <p:cNvSpPr/>
          <p:nvPr/>
        </p:nvSpPr>
        <p:spPr>
          <a:xfrm>
            <a:off x="0" y="6264592"/>
            <a:ext cx="287020" cy="593408"/>
          </a:xfrm>
          <a:prstGeom prst="rect">
            <a:avLst/>
          </a:prstGeom>
          <a:solidFill>
            <a:srgbClr val="E35D45">
              <a:alpha val="78000"/>
            </a:srgbClr>
          </a:solidFill>
          <a:ln/>
        </p:spPr>
      </p:sp>
      <p:sp>
        <p:nvSpPr>
          <p:cNvPr id="4" name="Shape 2"/>
          <p:cNvSpPr/>
          <p:nvPr/>
        </p:nvSpPr>
        <p:spPr>
          <a:xfrm>
            <a:off x="304800" y="6606752"/>
            <a:ext cx="287020" cy="251248"/>
          </a:xfrm>
          <a:prstGeom prst="rect">
            <a:avLst/>
          </a:prstGeom>
          <a:solidFill>
            <a:srgbClr val="2F5F67">
              <a:alpha val="50000"/>
            </a:srgbClr>
          </a:solidFill>
          <a:ln/>
        </p:spPr>
      </p:sp>
      <p:sp>
        <p:nvSpPr>
          <p:cNvPr id="5" name="Shape 3"/>
          <p:cNvSpPr/>
          <p:nvPr/>
        </p:nvSpPr>
        <p:spPr>
          <a:xfrm>
            <a:off x="609600" y="6662994"/>
            <a:ext cx="287020" cy="195006"/>
          </a:xfrm>
          <a:prstGeom prst="rect">
            <a:avLst/>
          </a:prstGeom>
          <a:solidFill>
            <a:srgbClr val="2F5F67">
              <a:alpha val="50000"/>
            </a:srgbClr>
          </a:solidFill>
          <a:ln/>
        </p:spPr>
      </p:sp>
      <p:sp>
        <p:nvSpPr>
          <p:cNvPr id="6" name="Shape 4"/>
          <p:cNvSpPr/>
          <p:nvPr/>
        </p:nvSpPr>
        <p:spPr>
          <a:xfrm>
            <a:off x="914400" y="6630586"/>
            <a:ext cx="287020" cy="227414"/>
          </a:xfrm>
          <a:prstGeom prst="rect">
            <a:avLst/>
          </a:prstGeom>
          <a:solidFill>
            <a:srgbClr val="2F5F67">
              <a:alpha val="50000"/>
            </a:srgbClr>
          </a:solidFill>
          <a:ln/>
        </p:spPr>
      </p:sp>
      <p:sp>
        <p:nvSpPr>
          <p:cNvPr id="7" name="Shape 5"/>
          <p:cNvSpPr/>
          <p:nvPr/>
        </p:nvSpPr>
        <p:spPr>
          <a:xfrm>
            <a:off x="1219200" y="6619167"/>
            <a:ext cx="287020" cy="238833"/>
          </a:xfrm>
          <a:prstGeom prst="rect">
            <a:avLst/>
          </a:prstGeom>
          <a:solidFill>
            <a:srgbClr val="2F5F67">
              <a:alpha val="50000"/>
            </a:srgbClr>
          </a:solidFill>
          <a:ln/>
        </p:spPr>
      </p:sp>
      <p:sp>
        <p:nvSpPr>
          <p:cNvPr id="8" name="Shape 6"/>
          <p:cNvSpPr/>
          <p:nvPr/>
        </p:nvSpPr>
        <p:spPr>
          <a:xfrm>
            <a:off x="1524000" y="6653476"/>
            <a:ext cx="287020" cy="204524"/>
          </a:xfrm>
          <a:prstGeom prst="rect">
            <a:avLst/>
          </a:prstGeom>
          <a:solidFill>
            <a:srgbClr val="2F5F67">
              <a:alpha val="50000"/>
            </a:srgbClr>
          </a:solidFill>
          <a:ln/>
        </p:spPr>
      </p:sp>
      <p:sp>
        <p:nvSpPr>
          <p:cNvPr id="9" name="Shape 7"/>
          <p:cNvSpPr/>
          <p:nvPr/>
        </p:nvSpPr>
        <p:spPr>
          <a:xfrm>
            <a:off x="1828800" y="6409062"/>
            <a:ext cx="287020" cy="448938"/>
          </a:xfrm>
          <a:prstGeom prst="rect">
            <a:avLst/>
          </a:prstGeom>
          <a:solidFill>
            <a:srgbClr val="E35D45">
              <a:alpha val="78000"/>
            </a:srgbClr>
          </a:solidFill>
          <a:ln/>
        </p:spPr>
      </p:sp>
      <p:sp>
        <p:nvSpPr>
          <p:cNvPr id="10" name="Shape 8"/>
          <p:cNvSpPr/>
          <p:nvPr/>
        </p:nvSpPr>
        <p:spPr>
          <a:xfrm>
            <a:off x="2133600" y="6226108"/>
            <a:ext cx="287020" cy="631892"/>
          </a:xfrm>
          <a:prstGeom prst="rect">
            <a:avLst/>
          </a:prstGeom>
          <a:solidFill>
            <a:srgbClr val="E35D45">
              <a:alpha val="78000"/>
            </a:srgbClr>
          </a:solidFill>
          <a:ln/>
        </p:spPr>
      </p:sp>
      <p:sp>
        <p:nvSpPr>
          <p:cNvPr id="11" name="Shape 9"/>
          <p:cNvSpPr/>
          <p:nvPr/>
        </p:nvSpPr>
        <p:spPr>
          <a:xfrm>
            <a:off x="2438400" y="6428101"/>
            <a:ext cx="287020" cy="429899"/>
          </a:xfrm>
          <a:prstGeom prst="rect">
            <a:avLst/>
          </a:prstGeom>
          <a:solidFill>
            <a:srgbClr val="E35D45">
              <a:alpha val="78000"/>
            </a:srgbClr>
          </a:solidFill>
          <a:ln/>
        </p:spPr>
      </p:sp>
      <p:sp>
        <p:nvSpPr>
          <p:cNvPr id="12" name="Shape 10"/>
          <p:cNvSpPr/>
          <p:nvPr/>
        </p:nvSpPr>
        <p:spPr>
          <a:xfrm>
            <a:off x="2743200" y="6353239"/>
            <a:ext cx="287020" cy="504761"/>
          </a:xfrm>
          <a:prstGeom prst="rect">
            <a:avLst/>
          </a:prstGeom>
          <a:solidFill>
            <a:srgbClr val="E35D45">
              <a:alpha val="78000"/>
            </a:srgbClr>
          </a:solidFill>
          <a:ln/>
        </p:spPr>
      </p:sp>
      <p:sp>
        <p:nvSpPr>
          <p:cNvPr id="13" name="Shape 11"/>
          <p:cNvSpPr/>
          <p:nvPr/>
        </p:nvSpPr>
        <p:spPr>
          <a:xfrm>
            <a:off x="3048000" y="6328962"/>
            <a:ext cx="287020" cy="529038"/>
          </a:xfrm>
          <a:prstGeom prst="rect">
            <a:avLst/>
          </a:prstGeom>
          <a:solidFill>
            <a:srgbClr val="E35D45">
              <a:alpha val="78000"/>
            </a:srgbClr>
          </a:solidFill>
          <a:ln/>
        </p:spPr>
      </p:sp>
      <p:sp>
        <p:nvSpPr>
          <p:cNvPr id="14" name="Shape 12"/>
          <p:cNvSpPr/>
          <p:nvPr/>
        </p:nvSpPr>
        <p:spPr>
          <a:xfrm>
            <a:off x="3352800" y="6448023"/>
            <a:ext cx="287020" cy="409977"/>
          </a:xfrm>
          <a:prstGeom prst="rect">
            <a:avLst/>
          </a:prstGeom>
          <a:solidFill>
            <a:srgbClr val="E35D45">
              <a:alpha val="78000"/>
            </a:srgbClr>
          </a:solidFill>
          <a:ln/>
        </p:spPr>
      </p:sp>
      <p:sp>
        <p:nvSpPr>
          <p:cNvPr id="15" name="Shape 13"/>
          <p:cNvSpPr/>
          <p:nvPr/>
        </p:nvSpPr>
        <p:spPr>
          <a:xfrm>
            <a:off x="3657600" y="6473883"/>
            <a:ext cx="287020" cy="384117"/>
          </a:xfrm>
          <a:prstGeom prst="rect">
            <a:avLst/>
          </a:prstGeom>
          <a:solidFill>
            <a:srgbClr val="E35D45">
              <a:alpha val="78000"/>
            </a:srgbClr>
          </a:solidFill>
          <a:ln/>
        </p:spPr>
      </p:sp>
      <p:sp>
        <p:nvSpPr>
          <p:cNvPr id="16" name="Shape 14"/>
          <p:cNvSpPr/>
          <p:nvPr/>
        </p:nvSpPr>
        <p:spPr>
          <a:xfrm>
            <a:off x="3962400" y="6517995"/>
            <a:ext cx="287020" cy="340005"/>
          </a:xfrm>
          <a:prstGeom prst="rect">
            <a:avLst/>
          </a:prstGeom>
          <a:solidFill>
            <a:srgbClr val="E35D45">
              <a:alpha val="78000"/>
            </a:srgbClr>
          </a:solidFill>
          <a:ln/>
        </p:spPr>
      </p:sp>
      <p:sp>
        <p:nvSpPr>
          <p:cNvPr id="17" name="Shape 15"/>
          <p:cNvSpPr/>
          <p:nvPr/>
        </p:nvSpPr>
        <p:spPr>
          <a:xfrm>
            <a:off x="4267200" y="6593481"/>
            <a:ext cx="287020" cy="264519"/>
          </a:xfrm>
          <a:prstGeom prst="rect">
            <a:avLst/>
          </a:prstGeom>
          <a:solidFill>
            <a:srgbClr val="2F5F67">
              <a:alpha val="50000"/>
            </a:srgbClr>
          </a:solidFill>
          <a:ln/>
        </p:spPr>
      </p:sp>
      <p:sp>
        <p:nvSpPr>
          <p:cNvPr id="18" name="Shape 16"/>
          <p:cNvSpPr/>
          <p:nvPr/>
        </p:nvSpPr>
        <p:spPr>
          <a:xfrm>
            <a:off x="4572000" y="6642609"/>
            <a:ext cx="287020" cy="215391"/>
          </a:xfrm>
          <a:prstGeom prst="rect">
            <a:avLst/>
          </a:prstGeom>
          <a:solidFill>
            <a:srgbClr val="2F5F67">
              <a:alpha val="50000"/>
            </a:srgbClr>
          </a:solidFill>
          <a:ln/>
        </p:spPr>
      </p:sp>
      <p:sp>
        <p:nvSpPr>
          <p:cNvPr id="19" name="Shape 17"/>
          <p:cNvSpPr/>
          <p:nvPr/>
        </p:nvSpPr>
        <p:spPr>
          <a:xfrm>
            <a:off x="4876800" y="6635659"/>
            <a:ext cx="287020" cy="222341"/>
          </a:xfrm>
          <a:prstGeom prst="rect">
            <a:avLst/>
          </a:prstGeom>
          <a:solidFill>
            <a:srgbClr val="2F5F67">
              <a:alpha val="50000"/>
            </a:srgbClr>
          </a:solidFill>
          <a:ln/>
        </p:spPr>
      </p:sp>
      <p:sp>
        <p:nvSpPr>
          <p:cNvPr id="20" name="Shape 18"/>
          <p:cNvSpPr/>
          <p:nvPr/>
        </p:nvSpPr>
        <p:spPr>
          <a:xfrm>
            <a:off x="5181600" y="6592047"/>
            <a:ext cx="287020" cy="265953"/>
          </a:xfrm>
          <a:prstGeom prst="rect">
            <a:avLst/>
          </a:prstGeom>
          <a:solidFill>
            <a:srgbClr val="2F5F67">
              <a:alpha val="50000"/>
            </a:srgbClr>
          </a:solidFill>
          <a:ln/>
        </p:spPr>
      </p:sp>
      <p:sp>
        <p:nvSpPr>
          <p:cNvPr id="21" name="Shape 19"/>
          <p:cNvSpPr/>
          <p:nvPr/>
        </p:nvSpPr>
        <p:spPr>
          <a:xfrm>
            <a:off x="5486400" y="6633955"/>
            <a:ext cx="287020" cy="224045"/>
          </a:xfrm>
          <a:prstGeom prst="rect">
            <a:avLst/>
          </a:prstGeom>
          <a:solidFill>
            <a:srgbClr val="2F5F67">
              <a:alpha val="50000"/>
            </a:srgbClr>
          </a:solidFill>
          <a:ln/>
        </p:spPr>
      </p:sp>
      <p:sp>
        <p:nvSpPr>
          <p:cNvPr id="22" name="Shape 20"/>
          <p:cNvSpPr/>
          <p:nvPr/>
        </p:nvSpPr>
        <p:spPr>
          <a:xfrm>
            <a:off x="5791200" y="6642609"/>
            <a:ext cx="287020" cy="215391"/>
          </a:xfrm>
          <a:prstGeom prst="rect">
            <a:avLst/>
          </a:prstGeom>
          <a:solidFill>
            <a:srgbClr val="2F5F67">
              <a:alpha val="50000"/>
            </a:srgbClr>
          </a:solidFill>
          <a:ln/>
        </p:spPr>
      </p:sp>
      <p:sp>
        <p:nvSpPr>
          <p:cNvPr id="23" name="Shape 21"/>
          <p:cNvSpPr/>
          <p:nvPr/>
        </p:nvSpPr>
        <p:spPr>
          <a:xfrm>
            <a:off x="6096000" y="6679274"/>
            <a:ext cx="287020" cy="178726"/>
          </a:xfrm>
          <a:prstGeom prst="rect">
            <a:avLst/>
          </a:prstGeom>
          <a:solidFill>
            <a:srgbClr val="2F5F67">
              <a:alpha val="50000"/>
            </a:srgbClr>
          </a:solidFill>
          <a:ln/>
        </p:spPr>
      </p:sp>
      <p:sp>
        <p:nvSpPr>
          <p:cNvPr id="24" name="Shape 22"/>
          <p:cNvSpPr/>
          <p:nvPr/>
        </p:nvSpPr>
        <p:spPr>
          <a:xfrm>
            <a:off x="6400800" y="6670957"/>
            <a:ext cx="287020" cy="187043"/>
          </a:xfrm>
          <a:prstGeom prst="rect">
            <a:avLst/>
          </a:prstGeom>
          <a:solidFill>
            <a:srgbClr val="2F5F67">
              <a:alpha val="50000"/>
            </a:srgbClr>
          </a:solidFill>
          <a:ln/>
        </p:spPr>
      </p:sp>
      <p:sp>
        <p:nvSpPr>
          <p:cNvPr id="25" name="Shape 23"/>
          <p:cNvSpPr/>
          <p:nvPr/>
        </p:nvSpPr>
        <p:spPr>
          <a:xfrm>
            <a:off x="6705600" y="6630586"/>
            <a:ext cx="287020" cy="227414"/>
          </a:xfrm>
          <a:prstGeom prst="rect">
            <a:avLst/>
          </a:prstGeom>
          <a:solidFill>
            <a:srgbClr val="2F5F67">
              <a:alpha val="50000"/>
            </a:srgbClr>
          </a:solidFill>
          <a:ln/>
        </p:spPr>
      </p:sp>
      <p:sp>
        <p:nvSpPr>
          <p:cNvPr id="26" name="Shape 24"/>
          <p:cNvSpPr/>
          <p:nvPr/>
        </p:nvSpPr>
        <p:spPr>
          <a:xfrm>
            <a:off x="7010400" y="6608270"/>
            <a:ext cx="287020" cy="249730"/>
          </a:xfrm>
          <a:prstGeom prst="rect">
            <a:avLst/>
          </a:prstGeom>
          <a:solidFill>
            <a:srgbClr val="2F5F67">
              <a:alpha val="50000"/>
            </a:srgbClr>
          </a:solidFill>
          <a:ln/>
        </p:spPr>
      </p:sp>
      <p:sp>
        <p:nvSpPr>
          <p:cNvPr id="27" name="Shape 25"/>
          <p:cNvSpPr/>
          <p:nvPr/>
        </p:nvSpPr>
        <p:spPr>
          <a:xfrm>
            <a:off x="7315200" y="6474874"/>
            <a:ext cx="287020" cy="383126"/>
          </a:xfrm>
          <a:prstGeom prst="rect">
            <a:avLst/>
          </a:prstGeom>
          <a:solidFill>
            <a:srgbClr val="E35D45">
              <a:alpha val="78000"/>
            </a:srgbClr>
          </a:solidFill>
          <a:ln/>
        </p:spPr>
      </p:sp>
      <p:sp>
        <p:nvSpPr>
          <p:cNvPr id="28" name="Shape 26"/>
          <p:cNvSpPr/>
          <p:nvPr/>
        </p:nvSpPr>
        <p:spPr>
          <a:xfrm>
            <a:off x="7620000" y="6211826"/>
            <a:ext cx="287020" cy="646174"/>
          </a:xfrm>
          <a:prstGeom prst="rect">
            <a:avLst/>
          </a:prstGeom>
          <a:solidFill>
            <a:srgbClr val="E35D45">
              <a:alpha val="78000"/>
            </a:srgbClr>
          </a:solidFill>
          <a:ln/>
        </p:spPr>
      </p:sp>
      <p:sp>
        <p:nvSpPr>
          <p:cNvPr id="29" name="Shape 27"/>
          <p:cNvSpPr/>
          <p:nvPr/>
        </p:nvSpPr>
        <p:spPr>
          <a:xfrm>
            <a:off x="7924800" y="6381131"/>
            <a:ext cx="287020" cy="476869"/>
          </a:xfrm>
          <a:prstGeom prst="rect">
            <a:avLst/>
          </a:prstGeom>
          <a:solidFill>
            <a:srgbClr val="E35D45">
              <a:alpha val="78000"/>
            </a:srgbClr>
          </a:solidFill>
          <a:ln/>
        </p:spPr>
      </p:sp>
      <p:sp>
        <p:nvSpPr>
          <p:cNvPr id="30" name="Shape 28"/>
          <p:cNvSpPr/>
          <p:nvPr/>
        </p:nvSpPr>
        <p:spPr>
          <a:xfrm>
            <a:off x="8229600" y="6342800"/>
            <a:ext cx="287020" cy="515200"/>
          </a:xfrm>
          <a:prstGeom prst="rect">
            <a:avLst/>
          </a:prstGeom>
          <a:solidFill>
            <a:srgbClr val="E35D45">
              <a:alpha val="78000"/>
            </a:srgbClr>
          </a:solidFill>
          <a:ln/>
        </p:spPr>
      </p:sp>
      <p:sp>
        <p:nvSpPr>
          <p:cNvPr id="31" name="Shape 29"/>
          <p:cNvSpPr/>
          <p:nvPr/>
        </p:nvSpPr>
        <p:spPr>
          <a:xfrm>
            <a:off x="8534400" y="6290804"/>
            <a:ext cx="287020" cy="567196"/>
          </a:xfrm>
          <a:prstGeom prst="rect">
            <a:avLst/>
          </a:prstGeom>
          <a:solidFill>
            <a:srgbClr val="E35D45">
              <a:alpha val="78000"/>
            </a:srgbClr>
          </a:solidFill>
          <a:ln/>
        </p:spPr>
      </p:sp>
      <p:sp>
        <p:nvSpPr>
          <p:cNvPr id="32" name="Shape 30"/>
          <p:cNvSpPr/>
          <p:nvPr/>
        </p:nvSpPr>
        <p:spPr>
          <a:xfrm>
            <a:off x="8839200" y="6415031"/>
            <a:ext cx="287020" cy="442969"/>
          </a:xfrm>
          <a:prstGeom prst="rect">
            <a:avLst/>
          </a:prstGeom>
          <a:solidFill>
            <a:srgbClr val="E35D45">
              <a:alpha val="78000"/>
            </a:srgbClr>
          </a:solidFill>
          <a:ln/>
        </p:spPr>
      </p:sp>
      <p:sp>
        <p:nvSpPr>
          <p:cNvPr id="33" name="Shape 31"/>
          <p:cNvSpPr/>
          <p:nvPr/>
        </p:nvSpPr>
        <p:spPr>
          <a:xfrm>
            <a:off x="9144000" y="6440669"/>
            <a:ext cx="287020" cy="417331"/>
          </a:xfrm>
          <a:prstGeom prst="rect">
            <a:avLst/>
          </a:prstGeom>
          <a:solidFill>
            <a:srgbClr val="E35D45">
              <a:alpha val="78000"/>
            </a:srgbClr>
          </a:solidFill>
          <a:ln/>
        </p:spPr>
      </p:sp>
      <p:sp>
        <p:nvSpPr>
          <p:cNvPr id="34" name="Shape 32"/>
          <p:cNvSpPr/>
          <p:nvPr/>
        </p:nvSpPr>
        <p:spPr>
          <a:xfrm>
            <a:off x="9448800" y="6525917"/>
            <a:ext cx="287020" cy="332083"/>
          </a:xfrm>
          <a:prstGeom prst="rect">
            <a:avLst/>
          </a:prstGeom>
          <a:solidFill>
            <a:srgbClr val="E35D45">
              <a:alpha val="78000"/>
            </a:srgbClr>
          </a:solidFill>
          <a:ln/>
        </p:spPr>
      </p:sp>
      <p:sp>
        <p:nvSpPr>
          <p:cNvPr id="35" name="Shape 33"/>
          <p:cNvSpPr/>
          <p:nvPr/>
        </p:nvSpPr>
        <p:spPr>
          <a:xfrm>
            <a:off x="9753600" y="6566142"/>
            <a:ext cx="287020" cy="291858"/>
          </a:xfrm>
          <a:prstGeom prst="rect">
            <a:avLst/>
          </a:prstGeom>
          <a:solidFill>
            <a:srgbClr val="2F5F67">
              <a:alpha val="50000"/>
            </a:srgbClr>
          </a:solidFill>
          <a:ln/>
        </p:spPr>
      </p:sp>
      <p:sp>
        <p:nvSpPr>
          <p:cNvPr id="36" name="Shape 34"/>
          <p:cNvSpPr/>
          <p:nvPr/>
        </p:nvSpPr>
        <p:spPr>
          <a:xfrm>
            <a:off x="10058400" y="6495268"/>
            <a:ext cx="287020" cy="362732"/>
          </a:xfrm>
          <a:prstGeom prst="rect">
            <a:avLst/>
          </a:prstGeom>
          <a:solidFill>
            <a:srgbClr val="E35D45">
              <a:alpha val="78000"/>
            </a:srgbClr>
          </a:solidFill>
          <a:ln/>
        </p:spPr>
      </p:sp>
      <p:sp>
        <p:nvSpPr>
          <p:cNvPr id="37" name="Shape 35"/>
          <p:cNvSpPr/>
          <p:nvPr/>
        </p:nvSpPr>
        <p:spPr>
          <a:xfrm>
            <a:off x="10363200" y="6627266"/>
            <a:ext cx="287020" cy="230734"/>
          </a:xfrm>
          <a:prstGeom prst="rect">
            <a:avLst/>
          </a:prstGeom>
          <a:solidFill>
            <a:srgbClr val="2F5F67">
              <a:alpha val="50000"/>
            </a:srgbClr>
          </a:solidFill>
          <a:ln/>
        </p:spPr>
      </p:sp>
      <p:sp>
        <p:nvSpPr>
          <p:cNvPr id="38" name="Shape 36"/>
          <p:cNvSpPr/>
          <p:nvPr/>
        </p:nvSpPr>
        <p:spPr>
          <a:xfrm>
            <a:off x="10668000" y="6670957"/>
            <a:ext cx="287020" cy="187043"/>
          </a:xfrm>
          <a:prstGeom prst="rect">
            <a:avLst/>
          </a:prstGeom>
          <a:solidFill>
            <a:srgbClr val="2F5F67">
              <a:alpha val="50000"/>
            </a:srgbClr>
          </a:solidFill>
          <a:ln/>
        </p:spPr>
      </p:sp>
      <p:sp>
        <p:nvSpPr>
          <p:cNvPr id="39" name="Shape 37"/>
          <p:cNvSpPr/>
          <p:nvPr/>
        </p:nvSpPr>
        <p:spPr>
          <a:xfrm>
            <a:off x="10972800" y="6661054"/>
            <a:ext cx="287020" cy="196946"/>
          </a:xfrm>
          <a:prstGeom prst="rect">
            <a:avLst/>
          </a:prstGeom>
          <a:solidFill>
            <a:srgbClr val="2F5F67">
              <a:alpha val="50000"/>
            </a:srgbClr>
          </a:solidFill>
          <a:ln/>
        </p:spPr>
      </p:sp>
      <p:sp>
        <p:nvSpPr>
          <p:cNvPr id="40" name="Shape 38"/>
          <p:cNvSpPr/>
          <p:nvPr/>
        </p:nvSpPr>
        <p:spPr>
          <a:xfrm>
            <a:off x="11277600" y="6681415"/>
            <a:ext cx="287020" cy="176585"/>
          </a:xfrm>
          <a:prstGeom prst="rect">
            <a:avLst/>
          </a:prstGeom>
          <a:solidFill>
            <a:srgbClr val="2F5F67">
              <a:alpha val="50000"/>
            </a:srgbClr>
          </a:solidFill>
          <a:ln/>
        </p:spPr>
      </p:sp>
      <p:sp>
        <p:nvSpPr>
          <p:cNvPr id="41" name="Shape 39"/>
          <p:cNvSpPr/>
          <p:nvPr/>
        </p:nvSpPr>
        <p:spPr>
          <a:xfrm>
            <a:off x="11582400" y="6620765"/>
            <a:ext cx="287020" cy="237235"/>
          </a:xfrm>
          <a:prstGeom prst="rect">
            <a:avLst/>
          </a:prstGeom>
          <a:solidFill>
            <a:srgbClr val="2F5F67">
              <a:alpha val="50000"/>
            </a:srgbClr>
          </a:solidFill>
          <a:ln/>
        </p:spPr>
      </p:sp>
      <p:sp>
        <p:nvSpPr>
          <p:cNvPr id="42" name="Shape 40"/>
          <p:cNvSpPr/>
          <p:nvPr/>
        </p:nvSpPr>
        <p:spPr>
          <a:xfrm>
            <a:off x="11887200" y="6511350"/>
            <a:ext cx="287020" cy="346650"/>
          </a:xfrm>
          <a:prstGeom prst="rect">
            <a:avLst/>
          </a:prstGeom>
          <a:solidFill>
            <a:srgbClr val="E35D45">
              <a:alpha val="78000"/>
            </a:srgbClr>
          </a:solidFill>
          <a:ln/>
        </p:spPr>
      </p:sp>
      <p:sp>
        <p:nvSpPr>
          <p:cNvPr id="43" name="Shape 41"/>
          <p:cNvSpPr/>
          <p:nvPr/>
        </p:nvSpPr>
        <p:spPr>
          <a:xfrm>
            <a:off x="0" y="6546850"/>
            <a:ext cx="12192000" cy="12700"/>
          </a:xfrm>
          <a:prstGeom prst="rect">
            <a:avLst/>
          </a:prstGeom>
          <a:solidFill>
            <a:srgbClr val="F0A999">
              <a:alpha val="50000"/>
            </a:srgbClr>
          </a:solidFill>
          <a:ln/>
        </p:spPr>
      </p:sp>
      <p:sp>
        <p:nvSpPr>
          <p:cNvPr id="44" name="Text 42"/>
          <p:cNvSpPr/>
          <p:nvPr/>
        </p:nvSpPr>
        <p:spPr>
          <a:xfrm>
            <a:off x="889000" y="2527300"/>
            <a:ext cx="5715000" cy="228600"/>
          </a:xfrm>
          <a:prstGeom prst="rect">
            <a:avLst/>
          </a:prstGeom>
          <a:noFill/>
          <a:ln/>
        </p:spPr>
        <p:txBody>
          <a:bodyPr wrap="square" rtlCol="0" anchor="ctr"/>
          <a:lstStyle/>
          <a:p>
            <a:pPr indent="0" marL="0">
              <a:buNone/>
            </a:pPr>
            <a:r>
              <a:rPr lang="en-US" sz="1100" b="1" spc="180" kern="0" dirty="0">
                <a:solidFill>
                  <a:srgbClr val="E35D45"/>
                </a:solidFill>
                <a:latin typeface="Calibri" pitchFamily="34" charset="0"/>
                <a:ea typeface="Calibri" pitchFamily="34" charset="-122"/>
                <a:cs typeface="Calibri" pitchFamily="34" charset="-120"/>
              </a:rPr>
              <a:t>CHAPTER 03 OF 06</a:t>
            </a:r>
            <a:endParaRPr lang="en-US" sz="1100" dirty="0"/>
          </a:p>
        </p:txBody>
      </p:sp>
      <p:sp>
        <p:nvSpPr>
          <p:cNvPr id="45" name="Text 43"/>
          <p:cNvSpPr/>
          <p:nvPr/>
        </p:nvSpPr>
        <p:spPr>
          <a:xfrm>
            <a:off x="889000" y="2794000"/>
            <a:ext cx="6350000" cy="762000"/>
          </a:xfrm>
          <a:prstGeom prst="rect">
            <a:avLst/>
          </a:prstGeom>
          <a:noFill/>
          <a:ln/>
        </p:spPr>
        <p:txBody>
          <a:bodyPr wrap="square"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Methodology</a:t>
            </a:r>
            <a:endParaRPr lang="en-US" sz="4600" dirty="0"/>
          </a:p>
        </p:txBody>
      </p:sp>
      <p:sp>
        <p:nvSpPr>
          <p:cNvPr id="46" name="Text 44"/>
          <p:cNvSpPr/>
          <p:nvPr/>
        </p:nvSpPr>
        <p:spPr>
          <a:xfrm>
            <a:off x="889000" y="3683000"/>
            <a:ext cx="5461000" cy="635000"/>
          </a:xfrm>
          <a:prstGeom prst="rect">
            <a:avLst/>
          </a:prstGeom>
          <a:noFill/>
          <a:ln/>
        </p:spPr>
        <p:txBody>
          <a:bodyPr wrap="square" rtlCol="0" anchor="t"/>
          <a:lstStyle/>
          <a:p>
            <a:pPr indent="0" marL="0">
              <a:lnSpc>
                <a:spcPct val="140000"/>
              </a:lnSpc>
              <a:buNone/>
            </a:pPr>
            <a:r>
              <a:rPr lang="en-US" sz="1500" dirty="0">
                <a:solidFill>
                  <a:srgbClr val="AFC6C8"/>
                </a:solidFill>
                <a:latin typeface="Calibri" pitchFamily="34" charset="0"/>
                <a:ea typeface="Calibri" pitchFamily="34" charset="-122"/>
                <a:cs typeface="Calibri" pitchFamily="34" charset="-120"/>
              </a:rPr>
              <a:t>The data and two real defects in it, twelve models, and one leakage-tested harness.</a:t>
            </a:r>
            <a:endParaRPr lang="en-US" sz="1500" dirty="0"/>
          </a:p>
        </p:txBody>
      </p:sp>
      <p:sp>
        <p:nvSpPr>
          <p:cNvPr id="47" name="Shape 45"/>
          <p:cNvSpPr/>
          <p:nvPr/>
        </p:nvSpPr>
        <p:spPr>
          <a:xfrm>
            <a:off x="889000" y="4445000"/>
            <a:ext cx="546100" cy="44450"/>
          </a:xfrm>
          <a:prstGeom prst="roundRect">
            <a:avLst>
              <a:gd name="adj" fmla="val 41143"/>
            </a:avLst>
          </a:prstGeom>
          <a:solidFill>
            <a:srgbClr val="2F5F67"/>
          </a:solidFill>
          <a:ln/>
        </p:spPr>
      </p:sp>
      <p:sp>
        <p:nvSpPr>
          <p:cNvPr id="48" name="Shape 46"/>
          <p:cNvSpPr/>
          <p:nvPr/>
        </p:nvSpPr>
        <p:spPr>
          <a:xfrm>
            <a:off x="1498600" y="4445000"/>
            <a:ext cx="546100" cy="44450"/>
          </a:xfrm>
          <a:prstGeom prst="roundRect">
            <a:avLst>
              <a:gd name="adj" fmla="val 41143"/>
            </a:avLst>
          </a:prstGeom>
          <a:solidFill>
            <a:srgbClr val="2F5F67"/>
          </a:solidFill>
          <a:ln/>
        </p:spPr>
      </p:sp>
      <p:sp>
        <p:nvSpPr>
          <p:cNvPr id="49" name="Shape 47"/>
          <p:cNvSpPr/>
          <p:nvPr/>
        </p:nvSpPr>
        <p:spPr>
          <a:xfrm>
            <a:off x="2108200" y="4445000"/>
            <a:ext cx="546100" cy="44450"/>
          </a:xfrm>
          <a:prstGeom prst="roundRect">
            <a:avLst>
              <a:gd name="adj" fmla="val 41143"/>
            </a:avLst>
          </a:prstGeom>
          <a:solidFill>
            <a:srgbClr val="E35D45"/>
          </a:solidFill>
          <a:ln/>
        </p:spPr>
      </p:sp>
      <p:sp>
        <p:nvSpPr>
          <p:cNvPr id="50" name="Shape 48"/>
          <p:cNvSpPr/>
          <p:nvPr/>
        </p:nvSpPr>
        <p:spPr>
          <a:xfrm>
            <a:off x="2717800" y="4445000"/>
            <a:ext cx="546100" cy="44450"/>
          </a:xfrm>
          <a:prstGeom prst="roundRect">
            <a:avLst>
              <a:gd name="adj" fmla="val 41143"/>
            </a:avLst>
          </a:prstGeom>
          <a:solidFill>
            <a:srgbClr val="2F5F67"/>
          </a:solidFill>
          <a:ln/>
        </p:spPr>
      </p:sp>
      <p:sp>
        <p:nvSpPr>
          <p:cNvPr id="51" name="Shape 49"/>
          <p:cNvSpPr/>
          <p:nvPr/>
        </p:nvSpPr>
        <p:spPr>
          <a:xfrm>
            <a:off x="3327400" y="4445000"/>
            <a:ext cx="546100" cy="44450"/>
          </a:xfrm>
          <a:prstGeom prst="roundRect">
            <a:avLst>
              <a:gd name="adj" fmla="val 41143"/>
            </a:avLst>
          </a:prstGeom>
          <a:solidFill>
            <a:srgbClr val="2F5F67"/>
          </a:solidFill>
          <a:ln/>
        </p:spPr>
      </p:sp>
      <p:sp>
        <p:nvSpPr>
          <p:cNvPr id="52" name="Shape 50"/>
          <p:cNvSpPr/>
          <p:nvPr/>
        </p:nvSpPr>
        <p:spPr>
          <a:xfrm>
            <a:off x="3937000" y="4445000"/>
            <a:ext cx="546100" cy="44450"/>
          </a:xfrm>
          <a:prstGeom prst="roundRect">
            <a:avLst>
              <a:gd name="adj" fmla="val 41143"/>
            </a:avLst>
          </a:prstGeom>
          <a:solidFill>
            <a:srgbClr val="2F5F67"/>
          </a:solidFill>
          <a:ln/>
        </p:spPr>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7E9A9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METHODOLOGY</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The data — and two defects in it</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27200"/>
            <a:ext cx="2552700" cy="749300"/>
          </a:xfrm>
          <a:prstGeom prst="roundRect">
            <a:avLst>
              <a:gd name="adj" fmla="val 17085"/>
            </a:avLst>
          </a:prstGeom>
          <a:solidFill>
            <a:srgbClr val="FFFFFF"/>
          </a:solidFill>
          <a:ln/>
        </p:spPr>
      </p:sp>
      <p:sp>
        <p:nvSpPr>
          <p:cNvPr id="6" name="Text 4"/>
          <p:cNvSpPr/>
          <p:nvPr/>
        </p:nvSpPr>
        <p:spPr>
          <a:xfrm>
            <a:off x="901700" y="1866900"/>
            <a:ext cx="2159000" cy="177800"/>
          </a:xfrm>
          <a:prstGeom prst="rect">
            <a:avLst/>
          </a:prstGeom>
          <a:noFill/>
          <a:ln/>
        </p:spPr>
        <p:txBody>
          <a:bodyPr wrap="square" rtlCol="0" anchor="ctr"/>
          <a:lstStyle/>
          <a:p>
            <a:pPr indent="0" marL="0">
              <a:buNone/>
            </a:pPr>
            <a:r>
              <a:rPr lang="en-US" sz="850" b="1" spc="120" kern="0" dirty="0">
                <a:solidFill>
                  <a:srgbClr val="5C7678"/>
                </a:solidFill>
                <a:latin typeface="Calibri" pitchFamily="34" charset="0"/>
                <a:ea typeface="Calibri" pitchFamily="34" charset="-122"/>
                <a:cs typeface="Calibri" pitchFamily="34" charset="-120"/>
              </a:rPr>
              <a:t>PERIOD</a:t>
            </a:r>
            <a:endParaRPr lang="en-US" sz="850" dirty="0"/>
          </a:p>
        </p:txBody>
      </p:sp>
      <p:sp>
        <p:nvSpPr>
          <p:cNvPr id="7" name="Text 5"/>
          <p:cNvSpPr/>
          <p:nvPr/>
        </p:nvSpPr>
        <p:spPr>
          <a:xfrm>
            <a:off x="901700" y="2044700"/>
            <a:ext cx="2159000" cy="330200"/>
          </a:xfrm>
          <a:prstGeom prst="rect">
            <a:avLst/>
          </a:prstGeom>
          <a:noFill/>
          <a:ln/>
        </p:spPr>
        <p:txBody>
          <a:bodyPr wrap="square" rtlCol="0" anchor="t"/>
          <a:lstStyle/>
          <a:p>
            <a:pPr indent="0" marL="0">
              <a:buNone/>
            </a:pPr>
            <a:r>
              <a:rPr lang="en-US" sz="1700" b="1" dirty="0">
                <a:solidFill>
                  <a:srgbClr val="16343A"/>
                </a:solidFill>
                <a:latin typeface="Calibri" pitchFamily="34" charset="0"/>
                <a:ea typeface="Calibri" pitchFamily="34" charset="-122"/>
                <a:cs typeface="Calibri" pitchFamily="34" charset="-120"/>
              </a:rPr>
              <a:t>2016–2026</a:t>
            </a:r>
            <a:endParaRPr lang="en-US" sz="1700" dirty="0"/>
          </a:p>
        </p:txBody>
      </p:sp>
      <p:sp>
        <p:nvSpPr>
          <p:cNvPr id="8" name="Shape 6"/>
          <p:cNvSpPr/>
          <p:nvPr/>
        </p:nvSpPr>
        <p:spPr>
          <a:xfrm>
            <a:off x="3441700" y="1727200"/>
            <a:ext cx="2552700" cy="749300"/>
          </a:xfrm>
          <a:prstGeom prst="roundRect">
            <a:avLst>
              <a:gd name="adj" fmla="val 17085"/>
            </a:avLst>
          </a:prstGeom>
          <a:solidFill>
            <a:srgbClr val="FFFFFF"/>
          </a:solidFill>
          <a:ln/>
        </p:spPr>
      </p:sp>
      <p:sp>
        <p:nvSpPr>
          <p:cNvPr id="9" name="Text 7"/>
          <p:cNvSpPr/>
          <p:nvPr/>
        </p:nvSpPr>
        <p:spPr>
          <a:xfrm>
            <a:off x="3644900" y="1866900"/>
            <a:ext cx="2159000" cy="177800"/>
          </a:xfrm>
          <a:prstGeom prst="rect">
            <a:avLst/>
          </a:prstGeom>
          <a:noFill/>
          <a:ln/>
        </p:spPr>
        <p:txBody>
          <a:bodyPr wrap="square" rtlCol="0" anchor="ctr"/>
          <a:lstStyle/>
          <a:p>
            <a:pPr indent="0" marL="0">
              <a:buNone/>
            </a:pPr>
            <a:r>
              <a:rPr lang="en-US" sz="850" b="1" spc="120" kern="0" dirty="0">
                <a:solidFill>
                  <a:srgbClr val="5C7678"/>
                </a:solidFill>
                <a:latin typeface="Calibri" pitchFamily="34" charset="0"/>
                <a:ea typeface="Calibri" pitchFamily="34" charset="-122"/>
                <a:cs typeface="Calibri" pitchFamily="34" charset="-120"/>
              </a:rPr>
              <a:t>USABLE DAYS</a:t>
            </a:r>
            <a:endParaRPr lang="en-US" sz="850" dirty="0"/>
          </a:p>
        </p:txBody>
      </p:sp>
      <p:sp>
        <p:nvSpPr>
          <p:cNvPr id="10" name="Text 8"/>
          <p:cNvSpPr/>
          <p:nvPr/>
        </p:nvSpPr>
        <p:spPr>
          <a:xfrm>
            <a:off x="3644900" y="2044700"/>
            <a:ext cx="2159000" cy="330200"/>
          </a:xfrm>
          <a:prstGeom prst="rect">
            <a:avLst/>
          </a:prstGeom>
          <a:noFill/>
          <a:ln/>
        </p:spPr>
        <p:txBody>
          <a:bodyPr wrap="square" rtlCol="0" anchor="t"/>
          <a:lstStyle/>
          <a:p>
            <a:pPr indent="0" marL="0">
              <a:buNone/>
            </a:pPr>
            <a:r>
              <a:rPr lang="en-US" sz="1700" b="1" dirty="0">
                <a:solidFill>
                  <a:srgbClr val="16343A"/>
                </a:solidFill>
                <a:latin typeface="Calibri" pitchFamily="34" charset="0"/>
                <a:ea typeface="Calibri" pitchFamily="34" charset="-122"/>
                <a:cs typeface="Calibri" pitchFamily="34" charset="-120"/>
              </a:rPr>
              <a:t>3,093 (86.4%)</a:t>
            </a:r>
            <a:endParaRPr lang="en-US" sz="1700" dirty="0"/>
          </a:p>
        </p:txBody>
      </p:sp>
      <p:sp>
        <p:nvSpPr>
          <p:cNvPr id="11" name="Shape 9"/>
          <p:cNvSpPr/>
          <p:nvPr/>
        </p:nvSpPr>
        <p:spPr>
          <a:xfrm>
            <a:off x="6184900" y="1727200"/>
            <a:ext cx="2552700" cy="749300"/>
          </a:xfrm>
          <a:prstGeom prst="roundRect">
            <a:avLst>
              <a:gd name="adj" fmla="val 17085"/>
            </a:avLst>
          </a:prstGeom>
          <a:solidFill>
            <a:srgbClr val="FFFFFF"/>
          </a:solidFill>
          <a:ln/>
        </p:spPr>
      </p:sp>
      <p:sp>
        <p:nvSpPr>
          <p:cNvPr id="12" name="Text 10"/>
          <p:cNvSpPr/>
          <p:nvPr/>
        </p:nvSpPr>
        <p:spPr>
          <a:xfrm>
            <a:off x="6388100" y="1866900"/>
            <a:ext cx="2159000" cy="177800"/>
          </a:xfrm>
          <a:prstGeom prst="rect">
            <a:avLst/>
          </a:prstGeom>
          <a:noFill/>
          <a:ln/>
        </p:spPr>
        <p:txBody>
          <a:bodyPr wrap="square" rtlCol="0" anchor="ctr"/>
          <a:lstStyle/>
          <a:p>
            <a:pPr indent="0" marL="0">
              <a:buNone/>
            </a:pPr>
            <a:r>
              <a:rPr lang="en-US" sz="850" b="1" spc="120" kern="0" dirty="0">
                <a:solidFill>
                  <a:srgbClr val="5C7678"/>
                </a:solidFill>
                <a:latin typeface="Calibri" pitchFamily="34" charset="0"/>
                <a:ea typeface="Calibri" pitchFamily="34" charset="-122"/>
                <a:cs typeface="Calibri" pitchFamily="34" charset="-120"/>
              </a:rPr>
              <a:t>LONGEST GAP</a:t>
            </a:r>
            <a:endParaRPr lang="en-US" sz="850" dirty="0"/>
          </a:p>
        </p:txBody>
      </p:sp>
      <p:sp>
        <p:nvSpPr>
          <p:cNvPr id="13" name="Text 11"/>
          <p:cNvSpPr/>
          <p:nvPr/>
        </p:nvSpPr>
        <p:spPr>
          <a:xfrm>
            <a:off x="6388100" y="2044700"/>
            <a:ext cx="2159000" cy="330200"/>
          </a:xfrm>
          <a:prstGeom prst="rect">
            <a:avLst/>
          </a:prstGeom>
          <a:noFill/>
          <a:ln/>
        </p:spPr>
        <p:txBody>
          <a:bodyPr wrap="square" rtlCol="0" anchor="t"/>
          <a:lstStyle/>
          <a:p>
            <a:pPr indent="0" marL="0">
              <a:buNone/>
            </a:pPr>
            <a:r>
              <a:rPr lang="en-US" sz="1700" b="1" dirty="0">
                <a:solidFill>
                  <a:srgbClr val="16343A"/>
                </a:solidFill>
                <a:latin typeface="Calibri" pitchFamily="34" charset="0"/>
                <a:ea typeface="Calibri" pitchFamily="34" charset="-122"/>
                <a:cs typeface="Calibri" pitchFamily="34" charset="-120"/>
              </a:rPr>
              <a:t>34 days</a:t>
            </a:r>
            <a:endParaRPr lang="en-US" sz="1700" dirty="0"/>
          </a:p>
        </p:txBody>
      </p:sp>
      <p:sp>
        <p:nvSpPr>
          <p:cNvPr id="14" name="Shape 12"/>
          <p:cNvSpPr/>
          <p:nvPr/>
        </p:nvSpPr>
        <p:spPr>
          <a:xfrm>
            <a:off x="8928100" y="1727200"/>
            <a:ext cx="2565400" cy="749300"/>
          </a:xfrm>
          <a:prstGeom prst="roundRect">
            <a:avLst>
              <a:gd name="adj" fmla="val 17085"/>
            </a:avLst>
          </a:prstGeom>
          <a:solidFill>
            <a:srgbClr val="16343A"/>
          </a:solidFill>
          <a:ln/>
        </p:spPr>
      </p:sp>
      <p:sp>
        <p:nvSpPr>
          <p:cNvPr id="15" name="Text 13"/>
          <p:cNvSpPr/>
          <p:nvPr/>
        </p:nvSpPr>
        <p:spPr>
          <a:xfrm>
            <a:off x="9131300" y="1866900"/>
            <a:ext cx="2159000" cy="177800"/>
          </a:xfrm>
          <a:prstGeom prst="rect">
            <a:avLst/>
          </a:prstGeom>
          <a:noFill/>
          <a:ln/>
        </p:spPr>
        <p:txBody>
          <a:bodyPr wrap="square" rtlCol="0" anchor="ctr"/>
          <a:lstStyle/>
          <a:p>
            <a:pPr indent="0" marL="0">
              <a:buNone/>
            </a:pPr>
            <a:r>
              <a:rPr lang="en-US" sz="850" b="1" spc="120" kern="0" dirty="0">
                <a:solidFill>
                  <a:srgbClr val="F0A999"/>
                </a:solidFill>
                <a:latin typeface="Calibri" pitchFamily="34" charset="0"/>
                <a:ea typeface="Calibri" pitchFamily="34" charset="-122"/>
                <a:cs typeface="Calibri" pitchFamily="34" charset="-120"/>
              </a:rPr>
              <a:t>ABOVE THRESHOLD</a:t>
            </a:r>
            <a:endParaRPr lang="en-US" sz="850" dirty="0"/>
          </a:p>
        </p:txBody>
      </p:sp>
      <p:sp>
        <p:nvSpPr>
          <p:cNvPr id="16" name="Text 14"/>
          <p:cNvSpPr/>
          <p:nvPr/>
        </p:nvSpPr>
        <p:spPr>
          <a:xfrm>
            <a:off x="9131300" y="2044700"/>
            <a:ext cx="2159000" cy="33020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920 (29.7%)</a:t>
            </a:r>
            <a:endParaRPr lang="en-US" sz="1700" dirty="0"/>
          </a:p>
        </p:txBody>
      </p:sp>
      <p:sp>
        <p:nvSpPr>
          <p:cNvPr id="17" name="Text 15"/>
          <p:cNvSpPr/>
          <p:nvPr/>
        </p:nvSpPr>
        <p:spPr>
          <a:xfrm>
            <a:off x="698500" y="2692400"/>
            <a:ext cx="10795000" cy="5080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OpenAQ. Every CPCB station returns only ~18 months; only location 8118 (AirNow, a US diplomatic post) has the full decade — selected, with that limitation stated plainly.</a:t>
            </a:r>
            <a:endParaRPr lang="en-US" sz="1200" dirty="0"/>
          </a:p>
        </p:txBody>
      </p:sp>
      <p:sp>
        <p:nvSpPr>
          <p:cNvPr id="18" name="Shape 16"/>
          <p:cNvSpPr/>
          <p:nvPr/>
        </p:nvSpPr>
        <p:spPr>
          <a:xfrm>
            <a:off x="698500" y="3289300"/>
            <a:ext cx="5715000" cy="1320800"/>
          </a:xfrm>
          <a:prstGeom prst="roundRect">
            <a:avLst>
              <a:gd name="adj" fmla="val 9692"/>
            </a:avLst>
          </a:prstGeom>
          <a:solidFill>
            <a:srgbClr val="FFFFFF"/>
          </a:solidFill>
          <a:ln/>
          <a:effectLst>
            <a:outerShdw sx="100000" sy="100000" kx="0" ky="0" algn="bl" rotWithShape="0" blurRad="127000" dist="38100" dir="5400000">
              <a:srgbClr val="16343A">
                <a:alpha val="16000"/>
              </a:srgbClr>
            </a:outerShdw>
          </a:effectLst>
        </p:spPr>
      </p:sp>
      <p:sp>
        <p:nvSpPr>
          <p:cNvPr id="19" name="Text 17"/>
          <p:cNvSpPr/>
          <p:nvPr/>
        </p:nvSpPr>
        <p:spPr>
          <a:xfrm>
            <a:off x="965200" y="3505200"/>
            <a:ext cx="304800" cy="304800"/>
          </a:xfrm>
          <a:prstGeom prst="roundRect">
            <a:avLst>
              <a:gd name="adj" fmla="val 50000"/>
            </a:avLst>
          </a:prstGeom>
          <a:solidFill>
            <a:srgbClr val="E35D45"/>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01</a:t>
            </a:r>
            <a:endParaRPr lang="en-US" sz="950" dirty="0"/>
          </a:p>
        </p:txBody>
      </p:sp>
      <p:sp>
        <p:nvSpPr>
          <p:cNvPr id="20" name="Text 18"/>
          <p:cNvSpPr/>
          <p:nvPr/>
        </p:nvSpPr>
        <p:spPr>
          <a:xfrm>
            <a:off x="1409700" y="3505200"/>
            <a:ext cx="4699000" cy="254000"/>
          </a:xfrm>
          <a:prstGeom prst="rect">
            <a:avLst/>
          </a:prstGeom>
          <a:noFill/>
          <a:ln/>
        </p:spPr>
        <p:txBody>
          <a:bodyPr wrap="square" rtlCol="0" anchor="ctr"/>
          <a:lstStyle/>
          <a:p>
            <a:pPr indent="0" marL="0">
              <a:buNone/>
            </a:pPr>
            <a:r>
              <a:rPr lang="en-US" sz="1300" b="1" dirty="0">
                <a:solidFill>
                  <a:srgbClr val="16343A"/>
                </a:solidFill>
                <a:latin typeface="Calibri" pitchFamily="34" charset="0"/>
                <a:ea typeface="Calibri" pitchFamily="34" charset="-122"/>
                <a:cs typeface="Calibri" pitchFamily="34" charset="-120"/>
              </a:rPr>
              <a:t>Clipped instrument ceiling</a:t>
            </a:r>
            <a:endParaRPr lang="en-US" sz="1300" dirty="0"/>
          </a:p>
        </p:txBody>
      </p:sp>
      <p:sp>
        <p:nvSpPr>
          <p:cNvPr id="21" name="Text 19"/>
          <p:cNvSpPr/>
          <p:nvPr/>
        </p:nvSpPr>
        <p:spPr>
          <a:xfrm>
            <a:off x="1409700" y="3784600"/>
            <a:ext cx="4699000" cy="698500"/>
          </a:xfrm>
          <a:prstGeom prst="rect">
            <a:avLst/>
          </a:prstGeom>
          <a:noFill/>
          <a:ln/>
        </p:spPr>
        <p:txBody>
          <a:bodyPr wrap="square" rtlCol="0" anchor="t"/>
          <a:lstStyle/>
          <a:p>
            <a:pPr indent="0" marL="0">
              <a:lnSpc>
                <a:spcPct val="150000"/>
              </a:lnSpc>
              <a:buNone/>
            </a:pPr>
            <a:r>
              <a:rPr lang="en-US" sz="1150" dirty="0">
                <a:solidFill>
                  <a:srgbClr val="5C7678"/>
                </a:solidFill>
                <a:latin typeface="Calibri" pitchFamily="34" charset="0"/>
                <a:ea typeface="Calibri" pitchFamily="34" charset="-122"/>
                <a:cs typeface="Calibri" pitchFamily="34" charset="-120"/>
              </a:rPr>
              <a:t>1990 µg/m³ repeats identically on three unrelated dates — an instrument ceiling, not a reading.</a:t>
            </a:r>
            <a:endParaRPr lang="en-US" sz="1150" dirty="0"/>
          </a:p>
        </p:txBody>
      </p:sp>
      <p:sp>
        <p:nvSpPr>
          <p:cNvPr id="22" name="Shape 20"/>
          <p:cNvSpPr/>
          <p:nvPr/>
        </p:nvSpPr>
        <p:spPr>
          <a:xfrm>
            <a:off x="698500" y="4762500"/>
            <a:ext cx="5715000" cy="1435100"/>
          </a:xfrm>
          <a:prstGeom prst="roundRect">
            <a:avLst>
              <a:gd name="adj" fmla="val 8920"/>
            </a:avLst>
          </a:prstGeom>
          <a:solidFill>
            <a:srgbClr val="FFFFFF"/>
          </a:solidFill>
          <a:ln/>
          <a:effectLst>
            <a:outerShdw sx="100000" sy="100000" kx="0" ky="0" algn="bl" rotWithShape="0" blurRad="127000" dist="38100" dir="5400000">
              <a:srgbClr val="16343A">
                <a:alpha val="16000"/>
              </a:srgbClr>
            </a:outerShdw>
          </a:effectLst>
        </p:spPr>
      </p:sp>
      <p:sp>
        <p:nvSpPr>
          <p:cNvPr id="23" name="Text 21"/>
          <p:cNvSpPr/>
          <p:nvPr/>
        </p:nvSpPr>
        <p:spPr>
          <a:xfrm>
            <a:off x="965200" y="4978400"/>
            <a:ext cx="304800" cy="304800"/>
          </a:xfrm>
          <a:prstGeom prst="roundRect">
            <a:avLst>
              <a:gd name="adj" fmla="val 50000"/>
            </a:avLst>
          </a:prstGeom>
          <a:solidFill>
            <a:srgbClr val="E35D45"/>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02</a:t>
            </a:r>
            <a:endParaRPr lang="en-US" sz="950" dirty="0"/>
          </a:p>
        </p:txBody>
      </p:sp>
      <p:sp>
        <p:nvSpPr>
          <p:cNvPr id="24" name="Text 22"/>
          <p:cNvSpPr/>
          <p:nvPr/>
        </p:nvSpPr>
        <p:spPr>
          <a:xfrm>
            <a:off x="1409700" y="4978400"/>
            <a:ext cx="4699000" cy="254000"/>
          </a:xfrm>
          <a:prstGeom prst="rect">
            <a:avLst/>
          </a:prstGeom>
          <a:noFill/>
          <a:ln/>
        </p:spPr>
        <p:txBody>
          <a:bodyPr wrap="square" rtlCol="0" anchor="ctr"/>
          <a:lstStyle/>
          <a:p>
            <a:pPr indent="0" marL="0">
              <a:buNone/>
            </a:pPr>
            <a:r>
              <a:rPr lang="en-US" sz="1300" b="1" dirty="0">
                <a:solidFill>
                  <a:srgbClr val="16343A"/>
                </a:solidFill>
                <a:latin typeface="Calibri" pitchFamily="34" charset="0"/>
                <a:ea typeface="Calibri" pitchFamily="34" charset="-122"/>
                <a:cs typeface="Calibri" pitchFamily="34" charset="-120"/>
              </a:rPr>
              <a:t>Wrong coverage denominator</a:t>
            </a:r>
            <a:endParaRPr lang="en-US" sz="1300" dirty="0"/>
          </a:p>
        </p:txBody>
      </p:sp>
      <p:sp>
        <p:nvSpPr>
          <p:cNvPr id="25" name="Text 23"/>
          <p:cNvSpPr/>
          <p:nvPr/>
        </p:nvSpPr>
        <p:spPr>
          <a:xfrm>
            <a:off x="1409700" y="5257800"/>
            <a:ext cx="4699000" cy="825500"/>
          </a:xfrm>
          <a:prstGeom prst="rect">
            <a:avLst/>
          </a:prstGeom>
          <a:noFill/>
          <a:ln/>
        </p:spPr>
        <p:txBody>
          <a:bodyPr wrap="square" rtlCol="0" anchor="t"/>
          <a:lstStyle/>
          <a:p>
            <a:pPr indent="0" marL="0">
              <a:lnSpc>
                <a:spcPct val="150000"/>
              </a:lnSpc>
              <a:buNone/>
            </a:pPr>
            <a:r>
              <a:rPr lang="en-US" sz="1150" dirty="0">
                <a:solidFill>
                  <a:srgbClr val="5C7678"/>
                </a:solidFill>
                <a:latin typeface="Calibri" pitchFamily="34" charset="0"/>
                <a:ea typeface="Calibri" pitchFamily="34" charset="-122"/>
                <a:cs typeface="Calibri" pitchFamily="34" charset="-120"/>
              </a:rPr>
              <a:t>It assumed 24 hourly readings; the sensor was half-hourly 2016–2024. Recomputed: 1,085 of 3,467 days fall below 75% true coverage, against 268 with no value at all.</a:t>
            </a:r>
            <a:endParaRPr lang="en-US" sz="1150" dirty="0"/>
          </a:p>
        </p:txBody>
      </p:sp>
      <p:sp>
        <p:nvSpPr>
          <p:cNvPr id="26" name="Shape 24"/>
          <p:cNvSpPr/>
          <p:nvPr/>
        </p:nvSpPr>
        <p:spPr>
          <a:xfrm>
            <a:off x="6667500" y="3289300"/>
            <a:ext cx="4826000" cy="2908300"/>
          </a:xfrm>
          <a:prstGeom prst="roundRect">
            <a:avLst>
              <a:gd name="adj" fmla="val 4402"/>
            </a:avLst>
          </a:prstGeom>
          <a:solidFill>
            <a:srgbClr val="FFFFFF"/>
          </a:solidFill>
          <a:ln/>
          <a:effectLst>
            <a:outerShdw sx="100000" sy="100000" kx="0" ky="0" algn="bl" rotWithShape="0" blurRad="127000" dist="38100" dir="5400000">
              <a:srgbClr val="16343A">
                <a:alpha val="16000"/>
              </a:srgbClr>
            </a:outerShdw>
          </a:effectLst>
        </p:spPr>
      </p:sp>
      <p:sp>
        <p:nvSpPr>
          <p:cNvPr id="27" name="Text 25"/>
          <p:cNvSpPr/>
          <p:nvPr/>
        </p:nvSpPr>
        <p:spPr>
          <a:xfrm>
            <a:off x="6896100" y="3505200"/>
            <a:ext cx="4368800" cy="203200"/>
          </a:xfrm>
          <a:prstGeom prst="rect">
            <a:avLst/>
          </a:prstGeom>
          <a:noFill/>
          <a:ln/>
        </p:spPr>
        <p:txBody>
          <a:bodyPr wrap="square" rtlCol="0" anchor="ctr"/>
          <a:lstStyle/>
          <a:p>
            <a:pPr indent="0" marL="0">
              <a:buNone/>
            </a:pPr>
            <a:r>
              <a:rPr lang="en-US" sz="900" b="1" spc="140" kern="0" dirty="0">
                <a:solidFill>
                  <a:srgbClr val="5C7678"/>
                </a:solidFill>
                <a:latin typeface="Calibri" pitchFamily="34" charset="0"/>
                <a:ea typeface="Calibri" pitchFamily="34" charset="-122"/>
                <a:cs typeface="Calibri" pitchFamily="34" charset="-120"/>
              </a:rPr>
              <a:t>THE COVERAGE DEFECT, DIAGNOSED</a:t>
            </a:r>
            <a:endParaRPr lang="en-US" sz="900" dirty="0"/>
          </a:p>
        </p:txBody>
      </p:sp>
      <p:pic>
        <p:nvPicPr>
          <p:cNvPr id="28" name="Image 0" descr="/Users/jc/Desktop/PROJECT MTH5000/report/figures/fig2_coverage.png">    </p:cNvPr>
          <p:cNvPicPr>
            <a:picLocks noChangeAspect="1"/>
          </p:cNvPicPr>
          <p:nvPr/>
        </p:nvPicPr>
        <p:blipFill>
          <a:blip r:embed="rId1"/>
          <a:stretch>
            <a:fillRect/>
          </a:stretch>
        </p:blipFill>
        <p:spPr>
          <a:xfrm>
            <a:off x="6896100" y="3730336"/>
            <a:ext cx="4368800" cy="1886527"/>
          </a:xfrm>
          <a:prstGeom prst="rect">
            <a:avLst/>
          </a:prstGeom>
        </p:spPr>
      </p:pic>
      <p:sp>
        <p:nvSpPr>
          <p:cNvPr id="29" name="Text 26"/>
          <p:cNvSpPr/>
          <p:nvPr/>
        </p:nvSpPr>
        <p:spPr>
          <a:xfrm>
            <a:off x="6896100" y="5740400"/>
            <a:ext cx="4368800" cy="381000"/>
          </a:xfrm>
          <a:prstGeom prst="rect">
            <a:avLst/>
          </a:prstGeom>
          <a:noFill/>
          <a:ln/>
        </p:spPr>
        <p:txBody>
          <a:bodyPr wrap="square" rtlCol="0" anchor="t"/>
          <a:lstStyle/>
          <a:p>
            <a:pPr indent="0" marL="0">
              <a:lnSpc>
                <a:spcPct val="135000"/>
              </a:lnSpc>
              <a:buNone/>
            </a:pPr>
            <a:r>
              <a:rPr lang="en-US" sz="950" dirty="0">
                <a:solidFill>
                  <a:srgbClr val="7E9A9C"/>
                </a:solidFill>
                <a:latin typeface="Calibri" pitchFamily="34" charset="0"/>
                <a:ea typeface="Calibri" pitchFamily="34" charset="-122"/>
                <a:cs typeface="Calibri" pitchFamily="34" charset="-120"/>
              </a:rPr>
              <a:t>Cadence taken from the data each year (solid) against the assumed 24 (dashed), and implausible values by true coverage.</a:t>
            </a:r>
            <a:endParaRPr lang="en-US" sz="95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METHODOLOGY</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Seasonality: tested, not assumed</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Text 3"/>
          <p:cNvSpPr/>
          <p:nvPr/>
        </p:nvSpPr>
        <p:spPr>
          <a:xfrm>
            <a:off x="698500" y="1638300"/>
            <a:ext cx="5080000" cy="444500"/>
          </a:xfrm>
          <a:prstGeom prst="rect">
            <a:avLst/>
          </a:prstGeom>
          <a:noFill/>
          <a:ln/>
        </p:spPr>
        <p:txBody>
          <a:bodyPr wrap="square" rtlCol="0" anchor="t"/>
          <a:lstStyle/>
          <a:p>
            <a:pPr indent="0" marL="0">
              <a:lnSpc>
                <a:spcPct val="140000"/>
              </a:lnSpc>
              <a:buNone/>
            </a:pPr>
            <a:r>
              <a:rPr lang="en-US" sz="1150" dirty="0">
                <a:solidFill>
                  <a:srgbClr val="5C7678"/>
                </a:solidFill>
                <a:latin typeface="Calibri" pitchFamily="34" charset="0"/>
                <a:ea typeface="Calibri" pitchFamily="34" charset="-122"/>
                <a:cs typeface="Calibri" pitchFamily="34" charset="-120"/>
              </a:rPr>
              <a:t>The approved proposal assumed a weekly cycle alongside the annual one. It was tested directly, three independent ways.</a:t>
            </a:r>
            <a:endParaRPr lang="en-US" sz="1150" dirty="0"/>
          </a:p>
        </p:txBody>
      </p:sp>
      <p:sp>
        <p:nvSpPr>
          <p:cNvPr id="6" name="Shape 4"/>
          <p:cNvSpPr/>
          <p:nvPr/>
        </p:nvSpPr>
        <p:spPr>
          <a:xfrm>
            <a:off x="698500" y="2184400"/>
            <a:ext cx="5080000" cy="965200"/>
          </a:xfrm>
          <a:prstGeom prst="roundRect">
            <a:avLst>
              <a:gd name="adj" fmla="val 13263"/>
            </a:avLst>
          </a:prstGeom>
          <a:solidFill>
            <a:srgbClr val="FFFFFF"/>
          </a:solidFill>
          <a:ln/>
          <a:effectLst>
            <a:outerShdw sx="100000" sy="100000" kx="0" ky="0" algn="bl" rotWithShape="0" blurRad="127000" dist="38100" dir="5400000">
              <a:srgbClr val="16343A">
                <a:alpha val="16000"/>
              </a:srgbClr>
            </a:outerShdw>
          </a:effectLst>
        </p:spPr>
      </p:sp>
      <p:sp>
        <p:nvSpPr>
          <p:cNvPr id="7" name="Text 5"/>
          <p:cNvSpPr/>
          <p:nvPr/>
        </p:nvSpPr>
        <p:spPr>
          <a:xfrm>
            <a:off x="965200" y="2374900"/>
            <a:ext cx="4445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PERIODOGRAM</a:t>
            </a:r>
            <a:endParaRPr lang="en-US" sz="900" dirty="0"/>
          </a:p>
        </p:txBody>
      </p:sp>
      <p:sp>
        <p:nvSpPr>
          <p:cNvPr id="8" name="Text 6"/>
          <p:cNvSpPr/>
          <p:nvPr/>
        </p:nvSpPr>
        <p:spPr>
          <a:xfrm>
            <a:off x="965200" y="2590800"/>
            <a:ext cx="4445000" cy="508000"/>
          </a:xfrm>
          <a:prstGeom prst="rect">
            <a:avLst/>
          </a:prstGeom>
          <a:noFill/>
          <a:ln/>
        </p:spPr>
        <p:txBody>
          <a:bodyPr wrap="square" rtlCol="0" anchor="t"/>
          <a:lstStyle/>
          <a:p>
            <a:pPr indent="0" marL="0">
              <a:lnSpc>
                <a:spcPct val="140000"/>
              </a:lnSpc>
              <a:buNone/>
            </a:pPr>
            <a:r>
              <a:rPr lang="en-US" sz="1150" dirty="0">
                <a:solidFill>
                  <a:srgbClr val="1C2B2C"/>
                </a:solidFill>
                <a:latin typeface="Calibri" pitchFamily="34" charset="0"/>
                <a:ea typeface="Calibri" pitchFamily="34" charset="-122"/>
                <a:cs typeface="Calibri" pitchFamily="34" charset="-120"/>
              </a:rPr>
              <a:t>Dominant periods near 358, 179 and 61 days — the annual cycle and its harmonics. Nothing near 7.</a:t>
            </a:r>
            <a:endParaRPr lang="en-US" sz="1150" dirty="0"/>
          </a:p>
        </p:txBody>
      </p:sp>
      <p:sp>
        <p:nvSpPr>
          <p:cNvPr id="9" name="Shape 7"/>
          <p:cNvSpPr/>
          <p:nvPr/>
        </p:nvSpPr>
        <p:spPr>
          <a:xfrm>
            <a:off x="698500" y="3302000"/>
            <a:ext cx="5080000" cy="965200"/>
          </a:xfrm>
          <a:prstGeom prst="roundRect">
            <a:avLst>
              <a:gd name="adj" fmla="val 13263"/>
            </a:avLst>
          </a:prstGeom>
          <a:solidFill>
            <a:srgbClr val="FFFFFF"/>
          </a:solidFill>
          <a:ln/>
          <a:effectLst>
            <a:outerShdw sx="100000" sy="100000" kx="0" ky="0" algn="bl" rotWithShape="0" blurRad="127000" dist="38100" dir="5400000">
              <a:srgbClr val="16343A">
                <a:alpha val="16000"/>
              </a:srgbClr>
            </a:outerShdw>
          </a:effectLst>
        </p:spPr>
      </p:sp>
      <p:sp>
        <p:nvSpPr>
          <p:cNvPr id="10" name="Text 8"/>
          <p:cNvSpPr/>
          <p:nvPr/>
        </p:nvSpPr>
        <p:spPr>
          <a:xfrm>
            <a:off x="965200" y="3492500"/>
            <a:ext cx="4445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AUTOCORRELATION</a:t>
            </a:r>
            <a:endParaRPr lang="en-US" sz="900" dirty="0"/>
          </a:p>
        </p:txBody>
      </p:sp>
      <p:sp>
        <p:nvSpPr>
          <p:cNvPr id="11" name="Text 9"/>
          <p:cNvSpPr/>
          <p:nvPr/>
        </p:nvSpPr>
        <p:spPr>
          <a:xfrm>
            <a:off x="965200" y="3708400"/>
            <a:ext cx="4445000" cy="508000"/>
          </a:xfrm>
          <a:prstGeom prst="rect">
            <a:avLst/>
          </a:prstGeom>
          <a:noFill/>
          <a:ln/>
        </p:spPr>
        <p:txBody>
          <a:bodyPr wrap="square" rtlCol="0" anchor="t"/>
          <a:lstStyle/>
          <a:p>
            <a:pPr indent="0" marL="0">
              <a:lnSpc>
                <a:spcPct val="140000"/>
              </a:lnSpc>
              <a:buNone/>
            </a:pPr>
            <a:r>
              <a:rPr lang="en-US" sz="1150" dirty="0">
                <a:solidFill>
                  <a:srgbClr val="1C2B2C"/>
                </a:solidFill>
                <a:latin typeface="Calibri" pitchFamily="34" charset="0"/>
                <a:ea typeface="Calibri" pitchFamily="34" charset="-122"/>
                <a:cs typeface="Calibri" pitchFamily="34" charset="-120"/>
              </a:rPr>
              <a:t>Lag 7 is 0.173 and lag 6 is 0.179 — sitting on the decay curve, not above it.</a:t>
            </a:r>
            <a:endParaRPr lang="en-US" sz="1150" dirty="0"/>
          </a:p>
        </p:txBody>
      </p:sp>
      <p:sp>
        <p:nvSpPr>
          <p:cNvPr id="12" name="Shape 10"/>
          <p:cNvSpPr/>
          <p:nvPr/>
        </p:nvSpPr>
        <p:spPr>
          <a:xfrm>
            <a:off x="698500" y="4419600"/>
            <a:ext cx="5080000" cy="965200"/>
          </a:xfrm>
          <a:prstGeom prst="roundRect">
            <a:avLst>
              <a:gd name="adj" fmla="val 13263"/>
            </a:avLst>
          </a:prstGeom>
          <a:solidFill>
            <a:srgbClr val="FFFFFF"/>
          </a:solidFill>
          <a:ln/>
          <a:effectLst>
            <a:outerShdw sx="100000" sy="100000" kx="0" ky="0" algn="bl" rotWithShape="0" blurRad="127000" dist="38100" dir="5400000">
              <a:srgbClr val="16343A">
                <a:alpha val="16000"/>
              </a:srgbClr>
            </a:outerShdw>
          </a:effectLst>
        </p:spPr>
      </p:sp>
      <p:sp>
        <p:nvSpPr>
          <p:cNvPr id="13" name="Text 11"/>
          <p:cNvSpPr/>
          <p:nvPr/>
        </p:nvSpPr>
        <p:spPr>
          <a:xfrm>
            <a:off x="965200" y="4610100"/>
            <a:ext cx="4445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DAY OF WEEK</a:t>
            </a:r>
            <a:endParaRPr lang="en-US" sz="900" dirty="0"/>
          </a:p>
        </p:txBody>
      </p:sp>
      <p:sp>
        <p:nvSpPr>
          <p:cNvPr id="14" name="Text 12"/>
          <p:cNvSpPr/>
          <p:nvPr/>
        </p:nvSpPr>
        <p:spPr>
          <a:xfrm>
            <a:off x="965200" y="4826000"/>
            <a:ext cx="4445000" cy="508000"/>
          </a:xfrm>
          <a:prstGeom prst="rect">
            <a:avLst/>
          </a:prstGeom>
          <a:noFill/>
          <a:ln/>
        </p:spPr>
        <p:txBody>
          <a:bodyPr wrap="square" rtlCol="0" anchor="t"/>
          <a:lstStyle/>
          <a:p>
            <a:pPr indent="0" marL="0">
              <a:lnSpc>
                <a:spcPct val="140000"/>
              </a:lnSpc>
              <a:buNone/>
            </a:pPr>
            <a:r>
              <a:rPr lang="en-US" sz="1150" dirty="0">
                <a:solidFill>
                  <a:srgbClr val="1C2B2C"/>
                </a:solidFill>
                <a:latin typeface="Calibri" pitchFamily="34" charset="0"/>
                <a:ea typeface="Calibri" pitchFamily="34" charset="-122"/>
                <a:cs typeface="Calibri" pitchFamily="34" charset="-120"/>
              </a:rPr>
              <a:t>ANOVA p = 0.34; Kruskal-Wallis p = 0.77. No day differs from the rest.</a:t>
            </a:r>
            <a:endParaRPr lang="en-US" sz="1150" dirty="0"/>
          </a:p>
        </p:txBody>
      </p:sp>
      <p:sp>
        <p:nvSpPr>
          <p:cNvPr id="15" name="Shape 13"/>
          <p:cNvSpPr/>
          <p:nvPr/>
        </p:nvSpPr>
        <p:spPr>
          <a:xfrm>
            <a:off x="6032500" y="2184400"/>
            <a:ext cx="5461000" cy="3200400"/>
          </a:xfrm>
          <a:prstGeom prst="roundRect">
            <a:avLst>
              <a:gd name="adj" fmla="val 4000"/>
            </a:avLst>
          </a:prstGeom>
          <a:solidFill>
            <a:srgbClr val="FFFFFF"/>
          </a:solidFill>
          <a:ln/>
          <a:effectLst>
            <a:outerShdw sx="100000" sy="100000" kx="0" ky="0" algn="bl" rotWithShape="0" blurRad="127000" dist="38100" dir="5400000">
              <a:srgbClr val="16343A">
                <a:alpha val="16000"/>
              </a:srgbClr>
            </a:outerShdw>
          </a:effectLst>
        </p:spPr>
      </p:sp>
      <p:sp>
        <p:nvSpPr>
          <p:cNvPr id="16" name="Text 14"/>
          <p:cNvSpPr/>
          <p:nvPr/>
        </p:nvSpPr>
        <p:spPr>
          <a:xfrm>
            <a:off x="6273800" y="2425700"/>
            <a:ext cx="4978400" cy="203200"/>
          </a:xfrm>
          <a:prstGeom prst="rect">
            <a:avLst/>
          </a:prstGeom>
          <a:noFill/>
          <a:ln/>
        </p:spPr>
        <p:txBody>
          <a:bodyPr wrap="square" rtlCol="0" anchor="ctr"/>
          <a:lstStyle/>
          <a:p>
            <a:pPr indent="0" marL="0">
              <a:buNone/>
            </a:pPr>
            <a:r>
              <a:rPr lang="en-US" sz="900" b="1" spc="140" kern="0" dirty="0">
                <a:solidFill>
                  <a:srgbClr val="5C7678"/>
                </a:solidFill>
                <a:latin typeface="Calibri" pitchFamily="34" charset="0"/>
                <a:ea typeface="Calibri" pitchFamily="34" charset="-122"/>
                <a:cs typeface="Calibri" pitchFamily="34" charset="-120"/>
              </a:rPr>
              <a:t>LAGS 7, 14 AND 21 SIT ON THE DECAY</a:t>
            </a:r>
            <a:endParaRPr lang="en-US" sz="900" dirty="0"/>
          </a:p>
        </p:txBody>
      </p:sp>
      <p:pic>
        <p:nvPicPr>
          <p:cNvPr id="17" name="Image 0" descr="/Users/jc/Desktop/PROJECT MTH5000/report/figures/fig3_weekly.png">    </p:cNvPr>
          <p:cNvPicPr>
            <a:picLocks noChangeAspect="1"/>
          </p:cNvPicPr>
          <p:nvPr/>
        </p:nvPicPr>
        <p:blipFill>
          <a:blip r:embed="rId1"/>
          <a:stretch>
            <a:fillRect/>
          </a:stretch>
        </p:blipFill>
        <p:spPr>
          <a:xfrm>
            <a:off x="6273800" y="2674563"/>
            <a:ext cx="4978400" cy="2397875"/>
          </a:xfrm>
          <a:prstGeom prst="rect">
            <a:avLst/>
          </a:prstGeom>
        </p:spPr>
      </p:pic>
      <p:sp>
        <p:nvSpPr>
          <p:cNvPr id="18" name="Shape 15"/>
          <p:cNvSpPr/>
          <p:nvPr/>
        </p:nvSpPr>
        <p:spPr>
          <a:xfrm>
            <a:off x="698500" y="5562600"/>
            <a:ext cx="10795000" cy="635000"/>
          </a:xfrm>
          <a:prstGeom prst="roundRect">
            <a:avLst>
              <a:gd name="adj" fmla="val 20160"/>
            </a:avLst>
          </a:prstGeom>
          <a:solidFill>
            <a:srgbClr val="16343A"/>
          </a:solidFill>
          <a:ln/>
        </p:spPr>
      </p:sp>
      <p:sp>
        <p:nvSpPr>
          <p:cNvPr id="19" name="Text 16"/>
          <p:cNvSpPr/>
          <p:nvPr/>
        </p:nvSpPr>
        <p:spPr>
          <a:xfrm>
            <a:off x="1054100" y="5562600"/>
            <a:ext cx="10096500" cy="6350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 weekly cycle at this station — consistent with a diplomatic enclave rather than a roadside site. ARIMA therefore carries annual Fourier terms only.</a:t>
            </a:r>
            <a:endParaRPr lang="en-US" sz="13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METHODOLOGY</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Features and weather covariates</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90700"/>
            <a:ext cx="6858000" cy="2540000"/>
          </a:xfrm>
          <a:prstGeom prst="roundRect">
            <a:avLst>
              <a:gd name="adj" fmla="val 5040"/>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65200" y="1993900"/>
            <a:ext cx="6286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ONE ROW PER FORECAST ORIGIN t — USING ONLY DATA UP TO DAY t</a:t>
            </a:r>
            <a:endParaRPr lang="en-US" sz="900" dirty="0"/>
          </a:p>
        </p:txBody>
      </p:sp>
      <p:sp>
        <p:nvSpPr>
          <p:cNvPr id="7" name="Text 5"/>
          <p:cNvSpPr/>
          <p:nvPr/>
        </p:nvSpPr>
        <p:spPr>
          <a:xfrm>
            <a:off x="965200" y="2260600"/>
            <a:ext cx="1587500" cy="330200"/>
          </a:xfrm>
          <a:prstGeom prst="roundRect">
            <a:avLst>
              <a:gd name="adj" fmla="val 50000"/>
            </a:avLst>
          </a:prstGeom>
          <a:solidFill>
            <a:srgbClr val="E9EEEE"/>
          </a:solidFill>
          <a:ln/>
        </p:spPr>
        <p:txBody>
          <a:bodyPr wrap="square" lIns="0" tIns="0" rIns="0" bIns="0" rtlCol="0" anchor="ctr"/>
          <a:lstStyle/>
          <a:p>
            <a:pPr algn="ctr" indent="0" marL="0">
              <a:buNone/>
            </a:pPr>
            <a:r>
              <a:rPr lang="en-US" sz="1050" dirty="0">
                <a:solidFill>
                  <a:srgbClr val="16343A"/>
                </a:solidFill>
                <a:latin typeface="Calibri" pitchFamily="34" charset="0"/>
                <a:ea typeface="Calibri" pitchFamily="34" charset="-122"/>
                <a:cs typeface="Calibri" pitchFamily="34" charset="-120"/>
              </a:rPr>
              <a:t>Lags 0, 1, 2, 3, 7</a:t>
            </a:r>
            <a:endParaRPr lang="en-US" sz="1050" dirty="0"/>
          </a:p>
        </p:txBody>
      </p:sp>
      <p:sp>
        <p:nvSpPr>
          <p:cNvPr id="8" name="Text 6"/>
          <p:cNvSpPr/>
          <p:nvPr/>
        </p:nvSpPr>
        <p:spPr>
          <a:xfrm>
            <a:off x="2654300" y="2260600"/>
            <a:ext cx="1587500" cy="330200"/>
          </a:xfrm>
          <a:prstGeom prst="roundRect">
            <a:avLst>
              <a:gd name="adj" fmla="val 50000"/>
            </a:avLst>
          </a:prstGeom>
          <a:solidFill>
            <a:srgbClr val="E9EEEE"/>
          </a:solidFill>
          <a:ln/>
        </p:spPr>
        <p:txBody>
          <a:bodyPr wrap="square" lIns="0" tIns="0" rIns="0" bIns="0" rtlCol="0" anchor="ctr"/>
          <a:lstStyle/>
          <a:p>
            <a:pPr algn="ctr" indent="0" marL="0">
              <a:buNone/>
            </a:pPr>
            <a:r>
              <a:rPr lang="en-US" sz="1050" dirty="0">
                <a:solidFill>
                  <a:srgbClr val="16343A"/>
                </a:solidFill>
                <a:latin typeface="Calibri" pitchFamily="34" charset="0"/>
                <a:ea typeface="Calibri" pitchFamily="34" charset="-122"/>
                <a:cs typeface="Calibri" pitchFamily="34" charset="-120"/>
              </a:rPr>
              <a:t>First differences</a:t>
            </a:r>
            <a:endParaRPr lang="en-US" sz="1050" dirty="0"/>
          </a:p>
        </p:txBody>
      </p:sp>
      <p:sp>
        <p:nvSpPr>
          <p:cNvPr id="9" name="Text 7"/>
          <p:cNvSpPr/>
          <p:nvPr/>
        </p:nvSpPr>
        <p:spPr>
          <a:xfrm>
            <a:off x="4343400" y="2260600"/>
            <a:ext cx="2159000" cy="330200"/>
          </a:xfrm>
          <a:prstGeom prst="roundRect">
            <a:avLst>
              <a:gd name="adj" fmla="val 50000"/>
            </a:avLst>
          </a:prstGeom>
          <a:solidFill>
            <a:srgbClr val="E9EEEE"/>
          </a:solidFill>
          <a:ln/>
        </p:spPr>
        <p:txBody>
          <a:bodyPr wrap="square" lIns="0" tIns="0" rIns="0" bIns="0" rtlCol="0" anchor="ctr"/>
          <a:lstStyle/>
          <a:p>
            <a:pPr algn="ctr" indent="0" marL="0">
              <a:buNone/>
            </a:pPr>
            <a:r>
              <a:rPr lang="en-US" sz="1050" dirty="0">
                <a:solidFill>
                  <a:srgbClr val="16343A"/>
                </a:solidFill>
                <a:latin typeface="Calibri" pitchFamily="34" charset="0"/>
                <a:ea typeface="Calibri" pitchFamily="34" charset="-122"/>
                <a:cs typeface="Calibri" pitchFamily="34" charset="-120"/>
              </a:rPr>
              <a:t>Rolling mean / SD / max</a:t>
            </a:r>
            <a:endParaRPr lang="en-US" sz="1050" dirty="0"/>
          </a:p>
        </p:txBody>
      </p:sp>
      <p:sp>
        <p:nvSpPr>
          <p:cNvPr id="10" name="Text 8"/>
          <p:cNvSpPr/>
          <p:nvPr/>
        </p:nvSpPr>
        <p:spPr>
          <a:xfrm>
            <a:off x="965200" y="2692400"/>
            <a:ext cx="1905000" cy="330200"/>
          </a:xfrm>
          <a:prstGeom prst="roundRect">
            <a:avLst>
              <a:gd name="adj" fmla="val 50000"/>
            </a:avLst>
          </a:prstGeom>
          <a:solidFill>
            <a:srgbClr val="E9EEEE"/>
          </a:solidFill>
          <a:ln/>
        </p:spPr>
        <p:txBody>
          <a:bodyPr wrap="square" lIns="0" tIns="0" rIns="0" bIns="0" rtlCol="0" anchor="ctr"/>
          <a:lstStyle/>
          <a:p>
            <a:pPr algn="ctr" indent="0" marL="0">
              <a:buNone/>
            </a:pPr>
            <a:r>
              <a:rPr lang="en-US" sz="1050" dirty="0">
                <a:solidFill>
                  <a:srgbClr val="16343A"/>
                </a:solidFill>
                <a:latin typeface="Calibri" pitchFamily="34" charset="0"/>
                <a:ea typeface="Calibri" pitchFamily="34" charset="-122"/>
                <a:cs typeface="Calibri" pitchFamily="34" charset="-120"/>
              </a:rPr>
              <a:t>Windows 3, 7, 14, 30 d</a:t>
            </a:r>
            <a:endParaRPr lang="en-US" sz="1050" dirty="0"/>
          </a:p>
        </p:txBody>
      </p:sp>
      <p:sp>
        <p:nvSpPr>
          <p:cNvPr id="11" name="Text 9"/>
          <p:cNvSpPr/>
          <p:nvPr/>
        </p:nvSpPr>
        <p:spPr>
          <a:xfrm>
            <a:off x="2971800" y="2692400"/>
            <a:ext cx="2095500" cy="330200"/>
          </a:xfrm>
          <a:prstGeom prst="roundRect">
            <a:avLst>
              <a:gd name="adj" fmla="val 50000"/>
            </a:avLst>
          </a:prstGeom>
          <a:solidFill>
            <a:srgbClr val="E9EEEE"/>
          </a:solidFill>
          <a:ln/>
        </p:spPr>
        <p:txBody>
          <a:bodyPr wrap="square" lIns="0" tIns="0" rIns="0" bIns="0" rtlCol="0" anchor="ctr"/>
          <a:lstStyle/>
          <a:p>
            <a:pPr algn="ctr" indent="0" marL="0">
              <a:buNone/>
            </a:pPr>
            <a:r>
              <a:rPr lang="en-US" sz="1050" dirty="0">
                <a:solidFill>
                  <a:srgbClr val="16343A"/>
                </a:solidFill>
                <a:latin typeface="Calibri" pitchFamily="34" charset="0"/>
                <a:ea typeface="Calibri" pitchFamily="34" charset="-122"/>
                <a:cs typeface="Calibri" pitchFamily="34" charset="-120"/>
              </a:rPr>
              <a:t>Anomaly vs 30-day norm</a:t>
            </a:r>
            <a:endParaRPr lang="en-US" sz="1050" dirty="0"/>
          </a:p>
        </p:txBody>
      </p:sp>
      <p:sp>
        <p:nvSpPr>
          <p:cNvPr id="12" name="Text 10"/>
          <p:cNvSpPr/>
          <p:nvPr/>
        </p:nvSpPr>
        <p:spPr>
          <a:xfrm>
            <a:off x="5168900" y="2692400"/>
            <a:ext cx="1905000" cy="330200"/>
          </a:xfrm>
          <a:prstGeom prst="roundRect">
            <a:avLst>
              <a:gd name="adj" fmla="val 50000"/>
            </a:avLst>
          </a:prstGeom>
          <a:solidFill>
            <a:srgbClr val="E9EEEE"/>
          </a:solidFill>
          <a:ln/>
        </p:spPr>
        <p:txBody>
          <a:bodyPr wrap="square" lIns="0" tIns="0" rIns="0" bIns="0" rtlCol="0" anchor="ctr"/>
          <a:lstStyle/>
          <a:p>
            <a:pPr algn="ctr" indent="0" marL="0">
              <a:buNone/>
            </a:pPr>
            <a:r>
              <a:rPr lang="en-US" sz="1050" dirty="0">
                <a:solidFill>
                  <a:srgbClr val="16343A"/>
                </a:solidFill>
                <a:latin typeface="Calibri" pitchFamily="34" charset="0"/>
                <a:ea typeface="Calibri" pitchFamily="34" charset="-122"/>
                <a:cs typeface="Calibri" pitchFamily="34" charset="-120"/>
              </a:rPr>
              <a:t>Exceedance frequency</a:t>
            </a:r>
            <a:endParaRPr lang="en-US" sz="1050" dirty="0"/>
          </a:p>
        </p:txBody>
      </p:sp>
      <p:sp>
        <p:nvSpPr>
          <p:cNvPr id="13" name="Text 11"/>
          <p:cNvSpPr/>
          <p:nvPr/>
        </p:nvSpPr>
        <p:spPr>
          <a:xfrm>
            <a:off x="965200" y="3124200"/>
            <a:ext cx="2286000" cy="330200"/>
          </a:xfrm>
          <a:prstGeom prst="roundRect">
            <a:avLst>
              <a:gd name="adj" fmla="val 50000"/>
            </a:avLst>
          </a:prstGeom>
          <a:solidFill>
            <a:srgbClr val="E9EEEE"/>
          </a:solidFill>
          <a:ln/>
        </p:spPr>
        <p:txBody>
          <a:bodyPr wrap="square" lIns="0" tIns="0" rIns="0" bIns="0" rtlCol="0" anchor="ctr"/>
          <a:lstStyle/>
          <a:p>
            <a:pPr algn="ctr" indent="0" marL="0">
              <a:buNone/>
            </a:pPr>
            <a:r>
              <a:rPr lang="en-US" sz="1050" dirty="0">
                <a:solidFill>
                  <a:srgbClr val="16343A"/>
                </a:solidFill>
                <a:latin typeface="Calibri" pitchFamily="34" charset="0"/>
                <a:ea typeface="Calibri" pitchFamily="34" charset="-122"/>
                <a:cs typeface="Calibri" pitchFamily="34" charset="-120"/>
              </a:rPr>
              <a:t>Days since last exceedance</a:t>
            </a:r>
            <a:endParaRPr lang="en-US" sz="1050" dirty="0"/>
          </a:p>
        </p:txBody>
      </p:sp>
      <p:sp>
        <p:nvSpPr>
          <p:cNvPr id="14" name="Text 12"/>
          <p:cNvSpPr/>
          <p:nvPr/>
        </p:nvSpPr>
        <p:spPr>
          <a:xfrm>
            <a:off x="3352800" y="3124200"/>
            <a:ext cx="1460500" cy="330200"/>
          </a:xfrm>
          <a:prstGeom prst="roundRect">
            <a:avLst>
              <a:gd name="adj" fmla="val 50000"/>
            </a:avLst>
          </a:prstGeom>
          <a:solidFill>
            <a:srgbClr val="E9EEEE"/>
          </a:solidFill>
          <a:ln/>
        </p:spPr>
        <p:txBody>
          <a:bodyPr wrap="square" lIns="0" tIns="0" rIns="0" bIns="0" rtlCol="0" anchor="ctr"/>
          <a:lstStyle/>
          <a:p>
            <a:pPr algn="ctr" indent="0" marL="0">
              <a:buNone/>
            </a:pPr>
            <a:r>
              <a:rPr lang="en-US" sz="1050" dirty="0">
                <a:solidFill>
                  <a:srgbClr val="16343A"/>
                </a:solidFill>
                <a:latin typeface="Calibri" pitchFamily="34" charset="0"/>
                <a:ea typeface="Calibri" pitchFamily="34" charset="-122"/>
                <a:cs typeface="Calibri" pitchFamily="34" charset="-120"/>
              </a:rPr>
              <a:t>Calendar terms</a:t>
            </a:r>
            <a:endParaRPr lang="en-US" sz="1050" dirty="0"/>
          </a:p>
        </p:txBody>
      </p:sp>
      <p:sp>
        <p:nvSpPr>
          <p:cNvPr id="15" name="Text 13"/>
          <p:cNvSpPr/>
          <p:nvPr/>
        </p:nvSpPr>
        <p:spPr>
          <a:xfrm>
            <a:off x="4914900" y="3124200"/>
            <a:ext cx="1968500" cy="330200"/>
          </a:xfrm>
          <a:prstGeom prst="roundRect">
            <a:avLst>
              <a:gd name="adj" fmla="val 50000"/>
            </a:avLst>
          </a:prstGeom>
          <a:solidFill>
            <a:srgbClr val="E9EEEE"/>
          </a:solidFill>
          <a:ln/>
        </p:spPr>
        <p:txBody>
          <a:bodyPr wrap="square" lIns="0" tIns="0" rIns="0" bIns="0" rtlCol="0" anchor="ctr"/>
          <a:lstStyle/>
          <a:p>
            <a:pPr algn="ctr" indent="0" marL="0">
              <a:buNone/>
            </a:pPr>
            <a:r>
              <a:rPr lang="en-US" sz="1050" dirty="0">
                <a:solidFill>
                  <a:srgbClr val="16343A"/>
                </a:solidFill>
                <a:latin typeface="Calibri" pitchFamily="34" charset="0"/>
                <a:ea typeface="Calibri" pitchFamily="34" charset="-122"/>
                <a:cs typeface="Calibri" pitchFamily="34" charset="-120"/>
              </a:rPr>
              <a:t>4 annual Fourier pairs</a:t>
            </a:r>
            <a:endParaRPr lang="en-US" sz="1050" dirty="0"/>
          </a:p>
        </p:txBody>
      </p:sp>
      <p:sp>
        <p:nvSpPr>
          <p:cNvPr id="16" name="Text 14"/>
          <p:cNvSpPr/>
          <p:nvPr/>
        </p:nvSpPr>
        <p:spPr>
          <a:xfrm>
            <a:off x="965200" y="3556000"/>
            <a:ext cx="1841500" cy="330200"/>
          </a:xfrm>
          <a:prstGeom prst="roundRect">
            <a:avLst>
              <a:gd name="adj" fmla="val 50000"/>
            </a:avLst>
          </a:prstGeom>
          <a:solidFill>
            <a:srgbClr val="E9EEEE"/>
          </a:solidFill>
          <a:ln/>
        </p:spPr>
        <p:txBody>
          <a:bodyPr wrap="square" lIns="0" tIns="0" rIns="0" bIns="0" rtlCol="0" anchor="ctr"/>
          <a:lstStyle/>
          <a:p>
            <a:pPr algn="ctr" indent="0" marL="0">
              <a:buNone/>
            </a:pPr>
            <a:r>
              <a:rPr lang="en-US" sz="1050" dirty="0">
                <a:solidFill>
                  <a:srgbClr val="16343A"/>
                </a:solidFill>
                <a:latin typeface="Calibri" pitchFamily="34" charset="0"/>
                <a:ea typeface="Calibri" pitchFamily="34" charset="-122"/>
                <a:cs typeface="Calibri" pitchFamily="34" charset="-120"/>
              </a:rPr>
              <a:t>3 missingness flags</a:t>
            </a:r>
            <a:endParaRPr lang="en-US" sz="1050" dirty="0"/>
          </a:p>
        </p:txBody>
      </p:sp>
      <p:sp>
        <p:nvSpPr>
          <p:cNvPr id="17" name="Text 15"/>
          <p:cNvSpPr/>
          <p:nvPr/>
        </p:nvSpPr>
        <p:spPr>
          <a:xfrm>
            <a:off x="965200" y="3987800"/>
            <a:ext cx="6286500" cy="254000"/>
          </a:xfrm>
          <a:prstGeom prst="rect">
            <a:avLst/>
          </a:prstGeom>
          <a:noFill/>
          <a:ln/>
        </p:spPr>
        <p:txBody>
          <a:bodyPr wrap="square" rtlCol="0" anchor="ctr"/>
          <a:lstStyle/>
          <a:p>
            <a:pPr indent="0" marL="0">
              <a:buNone/>
            </a:pPr>
            <a:r>
              <a:rPr lang="en-US" sz="1100" dirty="0">
                <a:solidFill>
                  <a:srgbClr val="5C7678"/>
                </a:solidFill>
                <a:latin typeface="Calibri" pitchFamily="34" charset="0"/>
                <a:ea typeface="Calibri" pitchFamily="34" charset="-122"/>
                <a:cs typeface="Calibri" pitchFamily="34" charset="-120"/>
              </a:rPr>
              <a:t>Missing values are never imputed — the two recurrent networks are the only exception.</a:t>
            </a:r>
            <a:endParaRPr lang="en-US" sz="1100" dirty="0"/>
          </a:p>
        </p:txBody>
      </p:sp>
      <p:sp>
        <p:nvSpPr>
          <p:cNvPr id="18" name="Shape 16"/>
          <p:cNvSpPr/>
          <p:nvPr/>
        </p:nvSpPr>
        <p:spPr>
          <a:xfrm>
            <a:off x="7810500" y="1790700"/>
            <a:ext cx="3683000" cy="2730500"/>
          </a:xfrm>
          <a:prstGeom prst="roundRect">
            <a:avLst>
              <a:gd name="adj" fmla="val 4688"/>
            </a:avLst>
          </a:prstGeom>
          <a:solidFill>
            <a:srgbClr val="16343A"/>
          </a:solidFill>
          <a:ln/>
        </p:spPr>
      </p:sp>
      <p:sp>
        <p:nvSpPr>
          <p:cNvPr id="19" name="Text 17"/>
          <p:cNvSpPr/>
          <p:nvPr/>
        </p:nvSpPr>
        <p:spPr>
          <a:xfrm>
            <a:off x="8115300" y="1993900"/>
            <a:ext cx="3111500" cy="203200"/>
          </a:xfrm>
          <a:prstGeom prst="rect">
            <a:avLst/>
          </a:prstGeom>
          <a:noFill/>
          <a:ln/>
        </p:spPr>
        <p:txBody>
          <a:bodyPr wrap="square" rtlCol="0" anchor="ctr"/>
          <a:lstStyle/>
          <a:p>
            <a:pPr indent="0" marL="0">
              <a:buNone/>
            </a:pPr>
            <a:r>
              <a:rPr lang="en-US" sz="900" b="1" spc="140" kern="0" dirty="0">
                <a:solidFill>
                  <a:srgbClr val="F0A999"/>
                </a:solidFill>
                <a:latin typeface="Calibri" pitchFamily="34" charset="0"/>
                <a:ea typeface="Calibri" pitchFamily="34" charset="-122"/>
                <a:cs typeface="Calibri" pitchFamily="34" charset="-120"/>
              </a:rPr>
              <a:t>WEATHER (METEOSTAT)</a:t>
            </a:r>
            <a:endParaRPr lang="en-US" sz="900" dirty="0"/>
          </a:p>
        </p:txBody>
      </p:sp>
      <p:sp>
        <p:nvSpPr>
          <p:cNvPr id="20" name="Text 18"/>
          <p:cNvSpPr/>
          <p:nvPr/>
        </p:nvSpPr>
        <p:spPr>
          <a:xfrm>
            <a:off x="8115300" y="2273300"/>
            <a:ext cx="3111500" cy="2159000"/>
          </a:xfrm>
          <a:prstGeom prst="rect">
            <a:avLst/>
          </a:prstGeom>
          <a:noFill/>
          <a:ln/>
        </p:spPr>
        <p:txBody>
          <a:bodyPr wrap="square" rtlCol="0" anchor="t"/>
          <a:lstStyle/>
          <a:p>
            <a:pPr marL="203200" indent="-203200">
              <a:lnSpc>
                <a:spcPct val="150000"/>
              </a:lnSpc>
              <a:spcAft>
                <a:spcPts val="1200"/>
              </a:spcAft>
              <a:buSzPct val="100000"/>
              <a:buChar char="●"/>
            </a:pPr>
            <a:r>
              <a:rPr lang="en-US" sz="1150" dirty="0">
                <a:solidFill>
                  <a:srgbClr val="FFFFFF"/>
                </a:solidFill>
                <a:latin typeface="Calibri" pitchFamily="34" charset="0"/>
                <a:ea typeface="Calibri" pitchFamily="34" charset="-122"/>
                <a:cs typeface="Calibri" pitchFamily="34" charset="-120"/>
              </a:rPr>
              <a:t>Temperature, wind speed, pressure, precipitation</a:t>
            </a:r>
            <a:endParaRPr lang="en-US" sz="1150" dirty="0"/>
          </a:p>
          <a:p>
            <a:pPr marL="203200" indent="-203200">
              <a:lnSpc>
                <a:spcPct val="150000"/>
              </a:lnSpc>
              <a:spcAft>
                <a:spcPts val="1200"/>
              </a:spcAft>
              <a:buSzPct val="100000"/>
              <a:buChar char="●"/>
            </a:pPr>
            <a:r>
              <a:rPr lang="en-US" sz="1150" dirty="0">
                <a:solidFill>
                  <a:srgbClr val="FFFFFF"/>
                </a:solidFill>
                <a:latin typeface="Calibri" pitchFamily="34" charset="0"/>
                <a:ea typeface="Calibri" pitchFamily="34" charset="-122"/>
                <a:cs typeface="Calibri" pitchFamily="34" charset="-120"/>
              </a:rPr>
              <a:t>Each at its own value, a one-day lag, and a 3-day rolling mean</a:t>
            </a:r>
            <a:endParaRPr lang="en-US" sz="1150" dirty="0"/>
          </a:p>
          <a:p>
            <a:pPr marL="203200" indent="-203200">
              <a:lnSpc>
                <a:spcPct val="150000"/>
              </a:lnSpc>
              <a:spcAft>
                <a:spcPts val="1200"/>
              </a:spcAft>
              <a:buSzPct val="100000"/>
              <a:buChar char="●"/>
            </a:pPr>
            <a:r>
              <a:rPr lang="en-US" sz="1150" dirty="0">
                <a:solidFill>
                  <a:srgbClr val="FFFFFF"/>
                </a:solidFill>
                <a:latin typeface="Calibri" pitchFamily="34" charset="0"/>
                <a:ea typeface="Calibri" pitchFamily="34" charset="-122"/>
                <a:cs typeface="Calibri" pitchFamily="34" charset="-120"/>
              </a:rPr>
              <a:t>Only observations up to day t — never a forecast</a:t>
            </a:r>
            <a:endParaRPr lang="en-US" sz="1150" dirty="0"/>
          </a:p>
        </p:txBody>
      </p:sp>
      <p:sp>
        <p:nvSpPr>
          <p:cNvPr id="21" name="Shape 19"/>
          <p:cNvSpPr/>
          <p:nvPr/>
        </p:nvSpPr>
        <p:spPr>
          <a:xfrm>
            <a:off x="698500" y="4546600"/>
            <a:ext cx="10795000" cy="1651000"/>
          </a:xfrm>
          <a:prstGeom prst="roundRect">
            <a:avLst>
              <a:gd name="adj" fmla="val 7754"/>
            </a:avLst>
          </a:prstGeom>
          <a:solidFill>
            <a:srgbClr val="FFFFFF"/>
          </a:solidFill>
          <a:ln/>
          <a:effectLst>
            <a:outerShdw sx="100000" sy="100000" kx="0" ky="0" algn="bl" rotWithShape="0" blurRad="127000" dist="38100" dir="5400000">
              <a:srgbClr val="16343A">
                <a:alpha val="16000"/>
              </a:srgbClr>
            </a:outerShdw>
          </a:effectLst>
        </p:spPr>
      </p:sp>
      <p:sp>
        <p:nvSpPr>
          <p:cNvPr id="22" name="Text 20"/>
          <p:cNvSpPr/>
          <p:nvPr/>
        </p:nvSpPr>
        <p:spPr>
          <a:xfrm>
            <a:off x="965200" y="4775200"/>
            <a:ext cx="304800" cy="304800"/>
          </a:xfrm>
          <a:prstGeom prst="roundRect">
            <a:avLst>
              <a:gd name="adj" fmla="val 50000"/>
            </a:avLst>
          </a:prstGeom>
          <a:solidFill>
            <a:srgbClr val="E35D45"/>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03</a:t>
            </a:r>
            <a:endParaRPr lang="en-US" sz="950" dirty="0"/>
          </a:p>
        </p:txBody>
      </p:sp>
      <p:sp>
        <p:nvSpPr>
          <p:cNvPr id="23" name="Text 21"/>
          <p:cNvSpPr/>
          <p:nvPr/>
        </p:nvSpPr>
        <p:spPr>
          <a:xfrm>
            <a:off x="1409700" y="4775200"/>
            <a:ext cx="9525000" cy="254000"/>
          </a:xfrm>
          <a:prstGeom prst="rect">
            <a:avLst/>
          </a:prstGeom>
          <a:noFill/>
          <a:ln/>
        </p:spPr>
        <p:txBody>
          <a:bodyPr wrap="square" rtlCol="0" anchor="ctr"/>
          <a:lstStyle/>
          <a:p>
            <a:pPr indent="0" marL="0">
              <a:buNone/>
            </a:pPr>
            <a:r>
              <a:rPr lang="en-US" sz="1300" b="1" dirty="0">
                <a:solidFill>
                  <a:srgbClr val="16343A"/>
                </a:solidFill>
                <a:latin typeface="Calibri" pitchFamily="34" charset="0"/>
                <a:ea typeface="Calibri" pitchFamily="34" charset="-122"/>
                <a:cs typeface="Calibri" pitchFamily="34" charset="-120"/>
              </a:rPr>
              <a:t>A third data defect — in the weather record itself</a:t>
            </a:r>
            <a:endParaRPr lang="en-US" sz="1300" dirty="0"/>
          </a:p>
        </p:txBody>
      </p:sp>
      <p:sp>
        <p:nvSpPr>
          <p:cNvPr id="24" name="Text 22"/>
          <p:cNvSpPr/>
          <p:nvPr/>
        </p:nvSpPr>
        <p:spPr>
          <a:xfrm>
            <a:off x="1409700" y="5080000"/>
            <a:ext cx="9525000" cy="952500"/>
          </a:xfrm>
          <a:prstGeom prst="rect">
            <a:avLst/>
          </a:prstGeom>
          <a:noFill/>
          <a:ln/>
        </p:spPr>
        <p:txBody>
          <a:bodyPr wrap="square" rtlCol="0" anchor="t"/>
          <a:lstStyle/>
          <a:p>
            <a:pPr indent="0" marL="0">
              <a:lnSpc>
                <a:spcPct val="150000"/>
              </a:lnSpc>
              <a:buNone/>
            </a:pPr>
            <a:r>
              <a:rPr lang="en-US" sz="1200" dirty="0">
                <a:solidFill>
                  <a:srgbClr val="5C7678"/>
                </a:solidFill>
                <a:latin typeface="Calibri" pitchFamily="34" charset="0"/>
                <a:ea typeface="Calibri" pitchFamily="34" charset="-122"/>
                <a:cs typeface="Calibri" pitchFamily="34" charset="-120"/>
              </a:rPr>
              <a:t>The archive ends 202 days before the PM2.5 series does: a hard cutoff, not scattered gaps. Precipitation is only 54% complete and is excluded from the recurrent network for that reason. The comparison is therefore checked twice — over every origin, and restricted to origins inside the fully observed window.</a:t>
            </a:r>
            <a:endParaRPr lang="en-US" sz="12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METHODOLOGY</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Classical benchmark and ML regressors</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90700"/>
            <a:ext cx="10795000" cy="1701800"/>
          </a:xfrm>
          <a:prstGeom prst="roundRect">
            <a:avLst>
              <a:gd name="adj" fmla="val 7522"/>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90600" y="1993900"/>
            <a:ext cx="10160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ARIMA(1,1,1) WITH FOUR ANNUAL FOURIER PAIRS — ORDER CHOSEN BY AIC (1892.5)</a:t>
            </a:r>
            <a:endParaRPr lang="en-US" sz="900" dirty="0"/>
          </a:p>
        </p:txBody>
      </p:sp>
      <p:pic>
        <p:nvPicPr>
          <p:cNvPr id="7" name="Image 0" descr="/Users/jc/Desktop/PROJECT MTH5000/presentation/pptx_src/eq/eq_arima-1.png">    </p:cNvPr>
          <p:cNvPicPr>
            <a:picLocks noChangeAspect="1"/>
          </p:cNvPicPr>
          <p:nvPr/>
        </p:nvPicPr>
        <p:blipFill>
          <a:blip r:embed="rId1"/>
          <a:stretch>
            <a:fillRect/>
          </a:stretch>
        </p:blipFill>
        <p:spPr>
          <a:xfrm>
            <a:off x="1905000" y="2298872"/>
            <a:ext cx="8382000" cy="774357"/>
          </a:xfrm>
          <a:prstGeom prst="rect">
            <a:avLst/>
          </a:prstGeom>
        </p:spPr>
      </p:pic>
      <p:sp>
        <p:nvSpPr>
          <p:cNvPr id="8" name="Text 5"/>
          <p:cNvSpPr/>
          <p:nvPr/>
        </p:nvSpPr>
        <p:spPr>
          <a:xfrm>
            <a:off x="990600" y="3162300"/>
            <a:ext cx="10160000" cy="254000"/>
          </a:xfrm>
          <a:prstGeom prst="rect">
            <a:avLst/>
          </a:prstGeom>
          <a:noFill/>
          <a:ln/>
        </p:spPr>
        <p:txBody>
          <a:bodyPr wrap="square" rtlCol="0" anchor="ctr"/>
          <a:lstStyle/>
          <a:p>
            <a:pPr algn="ctr" indent="0" marL="0">
              <a:buNone/>
            </a:pPr>
            <a:r>
              <a:rPr lang="en-US" sz="1100" dirty="0">
                <a:solidFill>
                  <a:srgbClr val="5C7678"/>
                </a:solidFill>
                <a:latin typeface="Calibri" pitchFamily="34" charset="0"/>
                <a:ea typeface="Calibri" pitchFamily="34" charset="-122"/>
                <a:cs typeface="Calibri" pitchFamily="34" charset="-120"/>
              </a:rPr>
              <a:t>Fitted on log(PM2.5) — φ₁ = 0.581, θ₁ = −0.987, both inside the stationarity and invertibility boundaries.</a:t>
            </a:r>
            <a:endParaRPr lang="en-US" sz="1100" dirty="0"/>
          </a:p>
        </p:txBody>
      </p:sp>
      <p:sp>
        <p:nvSpPr>
          <p:cNvPr id="9" name="Text 6"/>
          <p:cNvSpPr/>
          <p:nvPr/>
        </p:nvSpPr>
        <p:spPr>
          <a:xfrm>
            <a:off x="698500" y="3721100"/>
            <a:ext cx="10795000" cy="215900"/>
          </a:xfrm>
          <a:prstGeom prst="rect">
            <a:avLst/>
          </a:prstGeom>
          <a:noFill/>
          <a:ln/>
        </p:spPr>
        <p:txBody>
          <a:bodyPr wrap="square" rtlCol="0" anchor="ctr"/>
          <a:lstStyle/>
          <a:p>
            <a:pPr indent="0" marL="0">
              <a:buNone/>
            </a:pPr>
            <a:r>
              <a:rPr lang="en-US" sz="1050" b="1" spc="140" kern="0" dirty="0">
                <a:solidFill>
                  <a:srgbClr val="5C7678"/>
                </a:solidFill>
                <a:latin typeface="Calibri" pitchFamily="34" charset="0"/>
                <a:ea typeface="Calibri" pitchFamily="34" charset="-122"/>
                <a:cs typeface="Calibri" pitchFamily="34" charset="-120"/>
              </a:rPr>
              <a:t>THREE MACHINE LEARNING REGRESSORS — EACH FITTED TO LEVEL AND TO CHANGE FROM ORIGIN</a:t>
            </a:r>
            <a:endParaRPr lang="en-US" sz="1050" dirty="0"/>
          </a:p>
        </p:txBody>
      </p:sp>
      <p:sp>
        <p:nvSpPr>
          <p:cNvPr id="10" name="Shape 7"/>
          <p:cNvSpPr/>
          <p:nvPr/>
        </p:nvSpPr>
        <p:spPr>
          <a:xfrm>
            <a:off x="698500" y="4038600"/>
            <a:ext cx="3429000" cy="2159000"/>
          </a:xfrm>
          <a:prstGeom prst="roundRect">
            <a:avLst>
              <a:gd name="adj" fmla="val 5929"/>
            </a:avLst>
          </a:prstGeom>
          <a:solidFill>
            <a:srgbClr val="FFFFFF"/>
          </a:solidFill>
          <a:ln/>
          <a:effectLst>
            <a:outerShdw sx="100000" sy="100000" kx="0" ky="0" algn="bl" rotWithShape="0" blurRad="127000" dist="38100" dir="5400000">
              <a:srgbClr val="16343A">
                <a:alpha val="16000"/>
              </a:srgbClr>
            </a:outerShdw>
          </a:effectLst>
        </p:spPr>
      </p:sp>
      <p:sp>
        <p:nvSpPr>
          <p:cNvPr id="11" name="Text 8"/>
          <p:cNvSpPr/>
          <p:nvPr/>
        </p:nvSpPr>
        <p:spPr>
          <a:xfrm>
            <a:off x="990600" y="4267200"/>
            <a:ext cx="2857500" cy="279400"/>
          </a:xfrm>
          <a:prstGeom prst="rect">
            <a:avLst/>
          </a:prstGeom>
          <a:noFill/>
          <a:ln/>
        </p:spPr>
        <p:txBody>
          <a:bodyPr wrap="square" rtlCol="0" anchor="ctr"/>
          <a:lstStyle/>
          <a:p>
            <a:pPr indent="0" marL="0">
              <a:buNone/>
            </a:pPr>
            <a:r>
              <a:rPr lang="en-US" sz="1400" b="1" dirty="0">
                <a:solidFill>
                  <a:srgbClr val="16343A"/>
                </a:solidFill>
                <a:latin typeface="Calibri" pitchFamily="34" charset="0"/>
                <a:ea typeface="Calibri" pitchFamily="34" charset="-122"/>
                <a:cs typeface="Calibri" pitchFamily="34" charset="-120"/>
              </a:rPr>
              <a:t>Ridge</a:t>
            </a:r>
            <a:endParaRPr lang="en-US" sz="1400" dirty="0"/>
          </a:p>
        </p:txBody>
      </p:sp>
      <p:sp>
        <p:nvSpPr>
          <p:cNvPr id="12" name="Text 9"/>
          <p:cNvSpPr/>
          <p:nvPr/>
        </p:nvSpPr>
        <p:spPr>
          <a:xfrm>
            <a:off x="990600" y="4559300"/>
            <a:ext cx="2857500" cy="254000"/>
          </a:xfrm>
          <a:prstGeom prst="rect">
            <a:avLst/>
          </a:prstGeom>
          <a:noFill/>
          <a:ln/>
        </p:spPr>
        <p:txBody>
          <a:bodyPr wrap="square" rtlCol="0" anchor="ctr"/>
          <a:lstStyle/>
          <a:p>
            <a:pPr indent="0" marL="0">
              <a:buNone/>
            </a:pPr>
            <a:r>
              <a:rPr lang="en-US" sz="1150" b="1" dirty="0">
                <a:solidFill>
                  <a:srgbClr val="E35D45"/>
                </a:solidFill>
                <a:latin typeface="Calibri" pitchFamily="34" charset="0"/>
                <a:ea typeface="Calibri" pitchFamily="34" charset="-122"/>
                <a:cs typeface="Calibri" pitchFamily="34" charset="-120"/>
              </a:rPr>
              <a:t>β = (XᵀX + λI)⁻¹Xᵀy</a:t>
            </a:r>
            <a:endParaRPr lang="en-US" sz="1150" dirty="0"/>
          </a:p>
        </p:txBody>
      </p:sp>
      <p:sp>
        <p:nvSpPr>
          <p:cNvPr id="13" name="Text 10"/>
          <p:cNvSpPr/>
          <p:nvPr/>
        </p:nvSpPr>
        <p:spPr>
          <a:xfrm>
            <a:off x="990600" y="4864100"/>
            <a:ext cx="2857500" cy="1143000"/>
          </a:xfrm>
          <a:prstGeom prst="rect">
            <a:avLst/>
          </a:prstGeom>
          <a:noFill/>
          <a:ln/>
        </p:spPr>
        <p:txBody>
          <a:bodyPr wrap="square" rtlCol="0" anchor="t"/>
          <a:lstStyle/>
          <a:p>
            <a:pPr indent="0" marL="0">
              <a:lnSpc>
                <a:spcPct val="150000"/>
              </a:lnSpc>
              <a:buNone/>
            </a:pPr>
            <a:r>
              <a:rPr lang="en-US" sz="1150" dirty="0">
                <a:solidFill>
                  <a:srgbClr val="5C7678"/>
                </a:solidFill>
                <a:latin typeface="Calibri" pitchFamily="34" charset="0"/>
                <a:ea typeface="Calibri" pitchFamily="34" charset="-122"/>
                <a:cs typeface="Calibri" pitchFamily="34" charset="-120"/>
              </a:rPr>
              <a:t>A closed-form solution — the penalty keeps it stable when lagged and rolling features are collinear, as they necessarily are.</a:t>
            </a:r>
            <a:endParaRPr lang="en-US" sz="1150" dirty="0"/>
          </a:p>
        </p:txBody>
      </p:sp>
      <p:sp>
        <p:nvSpPr>
          <p:cNvPr id="14" name="Shape 11"/>
          <p:cNvSpPr/>
          <p:nvPr/>
        </p:nvSpPr>
        <p:spPr>
          <a:xfrm>
            <a:off x="4381500" y="4038600"/>
            <a:ext cx="3429000" cy="2159000"/>
          </a:xfrm>
          <a:prstGeom prst="roundRect">
            <a:avLst>
              <a:gd name="adj" fmla="val 5929"/>
            </a:avLst>
          </a:prstGeom>
          <a:solidFill>
            <a:srgbClr val="FFFFFF"/>
          </a:solidFill>
          <a:ln/>
          <a:effectLst>
            <a:outerShdw sx="100000" sy="100000" kx="0" ky="0" algn="bl" rotWithShape="0" blurRad="127000" dist="38100" dir="5400000">
              <a:srgbClr val="16343A">
                <a:alpha val="16000"/>
              </a:srgbClr>
            </a:outerShdw>
          </a:effectLst>
        </p:spPr>
      </p:sp>
      <p:sp>
        <p:nvSpPr>
          <p:cNvPr id="15" name="Text 12"/>
          <p:cNvSpPr/>
          <p:nvPr/>
        </p:nvSpPr>
        <p:spPr>
          <a:xfrm>
            <a:off x="4673600" y="4267200"/>
            <a:ext cx="2857500" cy="279400"/>
          </a:xfrm>
          <a:prstGeom prst="rect">
            <a:avLst/>
          </a:prstGeom>
          <a:noFill/>
          <a:ln/>
        </p:spPr>
        <p:txBody>
          <a:bodyPr wrap="square" rtlCol="0" anchor="ctr"/>
          <a:lstStyle/>
          <a:p>
            <a:pPr indent="0" marL="0">
              <a:buNone/>
            </a:pPr>
            <a:r>
              <a:rPr lang="en-US" sz="1400" b="1" dirty="0">
                <a:solidFill>
                  <a:srgbClr val="16343A"/>
                </a:solidFill>
                <a:latin typeface="Calibri" pitchFamily="34" charset="0"/>
                <a:ea typeface="Calibri" pitchFamily="34" charset="-122"/>
                <a:cs typeface="Calibri" pitchFamily="34" charset="-120"/>
              </a:rPr>
              <a:t>Random forest</a:t>
            </a:r>
            <a:endParaRPr lang="en-US" sz="1400" dirty="0"/>
          </a:p>
        </p:txBody>
      </p:sp>
      <p:sp>
        <p:nvSpPr>
          <p:cNvPr id="16" name="Text 13"/>
          <p:cNvSpPr/>
          <p:nvPr/>
        </p:nvSpPr>
        <p:spPr>
          <a:xfrm>
            <a:off x="4673600" y="4559300"/>
            <a:ext cx="2857500" cy="254000"/>
          </a:xfrm>
          <a:prstGeom prst="rect">
            <a:avLst/>
          </a:prstGeom>
          <a:noFill/>
          <a:ln/>
        </p:spPr>
        <p:txBody>
          <a:bodyPr wrap="square" rtlCol="0" anchor="ctr"/>
          <a:lstStyle/>
          <a:p>
            <a:pPr indent="0" marL="0">
              <a:buNone/>
            </a:pPr>
            <a:r>
              <a:rPr lang="en-US" sz="1150" b="1" dirty="0">
                <a:solidFill>
                  <a:srgbClr val="E35D45"/>
                </a:solidFill>
                <a:latin typeface="Calibri" pitchFamily="34" charset="0"/>
                <a:ea typeface="Calibri" pitchFamily="34" charset="-122"/>
                <a:cs typeface="Calibri" pitchFamily="34" charset="-120"/>
              </a:rPr>
              <a:t>bagging + random features</a:t>
            </a:r>
            <a:endParaRPr lang="en-US" sz="1150" dirty="0"/>
          </a:p>
        </p:txBody>
      </p:sp>
      <p:sp>
        <p:nvSpPr>
          <p:cNvPr id="17" name="Text 14"/>
          <p:cNvSpPr/>
          <p:nvPr/>
        </p:nvSpPr>
        <p:spPr>
          <a:xfrm>
            <a:off x="4673600" y="4864100"/>
            <a:ext cx="2857500" cy="1143000"/>
          </a:xfrm>
          <a:prstGeom prst="rect">
            <a:avLst/>
          </a:prstGeom>
          <a:noFill/>
          <a:ln/>
        </p:spPr>
        <p:txBody>
          <a:bodyPr wrap="square" rtlCol="0" anchor="t"/>
          <a:lstStyle/>
          <a:p>
            <a:pPr indent="0" marL="0">
              <a:lnSpc>
                <a:spcPct val="150000"/>
              </a:lnSpc>
              <a:buNone/>
            </a:pPr>
            <a:r>
              <a:rPr lang="en-US" sz="1150" dirty="0">
                <a:solidFill>
                  <a:srgbClr val="5C7678"/>
                </a:solidFill>
                <a:latin typeface="Calibri" pitchFamily="34" charset="0"/>
                <a:ea typeface="Calibri" pitchFamily="34" charset="-122"/>
                <a:cs typeface="Calibri" pitchFamily="34" charset="-120"/>
              </a:rPr>
              <a:t>Bagged trees plus a random feature subset at each split, which decorrelates the trees and lowers the variance floor averaging alone cannot reach.</a:t>
            </a:r>
            <a:endParaRPr lang="en-US" sz="1150" dirty="0"/>
          </a:p>
        </p:txBody>
      </p:sp>
      <p:sp>
        <p:nvSpPr>
          <p:cNvPr id="18" name="Shape 15"/>
          <p:cNvSpPr/>
          <p:nvPr/>
        </p:nvSpPr>
        <p:spPr>
          <a:xfrm>
            <a:off x="8064500" y="4038600"/>
            <a:ext cx="3429000" cy="2159000"/>
          </a:xfrm>
          <a:prstGeom prst="roundRect">
            <a:avLst>
              <a:gd name="adj" fmla="val 5929"/>
            </a:avLst>
          </a:prstGeom>
          <a:solidFill>
            <a:srgbClr val="FFFFFF"/>
          </a:solidFill>
          <a:ln/>
          <a:effectLst>
            <a:outerShdw sx="100000" sy="100000" kx="0" ky="0" algn="bl" rotWithShape="0" blurRad="127000" dist="38100" dir="5400000">
              <a:srgbClr val="16343A">
                <a:alpha val="16000"/>
              </a:srgbClr>
            </a:outerShdw>
          </a:effectLst>
        </p:spPr>
      </p:sp>
      <p:sp>
        <p:nvSpPr>
          <p:cNvPr id="19" name="Text 16"/>
          <p:cNvSpPr/>
          <p:nvPr/>
        </p:nvSpPr>
        <p:spPr>
          <a:xfrm>
            <a:off x="8356600" y="4267200"/>
            <a:ext cx="2857500" cy="279400"/>
          </a:xfrm>
          <a:prstGeom prst="rect">
            <a:avLst/>
          </a:prstGeom>
          <a:noFill/>
          <a:ln/>
        </p:spPr>
        <p:txBody>
          <a:bodyPr wrap="square" rtlCol="0" anchor="ctr"/>
          <a:lstStyle/>
          <a:p>
            <a:pPr indent="0" marL="0">
              <a:buNone/>
            </a:pPr>
            <a:r>
              <a:rPr lang="en-US" sz="1400" b="1" dirty="0">
                <a:solidFill>
                  <a:srgbClr val="16343A"/>
                </a:solidFill>
                <a:latin typeface="Calibri" pitchFamily="34" charset="0"/>
                <a:ea typeface="Calibri" pitchFamily="34" charset="-122"/>
                <a:cs typeface="Calibri" pitchFamily="34" charset="-120"/>
              </a:rPr>
              <a:t>Gradient boosting</a:t>
            </a:r>
            <a:endParaRPr lang="en-US" sz="1400" dirty="0"/>
          </a:p>
        </p:txBody>
      </p:sp>
      <p:sp>
        <p:nvSpPr>
          <p:cNvPr id="20" name="Text 17"/>
          <p:cNvSpPr/>
          <p:nvPr/>
        </p:nvSpPr>
        <p:spPr>
          <a:xfrm>
            <a:off x="8356600" y="4559300"/>
            <a:ext cx="2857500" cy="254000"/>
          </a:xfrm>
          <a:prstGeom prst="rect">
            <a:avLst/>
          </a:prstGeom>
          <a:noFill/>
          <a:ln/>
        </p:spPr>
        <p:txBody>
          <a:bodyPr wrap="square" rtlCol="0" anchor="ctr"/>
          <a:lstStyle/>
          <a:p>
            <a:pPr indent="0" marL="0">
              <a:buNone/>
            </a:pPr>
            <a:r>
              <a:rPr lang="en-US" sz="1150" b="1" dirty="0">
                <a:solidFill>
                  <a:srgbClr val="E35D45"/>
                </a:solidFill>
                <a:latin typeface="Calibri" pitchFamily="34" charset="0"/>
                <a:ea typeface="Calibri" pitchFamily="34" charset="-122"/>
                <a:cs typeface="Calibri" pitchFamily="34" charset="-120"/>
              </a:rPr>
              <a:t>additive, stagewise</a:t>
            </a:r>
            <a:endParaRPr lang="en-US" sz="1150" dirty="0"/>
          </a:p>
        </p:txBody>
      </p:sp>
      <p:sp>
        <p:nvSpPr>
          <p:cNvPr id="21" name="Text 18"/>
          <p:cNvSpPr/>
          <p:nvPr/>
        </p:nvSpPr>
        <p:spPr>
          <a:xfrm>
            <a:off x="8356600" y="4864100"/>
            <a:ext cx="2857500" cy="1143000"/>
          </a:xfrm>
          <a:prstGeom prst="rect">
            <a:avLst/>
          </a:prstGeom>
          <a:noFill/>
          <a:ln/>
        </p:spPr>
        <p:txBody>
          <a:bodyPr wrap="square" rtlCol="0" anchor="t"/>
          <a:lstStyle/>
          <a:p>
            <a:pPr indent="0" marL="0">
              <a:lnSpc>
                <a:spcPct val="150000"/>
              </a:lnSpc>
              <a:buNone/>
            </a:pPr>
            <a:r>
              <a:rPr lang="en-US" sz="1150" dirty="0">
                <a:solidFill>
                  <a:srgbClr val="5C7678"/>
                </a:solidFill>
                <a:latin typeface="Calibri" pitchFamily="34" charset="0"/>
                <a:ea typeface="Calibri" pitchFamily="34" charset="-122"/>
                <a:cs typeface="Calibri" pitchFamily="34" charset="-120"/>
              </a:rPr>
              <a:t>Each round's tree corrects the ensemble's residual. The histogram implementation accepts missing values natively — no imputation step.</a:t>
            </a:r>
            <a:endParaRPr lang="en-US" sz="115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METHODOLOGY</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The three deep learning models</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90700"/>
            <a:ext cx="5334000" cy="2794000"/>
          </a:xfrm>
          <a:prstGeom prst="roundRect">
            <a:avLst>
              <a:gd name="adj" fmla="val 4582"/>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90600" y="1993900"/>
            <a:ext cx="4826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TWO GATES, NO SEPARATE MEMORY CELL</a:t>
            </a:r>
            <a:endParaRPr lang="en-US" sz="900" dirty="0"/>
          </a:p>
        </p:txBody>
      </p:sp>
      <p:pic>
        <p:nvPicPr>
          <p:cNvPr id="7" name="Image 0" descr="/Users/jc/Desktop/PROJECT MTH5000/presentation/pptx_src/eq/eq_gru-1.png">    </p:cNvPr>
          <p:cNvPicPr>
            <a:picLocks noChangeAspect="1"/>
          </p:cNvPicPr>
          <p:nvPr/>
        </p:nvPicPr>
        <p:blipFill>
          <a:blip r:embed="rId1"/>
          <a:stretch>
            <a:fillRect/>
          </a:stretch>
        </p:blipFill>
        <p:spPr>
          <a:xfrm>
            <a:off x="1181100" y="2276108"/>
            <a:ext cx="4368800" cy="1721584"/>
          </a:xfrm>
          <a:prstGeom prst="rect">
            <a:avLst/>
          </a:prstGeom>
        </p:spPr>
      </p:pic>
      <p:sp>
        <p:nvSpPr>
          <p:cNvPr id="8" name="Text 5"/>
          <p:cNvSpPr/>
          <p:nvPr/>
        </p:nvSpPr>
        <p:spPr>
          <a:xfrm>
            <a:off x="990600" y="4089400"/>
            <a:ext cx="4826000" cy="457200"/>
          </a:xfrm>
          <a:prstGeom prst="rect">
            <a:avLst/>
          </a:prstGeom>
          <a:noFill/>
          <a:ln/>
        </p:spPr>
        <p:txBody>
          <a:bodyPr wrap="square" lIns="0" tIns="0" rIns="0" bIns="0" rtlCol="0" anchor="t"/>
          <a:lstStyle/>
          <a:p>
            <a:pPr indent="0" marL="0">
              <a:lnSpc>
                <a:spcPct val="130000"/>
              </a:lnSpc>
              <a:buNone/>
            </a:pPr>
            <a:r>
              <a:rPr lang="en-US" sz="1000" dirty="0">
                <a:solidFill>
                  <a:srgbClr val="7E9A9C"/>
                </a:solidFill>
                <a:latin typeface="Calibri" pitchFamily="34" charset="0"/>
                <a:ea typeface="Calibri" pitchFamily="34" charset="-122"/>
                <a:cs typeface="Calibri" pitchFamily="34" charset="-120"/>
              </a:rPr>
              <a:t>hₜ is a convex combination, not a product of nonlinear transforms — so gradients survive many timesteps.</a:t>
            </a:r>
            <a:endParaRPr lang="en-US" sz="1000" dirty="0"/>
          </a:p>
        </p:txBody>
      </p:sp>
      <p:sp>
        <p:nvSpPr>
          <p:cNvPr id="9" name="Shape 6"/>
          <p:cNvSpPr/>
          <p:nvPr/>
        </p:nvSpPr>
        <p:spPr>
          <a:xfrm>
            <a:off x="6286500" y="1790700"/>
            <a:ext cx="5207000" cy="2794000"/>
          </a:xfrm>
          <a:prstGeom prst="roundRect">
            <a:avLst>
              <a:gd name="adj" fmla="val 4582"/>
            </a:avLst>
          </a:prstGeom>
          <a:solidFill>
            <a:srgbClr val="FFFFFF"/>
          </a:solidFill>
          <a:ln/>
          <a:effectLst>
            <a:outerShdw sx="100000" sy="100000" kx="0" ky="0" algn="bl" rotWithShape="0" blurRad="127000" dist="38100" dir="5400000">
              <a:srgbClr val="16343A">
                <a:alpha val="16000"/>
              </a:srgbClr>
            </a:outerShdw>
          </a:effectLst>
        </p:spPr>
      </p:sp>
      <p:sp>
        <p:nvSpPr>
          <p:cNvPr id="10" name="Text 7"/>
          <p:cNvSpPr/>
          <p:nvPr/>
        </p:nvSpPr>
        <p:spPr>
          <a:xfrm>
            <a:off x="6578600" y="19939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THREE ARCHITECTURES, ONE PROTOCOL</a:t>
            </a:r>
            <a:endParaRPr lang="en-US" sz="900" dirty="0"/>
          </a:p>
        </p:txBody>
      </p:sp>
      <p:sp>
        <p:nvSpPr>
          <p:cNvPr id="11" name="Text 8"/>
          <p:cNvSpPr/>
          <p:nvPr/>
        </p:nvSpPr>
        <p:spPr>
          <a:xfrm>
            <a:off x="6578600" y="2235200"/>
            <a:ext cx="4699000" cy="215900"/>
          </a:xfrm>
          <a:prstGeom prst="rect">
            <a:avLst/>
          </a:prstGeom>
          <a:noFill/>
          <a:ln/>
        </p:spPr>
        <p:txBody>
          <a:bodyPr wrap="square" lIns="0" tIns="0" rIns="0" bIns="0" rtlCol="0" anchor="ctr"/>
          <a:lstStyle/>
          <a:p>
            <a:pPr indent="0" marL="0">
              <a:buNone/>
            </a:pPr>
            <a:r>
              <a:rPr lang="en-US" sz="1300" b="1" dirty="0">
                <a:solidFill>
                  <a:srgbClr val="16343A"/>
                </a:solidFill>
                <a:latin typeface="Calibri" pitchFamily="34" charset="0"/>
                <a:ea typeface="Calibri" pitchFamily="34" charset="-122"/>
                <a:cs typeface="Calibri" pitchFamily="34" charset="-120"/>
              </a:rPr>
              <a:t>GRU</a:t>
            </a:r>
            <a:endParaRPr lang="en-US" sz="1300" dirty="0"/>
          </a:p>
        </p:txBody>
      </p:sp>
      <p:sp>
        <p:nvSpPr>
          <p:cNvPr id="12" name="Text 9"/>
          <p:cNvSpPr/>
          <p:nvPr/>
        </p:nvSpPr>
        <p:spPr>
          <a:xfrm>
            <a:off x="6578600" y="2451100"/>
            <a:ext cx="4699000" cy="368300"/>
          </a:xfrm>
          <a:prstGeom prst="rect">
            <a:avLst/>
          </a:prstGeom>
          <a:noFill/>
          <a:ln/>
        </p:spPr>
        <p:txBody>
          <a:bodyPr wrap="square" lIns="0" tIns="0" rIns="0" bIns="0" rtlCol="0" anchor="t"/>
          <a:lstStyle/>
          <a:p>
            <a:pPr indent="0" marL="0">
              <a:lnSpc>
                <a:spcPct val="125000"/>
              </a:lnSpc>
              <a:buNone/>
            </a:pPr>
            <a:r>
              <a:rPr lang="en-US" sz="1000" dirty="0">
                <a:solidFill>
                  <a:srgbClr val="5C7678"/>
                </a:solidFill>
                <a:latin typeface="Calibri" pitchFamily="34" charset="0"/>
                <a:ea typeface="Calibri" pitchFamily="34" charset="-122"/>
                <a:cs typeface="Calibri" pitchFamily="34" charset="-120"/>
              </a:rPr>
              <a:t>2 gates, no separate memory cell — 2,329 parameters</a:t>
            </a:r>
            <a:endParaRPr lang="en-US" sz="1000" dirty="0"/>
          </a:p>
        </p:txBody>
      </p:sp>
      <p:sp>
        <p:nvSpPr>
          <p:cNvPr id="13" name="Text 10"/>
          <p:cNvSpPr/>
          <p:nvPr/>
        </p:nvSpPr>
        <p:spPr>
          <a:xfrm>
            <a:off x="6578600" y="2819400"/>
            <a:ext cx="4699000" cy="215900"/>
          </a:xfrm>
          <a:prstGeom prst="rect">
            <a:avLst/>
          </a:prstGeom>
          <a:noFill/>
          <a:ln/>
        </p:spPr>
        <p:txBody>
          <a:bodyPr wrap="square" lIns="0" tIns="0" rIns="0" bIns="0" rtlCol="0" anchor="ctr"/>
          <a:lstStyle/>
          <a:p>
            <a:pPr indent="0" marL="0">
              <a:buNone/>
            </a:pPr>
            <a:r>
              <a:rPr lang="en-US" sz="1300" b="1" dirty="0">
                <a:solidFill>
                  <a:srgbClr val="16343A"/>
                </a:solidFill>
                <a:latin typeface="Calibri" pitchFamily="34" charset="0"/>
                <a:ea typeface="Calibri" pitchFamily="34" charset="-122"/>
                <a:cs typeface="Calibri" pitchFamily="34" charset="-120"/>
              </a:rPr>
              <a:t>LSTM</a:t>
            </a:r>
            <a:endParaRPr lang="en-US" sz="1300" dirty="0"/>
          </a:p>
        </p:txBody>
      </p:sp>
      <p:sp>
        <p:nvSpPr>
          <p:cNvPr id="14" name="Text 11"/>
          <p:cNvSpPr/>
          <p:nvPr/>
        </p:nvSpPr>
        <p:spPr>
          <a:xfrm>
            <a:off x="6578600" y="3035300"/>
            <a:ext cx="4699000" cy="368300"/>
          </a:xfrm>
          <a:prstGeom prst="rect">
            <a:avLst/>
          </a:prstGeom>
          <a:noFill/>
          <a:ln/>
        </p:spPr>
        <p:txBody>
          <a:bodyPr wrap="square" lIns="0" tIns="0" rIns="0" bIns="0" rtlCol="0" anchor="t"/>
          <a:lstStyle/>
          <a:p>
            <a:pPr indent="0" marL="0">
              <a:lnSpc>
                <a:spcPct val="125000"/>
              </a:lnSpc>
              <a:buNone/>
            </a:pPr>
            <a:r>
              <a:rPr lang="en-US" sz="1000" dirty="0">
                <a:solidFill>
                  <a:srgbClr val="5C7678"/>
                </a:solidFill>
                <a:latin typeface="Calibri" pitchFamily="34" charset="0"/>
                <a:ea typeface="Calibri" pitchFamily="34" charset="-122"/>
                <a:cs typeface="Calibri" pitchFamily="34" charset="-120"/>
              </a:rPr>
              <a:t>3 gates and an explicit cell state — 3,097 parameters</a:t>
            </a:r>
            <a:endParaRPr lang="en-US" sz="1000" dirty="0"/>
          </a:p>
        </p:txBody>
      </p:sp>
      <p:sp>
        <p:nvSpPr>
          <p:cNvPr id="15" name="Text 12"/>
          <p:cNvSpPr/>
          <p:nvPr/>
        </p:nvSpPr>
        <p:spPr>
          <a:xfrm>
            <a:off x="6578600" y="3403600"/>
            <a:ext cx="4699000" cy="215900"/>
          </a:xfrm>
          <a:prstGeom prst="rect">
            <a:avLst/>
          </a:prstGeom>
          <a:noFill/>
          <a:ln/>
        </p:spPr>
        <p:txBody>
          <a:bodyPr wrap="square" lIns="0" tIns="0" rIns="0" bIns="0" rtlCol="0" anchor="ctr"/>
          <a:lstStyle/>
          <a:p>
            <a:pPr indent="0" marL="0">
              <a:buNone/>
            </a:pPr>
            <a:r>
              <a:rPr lang="en-US" sz="1300" b="1" dirty="0">
                <a:solidFill>
                  <a:srgbClr val="E35D45"/>
                </a:solidFill>
                <a:latin typeface="Calibri" pitchFamily="34" charset="0"/>
                <a:ea typeface="Calibri" pitchFamily="34" charset="-122"/>
                <a:cs typeface="Calibri" pitchFamily="34" charset="-120"/>
              </a:rPr>
              <a:t>Transformer</a:t>
            </a:r>
            <a:endParaRPr lang="en-US" sz="1300" dirty="0"/>
          </a:p>
        </p:txBody>
      </p:sp>
      <p:sp>
        <p:nvSpPr>
          <p:cNvPr id="16" name="Text 13"/>
          <p:cNvSpPr/>
          <p:nvPr/>
        </p:nvSpPr>
        <p:spPr>
          <a:xfrm>
            <a:off x="6578600" y="3619500"/>
            <a:ext cx="4699000" cy="368300"/>
          </a:xfrm>
          <a:prstGeom prst="rect">
            <a:avLst/>
          </a:prstGeom>
          <a:noFill/>
          <a:ln/>
        </p:spPr>
        <p:txBody>
          <a:bodyPr wrap="square" lIns="0" tIns="0" rIns="0" bIns="0" rtlCol="0" anchor="t"/>
          <a:lstStyle/>
          <a:p>
            <a:pPr indent="0" marL="0">
              <a:lnSpc>
                <a:spcPct val="125000"/>
              </a:lnSpc>
              <a:buNone/>
            </a:pPr>
            <a:r>
              <a:rPr lang="en-US" sz="1000" dirty="0">
                <a:solidFill>
                  <a:srgbClr val="5C7678"/>
                </a:solidFill>
                <a:latin typeface="Calibri" pitchFamily="34" charset="0"/>
                <a:ea typeface="Calibri" pitchFamily="34" charset="-122"/>
                <a:cs typeface="Calibri" pitchFamily="34" charset="-120"/>
              </a:rPr>
              <a:t>Self-attention in place of recurrence: d_model = 16, 2 heads, 1 encoder layer — 3,409, the largest of the three</a:t>
            </a:r>
            <a:endParaRPr lang="en-US" sz="1000" dirty="0"/>
          </a:p>
        </p:txBody>
      </p:sp>
      <p:sp>
        <p:nvSpPr>
          <p:cNvPr id="17" name="Shape 14"/>
          <p:cNvSpPr/>
          <p:nvPr/>
        </p:nvSpPr>
        <p:spPr>
          <a:xfrm>
            <a:off x="6578600" y="4038600"/>
            <a:ext cx="4622800" cy="12700"/>
          </a:xfrm>
          <a:prstGeom prst="rect">
            <a:avLst/>
          </a:prstGeom>
          <a:solidFill>
            <a:srgbClr val="E6EBEB"/>
          </a:solidFill>
          <a:ln/>
        </p:spPr>
      </p:sp>
      <p:sp>
        <p:nvSpPr>
          <p:cNvPr id="18" name="Text 15"/>
          <p:cNvSpPr/>
          <p:nvPr/>
        </p:nvSpPr>
        <p:spPr>
          <a:xfrm>
            <a:off x="6578600" y="4140200"/>
            <a:ext cx="4699000" cy="406400"/>
          </a:xfrm>
          <a:prstGeom prst="rect">
            <a:avLst/>
          </a:prstGeom>
          <a:noFill/>
          <a:ln/>
        </p:spPr>
        <p:txBody>
          <a:bodyPr wrap="square" lIns="0" tIns="0" rIns="0" bIns="0" rtlCol="0" anchor="t"/>
          <a:lstStyle/>
          <a:p>
            <a:pPr indent="0" marL="0">
              <a:lnSpc>
                <a:spcPct val="130000"/>
              </a:lnSpc>
              <a:buNone/>
            </a:pPr>
            <a:r>
              <a:rPr lang="en-US" sz="1050" dirty="0">
                <a:solidFill>
                  <a:srgbClr val="5C7678"/>
                </a:solidFill>
                <a:latin typeface="Calibri" pitchFamily="34" charset="0"/>
                <a:ea typeface="Calibri" pitchFamily="34" charset="-122"/>
                <a:cs typeface="Calibri" pitchFamily="34" charset="-120"/>
              </a:rPr>
              <a:t>Same 6 channels, same 30-day window, same target, same optimiser, same ten seeds. Only the architecture differs.</a:t>
            </a:r>
            <a:endParaRPr lang="en-US" sz="1050" dirty="0"/>
          </a:p>
        </p:txBody>
      </p:sp>
      <p:sp>
        <p:nvSpPr>
          <p:cNvPr id="19" name="Shape 16"/>
          <p:cNvSpPr/>
          <p:nvPr/>
        </p:nvSpPr>
        <p:spPr>
          <a:xfrm>
            <a:off x="698500" y="4787900"/>
            <a:ext cx="10795000" cy="1409700"/>
          </a:xfrm>
          <a:prstGeom prst="roundRect">
            <a:avLst>
              <a:gd name="adj" fmla="val 9081"/>
            </a:avLst>
          </a:prstGeom>
          <a:solidFill>
            <a:srgbClr val="16343A"/>
          </a:solidFill>
          <a:ln/>
        </p:spPr>
      </p:sp>
      <p:sp>
        <p:nvSpPr>
          <p:cNvPr id="20" name="Text 17"/>
          <p:cNvSpPr/>
          <p:nvPr/>
        </p:nvSpPr>
        <p:spPr>
          <a:xfrm>
            <a:off x="1054100" y="4991100"/>
            <a:ext cx="2159000" cy="698500"/>
          </a:xfrm>
          <a:prstGeom prst="rect">
            <a:avLst/>
          </a:prstGeom>
          <a:noFill/>
          <a:ln/>
        </p:spPr>
        <p:txBody>
          <a:bodyPr wrap="square" rtlCol="0" anchor="t"/>
          <a:lstStyle/>
          <a:p>
            <a:pPr indent="0" marL="0">
              <a:buNone/>
            </a:pPr>
            <a:r>
              <a:rPr lang="en-US" sz="4600" b="1" dirty="0">
                <a:solidFill>
                  <a:srgbClr val="E35D45"/>
                </a:solidFill>
                <a:latin typeface="Calibri" pitchFamily="34" charset="0"/>
                <a:ea typeface="Calibri" pitchFamily="34" charset="-122"/>
                <a:cs typeface="Calibri" pitchFamily="34" charset="-120"/>
              </a:rPr>
              <a:t>10</a:t>
            </a:r>
            <a:endParaRPr lang="en-US" sz="4600" dirty="0"/>
          </a:p>
        </p:txBody>
      </p:sp>
      <p:sp>
        <p:nvSpPr>
          <p:cNvPr id="21" name="Text 18"/>
          <p:cNvSpPr/>
          <p:nvPr/>
        </p:nvSpPr>
        <p:spPr>
          <a:xfrm>
            <a:off x="1054100" y="5676900"/>
            <a:ext cx="2159000" cy="215900"/>
          </a:xfrm>
          <a:prstGeom prst="rect">
            <a:avLst/>
          </a:prstGeom>
          <a:noFill/>
          <a:ln/>
        </p:spPr>
        <p:txBody>
          <a:bodyPr wrap="square" rtlCol="0" anchor="ctr"/>
          <a:lstStyle/>
          <a:p>
            <a:pPr indent="0" marL="0">
              <a:buNone/>
            </a:pPr>
            <a:r>
              <a:rPr lang="en-US" sz="1050" b="1" spc="140" kern="0" dirty="0">
                <a:solidFill>
                  <a:srgbClr val="F0A999"/>
                </a:solidFill>
                <a:latin typeface="Calibri" pitchFamily="34" charset="0"/>
                <a:ea typeface="Calibri" pitchFamily="34" charset="-122"/>
                <a:cs typeface="Calibri" pitchFamily="34" charset="-120"/>
              </a:rPr>
              <a:t>RANDOM SEEDS</a:t>
            </a:r>
            <a:endParaRPr lang="en-US" sz="1050" dirty="0"/>
          </a:p>
        </p:txBody>
      </p:sp>
      <p:sp>
        <p:nvSpPr>
          <p:cNvPr id="22" name="Text 19"/>
          <p:cNvSpPr/>
          <p:nvPr/>
        </p:nvSpPr>
        <p:spPr>
          <a:xfrm>
            <a:off x="3556000" y="5067300"/>
            <a:ext cx="7556500" cy="952500"/>
          </a:xfrm>
          <a:prstGeom prst="rect">
            <a:avLst/>
          </a:prstGeom>
          <a:noFill/>
          <a:ln/>
        </p:spPr>
        <p:txBody>
          <a:bodyPr wrap="square" rtlCol="0" anchor="t"/>
          <a:lstStyle/>
          <a:p>
            <a:pPr indent="0" marL="0">
              <a:lnSpc>
                <a:spcPct val="150000"/>
              </a:lnSpc>
              <a:buNone/>
            </a:pPr>
            <a:r>
              <a:rPr lang="en-US" sz="1250" dirty="0">
                <a:solidFill>
                  <a:srgbClr val="FFFFFF"/>
                </a:solidFill>
                <a:latin typeface="Calibri" pitchFamily="34" charset="0"/>
                <a:ea typeface="Calibri" pitchFamily="34" charset="-122"/>
                <a:cs typeface="Calibri" pitchFamily="34" charset="-120"/>
              </a:rPr>
              <a:t>The three models whose results depend on a random initialisation. Every number for them is reported as a range across ten runs, never a single favourable one — and the GRU's training is not even bit-reproducible at a fixed seed.</a:t>
            </a:r>
            <a:endParaRPr lang="en-US" sz="125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METHODOLOGY</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Self-attention in place of recurrence</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90700"/>
            <a:ext cx="6731000" cy="2794000"/>
          </a:xfrm>
          <a:prstGeom prst="roundRect">
            <a:avLst>
              <a:gd name="adj" fmla="val 4582"/>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90600" y="1993900"/>
            <a:ext cx="6223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SCALED DOT-PRODUCT ATTENTION, AND THE ENCODER LAYER</a:t>
            </a:r>
            <a:endParaRPr lang="en-US" sz="900" dirty="0"/>
          </a:p>
        </p:txBody>
      </p:sp>
      <p:pic>
        <p:nvPicPr>
          <p:cNvPr id="7" name="Image 0" descr="/Users/jc/Desktop/PROJECT MTH5000/presentation/pptx_src/eq/eq_attn-1.png">    </p:cNvPr>
          <p:cNvPicPr>
            <a:picLocks noChangeAspect="1"/>
          </p:cNvPicPr>
          <p:nvPr/>
        </p:nvPicPr>
        <p:blipFill>
          <a:blip r:embed="rId1"/>
          <a:stretch>
            <a:fillRect/>
          </a:stretch>
        </p:blipFill>
        <p:spPr>
          <a:xfrm>
            <a:off x="1079500" y="2229378"/>
            <a:ext cx="5969000" cy="1408643"/>
          </a:xfrm>
          <a:prstGeom prst="rect">
            <a:avLst/>
          </a:prstGeom>
        </p:spPr>
      </p:pic>
      <p:sp>
        <p:nvSpPr>
          <p:cNvPr id="8" name="Text 5"/>
          <p:cNvSpPr/>
          <p:nvPr/>
        </p:nvSpPr>
        <p:spPr>
          <a:xfrm>
            <a:off x="990600" y="3810000"/>
            <a:ext cx="6223000" cy="609600"/>
          </a:xfrm>
          <a:prstGeom prst="rect">
            <a:avLst/>
          </a:prstGeom>
          <a:noFill/>
          <a:ln/>
        </p:spPr>
        <p:txBody>
          <a:bodyPr wrap="square" lIns="0" tIns="0" rIns="0" bIns="0" rtlCol="0" anchor="t"/>
          <a:lstStyle/>
          <a:p>
            <a:pPr indent="0" marL="0">
              <a:lnSpc>
                <a:spcPct val="130000"/>
              </a:lnSpc>
              <a:buNone/>
            </a:pPr>
            <a:r>
              <a:rPr lang="en-US" sz="1050" dirty="0">
                <a:solidFill>
                  <a:srgbClr val="7E9A9C"/>
                </a:solidFill>
                <a:latin typeface="Calibri" pitchFamily="34" charset="0"/>
                <a:ea typeface="Calibri" pitchFamily="34" charset="-122"/>
                <a:cs typeface="Calibri" pitchFamily="34" charset="-120"/>
              </a:rPr>
              <a:t>Every timestep in the 30-day window attends directly to every other one. There is no hidden state propagated step by step — and so no inherent sense of order.</a:t>
            </a:r>
            <a:endParaRPr lang="en-US" sz="1050" dirty="0"/>
          </a:p>
        </p:txBody>
      </p:sp>
      <p:sp>
        <p:nvSpPr>
          <p:cNvPr id="9" name="Shape 6"/>
          <p:cNvSpPr/>
          <p:nvPr/>
        </p:nvSpPr>
        <p:spPr>
          <a:xfrm>
            <a:off x="7683500" y="1790700"/>
            <a:ext cx="3810000" cy="2794000"/>
          </a:xfrm>
          <a:prstGeom prst="roundRect">
            <a:avLst>
              <a:gd name="adj" fmla="val 4582"/>
            </a:avLst>
          </a:prstGeom>
          <a:solidFill>
            <a:srgbClr val="FFFFFF"/>
          </a:solidFill>
          <a:ln/>
          <a:effectLst>
            <a:outerShdw sx="100000" sy="100000" kx="0" ky="0" algn="bl" rotWithShape="0" blurRad="127000" dist="38100" dir="5400000">
              <a:srgbClr val="16343A">
                <a:alpha val="16000"/>
              </a:srgbClr>
            </a:outerShdw>
          </a:effectLst>
        </p:spPr>
      </p:sp>
      <p:sp>
        <p:nvSpPr>
          <p:cNvPr id="10" name="Text 7"/>
          <p:cNvSpPr/>
          <p:nvPr/>
        </p:nvSpPr>
        <p:spPr>
          <a:xfrm>
            <a:off x="7975600" y="1993900"/>
            <a:ext cx="3302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WHAT HAS TO BE ADDED BACK</a:t>
            </a:r>
            <a:endParaRPr lang="en-US" sz="900" dirty="0"/>
          </a:p>
        </p:txBody>
      </p:sp>
      <p:sp>
        <p:nvSpPr>
          <p:cNvPr id="11" name="Text 8"/>
          <p:cNvSpPr/>
          <p:nvPr/>
        </p:nvSpPr>
        <p:spPr>
          <a:xfrm>
            <a:off x="7975600" y="2273300"/>
            <a:ext cx="3302000" cy="2095500"/>
          </a:xfrm>
          <a:prstGeom prst="rect">
            <a:avLst/>
          </a:prstGeom>
          <a:noFill/>
          <a:ln/>
        </p:spPr>
        <p:txBody>
          <a:bodyPr wrap="square" rtlCol="0" anchor="t"/>
          <a:lstStyle/>
          <a:p>
            <a:pPr marL="203200" indent="-203200">
              <a:lnSpc>
                <a:spcPct val="150000"/>
              </a:lnSpc>
              <a:spcAft>
                <a:spcPts val="1200"/>
              </a:spcAft>
              <a:buSzPct val="100000"/>
              <a:buChar char="●"/>
            </a:pPr>
            <a:r>
              <a:rPr lang="en-US" sz="950" dirty="0">
                <a:solidFill>
                  <a:srgbClr val="1C2B2C"/>
                </a:solidFill>
                <a:latin typeface="Calibri" pitchFamily="34" charset="0"/>
                <a:ea typeface="Calibri" pitchFamily="34" charset="-122"/>
                <a:cs typeface="Calibri" pitchFamily="34" charset="-120"/>
              </a:rPr>
              <a:t>A sinusoidal positional encoding, added before the first layer — attention alone cannot tell position</a:t>
            </a:r>
            <a:endParaRPr lang="en-US" sz="950" dirty="0"/>
          </a:p>
          <a:p>
            <a:pPr marL="203200" indent="-203200">
              <a:lnSpc>
                <a:spcPct val="150000"/>
              </a:lnSpc>
              <a:spcAft>
                <a:spcPts val="1200"/>
              </a:spcAft>
              <a:buSzPct val="100000"/>
              <a:buChar char="●"/>
            </a:pPr>
            <a:r>
              <a:rPr lang="en-US" sz="950" dirty="0">
                <a:solidFill>
                  <a:srgbClr val="1C2B2C"/>
                </a:solidFill>
                <a:latin typeface="Calibri" pitchFamily="34" charset="0"/>
                <a:ea typeface="Calibri" pitchFamily="34" charset="-122"/>
                <a:cs typeface="Calibri" pitchFamily="34" charset="-120"/>
              </a:rPr>
              <a:t>Two heads on separate subspaces of Q, K and V, so more than one relationship between positions survives</a:t>
            </a:r>
            <a:endParaRPr lang="en-US" sz="950" dirty="0"/>
          </a:p>
          <a:p>
            <a:pPr marL="203200" indent="-203200">
              <a:lnSpc>
                <a:spcPct val="150000"/>
              </a:lnSpc>
              <a:spcAft>
                <a:spcPts val="1200"/>
              </a:spcAft>
              <a:buSzPct val="100000"/>
              <a:buChar char="●"/>
            </a:pPr>
            <a:r>
              <a:rPr lang="en-US" sz="950" dirty="0">
                <a:solidFill>
                  <a:srgbClr val="1C2B2C"/>
                </a:solidFill>
                <a:latin typeface="Calibri" pitchFamily="34" charset="0"/>
                <a:ea typeface="Calibri" pitchFamily="34" charset="-122"/>
                <a:cs typeface="Calibri" pitchFamily="34" charset="-120"/>
              </a:rPr>
              <a:t>A linear layer on the final position, predicting the change in log concentration</a:t>
            </a:r>
            <a:endParaRPr lang="en-US" sz="950" dirty="0"/>
          </a:p>
        </p:txBody>
      </p:sp>
      <p:sp>
        <p:nvSpPr>
          <p:cNvPr id="12" name="Shape 9"/>
          <p:cNvSpPr/>
          <p:nvPr/>
        </p:nvSpPr>
        <p:spPr>
          <a:xfrm>
            <a:off x="698500" y="4787900"/>
            <a:ext cx="10795000" cy="1409700"/>
          </a:xfrm>
          <a:prstGeom prst="roundRect">
            <a:avLst>
              <a:gd name="adj" fmla="val 9081"/>
            </a:avLst>
          </a:prstGeom>
          <a:solidFill>
            <a:srgbClr val="16343A"/>
          </a:solidFill>
          <a:ln/>
        </p:spPr>
      </p:sp>
      <p:sp>
        <p:nvSpPr>
          <p:cNvPr id="13" name="Text 10"/>
          <p:cNvSpPr/>
          <p:nvPr/>
        </p:nvSpPr>
        <p:spPr>
          <a:xfrm>
            <a:off x="1054100" y="4991100"/>
            <a:ext cx="2159000" cy="698500"/>
          </a:xfrm>
          <a:prstGeom prst="rect">
            <a:avLst/>
          </a:prstGeom>
          <a:noFill/>
          <a:ln/>
        </p:spPr>
        <p:txBody>
          <a:bodyPr wrap="square" rtlCol="0" anchor="t"/>
          <a:lstStyle/>
          <a:p>
            <a:pPr indent="0" marL="0">
              <a:buNone/>
            </a:pPr>
            <a:r>
              <a:rPr lang="en-US" sz="4600" b="1" dirty="0">
                <a:solidFill>
                  <a:srgbClr val="E35D45"/>
                </a:solidFill>
                <a:latin typeface="Calibri" pitchFamily="34" charset="0"/>
                <a:ea typeface="Calibri" pitchFamily="34" charset="-122"/>
                <a:cs typeface="Calibri" pitchFamily="34" charset="-120"/>
              </a:rPr>
              <a:t>4</a:t>
            </a:r>
            <a:endParaRPr lang="en-US" sz="4600" dirty="0"/>
          </a:p>
        </p:txBody>
      </p:sp>
      <p:sp>
        <p:nvSpPr>
          <p:cNvPr id="14" name="Text 11"/>
          <p:cNvSpPr/>
          <p:nvPr/>
        </p:nvSpPr>
        <p:spPr>
          <a:xfrm>
            <a:off x="1054100" y="5676900"/>
            <a:ext cx="2159000" cy="215900"/>
          </a:xfrm>
          <a:prstGeom prst="rect">
            <a:avLst/>
          </a:prstGeom>
          <a:noFill/>
          <a:ln/>
        </p:spPr>
        <p:txBody>
          <a:bodyPr wrap="square" rtlCol="0" anchor="ctr"/>
          <a:lstStyle/>
          <a:p>
            <a:pPr indent="0" marL="0">
              <a:buNone/>
            </a:pPr>
            <a:r>
              <a:rPr lang="en-US" sz="1050" b="1" spc="140" kern="0" dirty="0">
                <a:solidFill>
                  <a:srgbClr val="F0A999"/>
                </a:solidFill>
                <a:latin typeface="Calibri" pitchFamily="34" charset="0"/>
                <a:ea typeface="Calibri" pitchFamily="34" charset="-122"/>
                <a:cs typeface="Calibri" pitchFamily="34" charset="-120"/>
              </a:rPr>
              <a:t>UNTUNED SETTINGS</a:t>
            </a:r>
            <a:endParaRPr lang="en-US" sz="1050" dirty="0"/>
          </a:p>
        </p:txBody>
      </p:sp>
      <p:sp>
        <p:nvSpPr>
          <p:cNvPr id="15" name="Text 12"/>
          <p:cNvSpPr/>
          <p:nvPr/>
        </p:nvSpPr>
        <p:spPr>
          <a:xfrm>
            <a:off x="3556000" y="5067300"/>
            <a:ext cx="7556500" cy="952500"/>
          </a:xfrm>
          <a:prstGeom prst="rect">
            <a:avLst/>
          </a:prstGeom>
          <a:noFill/>
          <a:ln/>
        </p:spPr>
        <p:txBody>
          <a:bodyPr wrap="square" rtlCol="0" anchor="t"/>
          <a:lstStyle/>
          <a:p>
            <a:pPr indent="0" marL="0">
              <a:lnSpc>
                <a:spcPct val="150000"/>
              </a:lnSpc>
              <a:buNone/>
            </a:pPr>
            <a:r>
              <a:rPr lang="en-US" sz="1250" dirty="0">
                <a:solidFill>
                  <a:srgbClr val="FFFFFF"/>
                </a:solidFill>
                <a:latin typeface="Calibri" pitchFamily="34" charset="0"/>
                <a:ea typeface="Calibri" pitchFamily="34" charset="-122"/>
                <a:cs typeface="Calibri" pitchFamily="34" charset="-120"/>
              </a:rPr>
              <a:t>d_model = 16, two heads, one encoder layer, and Adam at 0.001 rather than the 0.01 the GRU and LSTM use — all inherited unchanged from the bounded check. The GRU has three bounded sensitivity checks behind it; the transformer has none yet.</a:t>
            </a:r>
            <a:endParaRPr lang="en-US" sz="125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METHODOLOGY</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Rolling-origin evaluation and measures</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27200"/>
            <a:ext cx="2552700" cy="749300"/>
          </a:xfrm>
          <a:prstGeom prst="roundRect">
            <a:avLst>
              <a:gd name="adj" fmla="val 17085"/>
            </a:avLst>
          </a:prstGeom>
          <a:solidFill>
            <a:srgbClr val="FFFFFF"/>
          </a:solidFill>
          <a:ln/>
        </p:spPr>
      </p:sp>
      <p:sp>
        <p:nvSpPr>
          <p:cNvPr id="6" name="Text 4"/>
          <p:cNvSpPr/>
          <p:nvPr/>
        </p:nvSpPr>
        <p:spPr>
          <a:xfrm>
            <a:off x="901700" y="1866900"/>
            <a:ext cx="2159000" cy="177800"/>
          </a:xfrm>
          <a:prstGeom prst="rect">
            <a:avLst/>
          </a:prstGeom>
          <a:noFill/>
          <a:ln/>
        </p:spPr>
        <p:txBody>
          <a:bodyPr wrap="square" rtlCol="0" anchor="ctr"/>
          <a:lstStyle/>
          <a:p>
            <a:pPr indent="0" marL="0">
              <a:buNone/>
            </a:pPr>
            <a:r>
              <a:rPr lang="en-US" sz="850" b="1" spc="120" kern="0" dirty="0">
                <a:solidFill>
                  <a:srgbClr val="5C7678"/>
                </a:solidFill>
                <a:latin typeface="Calibri" pitchFamily="34" charset="0"/>
                <a:ea typeface="Calibri" pitchFamily="34" charset="-122"/>
                <a:cs typeface="Calibri" pitchFamily="34" charset="-120"/>
              </a:rPr>
              <a:t>FORECAST ORIGINS</a:t>
            </a:r>
            <a:endParaRPr lang="en-US" sz="850" dirty="0"/>
          </a:p>
        </p:txBody>
      </p:sp>
      <p:sp>
        <p:nvSpPr>
          <p:cNvPr id="7" name="Text 5"/>
          <p:cNvSpPr/>
          <p:nvPr/>
        </p:nvSpPr>
        <p:spPr>
          <a:xfrm>
            <a:off x="901700" y="2044700"/>
            <a:ext cx="2159000" cy="330200"/>
          </a:xfrm>
          <a:prstGeom prst="rect">
            <a:avLst/>
          </a:prstGeom>
          <a:noFill/>
          <a:ln/>
        </p:spPr>
        <p:txBody>
          <a:bodyPr wrap="square" rtlCol="0" anchor="t"/>
          <a:lstStyle/>
          <a:p>
            <a:pPr indent="0" marL="0">
              <a:buNone/>
            </a:pPr>
            <a:r>
              <a:rPr lang="en-US" sz="1700" b="1" dirty="0">
                <a:solidFill>
                  <a:srgbClr val="16343A"/>
                </a:solidFill>
                <a:latin typeface="Calibri" pitchFamily="34" charset="0"/>
                <a:ea typeface="Calibri" pitchFamily="34" charset="-122"/>
                <a:cs typeface="Calibri" pitchFamily="34" charset="-120"/>
              </a:rPr>
              <a:t>2,303</a:t>
            </a:r>
            <a:endParaRPr lang="en-US" sz="1700" dirty="0"/>
          </a:p>
        </p:txBody>
      </p:sp>
      <p:sp>
        <p:nvSpPr>
          <p:cNvPr id="8" name="Shape 6"/>
          <p:cNvSpPr/>
          <p:nvPr/>
        </p:nvSpPr>
        <p:spPr>
          <a:xfrm>
            <a:off x="3441700" y="1727200"/>
            <a:ext cx="2552700" cy="749300"/>
          </a:xfrm>
          <a:prstGeom prst="roundRect">
            <a:avLst>
              <a:gd name="adj" fmla="val 17085"/>
            </a:avLst>
          </a:prstGeom>
          <a:solidFill>
            <a:srgbClr val="FFFFFF"/>
          </a:solidFill>
          <a:ln/>
        </p:spPr>
      </p:sp>
      <p:sp>
        <p:nvSpPr>
          <p:cNvPr id="9" name="Text 7"/>
          <p:cNvSpPr/>
          <p:nvPr/>
        </p:nvSpPr>
        <p:spPr>
          <a:xfrm>
            <a:off x="3644900" y="1866900"/>
            <a:ext cx="2159000" cy="177800"/>
          </a:xfrm>
          <a:prstGeom prst="rect">
            <a:avLst/>
          </a:prstGeom>
          <a:noFill/>
          <a:ln/>
        </p:spPr>
        <p:txBody>
          <a:bodyPr wrap="square" rtlCol="0" anchor="ctr"/>
          <a:lstStyle/>
          <a:p>
            <a:pPr indent="0" marL="0">
              <a:buNone/>
            </a:pPr>
            <a:r>
              <a:rPr lang="en-US" sz="850" b="1" spc="120" kern="0" dirty="0">
                <a:solidFill>
                  <a:srgbClr val="5C7678"/>
                </a:solidFill>
                <a:latin typeface="Calibri" pitchFamily="34" charset="0"/>
                <a:ea typeface="Calibri" pitchFamily="34" charset="-122"/>
                <a:cs typeface="Calibri" pitchFamily="34" charset="-120"/>
              </a:rPr>
              <a:t>SPAN</a:t>
            </a:r>
            <a:endParaRPr lang="en-US" sz="850" dirty="0"/>
          </a:p>
        </p:txBody>
      </p:sp>
      <p:sp>
        <p:nvSpPr>
          <p:cNvPr id="10" name="Text 8"/>
          <p:cNvSpPr/>
          <p:nvPr/>
        </p:nvSpPr>
        <p:spPr>
          <a:xfrm>
            <a:off x="3644900" y="2044700"/>
            <a:ext cx="2159000" cy="330200"/>
          </a:xfrm>
          <a:prstGeom prst="rect">
            <a:avLst/>
          </a:prstGeom>
          <a:noFill/>
          <a:ln/>
        </p:spPr>
        <p:txBody>
          <a:bodyPr wrap="square" rtlCol="0" anchor="t"/>
          <a:lstStyle/>
          <a:p>
            <a:pPr indent="0" marL="0">
              <a:buNone/>
            </a:pPr>
            <a:r>
              <a:rPr lang="en-US" sz="1700" b="1" dirty="0">
                <a:solidFill>
                  <a:srgbClr val="16343A"/>
                </a:solidFill>
                <a:latin typeface="Calibri" pitchFamily="34" charset="0"/>
                <a:ea typeface="Calibri" pitchFamily="34" charset="-122"/>
                <a:cs typeface="Calibri" pitchFamily="34" charset="-120"/>
              </a:rPr>
              <a:t>6.8 years</a:t>
            </a:r>
            <a:endParaRPr lang="en-US" sz="1700" dirty="0"/>
          </a:p>
        </p:txBody>
      </p:sp>
      <p:sp>
        <p:nvSpPr>
          <p:cNvPr id="11" name="Shape 9"/>
          <p:cNvSpPr/>
          <p:nvPr/>
        </p:nvSpPr>
        <p:spPr>
          <a:xfrm>
            <a:off x="6184900" y="1727200"/>
            <a:ext cx="2552700" cy="749300"/>
          </a:xfrm>
          <a:prstGeom prst="roundRect">
            <a:avLst>
              <a:gd name="adj" fmla="val 17085"/>
            </a:avLst>
          </a:prstGeom>
          <a:solidFill>
            <a:srgbClr val="FFFFFF"/>
          </a:solidFill>
          <a:ln/>
        </p:spPr>
      </p:sp>
      <p:sp>
        <p:nvSpPr>
          <p:cNvPr id="12" name="Text 10"/>
          <p:cNvSpPr/>
          <p:nvPr/>
        </p:nvSpPr>
        <p:spPr>
          <a:xfrm>
            <a:off x="6388100" y="1866900"/>
            <a:ext cx="2159000" cy="177800"/>
          </a:xfrm>
          <a:prstGeom prst="rect">
            <a:avLst/>
          </a:prstGeom>
          <a:noFill/>
          <a:ln/>
        </p:spPr>
        <p:txBody>
          <a:bodyPr wrap="square" rtlCol="0" anchor="ctr"/>
          <a:lstStyle/>
          <a:p>
            <a:pPr indent="0" marL="0">
              <a:buNone/>
            </a:pPr>
            <a:r>
              <a:rPr lang="en-US" sz="850" b="1" spc="120" kern="0" dirty="0">
                <a:solidFill>
                  <a:srgbClr val="5C7678"/>
                </a:solidFill>
                <a:latin typeface="Calibri" pitchFamily="34" charset="0"/>
                <a:ea typeface="Calibri" pitchFamily="34" charset="-122"/>
                <a:cs typeface="Calibri" pitchFamily="34" charset="-120"/>
              </a:rPr>
              <a:t>REFIT CADENCE</a:t>
            </a:r>
            <a:endParaRPr lang="en-US" sz="850" dirty="0"/>
          </a:p>
        </p:txBody>
      </p:sp>
      <p:sp>
        <p:nvSpPr>
          <p:cNvPr id="13" name="Text 11"/>
          <p:cNvSpPr/>
          <p:nvPr/>
        </p:nvSpPr>
        <p:spPr>
          <a:xfrm>
            <a:off x="6388100" y="2044700"/>
            <a:ext cx="2159000" cy="330200"/>
          </a:xfrm>
          <a:prstGeom prst="rect">
            <a:avLst/>
          </a:prstGeom>
          <a:noFill/>
          <a:ln/>
        </p:spPr>
        <p:txBody>
          <a:bodyPr wrap="square" rtlCol="0" anchor="t"/>
          <a:lstStyle/>
          <a:p>
            <a:pPr indent="0" marL="0">
              <a:buNone/>
            </a:pPr>
            <a:r>
              <a:rPr lang="en-US" sz="1700" b="1" dirty="0">
                <a:solidFill>
                  <a:srgbClr val="16343A"/>
                </a:solidFill>
                <a:latin typeface="Calibri" pitchFamily="34" charset="0"/>
                <a:ea typeface="Calibri" pitchFamily="34" charset="-122"/>
                <a:cs typeface="Calibri" pitchFamily="34" charset="-120"/>
              </a:rPr>
              <a:t>90 days</a:t>
            </a:r>
            <a:endParaRPr lang="en-US" sz="1700" dirty="0"/>
          </a:p>
        </p:txBody>
      </p:sp>
      <p:sp>
        <p:nvSpPr>
          <p:cNvPr id="14" name="Shape 12"/>
          <p:cNvSpPr/>
          <p:nvPr/>
        </p:nvSpPr>
        <p:spPr>
          <a:xfrm>
            <a:off x="8928100" y="1727200"/>
            <a:ext cx="2565400" cy="749300"/>
          </a:xfrm>
          <a:prstGeom prst="roundRect">
            <a:avLst>
              <a:gd name="adj" fmla="val 17085"/>
            </a:avLst>
          </a:prstGeom>
          <a:solidFill>
            <a:srgbClr val="FFFFFF"/>
          </a:solidFill>
          <a:ln/>
        </p:spPr>
      </p:sp>
      <p:sp>
        <p:nvSpPr>
          <p:cNvPr id="15" name="Text 13"/>
          <p:cNvSpPr/>
          <p:nvPr/>
        </p:nvSpPr>
        <p:spPr>
          <a:xfrm>
            <a:off x="9131300" y="1866900"/>
            <a:ext cx="2159000" cy="177800"/>
          </a:xfrm>
          <a:prstGeom prst="rect">
            <a:avLst/>
          </a:prstGeom>
          <a:noFill/>
          <a:ln/>
        </p:spPr>
        <p:txBody>
          <a:bodyPr wrap="square" rtlCol="0" anchor="ctr"/>
          <a:lstStyle/>
          <a:p>
            <a:pPr indent="0" marL="0">
              <a:buNone/>
            </a:pPr>
            <a:r>
              <a:rPr lang="en-US" sz="850" b="1" spc="120" kern="0" dirty="0">
                <a:solidFill>
                  <a:srgbClr val="5C7678"/>
                </a:solidFill>
                <a:latin typeface="Calibri" pitchFamily="34" charset="0"/>
                <a:ea typeface="Calibri" pitchFamily="34" charset="-122"/>
                <a:cs typeface="Calibri" pitchFamily="34" charset="-120"/>
              </a:rPr>
              <a:t>NETWORK REFIT</a:t>
            </a:r>
            <a:endParaRPr lang="en-US" sz="850" dirty="0"/>
          </a:p>
        </p:txBody>
      </p:sp>
      <p:sp>
        <p:nvSpPr>
          <p:cNvPr id="16" name="Text 14"/>
          <p:cNvSpPr/>
          <p:nvPr/>
        </p:nvSpPr>
        <p:spPr>
          <a:xfrm>
            <a:off x="9131300" y="2044700"/>
            <a:ext cx="2159000" cy="330200"/>
          </a:xfrm>
          <a:prstGeom prst="rect">
            <a:avLst/>
          </a:prstGeom>
          <a:noFill/>
          <a:ln/>
        </p:spPr>
        <p:txBody>
          <a:bodyPr wrap="square" rtlCol="0" anchor="t"/>
          <a:lstStyle/>
          <a:p>
            <a:pPr indent="0" marL="0">
              <a:buNone/>
            </a:pPr>
            <a:r>
              <a:rPr lang="en-US" sz="1700" b="1" dirty="0">
                <a:solidFill>
                  <a:srgbClr val="16343A"/>
                </a:solidFill>
                <a:latin typeface="Calibri" pitchFamily="34" charset="0"/>
                <a:ea typeface="Calibri" pitchFamily="34" charset="-122"/>
                <a:cs typeface="Calibri" pitchFamily="34" charset="-120"/>
              </a:rPr>
              <a:t>180 days</a:t>
            </a:r>
            <a:endParaRPr lang="en-US" sz="1700" dirty="0"/>
          </a:p>
        </p:txBody>
      </p:sp>
      <p:sp>
        <p:nvSpPr>
          <p:cNvPr id="17" name="Shape 15"/>
          <p:cNvSpPr/>
          <p:nvPr/>
        </p:nvSpPr>
        <p:spPr>
          <a:xfrm>
            <a:off x="698500" y="2667000"/>
            <a:ext cx="10795000" cy="1054100"/>
          </a:xfrm>
          <a:prstGeom prst="roundRect">
            <a:avLst>
              <a:gd name="adj" fmla="val 12145"/>
            </a:avLst>
          </a:prstGeom>
          <a:solidFill>
            <a:srgbClr val="16343A"/>
          </a:solidFill>
          <a:ln/>
        </p:spPr>
      </p:sp>
      <p:sp>
        <p:nvSpPr>
          <p:cNvPr id="18" name="Text 16"/>
          <p:cNvSpPr/>
          <p:nvPr/>
        </p:nvSpPr>
        <p:spPr>
          <a:xfrm>
            <a:off x="1054100" y="2857500"/>
            <a:ext cx="3175000" cy="190500"/>
          </a:xfrm>
          <a:prstGeom prst="rect">
            <a:avLst/>
          </a:prstGeom>
          <a:noFill/>
          <a:ln/>
        </p:spPr>
        <p:txBody>
          <a:bodyPr wrap="square" rtlCol="0" anchor="ctr"/>
          <a:lstStyle/>
          <a:p>
            <a:pPr indent="0" marL="0">
              <a:buNone/>
            </a:pPr>
            <a:r>
              <a:rPr lang="en-US" sz="950" b="1" spc="140" kern="0" dirty="0">
                <a:solidFill>
                  <a:srgbClr val="F0A999"/>
                </a:solidFill>
                <a:latin typeface="Calibri" pitchFamily="34" charset="0"/>
                <a:ea typeface="Calibri" pitchFamily="34" charset="-122"/>
                <a:cs typeface="Calibri" pitchFamily="34" charset="-120"/>
              </a:rPr>
              <a:t>THE GOVERNING INVARIANT</a:t>
            </a:r>
            <a:endParaRPr lang="en-US" sz="950" dirty="0"/>
          </a:p>
        </p:txBody>
      </p:sp>
      <p:sp>
        <p:nvSpPr>
          <p:cNvPr id="19" name="Text 17"/>
          <p:cNvSpPr/>
          <p:nvPr/>
        </p:nvSpPr>
        <p:spPr>
          <a:xfrm>
            <a:off x="1054100" y="3098800"/>
            <a:ext cx="10096500" cy="571500"/>
          </a:xfrm>
          <a:prstGeom prst="rect">
            <a:avLst/>
          </a:prstGeom>
          <a:noFill/>
          <a:ln/>
        </p:spPr>
        <p:txBody>
          <a:bodyPr wrap="square" rtlCol="0" anchor="t"/>
          <a:lstStyle/>
          <a:p>
            <a:pPr indent="0" marL="0">
              <a:lnSpc>
                <a:spcPct val="140000"/>
              </a:lnSpc>
              <a:buNone/>
            </a:pPr>
            <a:r>
              <a:rPr lang="en-US" sz="1300" dirty="0">
                <a:solidFill>
                  <a:srgbClr val="FFFFFF"/>
                </a:solidFill>
                <a:latin typeface="Calibri" pitchFamily="34" charset="0"/>
                <a:ea typeface="Calibri" pitchFamily="34" charset="-122"/>
                <a:cs typeface="Calibri" pitchFamily="34" charset="-120"/>
              </a:rPr>
              <a:t>At origin t a model may use observations up to and including day t and nothing else — enforced by construction, and verified by corrupting the series from a chosen date and requiring that no earlier forecast changes.</a:t>
            </a:r>
            <a:endParaRPr lang="en-US" sz="1300" dirty="0"/>
          </a:p>
        </p:txBody>
      </p:sp>
      <p:sp>
        <p:nvSpPr>
          <p:cNvPr id="20" name="Shape 18"/>
          <p:cNvSpPr/>
          <p:nvPr/>
        </p:nvSpPr>
        <p:spPr>
          <a:xfrm>
            <a:off x="698500" y="3975100"/>
            <a:ext cx="3429000" cy="2222500"/>
          </a:xfrm>
          <a:prstGeom prst="roundRect">
            <a:avLst>
              <a:gd name="adj" fmla="val 5760"/>
            </a:avLst>
          </a:prstGeom>
          <a:solidFill>
            <a:srgbClr val="FFFFFF"/>
          </a:solidFill>
          <a:ln/>
          <a:effectLst>
            <a:outerShdw sx="100000" sy="100000" kx="0" ky="0" algn="bl" rotWithShape="0" blurRad="127000" dist="38100" dir="5400000">
              <a:srgbClr val="16343A">
                <a:alpha val="16000"/>
              </a:srgbClr>
            </a:outerShdw>
          </a:effectLst>
        </p:spPr>
      </p:sp>
      <p:sp>
        <p:nvSpPr>
          <p:cNvPr id="21" name="Text 19"/>
          <p:cNvSpPr/>
          <p:nvPr/>
        </p:nvSpPr>
        <p:spPr>
          <a:xfrm>
            <a:off x="990600" y="4203700"/>
            <a:ext cx="2857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ACCURACY</a:t>
            </a:r>
            <a:endParaRPr lang="en-US" sz="900" dirty="0"/>
          </a:p>
        </p:txBody>
      </p:sp>
      <p:sp>
        <p:nvSpPr>
          <p:cNvPr id="22" name="Text 20"/>
          <p:cNvSpPr/>
          <p:nvPr/>
        </p:nvSpPr>
        <p:spPr>
          <a:xfrm>
            <a:off x="990600" y="4470400"/>
            <a:ext cx="2857500" cy="279400"/>
          </a:xfrm>
          <a:prstGeom prst="rect">
            <a:avLst/>
          </a:prstGeom>
          <a:noFill/>
          <a:ln/>
        </p:spPr>
        <p:txBody>
          <a:bodyPr wrap="square" rtlCol="0" anchor="ctr"/>
          <a:lstStyle/>
          <a:p>
            <a:pPr indent="0" marL="0">
              <a:buNone/>
            </a:pPr>
            <a:r>
              <a:rPr lang="en-US" sz="1250" b="1" dirty="0">
                <a:solidFill>
                  <a:srgbClr val="16343A"/>
                </a:solidFill>
                <a:latin typeface="Calibri" pitchFamily="34" charset="0"/>
                <a:ea typeface="Calibri" pitchFamily="34" charset="-122"/>
                <a:cs typeface="Calibri" pitchFamily="34" charset="-120"/>
              </a:rPr>
              <a:t>rMAE against persistence</a:t>
            </a:r>
            <a:endParaRPr lang="en-US" sz="1250" dirty="0"/>
          </a:p>
        </p:txBody>
      </p:sp>
      <p:sp>
        <p:nvSpPr>
          <p:cNvPr id="23" name="Text 21"/>
          <p:cNvSpPr/>
          <p:nvPr/>
        </p:nvSpPr>
        <p:spPr>
          <a:xfrm>
            <a:off x="990600" y="4762500"/>
            <a:ext cx="2857500" cy="1270000"/>
          </a:xfrm>
          <a:prstGeom prst="rect">
            <a:avLst/>
          </a:prstGeom>
          <a:noFill/>
          <a:ln/>
        </p:spPr>
        <p:txBody>
          <a:bodyPr wrap="square" rtlCol="0" anchor="t"/>
          <a:lstStyle/>
          <a:p>
            <a:pPr indent="0" marL="0">
              <a:lnSpc>
                <a:spcPct val="150000"/>
              </a:lnSpc>
              <a:buNone/>
            </a:pPr>
            <a:r>
              <a:rPr lang="en-US" sz="1100" dirty="0">
                <a:solidFill>
                  <a:srgbClr val="5C7678"/>
                </a:solidFill>
                <a:latin typeface="Calibri" pitchFamily="34" charset="0"/>
                <a:ea typeface="Calibri" pitchFamily="34" charset="-122"/>
                <a:cs typeface="Calibri" pitchFamily="34" charset="-120"/>
              </a:rPr>
              <a:t>1.000 is persistence; below one beats it. MASE reported alongside, and never averaged across horizons — skill decays with horizon and concealing that would defeat the purpose.</a:t>
            </a:r>
            <a:endParaRPr lang="en-US" sz="1100" dirty="0"/>
          </a:p>
        </p:txBody>
      </p:sp>
      <p:sp>
        <p:nvSpPr>
          <p:cNvPr id="24" name="Shape 22"/>
          <p:cNvSpPr/>
          <p:nvPr/>
        </p:nvSpPr>
        <p:spPr>
          <a:xfrm>
            <a:off x="4381500" y="3975100"/>
            <a:ext cx="3429000" cy="2222500"/>
          </a:xfrm>
          <a:prstGeom prst="roundRect">
            <a:avLst>
              <a:gd name="adj" fmla="val 5760"/>
            </a:avLst>
          </a:prstGeom>
          <a:solidFill>
            <a:srgbClr val="FFFFFF"/>
          </a:solidFill>
          <a:ln/>
          <a:effectLst>
            <a:outerShdw sx="100000" sy="100000" kx="0" ky="0" algn="bl" rotWithShape="0" blurRad="127000" dist="38100" dir="5400000">
              <a:srgbClr val="16343A">
                <a:alpha val="16000"/>
              </a:srgbClr>
            </a:outerShdw>
          </a:effectLst>
        </p:spPr>
      </p:sp>
      <p:sp>
        <p:nvSpPr>
          <p:cNvPr id="25" name="Text 23"/>
          <p:cNvSpPr/>
          <p:nvPr/>
        </p:nvSpPr>
        <p:spPr>
          <a:xfrm>
            <a:off x="4673600" y="4203700"/>
            <a:ext cx="2857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AS A WARNING SYSTEM</a:t>
            </a:r>
            <a:endParaRPr lang="en-US" sz="900" dirty="0"/>
          </a:p>
        </p:txBody>
      </p:sp>
      <p:sp>
        <p:nvSpPr>
          <p:cNvPr id="26" name="Text 24"/>
          <p:cNvSpPr/>
          <p:nvPr/>
        </p:nvSpPr>
        <p:spPr>
          <a:xfrm>
            <a:off x="4673600" y="4470400"/>
            <a:ext cx="2857500" cy="279400"/>
          </a:xfrm>
          <a:prstGeom prst="rect">
            <a:avLst/>
          </a:prstGeom>
          <a:noFill/>
          <a:ln/>
        </p:spPr>
        <p:txBody>
          <a:bodyPr wrap="square" rtlCol="0" anchor="ctr"/>
          <a:lstStyle/>
          <a:p>
            <a:pPr indent="0" marL="0">
              <a:buNone/>
            </a:pPr>
            <a:r>
              <a:rPr lang="en-US" sz="1250" b="1" dirty="0">
                <a:solidFill>
                  <a:srgbClr val="16343A"/>
                </a:solidFill>
                <a:latin typeface="Calibri" pitchFamily="34" charset="0"/>
                <a:ea typeface="Calibri" pitchFamily="34" charset="-122"/>
                <a:cs typeface="Calibri" pitchFamily="34" charset="-120"/>
              </a:rPr>
              <a:t>Hit rate and false alarm rate</a:t>
            </a:r>
            <a:endParaRPr lang="en-US" sz="1250" dirty="0"/>
          </a:p>
        </p:txBody>
      </p:sp>
      <p:sp>
        <p:nvSpPr>
          <p:cNvPr id="27" name="Text 25"/>
          <p:cNvSpPr/>
          <p:nvPr/>
        </p:nvSpPr>
        <p:spPr>
          <a:xfrm>
            <a:off x="4673600" y="4762500"/>
            <a:ext cx="2857500" cy="1270000"/>
          </a:xfrm>
          <a:prstGeom prst="rect">
            <a:avLst/>
          </a:prstGeom>
          <a:noFill/>
          <a:ln/>
        </p:spPr>
        <p:txBody>
          <a:bodyPr wrap="square" rtlCol="0" anchor="t"/>
          <a:lstStyle/>
          <a:p>
            <a:pPr indent="0" marL="0">
              <a:lnSpc>
                <a:spcPct val="150000"/>
              </a:lnSpc>
              <a:buNone/>
            </a:pPr>
            <a:r>
              <a:rPr lang="en-US" sz="1100" dirty="0">
                <a:solidFill>
                  <a:srgbClr val="5C7678"/>
                </a:solidFill>
                <a:latin typeface="Calibri" pitchFamily="34" charset="0"/>
                <a:ea typeface="Calibri" pitchFamily="34" charset="-122"/>
                <a:cs typeface="Calibri" pitchFamily="34" charset="-120"/>
              </a:rPr>
              <a:t>With precision, the critical success index, and alarms raised per year. Plain accuracy is never reported: on a minority class it rewards never raising an alarm at all.</a:t>
            </a:r>
            <a:endParaRPr lang="en-US" sz="1100" dirty="0"/>
          </a:p>
        </p:txBody>
      </p:sp>
      <p:sp>
        <p:nvSpPr>
          <p:cNvPr id="28" name="Shape 26"/>
          <p:cNvSpPr/>
          <p:nvPr/>
        </p:nvSpPr>
        <p:spPr>
          <a:xfrm>
            <a:off x="8064500" y="3975100"/>
            <a:ext cx="3429000" cy="2222500"/>
          </a:xfrm>
          <a:prstGeom prst="roundRect">
            <a:avLst>
              <a:gd name="adj" fmla="val 5760"/>
            </a:avLst>
          </a:prstGeom>
          <a:solidFill>
            <a:srgbClr val="FFFFFF"/>
          </a:solidFill>
          <a:ln/>
          <a:effectLst>
            <a:outerShdw sx="100000" sy="100000" kx="0" ky="0" algn="bl" rotWithShape="0" blurRad="127000" dist="38100" dir="5400000">
              <a:srgbClr val="16343A">
                <a:alpha val="16000"/>
              </a:srgbClr>
            </a:outerShdw>
          </a:effectLst>
        </p:spPr>
      </p:sp>
      <p:sp>
        <p:nvSpPr>
          <p:cNvPr id="29" name="Text 27"/>
          <p:cNvSpPr/>
          <p:nvPr/>
        </p:nvSpPr>
        <p:spPr>
          <a:xfrm>
            <a:off x="8356600" y="4203700"/>
            <a:ext cx="2857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SIGNIFICANCE</a:t>
            </a:r>
            <a:endParaRPr lang="en-US" sz="900" dirty="0"/>
          </a:p>
        </p:txBody>
      </p:sp>
      <p:sp>
        <p:nvSpPr>
          <p:cNvPr id="30" name="Text 28"/>
          <p:cNvSpPr/>
          <p:nvPr/>
        </p:nvSpPr>
        <p:spPr>
          <a:xfrm>
            <a:off x="8356600" y="4470400"/>
            <a:ext cx="2857500" cy="279400"/>
          </a:xfrm>
          <a:prstGeom prst="rect">
            <a:avLst/>
          </a:prstGeom>
          <a:noFill/>
          <a:ln/>
        </p:spPr>
        <p:txBody>
          <a:bodyPr wrap="square" rtlCol="0" anchor="ctr"/>
          <a:lstStyle/>
          <a:p>
            <a:pPr indent="0" marL="0">
              <a:buNone/>
            </a:pPr>
            <a:r>
              <a:rPr lang="en-US" sz="1250" b="1" dirty="0">
                <a:solidFill>
                  <a:srgbClr val="16343A"/>
                </a:solidFill>
                <a:latin typeface="Calibri" pitchFamily="34" charset="0"/>
                <a:ea typeface="Calibri" pitchFamily="34" charset="-122"/>
                <a:cs typeface="Calibri" pitchFamily="34" charset="-120"/>
              </a:rPr>
              <a:t>Diebold-Mariano test</a:t>
            </a:r>
            <a:endParaRPr lang="en-US" sz="1250" dirty="0"/>
          </a:p>
        </p:txBody>
      </p:sp>
      <p:sp>
        <p:nvSpPr>
          <p:cNvPr id="31" name="Text 29"/>
          <p:cNvSpPr/>
          <p:nvPr/>
        </p:nvSpPr>
        <p:spPr>
          <a:xfrm>
            <a:off x="8356600" y="4762500"/>
            <a:ext cx="2857500" cy="1270000"/>
          </a:xfrm>
          <a:prstGeom prst="rect">
            <a:avLst/>
          </a:prstGeom>
          <a:noFill/>
          <a:ln/>
        </p:spPr>
        <p:txBody>
          <a:bodyPr wrap="square" rtlCol="0" anchor="t"/>
          <a:lstStyle/>
          <a:p>
            <a:pPr indent="0" marL="0">
              <a:lnSpc>
                <a:spcPct val="150000"/>
              </a:lnSpc>
              <a:buNone/>
            </a:pPr>
            <a:r>
              <a:rPr lang="en-US" sz="1100" dirty="0">
                <a:solidFill>
                  <a:srgbClr val="5C7678"/>
                </a:solidFill>
                <a:latin typeface="Calibri" pitchFamily="34" charset="0"/>
                <a:ea typeface="Calibri" pitchFamily="34" charset="-122"/>
                <a:cs typeface="Calibri" pitchFamily="34" charset="-120"/>
              </a:rPr>
              <a:t>With the Harvey-Leybourne-Newbold small-sample correction. Run each network against ARIMA once per seed, and ARIMA against every machine learning regressor.</a:t>
            </a:r>
            <a:endParaRPr lang="en-US" sz="11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93000" y="952500"/>
            <a:ext cx="4445000" cy="3556000"/>
          </a:xfrm>
          <a:prstGeom prst="rect">
            <a:avLst/>
          </a:prstGeom>
          <a:noFill/>
          <a:ln/>
        </p:spPr>
        <p:txBody>
          <a:bodyPr wrap="square" rtlCol="0" anchor="t"/>
          <a:lstStyle/>
          <a:p>
            <a:pPr algn="r" indent="0" marL="0">
              <a:buNone/>
            </a:pPr>
            <a:r>
              <a:rPr lang="en-US" sz="20000" b="1" dirty="0">
                <a:solidFill>
                  <a:srgbClr val="1E4850"/>
                </a:solidFill>
                <a:latin typeface="Calibri" pitchFamily="34" charset="0"/>
                <a:ea typeface="Calibri" pitchFamily="34" charset="-122"/>
                <a:cs typeface="Calibri" pitchFamily="34" charset="-120"/>
              </a:rPr>
              <a:t>04</a:t>
            </a:r>
            <a:endParaRPr lang="en-US" sz="20000" dirty="0"/>
          </a:p>
        </p:txBody>
      </p:sp>
      <p:sp>
        <p:nvSpPr>
          <p:cNvPr id="3" name="Shape 1"/>
          <p:cNvSpPr/>
          <p:nvPr/>
        </p:nvSpPr>
        <p:spPr>
          <a:xfrm>
            <a:off x="0" y="6300269"/>
            <a:ext cx="287020" cy="557731"/>
          </a:xfrm>
          <a:prstGeom prst="rect">
            <a:avLst/>
          </a:prstGeom>
          <a:solidFill>
            <a:srgbClr val="E35D45">
              <a:alpha val="78000"/>
            </a:srgbClr>
          </a:solidFill>
          <a:ln/>
        </p:spPr>
      </p:sp>
      <p:sp>
        <p:nvSpPr>
          <p:cNvPr id="4" name="Shape 2"/>
          <p:cNvSpPr/>
          <p:nvPr/>
        </p:nvSpPr>
        <p:spPr>
          <a:xfrm>
            <a:off x="304800" y="6379539"/>
            <a:ext cx="287020" cy="478461"/>
          </a:xfrm>
          <a:prstGeom prst="rect">
            <a:avLst/>
          </a:prstGeom>
          <a:solidFill>
            <a:srgbClr val="E35D45">
              <a:alpha val="78000"/>
            </a:srgbClr>
          </a:solidFill>
          <a:ln/>
        </p:spPr>
      </p:sp>
      <p:sp>
        <p:nvSpPr>
          <p:cNvPr id="5" name="Shape 3"/>
          <p:cNvSpPr/>
          <p:nvPr/>
        </p:nvSpPr>
        <p:spPr>
          <a:xfrm>
            <a:off x="609600" y="6328244"/>
            <a:ext cx="287020" cy="529756"/>
          </a:xfrm>
          <a:prstGeom prst="rect">
            <a:avLst/>
          </a:prstGeom>
          <a:solidFill>
            <a:srgbClr val="E35D45">
              <a:alpha val="78000"/>
            </a:srgbClr>
          </a:solidFill>
          <a:ln/>
        </p:spPr>
      </p:sp>
      <p:sp>
        <p:nvSpPr>
          <p:cNvPr id="6" name="Shape 4"/>
          <p:cNvSpPr/>
          <p:nvPr/>
        </p:nvSpPr>
        <p:spPr>
          <a:xfrm>
            <a:off x="914400" y="6398183"/>
            <a:ext cx="287020" cy="459817"/>
          </a:xfrm>
          <a:prstGeom prst="rect">
            <a:avLst/>
          </a:prstGeom>
          <a:solidFill>
            <a:srgbClr val="E35D45">
              <a:alpha val="78000"/>
            </a:srgbClr>
          </a:solidFill>
          <a:ln/>
        </p:spPr>
      </p:sp>
      <p:sp>
        <p:nvSpPr>
          <p:cNvPr id="7" name="Shape 5"/>
          <p:cNvSpPr/>
          <p:nvPr/>
        </p:nvSpPr>
        <p:spPr>
          <a:xfrm>
            <a:off x="1219200" y="6401503"/>
            <a:ext cx="287020" cy="456497"/>
          </a:xfrm>
          <a:prstGeom prst="rect">
            <a:avLst/>
          </a:prstGeom>
          <a:solidFill>
            <a:srgbClr val="E35D45">
              <a:alpha val="78000"/>
            </a:srgbClr>
          </a:solidFill>
          <a:ln/>
        </p:spPr>
      </p:sp>
      <p:sp>
        <p:nvSpPr>
          <p:cNvPr id="8" name="Shape 6"/>
          <p:cNvSpPr/>
          <p:nvPr/>
        </p:nvSpPr>
        <p:spPr>
          <a:xfrm>
            <a:off x="1524000" y="6558426"/>
            <a:ext cx="287020" cy="299574"/>
          </a:xfrm>
          <a:prstGeom prst="rect">
            <a:avLst/>
          </a:prstGeom>
          <a:solidFill>
            <a:srgbClr val="2F5F67">
              <a:alpha val="50000"/>
            </a:srgbClr>
          </a:solidFill>
          <a:ln/>
        </p:spPr>
      </p:sp>
      <p:sp>
        <p:nvSpPr>
          <p:cNvPr id="9" name="Shape 7"/>
          <p:cNvSpPr/>
          <p:nvPr/>
        </p:nvSpPr>
        <p:spPr>
          <a:xfrm>
            <a:off x="1828800" y="6536388"/>
            <a:ext cx="287020" cy="321612"/>
          </a:xfrm>
          <a:prstGeom prst="rect">
            <a:avLst/>
          </a:prstGeom>
          <a:solidFill>
            <a:srgbClr val="E35D45">
              <a:alpha val="78000"/>
            </a:srgbClr>
          </a:solidFill>
          <a:ln/>
        </p:spPr>
      </p:sp>
      <p:sp>
        <p:nvSpPr>
          <p:cNvPr id="10" name="Shape 8"/>
          <p:cNvSpPr/>
          <p:nvPr/>
        </p:nvSpPr>
        <p:spPr>
          <a:xfrm>
            <a:off x="2133600" y="6554642"/>
            <a:ext cx="287020" cy="303358"/>
          </a:xfrm>
          <a:prstGeom prst="rect">
            <a:avLst/>
          </a:prstGeom>
          <a:solidFill>
            <a:srgbClr val="2F5F67">
              <a:alpha val="50000"/>
            </a:srgbClr>
          </a:solidFill>
          <a:ln/>
        </p:spPr>
      </p:sp>
      <p:sp>
        <p:nvSpPr>
          <p:cNvPr id="11" name="Shape 9"/>
          <p:cNvSpPr/>
          <p:nvPr/>
        </p:nvSpPr>
        <p:spPr>
          <a:xfrm>
            <a:off x="2438400" y="6558426"/>
            <a:ext cx="287020" cy="299574"/>
          </a:xfrm>
          <a:prstGeom prst="rect">
            <a:avLst/>
          </a:prstGeom>
          <a:solidFill>
            <a:srgbClr val="2F5F67">
              <a:alpha val="50000"/>
            </a:srgbClr>
          </a:solidFill>
          <a:ln/>
        </p:spPr>
      </p:sp>
      <p:sp>
        <p:nvSpPr>
          <p:cNvPr id="12" name="Shape 10"/>
          <p:cNvSpPr/>
          <p:nvPr/>
        </p:nvSpPr>
        <p:spPr>
          <a:xfrm>
            <a:off x="2743200" y="6508074"/>
            <a:ext cx="287020" cy="349926"/>
          </a:xfrm>
          <a:prstGeom prst="rect">
            <a:avLst/>
          </a:prstGeom>
          <a:solidFill>
            <a:srgbClr val="E35D45">
              <a:alpha val="78000"/>
            </a:srgbClr>
          </a:solidFill>
          <a:ln/>
        </p:spPr>
      </p:sp>
      <p:sp>
        <p:nvSpPr>
          <p:cNvPr id="13" name="Shape 11"/>
          <p:cNvSpPr/>
          <p:nvPr/>
        </p:nvSpPr>
        <p:spPr>
          <a:xfrm>
            <a:off x="3048000" y="6612881"/>
            <a:ext cx="287020" cy="245119"/>
          </a:xfrm>
          <a:prstGeom prst="rect">
            <a:avLst/>
          </a:prstGeom>
          <a:solidFill>
            <a:srgbClr val="2F5F67">
              <a:alpha val="50000"/>
            </a:srgbClr>
          </a:solidFill>
          <a:ln/>
        </p:spPr>
      </p:sp>
      <p:sp>
        <p:nvSpPr>
          <p:cNvPr id="14" name="Shape 12"/>
          <p:cNvSpPr/>
          <p:nvPr/>
        </p:nvSpPr>
        <p:spPr>
          <a:xfrm>
            <a:off x="3352800" y="6639106"/>
            <a:ext cx="287020" cy="218894"/>
          </a:xfrm>
          <a:prstGeom prst="rect">
            <a:avLst/>
          </a:prstGeom>
          <a:solidFill>
            <a:srgbClr val="2F5F67">
              <a:alpha val="50000"/>
            </a:srgbClr>
          </a:solidFill>
          <a:ln/>
        </p:spPr>
      </p:sp>
      <p:sp>
        <p:nvSpPr>
          <p:cNvPr id="15" name="Shape 13"/>
          <p:cNvSpPr/>
          <p:nvPr/>
        </p:nvSpPr>
        <p:spPr>
          <a:xfrm>
            <a:off x="3657600" y="6670957"/>
            <a:ext cx="287020" cy="187043"/>
          </a:xfrm>
          <a:prstGeom prst="rect">
            <a:avLst/>
          </a:prstGeom>
          <a:solidFill>
            <a:srgbClr val="2F5F67">
              <a:alpha val="50000"/>
            </a:srgbClr>
          </a:solidFill>
          <a:ln/>
        </p:spPr>
      </p:sp>
      <p:sp>
        <p:nvSpPr>
          <p:cNvPr id="16" name="Shape 14"/>
          <p:cNvSpPr/>
          <p:nvPr/>
        </p:nvSpPr>
        <p:spPr>
          <a:xfrm>
            <a:off x="3962400" y="6673001"/>
            <a:ext cx="287020" cy="184999"/>
          </a:xfrm>
          <a:prstGeom prst="rect">
            <a:avLst/>
          </a:prstGeom>
          <a:solidFill>
            <a:srgbClr val="2F5F67">
              <a:alpha val="50000"/>
            </a:srgbClr>
          </a:solidFill>
          <a:ln/>
        </p:spPr>
      </p:sp>
      <p:sp>
        <p:nvSpPr>
          <p:cNvPr id="17" name="Shape 15"/>
          <p:cNvSpPr/>
          <p:nvPr/>
        </p:nvSpPr>
        <p:spPr>
          <a:xfrm>
            <a:off x="4267200" y="6659132"/>
            <a:ext cx="287020" cy="198868"/>
          </a:xfrm>
          <a:prstGeom prst="rect">
            <a:avLst/>
          </a:prstGeom>
          <a:solidFill>
            <a:srgbClr val="2F5F67">
              <a:alpha val="50000"/>
            </a:srgbClr>
          </a:solidFill>
          <a:ln/>
        </p:spPr>
      </p:sp>
      <p:sp>
        <p:nvSpPr>
          <p:cNvPr id="18" name="Shape 16"/>
          <p:cNvSpPr/>
          <p:nvPr/>
        </p:nvSpPr>
        <p:spPr>
          <a:xfrm>
            <a:off x="4572000" y="6627266"/>
            <a:ext cx="287020" cy="230734"/>
          </a:xfrm>
          <a:prstGeom prst="rect">
            <a:avLst/>
          </a:prstGeom>
          <a:solidFill>
            <a:srgbClr val="2F5F67">
              <a:alpha val="50000"/>
            </a:srgbClr>
          </a:solidFill>
          <a:ln/>
        </p:spPr>
      </p:sp>
      <p:sp>
        <p:nvSpPr>
          <p:cNvPr id="19" name="Shape 17"/>
          <p:cNvSpPr/>
          <p:nvPr/>
        </p:nvSpPr>
        <p:spPr>
          <a:xfrm>
            <a:off x="4876800" y="6586388"/>
            <a:ext cx="287020" cy="271612"/>
          </a:xfrm>
          <a:prstGeom prst="rect">
            <a:avLst/>
          </a:prstGeom>
          <a:solidFill>
            <a:srgbClr val="2F5F67">
              <a:alpha val="50000"/>
            </a:srgbClr>
          </a:solidFill>
          <a:ln/>
        </p:spPr>
      </p:sp>
      <p:sp>
        <p:nvSpPr>
          <p:cNvPr id="20" name="Shape 18"/>
          <p:cNvSpPr/>
          <p:nvPr/>
        </p:nvSpPr>
        <p:spPr>
          <a:xfrm>
            <a:off x="5181600" y="6321113"/>
            <a:ext cx="287020" cy="536887"/>
          </a:xfrm>
          <a:prstGeom prst="rect">
            <a:avLst/>
          </a:prstGeom>
          <a:solidFill>
            <a:srgbClr val="E35D45">
              <a:alpha val="78000"/>
            </a:srgbClr>
          </a:solidFill>
          <a:ln/>
        </p:spPr>
      </p:sp>
      <p:sp>
        <p:nvSpPr>
          <p:cNvPr id="21" name="Shape 19"/>
          <p:cNvSpPr/>
          <p:nvPr/>
        </p:nvSpPr>
        <p:spPr>
          <a:xfrm>
            <a:off x="5486400" y="6440669"/>
            <a:ext cx="287020" cy="417331"/>
          </a:xfrm>
          <a:prstGeom prst="rect">
            <a:avLst/>
          </a:prstGeom>
          <a:solidFill>
            <a:srgbClr val="E35D45">
              <a:alpha val="78000"/>
            </a:srgbClr>
          </a:solidFill>
          <a:ln/>
        </p:spPr>
      </p:sp>
      <p:sp>
        <p:nvSpPr>
          <p:cNvPr id="22" name="Shape 20"/>
          <p:cNvSpPr/>
          <p:nvPr/>
        </p:nvSpPr>
        <p:spPr>
          <a:xfrm>
            <a:off x="5791200" y="6446172"/>
            <a:ext cx="287020" cy="411828"/>
          </a:xfrm>
          <a:prstGeom prst="rect">
            <a:avLst/>
          </a:prstGeom>
          <a:solidFill>
            <a:srgbClr val="E35D45">
              <a:alpha val="78000"/>
            </a:srgbClr>
          </a:solidFill>
          <a:ln/>
        </p:spPr>
      </p:sp>
      <p:sp>
        <p:nvSpPr>
          <p:cNvPr id="23" name="Shape 21"/>
          <p:cNvSpPr/>
          <p:nvPr/>
        </p:nvSpPr>
        <p:spPr>
          <a:xfrm>
            <a:off x="6096000" y="6381131"/>
            <a:ext cx="287020" cy="476869"/>
          </a:xfrm>
          <a:prstGeom prst="rect">
            <a:avLst/>
          </a:prstGeom>
          <a:solidFill>
            <a:srgbClr val="E35D45">
              <a:alpha val="78000"/>
            </a:srgbClr>
          </a:solidFill>
          <a:ln/>
        </p:spPr>
      </p:sp>
      <p:sp>
        <p:nvSpPr>
          <p:cNvPr id="24" name="Shape 22"/>
          <p:cNvSpPr/>
          <p:nvPr/>
        </p:nvSpPr>
        <p:spPr>
          <a:xfrm>
            <a:off x="6400800" y="6273632"/>
            <a:ext cx="287020" cy="584368"/>
          </a:xfrm>
          <a:prstGeom prst="rect">
            <a:avLst/>
          </a:prstGeom>
          <a:solidFill>
            <a:srgbClr val="E35D45">
              <a:alpha val="78000"/>
            </a:srgbClr>
          </a:solidFill>
          <a:ln/>
        </p:spPr>
      </p:sp>
      <p:sp>
        <p:nvSpPr>
          <p:cNvPr id="25" name="Shape 23"/>
          <p:cNvSpPr/>
          <p:nvPr/>
        </p:nvSpPr>
        <p:spPr>
          <a:xfrm>
            <a:off x="6705600" y="6492136"/>
            <a:ext cx="287020" cy="365864"/>
          </a:xfrm>
          <a:prstGeom prst="rect">
            <a:avLst/>
          </a:prstGeom>
          <a:solidFill>
            <a:srgbClr val="E35D45">
              <a:alpha val="78000"/>
            </a:srgbClr>
          </a:solidFill>
          <a:ln/>
        </p:spPr>
      </p:sp>
      <p:sp>
        <p:nvSpPr>
          <p:cNvPr id="26" name="Shape 24"/>
          <p:cNvSpPr/>
          <p:nvPr/>
        </p:nvSpPr>
        <p:spPr>
          <a:xfrm>
            <a:off x="7010400" y="6559698"/>
            <a:ext cx="287020" cy="298302"/>
          </a:xfrm>
          <a:prstGeom prst="rect">
            <a:avLst/>
          </a:prstGeom>
          <a:solidFill>
            <a:srgbClr val="2F5F67">
              <a:alpha val="50000"/>
            </a:srgbClr>
          </a:solidFill>
          <a:ln/>
        </p:spPr>
      </p:sp>
      <p:sp>
        <p:nvSpPr>
          <p:cNvPr id="27" name="Shape 25"/>
          <p:cNvSpPr/>
          <p:nvPr/>
        </p:nvSpPr>
        <p:spPr>
          <a:xfrm>
            <a:off x="7315200" y="6578114"/>
            <a:ext cx="287020" cy="279886"/>
          </a:xfrm>
          <a:prstGeom prst="rect">
            <a:avLst/>
          </a:prstGeom>
          <a:solidFill>
            <a:srgbClr val="2F5F67">
              <a:alpha val="50000"/>
            </a:srgbClr>
          </a:solidFill>
          <a:ln/>
        </p:spPr>
      </p:sp>
      <p:sp>
        <p:nvSpPr>
          <p:cNvPr id="28" name="Shape 26"/>
          <p:cNvSpPr/>
          <p:nvPr/>
        </p:nvSpPr>
        <p:spPr>
          <a:xfrm>
            <a:off x="7620000" y="6544774"/>
            <a:ext cx="287020" cy="313226"/>
          </a:xfrm>
          <a:prstGeom prst="rect">
            <a:avLst/>
          </a:prstGeom>
          <a:solidFill>
            <a:srgbClr val="E35D45">
              <a:alpha val="78000"/>
            </a:srgbClr>
          </a:solidFill>
          <a:ln/>
        </p:spPr>
      </p:sp>
      <p:sp>
        <p:nvSpPr>
          <p:cNvPr id="29" name="Shape 27"/>
          <p:cNvSpPr/>
          <p:nvPr/>
        </p:nvSpPr>
        <p:spPr>
          <a:xfrm>
            <a:off x="7924800" y="6594922"/>
            <a:ext cx="287020" cy="263078"/>
          </a:xfrm>
          <a:prstGeom prst="rect">
            <a:avLst/>
          </a:prstGeom>
          <a:solidFill>
            <a:srgbClr val="2F5F67">
              <a:alpha val="50000"/>
            </a:srgbClr>
          </a:solidFill>
          <a:ln/>
        </p:spPr>
      </p:sp>
      <p:sp>
        <p:nvSpPr>
          <p:cNvPr id="30" name="Shape 28"/>
          <p:cNvSpPr/>
          <p:nvPr/>
        </p:nvSpPr>
        <p:spPr>
          <a:xfrm>
            <a:off x="8229600" y="6647972"/>
            <a:ext cx="287020" cy="210028"/>
          </a:xfrm>
          <a:prstGeom prst="rect">
            <a:avLst/>
          </a:prstGeom>
          <a:solidFill>
            <a:srgbClr val="2F5F67">
              <a:alpha val="50000"/>
            </a:srgbClr>
          </a:solidFill>
          <a:ln/>
        </p:spPr>
      </p:sp>
      <p:sp>
        <p:nvSpPr>
          <p:cNvPr id="31" name="Shape 29"/>
          <p:cNvSpPr/>
          <p:nvPr/>
        </p:nvSpPr>
        <p:spPr>
          <a:xfrm>
            <a:off x="8534400" y="6683581"/>
            <a:ext cx="287020" cy="174419"/>
          </a:xfrm>
          <a:prstGeom prst="rect">
            <a:avLst/>
          </a:prstGeom>
          <a:solidFill>
            <a:srgbClr val="2F5F67">
              <a:alpha val="50000"/>
            </a:srgbClr>
          </a:solidFill>
          <a:ln/>
        </p:spPr>
      </p:sp>
      <p:sp>
        <p:nvSpPr>
          <p:cNvPr id="32" name="Shape 30"/>
          <p:cNvSpPr/>
          <p:nvPr/>
        </p:nvSpPr>
        <p:spPr>
          <a:xfrm>
            <a:off x="8839200" y="6697194"/>
            <a:ext cx="287020" cy="160806"/>
          </a:xfrm>
          <a:prstGeom prst="rect">
            <a:avLst/>
          </a:prstGeom>
          <a:solidFill>
            <a:srgbClr val="2F5F67">
              <a:alpha val="50000"/>
            </a:srgbClr>
          </a:solidFill>
          <a:ln/>
        </p:spPr>
      </p:sp>
      <p:sp>
        <p:nvSpPr>
          <p:cNvPr id="33" name="Shape 31"/>
          <p:cNvSpPr/>
          <p:nvPr/>
        </p:nvSpPr>
        <p:spPr>
          <a:xfrm>
            <a:off x="9144000" y="6668935"/>
            <a:ext cx="287020" cy="189065"/>
          </a:xfrm>
          <a:prstGeom prst="rect">
            <a:avLst/>
          </a:prstGeom>
          <a:solidFill>
            <a:srgbClr val="2F5F67">
              <a:alpha val="50000"/>
            </a:srgbClr>
          </a:solidFill>
          <a:ln/>
        </p:spPr>
      </p:sp>
      <p:sp>
        <p:nvSpPr>
          <p:cNvPr id="34" name="Shape 32"/>
          <p:cNvSpPr/>
          <p:nvPr/>
        </p:nvSpPr>
        <p:spPr>
          <a:xfrm>
            <a:off x="9448800" y="6659132"/>
            <a:ext cx="287020" cy="198868"/>
          </a:xfrm>
          <a:prstGeom prst="rect">
            <a:avLst/>
          </a:prstGeom>
          <a:solidFill>
            <a:srgbClr val="2F5F67">
              <a:alpha val="50000"/>
            </a:srgbClr>
          </a:solidFill>
          <a:ln/>
        </p:spPr>
      </p:sp>
      <p:sp>
        <p:nvSpPr>
          <p:cNvPr id="35" name="Shape 33"/>
          <p:cNvSpPr/>
          <p:nvPr/>
        </p:nvSpPr>
        <p:spPr>
          <a:xfrm>
            <a:off x="9753600" y="6623993"/>
            <a:ext cx="287020" cy="234007"/>
          </a:xfrm>
          <a:prstGeom prst="rect">
            <a:avLst/>
          </a:prstGeom>
          <a:solidFill>
            <a:srgbClr val="2F5F67">
              <a:alpha val="50000"/>
            </a:srgbClr>
          </a:solidFill>
          <a:ln/>
        </p:spPr>
      </p:sp>
      <p:sp>
        <p:nvSpPr>
          <p:cNvPr id="36" name="Shape 34"/>
          <p:cNvSpPr/>
          <p:nvPr/>
        </p:nvSpPr>
        <p:spPr>
          <a:xfrm>
            <a:off x="10058400" y="6535208"/>
            <a:ext cx="287020" cy="322792"/>
          </a:xfrm>
          <a:prstGeom prst="rect">
            <a:avLst/>
          </a:prstGeom>
          <a:solidFill>
            <a:srgbClr val="E35D45">
              <a:alpha val="78000"/>
            </a:srgbClr>
          </a:solidFill>
          <a:ln/>
        </p:spPr>
      </p:sp>
      <p:sp>
        <p:nvSpPr>
          <p:cNvPr id="37" name="Shape 35"/>
          <p:cNvSpPr/>
          <p:nvPr/>
        </p:nvSpPr>
        <p:spPr>
          <a:xfrm>
            <a:off x="10363200" y="6336199"/>
            <a:ext cx="287020" cy="521801"/>
          </a:xfrm>
          <a:prstGeom prst="rect">
            <a:avLst/>
          </a:prstGeom>
          <a:solidFill>
            <a:srgbClr val="E35D45">
              <a:alpha val="78000"/>
            </a:srgbClr>
          </a:solidFill>
          <a:ln/>
        </p:spPr>
      </p:sp>
      <p:sp>
        <p:nvSpPr>
          <p:cNvPr id="38" name="Shape 36"/>
          <p:cNvSpPr/>
          <p:nvPr/>
        </p:nvSpPr>
        <p:spPr>
          <a:xfrm>
            <a:off x="10668000" y="6345761"/>
            <a:ext cx="287020" cy="512239"/>
          </a:xfrm>
          <a:prstGeom prst="rect">
            <a:avLst/>
          </a:prstGeom>
          <a:solidFill>
            <a:srgbClr val="E35D45">
              <a:alpha val="78000"/>
            </a:srgbClr>
          </a:solidFill>
          <a:ln/>
        </p:spPr>
      </p:sp>
      <p:sp>
        <p:nvSpPr>
          <p:cNvPr id="39" name="Shape 37"/>
          <p:cNvSpPr/>
          <p:nvPr/>
        </p:nvSpPr>
        <p:spPr>
          <a:xfrm>
            <a:off x="10972800" y="6437040"/>
            <a:ext cx="287020" cy="420960"/>
          </a:xfrm>
          <a:prstGeom prst="rect">
            <a:avLst/>
          </a:prstGeom>
          <a:solidFill>
            <a:srgbClr val="E35D45">
              <a:alpha val="78000"/>
            </a:srgbClr>
          </a:solidFill>
          <a:ln/>
        </p:spPr>
      </p:sp>
      <p:sp>
        <p:nvSpPr>
          <p:cNvPr id="40" name="Shape 38"/>
          <p:cNvSpPr/>
          <p:nvPr/>
        </p:nvSpPr>
        <p:spPr>
          <a:xfrm>
            <a:off x="11277600" y="6347248"/>
            <a:ext cx="287020" cy="510752"/>
          </a:xfrm>
          <a:prstGeom prst="rect">
            <a:avLst/>
          </a:prstGeom>
          <a:solidFill>
            <a:srgbClr val="E35D45">
              <a:alpha val="78000"/>
            </a:srgbClr>
          </a:solidFill>
          <a:ln/>
        </p:spPr>
      </p:sp>
      <p:sp>
        <p:nvSpPr>
          <p:cNvPr id="41" name="Shape 39"/>
          <p:cNvSpPr/>
          <p:nvPr/>
        </p:nvSpPr>
        <p:spPr>
          <a:xfrm>
            <a:off x="11582400" y="6266517"/>
            <a:ext cx="287020" cy="591483"/>
          </a:xfrm>
          <a:prstGeom prst="rect">
            <a:avLst/>
          </a:prstGeom>
          <a:solidFill>
            <a:srgbClr val="E35D45">
              <a:alpha val="78000"/>
            </a:srgbClr>
          </a:solidFill>
          <a:ln/>
        </p:spPr>
      </p:sp>
      <p:sp>
        <p:nvSpPr>
          <p:cNvPr id="42" name="Shape 40"/>
          <p:cNvSpPr/>
          <p:nvPr/>
        </p:nvSpPr>
        <p:spPr>
          <a:xfrm>
            <a:off x="11887200" y="6323954"/>
            <a:ext cx="287020" cy="534046"/>
          </a:xfrm>
          <a:prstGeom prst="rect">
            <a:avLst/>
          </a:prstGeom>
          <a:solidFill>
            <a:srgbClr val="E35D45">
              <a:alpha val="78000"/>
            </a:srgbClr>
          </a:solidFill>
          <a:ln/>
        </p:spPr>
      </p:sp>
      <p:sp>
        <p:nvSpPr>
          <p:cNvPr id="43" name="Shape 41"/>
          <p:cNvSpPr/>
          <p:nvPr/>
        </p:nvSpPr>
        <p:spPr>
          <a:xfrm>
            <a:off x="0" y="6546850"/>
            <a:ext cx="12192000" cy="12700"/>
          </a:xfrm>
          <a:prstGeom prst="rect">
            <a:avLst/>
          </a:prstGeom>
          <a:solidFill>
            <a:srgbClr val="F0A999">
              <a:alpha val="50000"/>
            </a:srgbClr>
          </a:solidFill>
          <a:ln/>
        </p:spPr>
      </p:sp>
      <p:sp>
        <p:nvSpPr>
          <p:cNvPr id="44" name="Text 42"/>
          <p:cNvSpPr/>
          <p:nvPr/>
        </p:nvSpPr>
        <p:spPr>
          <a:xfrm>
            <a:off x="889000" y="2527300"/>
            <a:ext cx="5715000" cy="228600"/>
          </a:xfrm>
          <a:prstGeom prst="rect">
            <a:avLst/>
          </a:prstGeom>
          <a:noFill/>
          <a:ln/>
        </p:spPr>
        <p:txBody>
          <a:bodyPr wrap="square" rtlCol="0" anchor="ctr"/>
          <a:lstStyle/>
          <a:p>
            <a:pPr indent="0" marL="0">
              <a:buNone/>
            </a:pPr>
            <a:r>
              <a:rPr lang="en-US" sz="1100" b="1" spc="180" kern="0" dirty="0">
                <a:solidFill>
                  <a:srgbClr val="E35D45"/>
                </a:solidFill>
                <a:latin typeface="Calibri" pitchFamily="34" charset="0"/>
                <a:ea typeface="Calibri" pitchFamily="34" charset="-122"/>
                <a:cs typeface="Calibri" pitchFamily="34" charset="-120"/>
              </a:rPr>
              <a:t>CHAPTER 04 OF 06</a:t>
            </a:r>
            <a:endParaRPr lang="en-US" sz="1100" dirty="0"/>
          </a:p>
        </p:txBody>
      </p:sp>
      <p:sp>
        <p:nvSpPr>
          <p:cNvPr id="45" name="Text 43"/>
          <p:cNvSpPr/>
          <p:nvPr/>
        </p:nvSpPr>
        <p:spPr>
          <a:xfrm>
            <a:off x="889000" y="2794000"/>
            <a:ext cx="6350000" cy="762000"/>
          </a:xfrm>
          <a:prstGeom prst="rect">
            <a:avLst/>
          </a:prstGeom>
          <a:noFill/>
          <a:ln/>
        </p:spPr>
        <p:txBody>
          <a:bodyPr wrap="square"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Results</a:t>
            </a:r>
            <a:endParaRPr lang="en-US" sz="4600" dirty="0"/>
          </a:p>
        </p:txBody>
      </p:sp>
      <p:sp>
        <p:nvSpPr>
          <p:cNvPr id="46" name="Text 44"/>
          <p:cNvSpPr/>
          <p:nvPr/>
        </p:nvSpPr>
        <p:spPr>
          <a:xfrm>
            <a:off x="889000" y="3683000"/>
            <a:ext cx="5461000" cy="635000"/>
          </a:xfrm>
          <a:prstGeom prst="rect">
            <a:avLst/>
          </a:prstGeom>
          <a:noFill/>
          <a:ln/>
        </p:spPr>
        <p:txBody>
          <a:bodyPr wrap="square" rtlCol="0" anchor="t"/>
          <a:lstStyle/>
          <a:p>
            <a:pPr indent="0" marL="0">
              <a:lnSpc>
                <a:spcPct val="140000"/>
              </a:lnSpc>
              <a:buNone/>
            </a:pPr>
            <a:r>
              <a:rPr lang="en-US" sz="1500" dirty="0">
                <a:solidFill>
                  <a:srgbClr val="AFC6C8"/>
                </a:solidFill>
                <a:latin typeface="Calibri" pitchFamily="34" charset="0"/>
                <a:ea typeface="Calibri" pitchFamily="34" charset="-122"/>
                <a:cs typeface="Calibri" pitchFamily="34" charset="-120"/>
              </a:rPr>
              <a:t>Three research questions answered — and the one that turns out to dominate the other two.</a:t>
            </a:r>
            <a:endParaRPr lang="en-US" sz="1500" dirty="0"/>
          </a:p>
        </p:txBody>
      </p:sp>
      <p:sp>
        <p:nvSpPr>
          <p:cNvPr id="47" name="Shape 45"/>
          <p:cNvSpPr/>
          <p:nvPr/>
        </p:nvSpPr>
        <p:spPr>
          <a:xfrm>
            <a:off x="889000" y="4445000"/>
            <a:ext cx="546100" cy="44450"/>
          </a:xfrm>
          <a:prstGeom prst="roundRect">
            <a:avLst>
              <a:gd name="adj" fmla="val 41143"/>
            </a:avLst>
          </a:prstGeom>
          <a:solidFill>
            <a:srgbClr val="2F5F67"/>
          </a:solidFill>
          <a:ln/>
        </p:spPr>
      </p:sp>
      <p:sp>
        <p:nvSpPr>
          <p:cNvPr id="48" name="Shape 46"/>
          <p:cNvSpPr/>
          <p:nvPr/>
        </p:nvSpPr>
        <p:spPr>
          <a:xfrm>
            <a:off x="1498600" y="4445000"/>
            <a:ext cx="546100" cy="44450"/>
          </a:xfrm>
          <a:prstGeom prst="roundRect">
            <a:avLst>
              <a:gd name="adj" fmla="val 41143"/>
            </a:avLst>
          </a:prstGeom>
          <a:solidFill>
            <a:srgbClr val="2F5F67"/>
          </a:solidFill>
          <a:ln/>
        </p:spPr>
      </p:sp>
      <p:sp>
        <p:nvSpPr>
          <p:cNvPr id="49" name="Shape 47"/>
          <p:cNvSpPr/>
          <p:nvPr/>
        </p:nvSpPr>
        <p:spPr>
          <a:xfrm>
            <a:off x="2108200" y="4445000"/>
            <a:ext cx="546100" cy="44450"/>
          </a:xfrm>
          <a:prstGeom prst="roundRect">
            <a:avLst>
              <a:gd name="adj" fmla="val 41143"/>
            </a:avLst>
          </a:prstGeom>
          <a:solidFill>
            <a:srgbClr val="2F5F67"/>
          </a:solidFill>
          <a:ln/>
        </p:spPr>
      </p:sp>
      <p:sp>
        <p:nvSpPr>
          <p:cNvPr id="50" name="Shape 48"/>
          <p:cNvSpPr/>
          <p:nvPr/>
        </p:nvSpPr>
        <p:spPr>
          <a:xfrm>
            <a:off x="2717800" y="4445000"/>
            <a:ext cx="546100" cy="44450"/>
          </a:xfrm>
          <a:prstGeom prst="roundRect">
            <a:avLst>
              <a:gd name="adj" fmla="val 41143"/>
            </a:avLst>
          </a:prstGeom>
          <a:solidFill>
            <a:srgbClr val="E35D45"/>
          </a:solidFill>
          <a:ln/>
        </p:spPr>
      </p:sp>
      <p:sp>
        <p:nvSpPr>
          <p:cNvPr id="51" name="Shape 49"/>
          <p:cNvSpPr/>
          <p:nvPr/>
        </p:nvSpPr>
        <p:spPr>
          <a:xfrm>
            <a:off x="3327400" y="4445000"/>
            <a:ext cx="546100" cy="44450"/>
          </a:xfrm>
          <a:prstGeom prst="roundRect">
            <a:avLst>
              <a:gd name="adj" fmla="val 41143"/>
            </a:avLst>
          </a:prstGeom>
          <a:solidFill>
            <a:srgbClr val="2F5F67"/>
          </a:solidFill>
          <a:ln/>
        </p:spPr>
      </p:sp>
      <p:sp>
        <p:nvSpPr>
          <p:cNvPr id="52" name="Shape 50"/>
          <p:cNvSpPr/>
          <p:nvPr/>
        </p:nvSpPr>
        <p:spPr>
          <a:xfrm>
            <a:off x="3937000" y="4445000"/>
            <a:ext cx="546100" cy="44450"/>
          </a:xfrm>
          <a:prstGeom prst="roundRect">
            <a:avLst>
              <a:gd name="adj" fmla="val 41143"/>
            </a:avLst>
          </a:prstGeom>
          <a:solidFill>
            <a:srgbClr val="2F5F67"/>
          </a:solidFill>
          <a:ln/>
        </p:spPr>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7E9A9C"/>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RESULTS · RQ1</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Forecast accuracy</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27200"/>
            <a:ext cx="10795000" cy="2590800"/>
          </a:xfrm>
          <a:prstGeom prst="roundRect">
            <a:avLst>
              <a:gd name="adj" fmla="val 4941"/>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52500" y="1905000"/>
            <a:ext cx="5715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RELATIVE MAE AT ONE DAY AHEAD — LOWER IS BETTER</a:t>
            </a:r>
            <a:endParaRPr lang="en-US" sz="900" dirty="0"/>
          </a:p>
        </p:txBody>
      </p:sp>
      <p:sp>
        <p:nvSpPr>
          <p:cNvPr id="7" name="Shape 5"/>
          <p:cNvSpPr/>
          <p:nvPr/>
        </p:nvSpPr>
        <p:spPr>
          <a:xfrm>
            <a:off x="3740150" y="2019300"/>
            <a:ext cx="12700" cy="1866900"/>
          </a:xfrm>
          <a:prstGeom prst="rect">
            <a:avLst/>
          </a:prstGeom>
          <a:solidFill>
            <a:srgbClr val="EDF1F1"/>
          </a:solidFill>
          <a:ln/>
        </p:spPr>
      </p:sp>
      <p:sp>
        <p:nvSpPr>
          <p:cNvPr id="8" name="Shape 6"/>
          <p:cNvSpPr/>
          <p:nvPr/>
        </p:nvSpPr>
        <p:spPr>
          <a:xfrm>
            <a:off x="5537200" y="2019300"/>
            <a:ext cx="12700" cy="1866900"/>
          </a:xfrm>
          <a:prstGeom prst="rect">
            <a:avLst/>
          </a:prstGeom>
          <a:solidFill>
            <a:srgbClr val="EDF1F1"/>
          </a:solidFill>
          <a:ln/>
        </p:spPr>
      </p:sp>
      <p:sp>
        <p:nvSpPr>
          <p:cNvPr id="9" name="Shape 7"/>
          <p:cNvSpPr/>
          <p:nvPr/>
        </p:nvSpPr>
        <p:spPr>
          <a:xfrm>
            <a:off x="7334250" y="2019300"/>
            <a:ext cx="12700" cy="1866900"/>
          </a:xfrm>
          <a:prstGeom prst="rect">
            <a:avLst/>
          </a:prstGeom>
          <a:solidFill>
            <a:srgbClr val="EDF1F1"/>
          </a:solidFill>
          <a:ln/>
        </p:spPr>
      </p:sp>
      <p:sp>
        <p:nvSpPr>
          <p:cNvPr id="10" name="Shape 8"/>
          <p:cNvSpPr/>
          <p:nvPr/>
        </p:nvSpPr>
        <p:spPr>
          <a:xfrm>
            <a:off x="10922000" y="2019300"/>
            <a:ext cx="12700" cy="1866900"/>
          </a:xfrm>
          <a:prstGeom prst="rect">
            <a:avLst/>
          </a:prstGeom>
          <a:solidFill>
            <a:srgbClr val="EDF1F1"/>
          </a:solidFill>
          <a:ln/>
        </p:spPr>
      </p:sp>
      <p:sp>
        <p:nvSpPr>
          <p:cNvPr id="11" name="Shape 9"/>
          <p:cNvSpPr/>
          <p:nvPr/>
        </p:nvSpPr>
        <p:spPr>
          <a:xfrm>
            <a:off x="9124950" y="1981200"/>
            <a:ext cx="12700" cy="1930400"/>
          </a:xfrm>
          <a:prstGeom prst="rect">
            <a:avLst/>
          </a:prstGeom>
          <a:solidFill>
            <a:srgbClr val="B9C6C6"/>
          </a:solidFill>
          <a:ln/>
        </p:spPr>
      </p:sp>
      <p:sp>
        <p:nvSpPr>
          <p:cNvPr id="12" name="Text 10"/>
          <p:cNvSpPr/>
          <p:nvPr/>
        </p:nvSpPr>
        <p:spPr>
          <a:xfrm>
            <a:off x="952500" y="2070100"/>
            <a:ext cx="1587500" cy="165100"/>
          </a:xfrm>
          <a:prstGeom prst="rect">
            <a:avLst/>
          </a:prstGeom>
          <a:noFill/>
          <a:ln/>
        </p:spPr>
        <p:txBody>
          <a:bodyPr wrap="square" lIns="0" tIns="0" rIns="0" bIns="0" rtlCol="0" anchor="ctr"/>
          <a:lstStyle/>
          <a:p>
            <a:pPr algn="r" indent="0" marL="0">
              <a:buNone/>
            </a:pPr>
            <a:r>
              <a:rPr lang="en-US" sz="950" b="1" dirty="0">
                <a:solidFill>
                  <a:srgbClr val="16343A"/>
                </a:solidFill>
                <a:latin typeface="Calibri" pitchFamily="34" charset="0"/>
                <a:ea typeface="Calibri" pitchFamily="34" charset="-122"/>
                <a:cs typeface="Calibri" pitchFamily="34" charset="-120"/>
              </a:rPr>
              <a:t>Transformer, 10 seeds</a:t>
            </a:r>
            <a:endParaRPr lang="en-US" sz="950" dirty="0"/>
          </a:p>
        </p:txBody>
      </p:sp>
      <p:sp>
        <p:nvSpPr>
          <p:cNvPr id="13" name="Shape 11"/>
          <p:cNvSpPr/>
          <p:nvPr/>
        </p:nvSpPr>
        <p:spPr>
          <a:xfrm>
            <a:off x="6038850" y="2108200"/>
            <a:ext cx="393700" cy="88900"/>
          </a:xfrm>
          <a:prstGeom prst="roundRect">
            <a:avLst>
              <a:gd name="adj" fmla="val 51429"/>
            </a:avLst>
          </a:prstGeom>
          <a:solidFill>
            <a:srgbClr val="E35D45"/>
          </a:solidFill>
          <a:ln/>
        </p:spPr>
      </p:sp>
      <p:sp>
        <p:nvSpPr>
          <p:cNvPr id="14" name="Text 12"/>
          <p:cNvSpPr/>
          <p:nvPr/>
        </p:nvSpPr>
        <p:spPr>
          <a:xfrm>
            <a:off x="952500" y="2266950"/>
            <a:ext cx="1587500" cy="165100"/>
          </a:xfrm>
          <a:prstGeom prst="rect">
            <a:avLst/>
          </a:prstGeom>
          <a:noFill/>
          <a:ln/>
        </p:spPr>
        <p:txBody>
          <a:bodyPr wrap="square" lIns="0" tIns="0" rIns="0" bIns="0" rtlCol="0" anchor="ctr"/>
          <a:lstStyle/>
          <a:p>
            <a:pPr algn="r" indent="0" marL="0">
              <a:buNone/>
            </a:pPr>
            <a:r>
              <a:rPr lang="en-US" sz="950" b="1" dirty="0">
                <a:solidFill>
                  <a:srgbClr val="16343A"/>
                </a:solidFill>
                <a:latin typeface="Calibri" pitchFamily="34" charset="0"/>
                <a:ea typeface="Calibri" pitchFamily="34" charset="-122"/>
                <a:cs typeface="Calibri" pitchFamily="34" charset="-120"/>
              </a:rPr>
              <a:t>LSTM, 10 seeds</a:t>
            </a:r>
            <a:endParaRPr lang="en-US" sz="950" dirty="0"/>
          </a:p>
        </p:txBody>
      </p:sp>
      <p:sp>
        <p:nvSpPr>
          <p:cNvPr id="15" name="Shape 13"/>
          <p:cNvSpPr/>
          <p:nvPr/>
        </p:nvSpPr>
        <p:spPr>
          <a:xfrm>
            <a:off x="6007100" y="2305050"/>
            <a:ext cx="679450" cy="88900"/>
          </a:xfrm>
          <a:prstGeom prst="roundRect">
            <a:avLst>
              <a:gd name="adj" fmla="val 51429"/>
            </a:avLst>
          </a:prstGeom>
          <a:solidFill>
            <a:srgbClr val="E35D45"/>
          </a:solidFill>
          <a:ln/>
        </p:spPr>
      </p:sp>
      <p:sp>
        <p:nvSpPr>
          <p:cNvPr id="16" name="Text 14"/>
          <p:cNvSpPr/>
          <p:nvPr/>
        </p:nvSpPr>
        <p:spPr>
          <a:xfrm>
            <a:off x="952500" y="2463800"/>
            <a:ext cx="1587500" cy="165100"/>
          </a:xfrm>
          <a:prstGeom prst="rect">
            <a:avLst/>
          </a:prstGeom>
          <a:noFill/>
          <a:ln/>
        </p:spPr>
        <p:txBody>
          <a:bodyPr wrap="square" lIns="0" tIns="0" rIns="0" bIns="0" rtlCol="0" anchor="ctr"/>
          <a:lstStyle/>
          <a:p>
            <a:pPr algn="r" indent="0" marL="0">
              <a:buNone/>
            </a:pPr>
            <a:r>
              <a:rPr lang="en-US" sz="950" b="1" dirty="0">
                <a:solidFill>
                  <a:srgbClr val="16343A"/>
                </a:solidFill>
                <a:latin typeface="Calibri" pitchFamily="34" charset="0"/>
                <a:ea typeface="Calibri" pitchFamily="34" charset="-122"/>
                <a:cs typeface="Calibri" pitchFamily="34" charset="-120"/>
              </a:rPr>
              <a:t>GRU, 10 seeds</a:t>
            </a:r>
            <a:endParaRPr lang="en-US" sz="950" dirty="0"/>
          </a:p>
        </p:txBody>
      </p:sp>
      <p:sp>
        <p:nvSpPr>
          <p:cNvPr id="17" name="Shape 15"/>
          <p:cNvSpPr/>
          <p:nvPr/>
        </p:nvSpPr>
        <p:spPr>
          <a:xfrm>
            <a:off x="5899150" y="2501900"/>
            <a:ext cx="1041400" cy="88900"/>
          </a:xfrm>
          <a:prstGeom prst="roundRect">
            <a:avLst>
              <a:gd name="adj" fmla="val 51429"/>
            </a:avLst>
          </a:prstGeom>
          <a:solidFill>
            <a:srgbClr val="E35D45"/>
          </a:solidFill>
          <a:ln/>
        </p:spPr>
      </p:sp>
      <p:sp>
        <p:nvSpPr>
          <p:cNvPr id="18" name="Text 16"/>
          <p:cNvSpPr/>
          <p:nvPr/>
        </p:nvSpPr>
        <p:spPr>
          <a:xfrm>
            <a:off x="952500" y="2660650"/>
            <a:ext cx="1587500" cy="165100"/>
          </a:xfrm>
          <a:prstGeom prst="rect">
            <a:avLst/>
          </a:prstGeom>
          <a:noFill/>
          <a:ln/>
        </p:spPr>
        <p:txBody>
          <a:bodyPr wrap="square" lIns="0" tIns="0" rIns="0" bIns="0" rtlCol="0" anchor="ctr"/>
          <a:lstStyle/>
          <a:p>
            <a:pPr algn="r" indent="0" marL="0">
              <a:buNone/>
            </a:pPr>
            <a:r>
              <a:rPr lang="en-US" sz="950" dirty="0">
                <a:solidFill>
                  <a:srgbClr val="5C7678"/>
                </a:solidFill>
                <a:latin typeface="Calibri" pitchFamily="34" charset="0"/>
                <a:ea typeface="Calibri" pitchFamily="34" charset="-122"/>
                <a:cs typeface="Calibri" pitchFamily="34" charset="-120"/>
              </a:rPr>
              <a:t>ARIMA + Fourier</a:t>
            </a:r>
            <a:endParaRPr lang="en-US" sz="950" dirty="0"/>
          </a:p>
        </p:txBody>
      </p:sp>
      <p:sp>
        <p:nvSpPr>
          <p:cNvPr id="19" name="Shape 17"/>
          <p:cNvSpPr/>
          <p:nvPr/>
        </p:nvSpPr>
        <p:spPr>
          <a:xfrm>
            <a:off x="6921500" y="2692400"/>
            <a:ext cx="101600" cy="101600"/>
          </a:xfrm>
          <a:prstGeom prst="ellipse">
            <a:avLst/>
          </a:prstGeom>
          <a:solidFill>
            <a:srgbClr val="16343A"/>
          </a:solidFill>
          <a:ln/>
        </p:spPr>
      </p:sp>
      <p:sp>
        <p:nvSpPr>
          <p:cNvPr id="20" name="Text 18"/>
          <p:cNvSpPr/>
          <p:nvPr/>
        </p:nvSpPr>
        <p:spPr>
          <a:xfrm>
            <a:off x="952500" y="2857500"/>
            <a:ext cx="1587500" cy="165100"/>
          </a:xfrm>
          <a:prstGeom prst="rect">
            <a:avLst/>
          </a:prstGeom>
          <a:noFill/>
          <a:ln/>
        </p:spPr>
        <p:txBody>
          <a:bodyPr wrap="square" lIns="0" tIns="0" rIns="0" bIns="0" rtlCol="0" anchor="ctr"/>
          <a:lstStyle/>
          <a:p>
            <a:pPr algn="r" indent="0" marL="0">
              <a:buNone/>
            </a:pPr>
            <a:r>
              <a:rPr lang="en-US" sz="950" dirty="0">
                <a:solidFill>
                  <a:srgbClr val="5C7678"/>
                </a:solidFill>
                <a:latin typeface="Calibri" pitchFamily="34" charset="0"/>
                <a:ea typeface="Calibri" pitchFamily="34" charset="-122"/>
                <a:cs typeface="Calibri" pitchFamily="34" charset="-120"/>
              </a:rPr>
              <a:t>Random forest (change)</a:t>
            </a:r>
            <a:endParaRPr lang="en-US" sz="950" dirty="0"/>
          </a:p>
        </p:txBody>
      </p:sp>
      <p:sp>
        <p:nvSpPr>
          <p:cNvPr id="21" name="Shape 19"/>
          <p:cNvSpPr/>
          <p:nvPr/>
        </p:nvSpPr>
        <p:spPr>
          <a:xfrm>
            <a:off x="7931150" y="2889250"/>
            <a:ext cx="101600" cy="101600"/>
          </a:xfrm>
          <a:prstGeom prst="ellipse">
            <a:avLst/>
          </a:prstGeom>
          <a:solidFill>
            <a:srgbClr val="16343A"/>
          </a:solidFill>
          <a:ln/>
        </p:spPr>
      </p:sp>
      <p:sp>
        <p:nvSpPr>
          <p:cNvPr id="22" name="Text 20"/>
          <p:cNvSpPr/>
          <p:nvPr/>
        </p:nvSpPr>
        <p:spPr>
          <a:xfrm>
            <a:off x="952500" y="3054350"/>
            <a:ext cx="1587500" cy="165100"/>
          </a:xfrm>
          <a:prstGeom prst="rect">
            <a:avLst/>
          </a:prstGeom>
          <a:noFill/>
          <a:ln/>
        </p:spPr>
        <p:txBody>
          <a:bodyPr wrap="square" lIns="0" tIns="0" rIns="0" bIns="0" rtlCol="0" anchor="ctr"/>
          <a:lstStyle/>
          <a:p>
            <a:pPr algn="r" indent="0" marL="0">
              <a:buNone/>
            </a:pPr>
            <a:r>
              <a:rPr lang="en-US" sz="950" dirty="0">
                <a:solidFill>
                  <a:srgbClr val="5C7678"/>
                </a:solidFill>
                <a:latin typeface="Calibri" pitchFamily="34" charset="0"/>
                <a:ea typeface="Calibri" pitchFamily="34" charset="-122"/>
                <a:cs typeface="Calibri" pitchFamily="34" charset="-120"/>
              </a:rPr>
              <a:t>Gradient boosting (change)</a:t>
            </a:r>
            <a:endParaRPr lang="en-US" sz="950" dirty="0"/>
          </a:p>
        </p:txBody>
      </p:sp>
      <p:sp>
        <p:nvSpPr>
          <p:cNvPr id="23" name="Shape 21"/>
          <p:cNvSpPr/>
          <p:nvPr/>
        </p:nvSpPr>
        <p:spPr>
          <a:xfrm>
            <a:off x="8464550" y="3086100"/>
            <a:ext cx="101600" cy="101600"/>
          </a:xfrm>
          <a:prstGeom prst="ellipse">
            <a:avLst/>
          </a:prstGeom>
          <a:solidFill>
            <a:srgbClr val="16343A"/>
          </a:solidFill>
          <a:ln/>
        </p:spPr>
      </p:sp>
      <p:sp>
        <p:nvSpPr>
          <p:cNvPr id="24" name="Text 22"/>
          <p:cNvSpPr/>
          <p:nvPr/>
        </p:nvSpPr>
        <p:spPr>
          <a:xfrm>
            <a:off x="952500" y="3251200"/>
            <a:ext cx="1587500" cy="165100"/>
          </a:xfrm>
          <a:prstGeom prst="rect">
            <a:avLst/>
          </a:prstGeom>
          <a:noFill/>
          <a:ln/>
        </p:spPr>
        <p:txBody>
          <a:bodyPr wrap="square" lIns="0" tIns="0" rIns="0" bIns="0" rtlCol="0" anchor="ctr"/>
          <a:lstStyle/>
          <a:p>
            <a:pPr algn="r" indent="0" marL="0">
              <a:buNone/>
            </a:pPr>
            <a:r>
              <a:rPr lang="en-US" sz="950" dirty="0">
                <a:solidFill>
                  <a:srgbClr val="5C7678"/>
                </a:solidFill>
                <a:latin typeface="Calibri" pitchFamily="34" charset="0"/>
                <a:ea typeface="Calibri" pitchFamily="34" charset="-122"/>
                <a:cs typeface="Calibri" pitchFamily="34" charset="-120"/>
              </a:rPr>
              <a:t>Random forest (level)</a:t>
            </a:r>
            <a:endParaRPr lang="en-US" sz="950" dirty="0"/>
          </a:p>
        </p:txBody>
      </p:sp>
      <p:sp>
        <p:nvSpPr>
          <p:cNvPr id="25" name="Shape 23"/>
          <p:cNvSpPr/>
          <p:nvPr/>
        </p:nvSpPr>
        <p:spPr>
          <a:xfrm>
            <a:off x="8648700" y="3282950"/>
            <a:ext cx="101600" cy="101600"/>
          </a:xfrm>
          <a:prstGeom prst="ellipse">
            <a:avLst/>
          </a:prstGeom>
          <a:solidFill>
            <a:srgbClr val="16343A"/>
          </a:solidFill>
          <a:ln/>
        </p:spPr>
      </p:sp>
      <p:sp>
        <p:nvSpPr>
          <p:cNvPr id="26" name="Text 24"/>
          <p:cNvSpPr/>
          <p:nvPr/>
        </p:nvSpPr>
        <p:spPr>
          <a:xfrm>
            <a:off x="952500" y="3448050"/>
            <a:ext cx="1587500" cy="165100"/>
          </a:xfrm>
          <a:prstGeom prst="rect">
            <a:avLst/>
          </a:prstGeom>
          <a:noFill/>
          <a:ln/>
        </p:spPr>
        <p:txBody>
          <a:bodyPr wrap="square" lIns="0" tIns="0" rIns="0" bIns="0" rtlCol="0" anchor="ctr"/>
          <a:lstStyle/>
          <a:p>
            <a:pPr algn="r" indent="0" marL="0">
              <a:buNone/>
            </a:pPr>
            <a:r>
              <a:rPr lang="en-US" sz="950" dirty="0">
                <a:solidFill>
                  <a:srgbClr val="5C7678"/>
                </a:solidFill>
                <a:latin typeface="Calibri" pitchFamily="34" charset="0"/>
                <a:ea typeface="Calibri" pitchFamily="34" charset="-122"/>
                <a:cs typeface="Calibri" pitchFamily="34" charset="-120"/>
              </a:rPr>
              <a:t>Ridge regression</a:t>
            </a:r>
            <a:endParaRPr lang="en-US" sz="950" dirty="0"/>
          </a:p>
        </p:txBody>
      </p:sp>
      <p:sp>
        <p:nvSpPr>
          <p:cNvPr id="27" name="Shape 25"/>
          <p:cNvSpPr/>
          <p:nvPr/>
        </p:nvSpPr>
        <p:spPr>
          <a:xfrm>
            <a:off x="8966200" y="3479800"/>
            <a:ext cx="101600" cy="101600"/>
          </a:xfrm>
          <a:prstGeom prst="ellipse">
            <a:avLst/>
          </a:prstGeom>
          <a:solidFill>
            <a:srgbClr val="16343A"/>
          </a:solidFill>
          <a:ln/>
        </p:spPr>
      </p:sp>
      <p:sp>
        <p:nvSpPr>
          <p:cNvPr id="28" name="Text 26"/>
          <p:cNvSpPr/>
          <p:nvPr/>
        </p:nvSpPr>
        <p:spPr>
          <a:xfrm>
            <a:off x="952500" y="3644900"/>
            <a:ext cx="1587500" cy="165100"/>
          </a:xfrm>
          <a:prstGeom prst="rect">
            <a:avLst/>
          </a:prstGeom>
          <a:noFill/>
          <a:ln/>
        </p:spPr>
        <p:txBody>
          <a:bodyPr wrap="square" lIns="0" tIns="0" rIns="0" bIns="0" rtlCol="0" anchor="ctr"/>
          <a:lstStyle/>
          <a:p>
            <a:pPr algn="r" indent="0" marL="0">
              <a:buNone/>
            </a:pPr>
            <a:r>
              <a:rPr lang="en-US" sz="950" dirty="0">
                <a:solidFill>
                  <a:srgbClr val="5C7678"/>
                </a:solidFill>
                <a:latin typeface="Calibri" pitchFamily="34" charset="0"/>
                <a:ea typeface="Calibri" pitchFamily="34" charset="-122"/>
                <a:cs typeface="Calibri" pitchFamily="34" charset="-120"/>
              </a:rPr>
              <a:t>Persistence</a:t>
            </a:r>
            <a:endParaRPr lang="en-US" sz="950" dirty="0"/>
          </a:p>
        </p:txBody>
      </p:sp>
      <p:sp>
        <p:nvSpPr>
          <p:cNvPr id="29" name="Shape 27"/>
          <p:cNvSpPr/>
          <p:nvPr/>
        </p:nvSpPr>
        <p:spPr>
          <a:xfrm>
            <a:off x="9074150" y="3676650"/>
            <a:ext cx="101600" cy="101600"/>
          </a:xfrm>
          <a:prstGeom prst="ellipse">
            <a:avLst/>
          </a:prstGeom>
          <a:solidFill>
            <a:srgbClr val="8FA3A4"/>
          </a:solidFill>
          <a:ln/>
        </p:spPr>
      </p:sp>
      <p:sp>
        <p:nvSpPr>
          <p:cNvPr id="30" name="Text 28"/>
          <p:cNvSpPr/>
          <p:nvPr/>
        </p:nvSpPr>
        <p:spPr>
          <a:xfrm>
            <a:off x="952500" y="3841750"/>
            <a:ext cx="1587500" cy="165100"/>
          </a:xfrm>
          <a:prstGeom prst="rect">
            <a:avLst/>
          </a:prstGeom>
          <a:noFill/>
          <a:ln/>
        </p:spPr>
        <p:txBody>
          <a:bodyPr wrap="square" lIns="0" tIns="0" rIns="0" bIns="0" rtlCol="0" anchor="ctr"/>
          <a:lstStyle/>
          <a:p>
            <a:pPr algn="r" indent="0" marL="0">
              <a:buNone/>
            </a:pPr>
            <a:r>
              <a:rPr lang="en-US" sz="950" dirty="0">
                <a:solidFill>
                  <a:srgbClr val="5C7678"/>
                </a:solidFill>
                <a:latin typeface="Calibri" pitchFamily="34" charset="0"/>
                <a:ea typeface="Calibri" pitchFamily="34" charset="-122"/>
                <a:cs typeface="Calibri" pitchFamily="34" charset="-120"/>
              </a:rPr>
              <a:t>Gradient boosting (level)</a:t>
            </a:r>
            <a:endParaRPr lang="en-US" sz="950" dirty="0"/>
          </a:p>
        </p:txBody>
      </p:sp>
      <p:sp>
        <p:nvSpPr>
          <p:cNvPr id="31" name="Shape 29"/>
          <p:cNvSpPr/>
          <p:nvPr/>
        </p:nvSpPr>
        <p:spPr>
          <a:xfrm>
            <a:off x="9366250" y="3873500"/>
            <a:ext cx="101600" cy="101600"/>
          </a:xfrm>
          <a:prstGeom prst="ellipse">
            <a:avLst/>
          </a:prstGeom>
          <a:solidFill>
            <a:srgbClr val="16343A"/>
          </a:solidFill>
          <a:ln/>
        </p:spPr>
      </p:sp>
      <p:sp>
        <p:nvSpPr>
          <p:cNvPr id="32" name="Text 30"/>
          <p:cNvSpPr/>
          <p:nvPr/>
        </p:nvSpPr>
        <p:spPr>
          <a:xfrm>
            <a:off x="3359150" y="4000500"/>
            <a:ext cx="762000" cy="177800"/>
          </a:xfrm>
          <a:prstGeom prst="rect">
            <a:avLst/>
          </a:prstGeom>
          <a:noFill/>
          <a:ln/>
        </p:spPr>
        <p:txBody>
          <a:bodyPr wrap="square" rtlCol="0" anchor="ctr"/>
          <a:lstStyle/>
          <a:p>
            <a:pPr algn="ctr" indent="0" marL="0">
              <a:buNone/>
            </a:pPr>
            <a:r>
              <a:rPr lang="en-US" sz="900" dirty="0">
                <a:solidFill>
                  <a:srgbClr val="8FA3A4"/>
                </a:solidFill>
                <a:latin typeface="Calibri" pitchFamily="34" charset="0"/>
                <a:ea typeface="Calibri" pitchFamily="34" charset="-122"/>
                <a:cs typeface="Calibri" pitchFamily="34" charset="-120"/>
              </a:rPr>
              <a:t>0.85</a:t>
            </a:r>
            <a:endParaRPr lang="en-US" sz="900" dirty="0"/>
          </a:p>
        </p:txBody>
      </p:sp>
      <p:sp>
        <p:nvSpPr>
          <p:cNvPr id="33" name="Text 31"/>
          <p:cNvSpPr/>
          <p:nvPr/>
        </p:nvSpPr>
        <p:spPr>
          <a:xfrm>
            <a:off x="5156200" y="4000500"/>
            <a:ext cx="762000" cy="177800"/>
          </a:xfrm>
          <a:prstGeom prst="rect">
            <a:avLst/>
          </a:prstGeom>
          <a:noFill/>
          <a:ln/>
        </p:spPr>
        <p:txBody>
          <a:bodyPr wrap="square" rtlCol="0" anchor="ctr"/>
          <a:lstStyle/>
          <a:p>
            <a:pPr algn="ctr" indent="0" marL="0">
              <a:buNone/>
            </a:pPr>
            <a:r>
              <a:rPr lang="en-US" sz="900" dirty="0">
                <a:solidFill>
                  <a:srgbClr val="8FA3A4"/>
                </a:solidFill>
                <a:latin typeface="Calibri" pitchFamily="34" charset="0"/>
                <a:ea typeface="Calibri" pitchFamily="34" charset="-122"/>
                <a:cs typeface="Calibri" pitchFamily="34" charset="-120"/>
              </a:rPr>
              <a:t>0.90</a:t>
            </a:r>
            <a:endParaRPr lang="en-US" sz="900" dirty="0"/>
          </a:p>
        </p:txBody>
      </p:sp>
      <p:sp>
        <p:nvSpPr>
          <p:cNvPr id="34" name="Text 32"/>
          <p:cNvSpPr/>
          <p:nvPr/>
        </p:nvSpPr>
        <p:spPr>
          <a:xfrm>
            <a:off x="6953250" y="4000500"/>
            <a:ext cx="762000" cy="177800"/>
          </a:xfrm>
          <a:prstGeom prst="rect">
            <a:avLst/>
          </a:prstGeom>
          <a:noFill/>
          <a:ln/>
        </p:spPr>
        <p:txBody>
          <a:bodyPr wrap="square" rtlCol="0" anchor="ctr"/>
          <a:lstStyle/>
          <a:p>
            <a:pPr algn="ctr" indent="0" marL="0">
              <a:buNone/>
            </a:pPr>
            <a:r>
              <a:rPr lang="en-US" sz="900" dirty="0">
                <a:solidFill>
                  <a:srgbClr val="8FA3A4"/>
                </a:solidFill>
                <a:latin typeface="Calibri" pitchFamily="34" charset="0"/>
                <a:ea typeface="Calibri" pitchFamily="34" charset="-122"/>
                <a:cs typeface="Calibri" pitchFamily="34" charset="-120"/>
              </a:rPr>
              <a:t>0.95</a:t>
            </a:r>
            <a:endParaRPr lang="en-US" sz="900" dirty="0"/>
          </a:p>
        </p:txBody>
      </p:sp>
      <p:sp>
        <p:nvSpPr>
          <p:cNvPr id="35" name="Text 33"/>
          <p:cNvSpPr/>
          <p:nvPr/>
        </p:nvSpPr>
        <p:spPr>
          <a:xfrm>
            <a:off x="8743950" y="4000500"/>
            <a:ext cx="762000" cy="177800"/>
          </a:xfrm>
          <a:prstGeom prst="rect">
            <a:avLst/>
          </a:prstGeom>
          <a:noFill/>
          <a:ln/>
        </p:spPr>
        <p:txBody>
          <a:bodyPr wrap="square" rtlCol="0" anchor="ctr"/>
          <a:lstStyle/>
          <a:p>
            <a:pPr algn="ctr" indent="0" marL="0">
              <a:buNone/>
            </a:pPr>
            <a:r>
              <a:rPr lang="en-US" sz="900" b="1" dirty="0">
                <a:solidFill>
                  <a:srgbClr val="5C7678"/>
                </a:solidFill>
                <a:latin typeface="Calibri" pitchFamily="34" charset="0"/>
                <a:ea typeface="Calibri" pitchFamily="34" charset="-122"/>
                <a:cs typeface="Calibri" pitchFamily="34" charset="-120"/>
              </a:rPr>
              <a:t>1.00</a:t>
            </a:r>
            <a:endParaRPr lang="en-US" sz="900" dirty="0"/>
          </a:p>
        </p:txBody>
      </p:sp>
      <p:sp>
        <p:nvSpPr>
          <p:cNvPr id="36" name="Text 34"/>
          <p:cNvSpPr/>
          <p:nvPr/>
        </p:nvSpPr>
        <p:spPr>
          <a:xfrm>
            <a:off x="10541000" y="4000500"/>
            <a:ext cx="762000" cy="177800"/>
          </a:xfrm>
          <a:prstGeom prst="rect">
            <a:avLst/>
          </a:prstGeom>
          <a:noFill/>
          <a:ln/>
        </p:spPr>
        <p:txBody>
          <a:bodyPr wrap="square" rtlCol="0" anchor="ctr"/>
          <a:lstStyle/>
          <a:p>
            <a:pPr algn="ctr" indent="0" marL="0">
              <a:buNone/>
            </a:pPr>
            <a:r>
              <a:rPr lang="en-US" sz="900" dirty="0">
                <a:solidFill>
                  <a:srgbClr val="8FA3A4"/>
                </a:solidFill>
                <a:latin typeface="Calibri" pitchFamily="34" charset="0"/>
                <a:ea typeface="Calibri" pitchFamily="34" charset="-122"/>
                <a:cs typeface="Calibri" pitchFamily="34" charset="-120"/>
              </a:rPr>
              <a:t>1.05</a:t>
            </a:r>
            <a:endParaRPr lang="en-US" sz="900" dirty="0"/>
          </a:p>
        </p:txBody>
      </p:sp>
      <p:sp>
        <p:nvSpPr>
          <p:cNvPr id="37" name="Text 35"/>
          <p:cNvSpPr/>
          <p:nvPr/>
        </p:nvSpPr>
        <p:spPr>
          <a:xfrm>
            <a:off x="8318500" y="4152900"/>
            <a:ext cx="1651000" cy="165100"/>
          </a:xfrm>
          <a:prstGeom prst="rect">
            <a:avLst/>
          </a:prstGeom>
          <a:noFill/>
          <a:ln/>
        </p:spPr>
        <p:txBody>
          <a:bodyPr wrap="square" rtlCol="0" anchor="ctr"/>
          <a:lstStyle/>
          <a:p>
            <a:pPr algn="ctr" indent="0" marL="0">
              <a:buNone/>
            </a:pPr>
            <a:r>
              <a:rPr lang="en-US" sz="850" dirty="0">
                <a:solidFill>
                  <a:srgbClr val="8FA3A4"/>
                </a:solidFill>
                <a:latin typeface="Calibri" pitchFamily="34" charset="0"/>
                <a:ea typeface="Calibri" pitchFamily="34" charset="-122"/>
                <a:cs typeface="Calibri" pitchFamily="34" charset="-120"/>
              </a:rPr>
              <a:t>persistence</a:t>
            </a:r>
            <a:endParaRPr lang="en-US" sz="8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98500" y="4419600"/>
          <a:ext cx="6858000" cy="914400"/>
        </p:xfrm>
        <a:graphic>
          <a:graphicData uri="http://schemas.openxmlformats.org/drawingml/2006/table">
            <a:tbl>
              <a:tblPr/>
              <a:tblGrid>
                <a:gridCol w="2743200"/>
                <a:gridCol w="1371600"/>
                <a:gridCol w="1371600"/>
                <a:gridCol w="1371600"/>
              </a:tblGrid>
              <a:tr h="25400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16343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 = 1</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16343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 = 2</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16343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 = 3</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16343A"/>
                    </a:solidFill>
                  </a:tcPr>
                </a:tc>
              </a:tr>
              <a:tr h="254000">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Transformer, range over 10 seeds</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0.914–0.925</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0.870–0.893</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0.825–0.842</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r>
              <a:tr h="254000">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LSTM, range over 10 seeds</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0.913–0.932</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0.874–0.892</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0.824–0.847</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r>
              <a:tr h="254000">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GRU, range over 10 seeds</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0.910–0.939</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0.878–0.906</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0.831–0.879</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r>
              <a:tr h="254000">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ARIMA(1,1,1) + Fourier</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0.940</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0.883</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0.832</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r>
              <a:tr h="254000">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Best ML regressor (GBM, change)</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0.983</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0.937</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0.878</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r>
              <a:tr h="254000">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Persistence</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2C"/>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r>
            </a:tbl>
          </a:graphicData>
        </a:graphic>
      </p:graphicFrame>
      <p:sp>
        <p:nvSpPr>
          <p:cNvPr id="39" name="Shape 36"/>
          <p:cNvSpPr/>
          <p:nvPr/>
        </p:nvSpPr>
        <p:spPr>
          <a:xfrm>
            <a:off x="7810500" y="4419600"/>
            <a:ext cx="3683000" cy="1778000"/>
          </a:xfrm>
          <a:prstGeom prst="roundRect">
            <a:avLst>
              <a:gd name="adj" fmla="val 7200"/>
            </a:avLst>
          </a:prstGeom>
          <a:solidFill>
            <a:srgbClr val="16343A"/>
          </a:solidFill>
          <a:ln/>
        </p:spPr>
      </p:sp>
      <p:sp>
        <p:nvSpPr>
          <p:cNvPr id="40" name="Text 37"/>
          <p:cNvSpPr/>
          <p:nvPr/>
        </p:nvSpPr>
        <p:spPr>
          <a:xfrm>
            <a:off x="8115300" y="4559300"/>
            <a:ext cx="3111500" cy="635000"/>
          </a:xfrm>
          <a:prstGeom prst="rect">
            <a:avLst/>
          </a:prstGeom>
          <a:noFill/>
          <a:ln/>
        </p:spPr>
        <p:txBody>
          <a:bodyPr wrap="square" rtlCol="0" anchor="t"/>
          <a:lstStyle/>
          <a:p>
            <a:pPr indent="0" marL="0">
              <a:buNone/>
            </a:pPr>
            <a:r>
              <a:rPr lang="en-US" sz="4200" b="1" dirty="0">
                <a:solidFill>
                  <a:srgbClr val="E35D45"/>
                </a:solidFill>
                <a:latin typeface="Calibri" pitchFamily="34" charset="0"/>
                <a:ea typeface="Calibri" pitchFamily="34" charset="-122"/>
                <a:cs typeface="Calibri" pitchFamily="34" charset="-120"/>
              </a:rPr>
              <a:t>15 / 15</a:t>
            </a:r>
            <a:endParaRPr lang="en-US" sz="4200" dirty="0"/>
          </a:p>
        </p:txBody>
      </p:sp>
      <p:sp>
        <p:nvSpPr>
          <p:cNvPr id="41" name="Text 38"/>
          <p:cNvSpPr/>
          <p:nvPr/>
        </p:nvSpPr>
        <p:spPr>
          <a:xfrm>
            <a:off x="8115300" y="5207000"/>
            <a:ext cx="3111500" cy="889000"/>
          </a:xfrm>
          <a:prstGeom prst="rect">
            <a:avLst/>
          </a:prstGeom>
          <a:noFill/>
          <a:ln/>
        </p:spPr>
        <p:txBody>
          <a:bodyPr wrap="square" rtlCol="0" anchor="t"/>
          <a:lstStyle/>
          <a:p>
            <a:pPr indent="0" marL="0">
              <a:lnSpc>
                <a:spcPct val="135000"/>
              </a:lnSpc>
              <a:buNone/>
            </a:pPr>
            <a:r>
              <a:rPr lang="en-US" sz="1100" dirty="0">
                <a:solidFill>
                  <a:srgbClr val="FFFFFF"/>
                </a:solidFill>
                <a:latin typeface="Calibri" pitchFamily="34" charset="0"/>
                <a:ea typeface="Calibri" pitchFamily="34" charset="-122"/>
                <a:cs typeface="Calibri" pitchFamily="34" charset="-120"/>
              </a:rPr>
              <a:t>Diebold-Mariano pairings favour ARIMA over every machine learning regressor, at every horizon. Fourteen reach p &lt; 0.05. The three networks are the exception, and only at one day ahead.</a:t>
            </a:r>
            <a:endParaRPr lang="en-US" sz="11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RESULTS</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Does weather change the answer?</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27200"/>
            <a:ext cx="6858000" cy="2794000"/>
          </a:xfrm>
          <a:prstGeom prst="roundRect">
            <a:avLst>
              <a:gd name="adj" fmla="val 4582"/>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65200" y="1905000"/>
            <a:ext cx="6350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CHANGE IN rMAE FROM ADDING WEATHER — NEGATIVE IS AN IMPROVEMENT</a:t>
            </a:r>
            <a:endParaRPr lang="en-US" sz="900" dirty="0"/>
          </a:p>
        </p:txBody>
      </p:sp>
      <p:graphicFrame>
        <p:nvGraphicFramePr>
          <p:cNvPr id="7" name="Chart 0" descr=""/>
          <p:cNvGraphicFramePr/>
          <p:nvPr/>
        </p:nvGraphicFramePr>
        <p:xfrm>
          <a:off x="952500" y="2184400"/>
          <a:ext cx="6350000" cy="21844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810500" y="1727200"/>
            <a:ext cx="3683000" cy="2946400"/>
          </a:xfrm>
          <a:prstGeom prst="roundRect">
            <a:avLst>
              <a:gd name="adj" fmla="val 4345"/>
            </a:avLst>
          </a:prstGeom>
          <a:solidFill>
            <a:srgbClr val="16343A"/>
          </a:solidFill>
          <a:ln/>
        </p:spPr>
      </p:sp>
      <p:sp>
        <p:nvSpPr>
          <p:cNvPr id="9" name="Text 6"/>
          <p:cNvSpPr/>
          <p:nvPr/>
        </p:nvSpPr>
        <p:spPr>
          <a:xfrm>
            <a:off x="8115300" y="1930400"/>
            <a:ext cx="3111500" cy="203200"/>
          </a:xfrm>
          <a:prstGeom prst="rect">
            <a:avLst/>
          </a:prstGeom>
          <a:noFill/>
          <a:ln/>
        </p:spPr>
        <p:txBody>
          <a:bodyPr wrap="square" rtlCol="0" anchor="ctr"/>
          <a:lstStyle/>
          <a:p>
            <a:pPr indent="0" marL="0">
              <a:buNone/>
            </a:pPr>
            <a:r>
              <a:rPr lang="en-US" sz="900" b="1" spc="140" kern="0" dirty="0">
                <a:solidFill>
                  <a:srgbClr val="F0A999"/>
                </a:solidFill>
                <a:latin typeface="Calibri" pitchFamily="34" charset="0"/>
                <a:ea typeface="Calibri" pitchFamily="34" charset="-122"/>
                <a:cs typeface="Calibri" pitchFamily="34" charset="-120"/>
              </a:rPr>
              <a:t>THE GRU WITH WEATHER, VS ARIMA</a:t>
            </a:r>
            <a:endParaRPr lang="en-US" sz="900" dirty="0"/>
          </a:p>
        </p:txBody>
      </p:sp>
      <p:sp>
        <p:nvSpPr>
          <p:cNvPr id="10" name="Text 7"/>
          <p:cNvSpPr/>
          <p:nvPr/>
        </p:nvSpPr>
        <p:spPr>
          <a:xfrm>
            <a:off x="8115300" y="2146300"/>
            <a:ext cx="889000" cy="2667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 = 1</a:t>
            </a:r>
            <a:endParaRPr lang="en-US" sz="1700" dirty="0"/>
          </a:p>
        </p:txBody>
      </p:sp>
      <p:sp>
        <p:nvSpPr>
          <p:cNvPr id="11" name="Text 8"/>
          <p:cNvSpPr/>
          <p:nvPr/>
        </p:nvSpPr>
        <p:spPr>
          <a:xfrm>
            <a:off x="8115300" y="2451100"/>
            <a:ext cx="3111500" cy="508000"/>
          </a:xfrm>
          <a:prstGeom prst="rect">
            <a:avLst/>
          </a:prstGeom>
          <a:noFill/>
          <a:ln/>
        </p:spPr>
        <p:txBody>
          <a:bodyPr wrap="square" lIns="0" tIns="0" rIns="0" bIns="0" rtlCol="0" anchor="t"/>
          <a:lstStyle/>
          <a:p>
            <a:pPr indent="0" marL="0">
              <a:lnSpc>
                <a:spcPct val="125000"/>
              </a:lnSpc>
              <a:buNone/>
            </a:pPr>
            <a:r>
              <a:rPr lang="en-US" sz="1100" dirty="0">
                <a:solidFill>
                  <a:srgbClr val="AFC6C8"/>
                </a:solidFill>
                <a:latin typeface="Calibri" pitchFamily="34" charset="0"/>
                <a:ea typeface="Calibri" pitchFamily="34" charset="-122"/>
                <a:cs typeface="Calibri" pitchFamily="34" charset="-120"/>
              </a:rPr>
              <a:t>Wins clearly — 7 of 10 seeds now significant, up from 4 of 10.</a:t>
            </a:r>
            <a:endParaRPr lang="en-US" sz="1100" dirty="0"/>
          </a:p>
        </p:txBody>
      </p:sp>
      <p:sp>
        <p:nvSpPr>
          <p:cNvPr id="12" name="Text 9"/>
          <p:cNvSpPr/>
          <p:nvPr/>
        </p:nvSpPr>
        <p:spPr>
          <a:xfrm>
            <a:off x="8115300" y="3022600"/>
            <a:ext cx="889000" cy="2667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 = 2</a:t>
            </a:r>
            <a:endParaRPr lang="en-US" sz="1700" dirty="0"/>
          </a:p>
        </p:txBody>
      </p:sp>
      <p:sp>
        <p:nvSpPr>
          <p:cNvPr id="13" name="Text 10"/>
          <p:cNvSpPr/>
          <p:nvPr/>
        </p:nvSpPr>
        <p:spPr>
          <a:xfrm>
            <a:off x="8115300" y="3327400"/>
            <a:ext cx="3111500" cy="508000"/>
          </a:xfrm>
          <a:prstGeom prst="rect">
            <a:avLst/>
          </a:prstGeom>
          <a:noFill/>
          <a:ln/>
        </p:spPr>
        <p:txBody>
          <a:bodyPr wrap="square" lIns="0" tIns="0" rIns="0" bIns="0" rtlCol="0" anchor="t"/>
          <a:lstStyle/>
          <a:p>
            <a:pPr indent="0" marL="0">
              <a:lnSpc>
                <a:spcPct val="125000"/>
              </a:lnSpc>
              <a:buNone/>
            </a:pPr>
            <a:r>
              <a:rPr lang="en-US" sz="1100" dirty="0">
                <a:solidFill>
                  <a:srgbClr val="AFC6C8"/>
                </a:solidFill>
                <a:latin typeface="Calibri" pitchFamily="34" charset="0"/>
                <a:ea typeface="Calibri" pitchFamily="34" charset="-122"/>
                <a:cs typeface="Calibri" pitchFamily="34" charset="-120"/>
              </a:rPr>
              <a:t>A genuine three-way split: 3 clear wins, 6 ties, 1 loss.</a:t>
            </a:r>
            <a:endParaRPr lang="en-US" sz="1100" dirty="0"/>
          </a:p>
        </p:txBody>
      </p:sp>
      <p:sp>
        <p:nvSpPr>
          <p:cNvPr id="14" name="Text 11"/>
          <p:cNvSpPr/>
          <p:nvPr/>
        </p:nvSpPr>
        <p:spPr>
          <a:xfrm>
            <a:off x="8115300" y="3898900"/>
            <a:ext cx="889000" cy="266700"/>
          </a:xfrm>
          <a:prstGeom prst="rect">
            <a:avLst/>
          </a:prstGeom>
          <a:noFill/>
          <a:ln/>
        </p:spPr>
        <p:txBody>
          <a:bodyPr wrap="square" lIns="0" tIns="0" rIns="0" bIns="0" rtlCol="0" anchor="ctr"/>
          <a:lstStyle/>
          <a:p>
            <a:pPr indent="0" marL="0">
              <a:buNone/>
            </a:pPr>
            <a:r>
              <a:rPr lang="en-US" sz="1700" b="1" dirty="0">
                <a:solidFill>
                  <a:srgbClr val="E35D45"/>
                </a:solidFill>
                <a:latin typeface="Calibri" pitchFamily="34" charset="0"/>
                <a:ea typeface="Calibri" pitchFamily="34" charset="-122"/>
                <a:cs typeface="Calibri" pitchFamily="34" charset="-120"/>
              </a:rPr>
              <a:t>h = 3</a:t>
            </a:r>
            <a:endParaRPr lang="en-US" sz="1700" dirty="0"/>
          </a:p>
        </p:txBody>
      </p:sp>
      <p:sp>
        <p:nvSpPr>
          <p:cNvPr id="15" name="Text 12"/>
          <p:cNvSpPr/>
          <p:nvPr/>
        </p:nvSpPr>
        <p:spPr>
          <a:xfrm>
            <a:off x="8115300" y="4203700"/>
            <a:ext cx="3111500" cy="508000"/>
          </a:xfrm>
          <a:prstGeom prst="rect">
            <a:avLst/>
          </a:prstGeom>
          <a:noFill/>
          <a:ln/>
        </p:spPr>
        <p:txBody>
          <a:bodyPr wrap="square" lIns="0" tIns="0" rIns="0" bIns="0" rtlCol="0" anchor="t"/>
          <a:lstStyle/>
          <a:p>
            <a:pPr indent="0" marL="0">
              <a:lnSpc>
                <a:spcPct val="125000"/>
              </a:lnSpc>
              <a:buNone/>
            </a:pPr>
            <a:r>
              <a:rPr lang="en-US" sz="1100" dirty="0">
                <a:solidFill>
                  <a:srgbClr val="AFC6C8"/>
                </a:solidFill>
                <a:latin typeface="Calibri" pitchFamily="34" charset="0"/>
                <a:ea typeface="Calibri" pitchFamily="34" charset="-122"/>
                <a:cs typeface="Calibri" pitchFamily="34" charset="-120"/>
              </a:rPr>
              <a:t>More often a loss than a win — 5 of 10.</a:t>
            </a:r>
            <a:endParaRPr lang="en-US" sz="1100" dirty="0"/>
          </a:p>
        </p:txBody>
      </p:sp>
      <p:sp>
        <p:nvSpPr>
          <p:cNvPr id="16" name="Shape 13"/>
          <p:cNvSpPr/>
          <p:nvPr/>
        </p:nvSpPr>
        <p:spPr>
          <a:xfrm>
            <a:off x="698500" y="4724400"/>
            <a:ext cx="5270500" cy="1473200"/>
          </a:xfrm>
          <a:prstGeom prst="roundRect">
            <a:avLst>
              <a:gd name="adj" fmla="val 8690"/>
            </a:avLst>
          </a:prstGeom>
          <a:solidFill>
            <a:srgbClr val="FFFFFF"/>
          </a:solidFill>
          <a:ln/>
          <a:effectLst>
            <a:outerShdw sx="100000" sy="100000" kx="0" ky="0" algn="bl" rotWithShape="0" blurRad="127000" dist="38100" dir="5400000">
              <a:srgbClr val="16343A">
                <a:alpha val="16000"/>
              </a:srgbClr>
            </a:outerShdw>
          </a:effectLst>
        </p:spPr>
      </p:sp>
      <p:sp>
        <p:nvSpPr>
          <p:cNvPr id="17" name="Text 14"/>
          <p:cNvSpPr/>
          <p:nvPr/>
        </p:nvSpPr>
        <p:spPr>
          <a:xfrm>
            <a:off x="990600" y="49530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WHAT SURFACED IT</a:t>
            </a:r>
            <a:endParaRPr lang="en-US" sz="900" dirty="0"/>
          </a:p>
        </p:txBody>
      </p:sp>
      <p:sp>
        <p:nvSpPr>
          <p:cNvPr id="18" name="Text 15"/>
          <p:cNvSpPr/>
          <p:nvPr/>
        </p:nvSpPr>
        <p:spPr>
          <a:xfrm>
            <a:off x="990600" y="5219700"/>
            <a:ext cx="4699000" cy="8255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Doubling the seed count from five to ten. Under the first five seeds alone, h = 2 and h = 3 had both looked like wins for the network.</a:t>
            </a:r>
            <a:endParaRPr lang="en-US" sz="1200" dirty="0"/>
          </a:p>
        </p:txBody>
      </p:sp>
      <p:sp>
        <p:nvSpPr>
          <p:cNvPr id="19" name="Shape 16"/>
          <p:cNvSpPr/>
          <p:nvPr/>
        </p:nvSpPr>
        <p:spPr>
          <a:xfrm>
            <a:off x="6223000" y="4724400"/>
            <a:ext cx="5270500" cy="1473200"/>
          </a:xfrm>
          <a:prstGeom prst="roundRect">
            <a:avLst>
              <a:gd name="adj" fmla="val 8690"/>
            </a:avLst>
          </a:prstGeom>
          <a:solidFill>
            <a:srgbClr val="FFFFFF"/>
          </a:solidFill>
          <a:ln/>
          <a:effectLst>
            <a:outerShdw sx="100000" sy="100000" kx="0" ky="0" algn="bl" rotWithShape="0" blurRad="127000" dist="38100" dir="5400000">
              <a:srgbClr val="16343A">
                <a:alpha val="16000"/>
              </a:srgbClr>
            </a:outerShdw>
          </a:effectLst>
        </p:spPr>
      </p:sp>
      <p:sp>
        <p:nvSpPr>
          <p:cNvPr id="20" name="Text 17"/>
          <p:cNvSpPr/>
          <p:nvPr/>
        </p:nvSpPr>
        <p:spPr>
          <a:xfrm>
            <a:off x="6515100" y="49530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CARRIED THROUGH THE THRESHOLD</a:t>
            </a:r>
            <a:endParaRPr lang="en-US" sz="900" dirty="0"/>
          </a:p>
        </p:txBody>
      </p:sp>
      <p:sp>
        <p:nvSpPr>
          <p:cNvPr id="21" name="Text 18"/>
          <p:cNvSpPr/>
          <p:nvPr/>
        </p:nvSpPr>
        <p:spPr>
          <a:xfrm>
            <a:off x="6515100" y="5219700"/>
            <a:ext cx="4699000" cy="8255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At most 1.2 points of extra hit rate at any budget — a materially more accurate forecaster still does not escape the alarm-budget ceiling.</a:t>
            </a:r>
            <a:endParaRPr lang="en-US" sz="12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RESULTS · RQ2</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Two arms of the same question</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Text 3"/>
          <p:cNvSpPr/>
          <p:nvPr/>
        </p:nvSpPr>
        <p:spPr>
          <a:xfrm>
            <a:off x="698500" y="1638300"/>
            <a:ext cx="10795000" cy="279400"/>
          </a:xfrm>
          <a:prstGeom prst="rect">
            <a:avLst/>
          </a:prstGeom>
          <a:noFill/>
          <a:ln/>
        </p:spPr>
        <p:txBody>
          <a:bodyPr wrap="square" rtlCol="0" anchor="t"/>
          <a:lstStyle/>
          <a:p>
            <a:pPr indent="0" marL="0">
              <a:lnSpc>
                <a:spcPct val="130000"/>
              </a:lnSpc>
              <a:buNone/>
            </a:pPr>
            <a:r>
              <a:rPr lang="en-US" sz="1150" dirty="0">
                <a:solidFill>
                  <a:srgbClr val="5C7678"/>
                </a:solidFill>
                <a:latin typeface="Calibri" pitchFamily="34" charset="0"/>
                <a:ea typeface="Calibri" pitchFamily="34" charset="-122"/>
                <a:cs typeface="Calibri" pitchFamily="34" charset="-120"/>
              </a:rPr>
              <a:t>Forecast-then-threshold against direct classification, matched by base algorithm — 36 comparisons across 3 pairs, 3 horizons and 4 alarm budgets.</a:t>
            </a:r>
            <a:endParaRPr lang="en-US" sz="1150" dirty="0"/>
          </a:p>
        </p:txBody>
      </p:sp>
      <p:sp>
        <p:nvSpPr>
          <p:cNvPr id="6" name="Text 4"/>
          <p:cNvSpPr/>
          <p:nvPr/>
        </p:nvSpPr>
        <p:spPr>
          <a:xfrm>
            <a:off x="698500" y="2095500"/>
            <a:ext cx="6292850" cy="609600"/>
          </a:xfrm>
          <a:prstGeom prst="rect">
            <a:avLst/>
          </a:prstGeom>
          <a:solidFill>
            <a:srgbClr val="E35D45"/>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21  forecast-then-threshold</a:t>
            </a:r>
            <a:endParaRPr lang="en-US" sz="1300" dirty="0"/>
          </a:p>
        </p:txBody>
      </p:sp>
      <p:sp>
        <p:nvSpPr>
          <p:cNvPr id="7" name="Text 5"/>
          <p:cNvSpPr/>
          <p:nvPr/>
        </p:nvSpPr>
        <p:spPr>
          <a:xfrm>
            <a:off x="6991350" y="2095500"/>
            <a:ext cx="3295650" cy="609600"/>
          </a:xfrm>
          <a:prstGeom prst="rect">
            <a:avLst/>
          </a:prstGeom>
          <a:solidFill>
            <a:srgbClr val="3D6D7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  classifier</a:t>
            </a:r>
            <a:endParaRPr lang="en-US" sz="1300" dirty="0"/>
          </a:p>
        </p:txBody>
      </p:sp>
      <p:sp>
        <p:nvSpPr>
          <p:cNvPr id="8" name="Text 6"/>
          <p:cNvSpPr/>
          <p:nvPr/>
        </p:nvSpPr>
        <p:spPr>
          <a:xfrm>
            <a:off x="10287000" y="2095500"/>
            <a:ext cx="1206500" cy="609600"/>
          </a:xfrm>
          <a:prstGeom prst="rect">
            <a:avLst/>
          </a:prstGeom>
          <a:solidFill>
            <a:srgbClr val="C7D3D3"/>
          </a:solidFill>
          <a:ln/>
        </p:spPr>
        <p:txBody>
          <a:bodyPr wrap="square" rtlCol="0" anchor="ctr"/>
          <a:lstStyle/>
          <a:p>
            <a:pPr algn="ctr" indent="0" marL="0">
              <a:buNone/>
            </a:pPr>
            <a:r>
              <a:rPr lang="en-US" sz="1150" b="1" dirty="0">
                <a:solidFill>
                  <a:srgbClr val="16343A"/>
                </a:solidFill>
                <a:latin typeface="Calibri" pitchFamily="34" charset="0"/>
                <a:ea typeface="Calibri" pitchFamily="34" charset="-122"/>
                <a:cs typeface="Calibri" pitchFamily="34" charset="-120"/>
              </a:rPr>
              <a:t>4  ties</a:t>
            </a:r>
            <a:endParaRPr lang="en-US" sz="1150" dirty="0"/>
          </a:p>
        </p:txBody>
      </p:sp>
      <p:sp>
        <p:nvSpPr>
          <p:cNvPr id="9" name="Shape 7"/>
          <p:cNvSpPr/>
          <p:nvPr/>
        </p:nvSpPr>
        <p:spPr>
          <a:xfrm>
            <a:off x="698500" y="3009900"/>
            <a:ext cx="5588000" cy="3187700"/>
          </a:xfrm>
          <a:prstGeom prst="roundRect">
            <a:avLst>
              <a:gd name="adj" fmla="val 4016"/>
            </a:avLst>
          </a:prstGeom>
          <a:solidFill>
            <a:srgbClr val="FFFFFF"/>
          </a:solidFill>
          <a:ln/>
          <a:effectLst>
            <a:outerShdw sx="100000" sy="100000" kx="0" ky="0" algn="bl" rotWithShape="0" blurRad="127000" dist="38100" dir="5400000">
              <a:srgbClr val="16343A">
                <a:alpha val="16000"/>
              </a:srgbClr>
            </a:outerShdw>
          </a:effectLst>
        </p:spPr>
      </p:sp>
      <p:sp>
        <p:nvSpPr>
          <p:cNvPr id="10" name="Text 8"/>
          <p:cNvSpPr/>
          <p:nvPr/>
        </p:nvSpPr>
        <p:spPr>
          <a:xfrm>
            <a:off x="990600" y="3238500"/>
            <a:ext cx="5016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A REAL BUT MODEST EDGE</a:t>
            </a:r>
            <a:endParaRPr lang="en-US" sz="900" dirty="0"/>
          </a:p>
        </p:txBody>
      </p:sp>
      <p:sp>
        <p:nvSpPr>
          <p:cNvPr id="11" name="Text 9"/>
          <p:cNvSpPr/>
          <p:nvPr/>
        </p:nvSpPr>
        <p:spPr>
          <a:xfrm>
            <a:off x="990600" y="3530600"/>
            <a:ext cx="5016500" cy="2540000"/>
          </a:xfrm>
          <a:prstGeom prst="rect">
            <a:avLst/>
          </a:prstGeom>
          <a:noFill/>
          <a:ln/>
        </p:spPr>
        <p:txBody>
          <a:bodyPr wrap="square" rtlCol="0" anchor="t"/>
          <a:lstStyle/>
          <a:p>
            <a:pPr marL="203200" indent="-203200">
              <a:lnSpc>
                <a:spcPct val="150000"/>
              </a:lnSpc>
              <a:spcAft>
                <a:spcPts val="1200"/>
              </a:spcAft>
              <a:buSzPct val="100000"/>
              <a:buChar char="●"/>
            </a:pPr>
            <a:r>
              <a:rPr lang="en-US" sz="1200" dirty="0">
                <a:solidFill>
                  <a:srgbClr val="1C2B2C"/>
                </a:solidFill>
                <a:latin typeface="Calibri" pitchFamily="34" charset="0"/>
                <a:ea typeface="Calibri" pitchFamily="34" charset="-122"/>
                <a:cs typeface="Calibri" pitchFamily="34" charset="-120"/>
              </a:rPr>
              <a:t>Median gap of 0.011 in hit rate, largest 0.056 — real, but modest</a:t>
            </a:r>
            <a:endParaRPr lang="en-US" sz="1200" dirty="0"/>
          </a:p>
          <a:p>
            <a:pPr marL="203200" indent="-203200">
              <a:lnSpc>
                <a:spcPct val="150000"/>
              </a:lnSpc>
              <a:spcAft>
                <a:spcPts val="1200"/>
              </a:spcAft>
              <a:buSzPct val="100000"/>
              <a:buChar char="●"/>
            </a:pPr>
            <a:r>
              <a:rPr lang="en-US" sz="1200" dirty="0">
                <a:solidFill>
                  <a:srgbClr val="1C2B2C"/>
                </a:solidFill>
                <a:latin typeface="Calibri" pitchFamily="34" charset="0"/>
                <a:ea typeface="Calibri" pitchFamily="34" charset="-122"/>
                <a:cs typeface="Calibri" pitchFamily="34" charset="-120"/>
              </a:rPr>
              <a:t>The edge narrows as the budget loosens: 8 of 9 at a budget of 40, but the classifier overtakes it, 6 of 9, at 100</a:t>
            </a:r>
            <a:endParaRPr lang="en-US" sz="1200" dirty="0"/>
          </a:p>
          <a:p>
            <a:pPr marL="203200" indent="-203200">
              <a:lnSpc>
                <a:spcPct val="150000"/>
              </a:lnSpc>
              <a:spcAft>
                <a:spcPts val="1200"/>
              </a:spcAft>
              <a:buSzPct val="100000"/>
              <a:buChar char="●"/>
            </a:pPr>
            <a:r>
              <a:rPr lang="en-US" sz="1200" dirty="0">
                <a:solidFill>
                  <a:srgbClr val="1C2B2C"/>
                </a:solidFill>
                <a:latin typeface="Calibri" pitchFamily="34" charset="0"/>
                <a:ea typeface="Calibri" pitchFamily="34" charset="-122"/>
                <a:cs typeface="Calibri" pitchFamily="34" charset="-120"/>
              </a:rPr>
              <a:t>Preferred anyway: a forecast can be rethresholded for any future health policy, while a classifier is welded to the threshold it was trained on</a:t>
            </a:r>
            <a:endParaRPr lang="en-US" sz="1200" dirty="0"/>
          </a:p>
        </p:txBody>
      </p:sp>
      <p:sp>
        <p:nvSpPr>
          <p:cNvPr id="12" name="Shape 10"/>
          <p:cNvSpPr/>
          <p:nvPr/>
        </p:nvSpPr>
        <p:spPr>
          <a:xfrm>
            <a:off x="6540500" y="3009900"/>
            <a:ext cx="4953000" cy="3187700"/>
          </a:xfrm>
          <a:prstGeom prst="roundRect">
            <a:avLst>
              <a:gd name="adj" fmla="val 4016"/>
            </a:avLst>
          </a:prstGeom>
          <a:solidFill>
            <a:srgbClr val="FFFFFF"/>
          </a:solidFill>
          <a:ln/>
          <a:effectLst>
            <a:outerShdw sx="100000" sy="100000" kx="0" ky="0" algn="bl" rotWithShape="0" blurRad="127000" dist="38100" dir="5400000">
              <a:srgbClr val="16343A">
                <a:alpha val="16000"/>
              </a:srgbClr>
            </a:outerShdw>
          </a:effectLst>
        </p:spPr>
      </p:sp>
      <p:sp>
        <p:nvSpPr>
          <p:cNvPr id="13" name="Text 11"/>
          <p:cNvSpPr/>
          <p:nvPr/>
        </p:nvSpPr>
        <p:spPr>
          <a:xfrm>
            <a:off x="6832600" y="3238500"/>
            <a:ext cx="4381500" cy="203200"/>
          </a:xfrm>
          <a:prstGeom prst="rect">
            <a:avLst/>
          </a:prstGeom>
          <a:noFill/>
          <a:ln/>
        </p:spPr>
        <p:txBody>
          <a:bodyPr wrap="square" rtlCol="0" anchor="ctr"/>
          <a:lstStyle/>
          <a:p>
            <a:pPr indent="0" marL="0">
              <a:buNone/>
            </a:pPr>
            <a:r>
              <a:rPr lang="en-US" sz="900" b="1" spc="140" kern="0" dirty="0">
                <a:solidFill>
                  <a:srgbClr val="5C7678"/>
                </a:solidFill>
                <a:latin typeface="Calibri" pitchFamily="34" charset="0"/>
                <a:ea typeface="Calibri" pitchFamily="34" charset="-122"/>
                <a:cs typeface="Calibri" pitchFamily="34" charset="-120"/>
              </a:rPr>
              <a:t>HIT-RATE EDGE BY ALARM BUDGET</a:t>
            </a:r>
            <a:endParaRPr lang="en-US" sz="900" dirty="0"/>
          </a:p>
        </p:txBody>
      </p:sp>
      <p:pic>
        <p:nvPicPr>
          <p:cNvPr id="14" name="Image 0" descr="/Users/jc/Desktop/PROJECT MTH5000/report/figures/fig7_arms.png">    </p:cNvPr>
          <p:cNvPicPr>
            <a:picLocks noChangeAspect="1"/>
          </p:cNvPicPr>
          <p:nvPr/>
        </p:nvPicPr>
        <p:blipFill>
          <a:blip r:embed="rId1"/>
          <a:stretch>
            <a:fillRect/>
          </a:stretch>
        </p:blipFill>
        <p:spPr>
          <a:xfrm>
            <a:off x="6832600" y="3609259"/>
            <a:ext cx="4368800" cy="2052482"/>
          </a:xfrm>
          <a:prstGeom prst="rect">
            <a:avLst/>
          </a:prstGeom>
        </p:spPr>
      </p:pic>
      <p:sp>
        <p:nvSpPr>
          <p:cNvPr id="15" name="Text 12"/>
          <p:cNvSpPr/>
          <p:nvPr/>
        </p:nvSpPr>
        <p:spPr>
          <a:xfrm>
            <a:off x="6832600" y="5778500"/>
            <a:ext cx="4381500" cy="279400"/>
          </a:xfrm>
          <a:prstGeom prst="rect">
            <a:avLst/>
          </a:prstGeom>
          <a:noFill/>
          <a:ln/>
        </p:spPr>
        <p:txBody>
          <a:bodyPr wrap="square" rtlCol="0" anchor="t"/>
          <a:lstStyle/>
          <a:p>
            <a:pPr indent="0" marL="0">
              <a:buNone/>
            </a:pPr>
            <a:r>
              <a:rPr lang="en-US" sz="950" dirty="0">
                <a:solidFill>
                  <a:srgbClr val="7E9A9C"/>
                </a:solidFill>
                <a:latin typeface="Calibri" pitchFamily="34" charset="0"/>
                <a:ea typeface="Calibri" pitchFamily="34" charset="-122"/>
                <a:cs typeface="Calibri" pitchFamily="34" charset="-120"/>
              </a:rPr>
              <a:t>Above zero, forecast-then-threshold wins; below it, the classifier does.</a:t>
            </a:r>
            <a:endParaRPr lang="en-US" sz="95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RESULTS · RQ3 · THE CENTRAL RESULT</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FFFFFF"/>
                </a:solidFill>
                <a:latin typeface="Calibri" pitchFamily="34" charset="0"/>
                <a:ea typeface="Calibri" pitchFamily="34" charset="-122"/>
                <a:cs typeface="Calibri" pitchFamily="34" charset="-120"/>
              </a:rPr>
              <a:t>The decision threshold</a:t>
            </a:r>
            <a:endParaRPr lang="en-US" sz="2900" dirty="0"/>
          </a:p>
        </p:txBody>
      </p:sp>
      <p:sp>
        <p:nvSpPr>
          <p:cNvPr id="4" name="Shape 2"/>
          <p:cNvSpPr/>
          <p:nvPr/>
        </p:nvSpPr>
        <p:spPr>
          <a:xfrm>
            <a:off x="698500" y="1473200"/>
            <a:ext cx="10795000" cy="12700"/>
          </a:xfrm>
          <a:prstGeom prst="rect">
            <a:avLst/>
          </a:prstGeom>
          <a:solidFill>
            <a:srgbClr val="2F5F67"/>
          </a:solidFill>
          <a:ln/>
        </p:spPr>
      </p:sp>
      <p:sp>
        <p:nvSpPr>
          <p:cNvPr id="5" name="Shape 3"/>
          <p:cNvSpPr/>
          <p:nvPr/>
        </p:nvSpPr>
        <p:spPr>
          <a:xfrm>
            <a:off x="698500" y="1752600"/>
            <a:ext cx="6350000" cy="3556000"/>
          </a:xfrm>
          <a:prstGeom prst="roundRect">
            <a:avLst>
              <a:gd name="adj" fmla="val 3600"/>
            </a:avLst>
          </a:prstGeom>
          <a:solidFill>
            <a:srgbClr val="FFFFFF"/>
          </a:solidFill>
          <a:ln/>
        </p:spPr>
      </p:sp>
      <p:sp>
        <p:nvSpPr>
          <p:cNvPr id="6" name="Text 4"/>
          <p:cNvSpPr/>
          <p:nvPr/>
        </p:nvSpPr>
        <p:spPr>
          <a:xfrm>
            <a:off x="965200" y="1943100"/>
            <a:ext cx="5842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BEST ACHIEVABLE HIT RATE, BY ALARM BUDGET</a:t>
            </a:r>
            <a:endParaRPr lang="en-US" sz="900" dirty="0"/>
          </a:p>
        </p:txBody>
      </p:sp>
      <p:graphicFrame>
        <p:nvGraphicFramePr>
          <p:cNvPr id="7" name="Chart 0" descr=""/>
          <p:cNvGraphicFramePr/>
          <p:nvPr/>
        </p:nvGraphicFramePr>
        <p:xfrm>
          <a:off x="952500" y="2184400"/>
          <a:ext cx="5842000" cy="2540000"/>
        </p:xfrm>
        <a:graphic xmlns:a="http://schemas.openxmlformats.org/drawingml/2006/main">
          <a:graphicData uri="http://schemas.openxmlformats.org/drawingml/2006/chart">
            <c:chart xmlns:c="http://schemas.openxmlformats.org/drawingml/2006/chart" r:id="rId2"/>
          </a:graphicData>
        </a:graphic>
      </p:graphicFrame>
      <p:sp>
        <p:nvSpPr>
          <p:cNvPr id="8" name="Text 5"/>
          <p:cNvSpPr/>
          <p:nvPr/>
        </p:nvSpPr>
        <p:spPr>
          <a:xfrm>
            <a:off x="965200" y="4965700"/>
            <a:ext cx="5842000" cy="190500"/>
          </a:xfrm>
          <a:prstGeom prst="rect">
            <a:avLst/>
          </a:prstGeom>
          <a:noFill/>
          <a:ln/>
        </p:spPr>
        <p:txBody>
          <a:bodyPr wrap="square" rtlCol="0" anchor="ctr"/>
          <a:lstStyle/>
          <a:p>
            <a:pPr algn="ctr" indent="0" marL="0">
              <a:buNone/>
            </a:pPr>
            <a:r>
              <a:rPr lang="en-US" sz="950" dirty="0">
                <a:solidFill>
                  <a:srgbClr val="7E9A9C"/>
                </a:solidFill>
                <a:latin typeface="Calibri" pitchFamily="34" charset="0"/>
                <a:ea typeface="Calibri" pitchFamily="34" charset="-122"/>
                <a:cs typeface="Calibri" pitchFamily="34" charset="-120"/>
              </a:rPr>
              <a:t>alarms permitted per year</a:t>
            </a:r>
            <a:endParaRPr lang="en-US" sz="950" dirty="0"/>
          </a:p>
        </p:txBody>
      </p:sp>
      <p:sp>
        <p:nvSpPr>
          <p:cNvPr id="9" name="Text 6"/>
          <p:cNvSpPr/>
          <p:nvPr/>
        </p:nvSpPr>
        <p:spPr>
          <a:xfrm>
            <a:off x="7429500" y="1854200"/>
            <a:ext cx="4064000" cy="203200"/>
          </a:xfrm>
          <a:prstGeom prst="rect">
            <a:avLst/>
          </a:prstGeom>
          <a:noFill/>
          <a:ln/>
        </p:spPr>
        <p:txBody>
          <a:bodyPr wrap="square" rtlCol="0" anchor="ctr"/>
          <a:lstStyle/>
          <a:p>
            <a:pPr indent="0" marL="0">
              <a:buNone/>
            </a:pPr>
            <a:r>
              <a:rPr lang="en-US" sz="1000" b="1" spc="160" kern="0" dirty="0">
                <a:solidFill>
                  <a:srgbClr val="F0A999"/>
                </a:solidFill>
                <a:latin typeface="Calibri" pitchFamily="34" charset="0"/>
                <a:ea typeface="Calibri" pitchFamily="34" charset="-122"/>
                <a:cs typeface="Calibri" pitchFamily="34" charset="-120"/>
              </a:rPr>
              <a:t>MOVE THE BUDGET, 40 → 100</a:t>
            </a:r>
            <a:endParaRPr lang="en-US" sz="1000" dirty="0"/>
          </a:p>
        </p:txBody>
      </p:sp>
      <p:sp>
        <p:nvSpPr>
          <p:cNvPr id="10" name="Text 7"/>
          <p:cNvSpPr/>
          <p:nvPr/>
        </p:nvSpPr>
        <p:spPr>
          <a:xfrm>
            <a:off x="7429500" y="2044700"/>
            <a:ext cx="4064000" cy="1079500"/>
          </a:xfrm>
          <a:prstGeom prst="rect">
            <a:avLst/>
          </a:prstGeom>
          <a:noFill/>
          <a:ln/>
        </p:spPr>
        <p:txBody>
          <a:bodyPr wrap="square" rtlCol="0" anchor="t"/>
          <a:lstStyle/>
          <a:p>
            <a:pPr indent="0" marL="0">
              <a:buNone/>
            </a:pPr>
            <a:r>
              <a:rPr lang="en-US" sz="7500" b="1" dirty="0">
                <a:solidFill>
                  <a:srgbClr val="E35D45"/>
                </a:solidFill>
                <a:latin typeface="Calibri" pitchFamily="34" charset="0"/>
                <a:ea typeface="Calibri" pitchFamily="34" charset="-122"/>
                <a:cs typeface="Calibri" pitchFamily="34" charset="-120"/>
              </a:rPr>
              <a:t>50 pts</a:t>
            </a:r>
            <a:endParaRPr lang="en-US" sz="7500" dirty="0"/>
          </a:p>
        </p:txBody>
      </p:sp>
      <p:sp>
        <p:nvSpPr>
          <p:cNvPr id="11" name="Text 8"/>
          <p:cNvSpPr/>
          <p:nvPr/>
        </p:nvSpPr>
        <p:spPr>
          <a:xfrm>
            <a:off x="7429500" y="3149600"/>
            <a:ext cx="4064000" cy="381000"/>
          </a:xfrm>
          <a:prstGeom prst="rect">
            <a:avLst/>
          </a:prstGeom>
          <a:noFill/>
          <a:ln/>
        </p:spPr>
        <p:txBody>
          <a:bodyPr wrap="square" rtlCol="0" anchor="t"/>
          <a:lstStyle/>
          <a:p>
            <a:pPr indent="0" marL="0">
              <a:lnSpc>
                <a:spcPct val="135000"/>
              </a:lnSpc>
              <a:buNone/>
            </a:pPr>
            <a:r>
              <a:rPr lang="en-US" sz="1200" dirty="0">
                <a:solidFill>
                  <a:srgbClr val="AFC6C8"/>
                </a:solidFill>
                <a:latin typeface="Calibri" pitchFamily="34" charset="0"/>
                <a:ea typeface="Calibri" pitchFamily="34" charset="-122"/>
                <a:cs typeface="Calibri" pitchFamily="34" charset="-120"/>
              </a:rPr>
              <a:t>of hit rate at one day ahead — 0.379 to 0.881.</a:t>
            </a:r>
            <a:endParaRPr lang="en-US" sz="1200" dirty="0"/>
          </a:p>
        </p:txBody>
      </p:sp>
      <p:sp>
        <p:nvSpPr>
          <p:cNvPr id="12" name="Shape 9"/>
          <p:cNvSpPr/>
          <p:nvPr/>
        </p:nvSpPr>
        <p:spPr>
          <a:xfrm>
            <a:off x="7429500" y="3784600"/>
            <a:ext cx="4064000" cy="12700"/>
          </a:xfrm>
          <a:prstGeom prst="rect">
            <a:avLst/>
          </a:prstGeom>
          <a:solidFill>
            <a:srgbClr val="2F5F67"/>
          </a:solidFill>
          <a:ln/>
        </p:spPr>
      </p:sp>
      <p:sp>
        <p:nvSpPr>
          <p:cNvPr id="13" name="Text 10"/>
          <p:cNvSpPr/>
          <p:nvPr/>
        </p:nvSpPr>
        <p:spPr>
          <a:xfrm>
            <a:off x="7429500" y="3987800"/>
            <a:ext cx="4064000" cy="203200"/>
          </a:xfrm>
          <a:prstGeom prst="rect">
            <a:avLst/>
          </a:prstGeom>
          <a:noFill/>
          <a:ln/>
        </p:spPr>
        <p:txBody>
          <a:bodyPr wrap="square" rtlCol="0" anchor="ctr"/>
          <a:lstStyle/>
          <a:p>
            <a:pPr indent="0" marL="0">
              <a:buNone/>
            </a:pPr>
            <a:r>
              <a:rPr lang="en-US" sz="1000" b="1" spc="160" kern="0" dirty="0">
                <a:solidFill>
                  <a:srgbClr val="7E9A9C"/>
                </a:solidFill>
                <a:latin typeface="Calibri" pitchFamily="34" charset="0"/>
                <a:ea typeface="Calibri" pitchFamily="34" charset="-122"/>
                <a:cs typeface="Calibri" pitchFamily="34" charset="-120"/>
              </a:rPr>
              <a:t>SWITCH THE MODEL INSTEAD</a:t>
            </a:r>
            <a:endParaRPr lang="en-US" sz="1000" dirty="0"/>
          </a:p>
        </p:txBody>
      </p:sp>
      <p:sp>
        <p:nvSpPr>
          <p:cNvPr id="14" name="Text 11"/>
          <p:cNvSpPr/>
          <p:nvPr/>
        </p:nvSpPr>
        <p:spPr>
          <a:xfrm>
            <a:off x="7429500" y="4191000"/>
            <a:ext cx="4064000" cy="393700"/>
          </a:xfrm>
          <a:prstGeom prst="rect">
            <a:avLst/>
          </a:prstGeom>
          <a:noFill/>
          <a:ln/>
        </p:spPr>
        <p:txBody>
          <a:bodyPr wrap="square"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~5 pts</a:t>
            </a:r>
            <a:endParaRPr lang="en-US" sz="2400" dirty="0"/>
          </a:p>
        </p:txBody>
      </p:sp>
      <p:sp>
        <p:nvSpPr>
          <p:cNvPr id="15" name="Text 12"/>
          <p:cNvSpPr/>
          <p:nvPr/>
        </p:nvSpPr>
        <p:spPr>
          <a:xfrm>
            <a:off x="7429500" y="4610100"/>
            <a:ext cx="4064000" cy="355600"/>
          </a:xfrm>
          <a:prstGeom prst="rect">
            <a:avLst/>
          </a:prstGeom>
          <a:noFill/>
          <a:ln/>
        </p:spPr>
        <p:txBody>
          <a:bodyPr wrap="square" rtlCol="0" anchor="t"/>
          <a:lstStyle/>
          <a:p>
            <a:pPr indent="0" marL="0">
              <a:buNone/>
            </a:pPr>
            <a:r>
              <a:rPr lang="en-US" sz="1200" dirty="0">
                <a:solidFill>
                  <a:srgbClr val="AFC6C8"/>
                </a:solidFill>
                <a:latin typeface="Calibri" pitchFamily="34" charset="0"/>
                <a:ea typeface="Calibri" pitchFamily="34" charset="-122"/>
                <a:cs typeface="Calibri" pitchFamily="34" charset="-120"/>
              </a:rPr>
              <a:t>across all ten specifications, at a fixed budget.</a:t>
            </a:r>
            <a:endParaRPr lang="en-US" sz="1200" dirty="0"/>
          </a:p>
        </p:txBody>
      </p:sp>
      <p:sp>
        <p:nvSpPr>
          <p:cNvPr id="16" name="Text 13"/>
          <p:cNvSpPr/>
          <p:nvPr/>
        </p:nvSpPr>
        <p:spPr>
          <a:xfrm>
            <a:off x="698500" y="5626100"/>
            <a:ext cx="10795000" cy="508000"/>
          </a:xfrm>
          <a:prstGeom prst="rect">
            <a:avLst/>
          </a:prstGeom>
          <a:noFill/>
          <a:ln/>
        </p:spPr>
        <p:txBody>
          <a:bodyPr wrap="square" rtlCol="0" anchor="t"/>
          <a:lstStyle/>
          <a:p>
            <a:pPr indent="0" marL="0">
              <a:lnSpc>
                <a:spcPct val="140000"/>
              </a:lnSpc>
              <a:buNone/>
            </a:pPr>
            <a:r>
              <a:rPr lang="en-US" sz="1250" dirty="0">
                <a:solidFill>
                  <a:srgbClr val="C9DCDC"/>
                </a:solidFill>
                <a:latin typeface="Calibri" pitchFamily="34" charset="0"/>
                <a:ea typeface="Calibri" pitchFamily="34" charset="-122"/>
                <a:cs typeface="Calibri" pitchFamily="34" charset="-120"/>
              </a:rPr>
              <a:t>At three days ahead and a budget of 40 alarms a year, plain persistence — carrying today's reading forward unchanged — is the single best model in the entire study, at 0.359.</a:t>
            </a:r>
            <a:endParaRPr lang="en-US" sz="125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7E9A9C"/>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93000" y="952500"/>
            <a:ext cx="4445000" cy="3556000"/>
          </a:xfrm>
          <a:prstGeom prst="rect">
            <a:avLst/>
          </a:prstGeom>
          <a:noFill/>
          <a:ln/>
        </p:spPr>
        <p:txBody>
          <a:bodyPr wrap="square" rtlCol="0" anchor="t"/>
          <a:lstStyle/>
          <a:p>
            <a:pPr algn="r" indent="0" marL="0">
              <a:buNone/>
            </a:pPr>
            <a:r>
              <a:rPr lang="en-US" sz="20000" b="1" dirty="0">
                <a:solidFill>
                  <a:srgbClr val="1E4850"/>
                </a:solidFill>
                <a:latin typeface="Calibri" pitchFamily="34" charset="0"/>
                <a:ea typeface="Calibri" pitchFamily="34" charset="-122"/>
                <a:cs typeface="Calibri" pitchFamily="34" charset="-120"/>
              </a:rPr>
              <a:t>05</a:t>
            </a:r>
            <a:endParaRPr lang="en-US" sz="20000" dirty="0"/>
          </a:p>
        </p:txBody>
      </p:sp>
      <p:sp>
        <p:nvSpPr>
          <p:cNvPr id="3" name="Shape 1"/>
          <p:cNvSpPr/>
          <p:nvPr/>
        </p:nvSpPr>
        <p:spPr>
          <a:xfrm>
            <a:off x="0" y="6442495"/>
            <a:ext cx="287020" cy="415505"/>
          </a:xfrm>
          <a:prstGeom prst="rect">
            <a:avLst/>
          </a:prstGeom>
          <a:solidFill>
            <a:srgbClr val="E35D45">
              <a:alpha val="78000"/>
            </a:srgbClr>
          </a:solidFill>
          <a:ln/>
        </p:spPr>
      </p:sp>
      <p:sp>
        <p:nvSpPr>
          <p:cNvPr id="4" name="Shape 2"/>
          <p:cNvSpPr/>
          <p:nvPr/>
        </p:nvSpPr>
        <p:spPr>
          <a:xfrm>
            <a:off x="304800" y="6586388"/>
            <a:ext cx="287020" cy="271612"/>
          </a:xfrm>
          <a:prstGeom prst="rect">
            <a:avLst/>
          </a:prstGeom>
          <a:solidFill>
            <a:srgbClr val="2F5F67">
              <a:alpha val="50000"/>
            </a:srgbClr>
          </a:solidFill>
          <a:ln/>
        </p:spPr>
      </p:sp>
      <p:sp>
        <p:nvSpPr>
          <p:cNvPr id="5" name="Shape 3"/>
          <p:cNvSpPr/>
          <p:nvPr/>
        </p:nvSpPr>
        <p:spPr>
          <a:xfrm>
            <a:off x="609600" y="6451750"/>
            <a:ext cx="287020" cy="406250"/>
          </a:xfrm>
          <a:prstGeom prst="rect">
            <a:avLst/>
          </a:prstGeom>
          <a:solidFill>
            <a:srgbClr val="E35D45">
              <a:alpha val="78000"/>
            </a:srgbClr>
          </a:solidFill>
          <a:ln/>
        </p:spPr>
      </p:sp>
      <p:sp>
        <p:nvSpPr>
          <p:cNvPr id="6" name="Shape 4"/>
          <p:cNvSpPr/>
          <p:nvPr/>
        </p:nvSpPr>
        <p:spPr>
          <a:xfrm>
            <a:off x="914400" y="6600769"/>
            <a:ext cx="287020" cy="257231"/>
          </a:xfrm>
          <a:prstGeom prst="rect">
            <a:avLst/>
          </a:prstGeom>
          <a:solidFill>
            <a:srgbClr val="2F5F67">
              <a:alpha val="50000"/>
            </a:srgbClr>
          </a:solidFill>
          <a:ln/>
        </p:spPr>
      </p:sp>
      <p:sp>
        <p:nvSpPr>
          <p:cNvPr id="7" name="Shape 5"/>
          <p:cNvSpPr/>
          <p:nvPr/>
        </p:nvSpPr>
        <p:spPr>
          <a:xfrm>
            <a:off x="1219200" y="6514656"/>
            <a:ext cx="287020" cy="343344"/>
          </a:xfrm>
          <a:prstGeom prst="rect">
            <a:avLst/>
          </a:prstGeom>
          <a:solidFill>
            <a:srgbClr val="E35D45">
              <a:alpha val="78000"/>
            </a:srgbClr>
          </a:solidFill>
          <a:ln/>
        </p:spPr>
      </p:sp>
      <p:sp>
        <p:nvSpPr>
          <p:cNvPr id="8" name="Shape 6"/>
          <p:cNvSpPr/>
          <p:nvPr/>
        </p:nvSpPr>
        <p:spPr>
          <a:xfrm>
            <a:off x="1524000" y="6583602"/>
            <a:ext cx="287020" cy="274398"/>
          </a:xfrm>
          <a:prstGeom prst="rect">
            <a:avLst/>
          </a:prstGeom>
          <a:solidFill>
            <a:srgbClr val="2F5F67">
              <a:alpha val="50000"/>
            </a:srgbClr>
          </a:solidFill>
          <a:ln/>
        </p:spPr>
      </p:sp>
      <p:sp>
        <p:nvSpPr>
          <p:cNvPr id="9" name="Shape 7"/>
          <p:cNvSpPr/>
          <p:nvPr/>
        </p:nvSpPr>
        <p:spPr>
          <a:xfrm>
            <a:off x="1828800" y="6560976"/>
            <a:ext cx="287020" cy="297024"/>
          </a:xfrm>
          <a:prstGeom prst="rect">
            <a:avLst/>
          </a:prstGeom>
          <a:solidFill>
            <a:srgbClr val="2F5F67">
              <a:alpha val="50000"/>
            </a:srgbClr>
          </a:solidFill>
          <a:ln/>
        </p:spPr>
      </p:sp>
      <p:sp>
        <p:nvSpPr>
          <p:cNvPr id="10" name="Shape 8"/>
          <p:cNvSpPr/>
          <p:nvPr/>
        </p:nvSpPr>
        <p:spPr>
          <a:xfrm>
            <a:off x="2133600" y="6611335"/>
            <a:ext cx="287020" cy="246665"/>
          </a:xfrm>
          <a:prstGeom prst="rect">
            <a:avLst/>
          </a:prstGeom>
          <a:solidFill>
            <a:srgbClr val="2F5F67">
              <a:alpha val="50000"/>
            </a:srgbClr>
          </a:solidFill>
          <a:ln/>
        </p:spPr>
      </p:sp>
      <p:sp>
        <p:nvSpPr>
          <p:cNvPr id="11" name="Shape 9"/>
          <p:cNvSpPr/>
          <p:nvPr/>
        </p:nvSpPr>
        <p:spPr>
          <a:xfrm>
            <a:off x="2438400" y="6647972"/>
            <a:ext cx="287020" cy="210028"/>
          </a:xfrm>
          <a:prstGeom prst="rect">
            <a:avLst/>
          </a:prstGeom>
          <a:solidFill>
            <a:srgbClr val="2F5F67">
              <a:alpha val="50000"/>
            </a:srgbClr>
          </a:solidFill>
          <a:ln/>
        </p:spPr>
      </p:sp>
      <p:sp>
        <p:nvSpPr>
          <p:cNvPr id="12" name="Shape 10"/>
          <p:cNvSpPr/>
          <p:nvPr/>
        </p:nvSpPr>
        <p:spPr>
          <a:xfrm>
            <a:off x="2743200" y="6704452"/>
            <a:ext cx="287020" cy="153548"/>
          </a:xfrm>
          <a:prstGeom prst="rect">
            <a:avLst/>
          </a:prstGeom>
          <a:solidFill>
            <a:srgbClr val="2F5F67">
              <a:alpha val="50000"/>
            </a:srgbClr>
          </a:solidFill>
          <a:ln/>
        </p:spPr>
      </p:sp>
      <p:sp>
        <p:nvSpPr>
          <p:cNvPr id="13" name="Shape 11"/>
          <p:cNvSpPr/>
          <p:nvPr/>
        </p:nvSpPr>
        <p:spPr>
          <a:xfrm>
            <a:off x="3048000" y="6662994"/>
            <a:ext cx="287020" cy="195006"/>
          </a:xfrm>
          <a:prstGeom prst="rect">
            <a:avLst/>
          </a:prstGeom>
          <a:solidFill>
            <a:srgbClr val="2F5F67">
              <a:alpha val="50000"/>
            </a:srgbClr>
          </a:solidFill>
          <a:ln/>
        </p:spPr>
      </p:sp>
      <p:sp>
        <p:nvSpPr>
          <p:cNvPr id="14" name="Shape 12"/>
          <p:cNvSpPr/>
          <p:nvPr/>
        </p:nvSpPr>
        <p:spPr>
          <a:xfrm>
            <a:off x="3352800" y="6668935"/>
            <a:ext cx="287020" cy="189065"/>
          </a:xfrm>
          <a:prstGeom prst="rect">
            <a:avLst/>
          </a:prstGeom>
          <a:solidFill>
            <a:srgbClr val="2F5F67">
              <a:alpha val="50000"/>
            </a:srgbClr>
          </a:solidFill>
          <a:ln/>
        </p:spPr>
      </p:sp>
      <p:sp>
        <p:nvSpPr>
          <p:cNvPr id="15" name="Shape 13"/>
          <p:cNvSpPr/>
          <p:nvPr/>
        </p:nvSpPr>
        <p:spPr>
          <a:xfrm>
            <a:off x="3657600" y="6609798"/>
            <a:ext cx="287020" cy="248202"/>
          </a:xfrm>
          <a:prstGeom prst="rect">
            <a:avLst/>
          </a:prstGeom>
          <a:solidFill>
            <a:srgbClr val="2F5F67">
              <a:alpha val="50000"/>
            </a:srgbClr>
          </a:solidFill>
          <a:ln/>
        </p:spPr>
      </p:sp>
      <p:sp>
        <p:nvSpPr>
          <p:cNvPr id="16" name="Shape 14"/>
          <p:cNvSpPr/>
          <p:nvPr/>
        </p:nvSpPr>
        <p:spPr>
          <a:xfrm>
            <a:off x="3962400" y="6473883"/>
            <a:ext cx="287020" cy="384117"/>
          </a:xfrm>
          <a:prstGeom prst="rect">
            <a:avLst/>
          </a:prstGeom>
          <a:solidFill>
            <a:srgbClr val="E35D45">
              <a:alpha val="78000"/>
            </a:srgbClr>
          </a:solidFill>
          <a:ln/>
        </p:spPr>
      </p:sp>
      <p:sp>
        <p:nvSpPr>
          <p:cNvPr id="17" name="Shape 15"/>
          <p:cNvSpPr/>
          <p:nvPr/>
        </p:nvSpPr>
        <p:spPr>
          <a:xfrm>
            <a:off x="4267200" y="6316880"/>
            <a:ext cx="287020" cy="541120"/>
          </a:xfrm>
          <a:prstGeom prst="rect">
            <a:avLst/>
          </a:prstGeom>
          <a:solidFill>
            <a:srgbClr val="E35D45">
              <a:alpha val="78000"/>
            </a:srgbClr>
          </a:solidFill>
          <a:ln/>
        </p:spPr>
      </p:sp>
      <p:sp>
        <p:nvSpPr>
          <p:cNvPr id="18" name="Shape 16"/>
          <p:cNvSpPr/>
          <p:nvPr/>
        </p:nvSpPr>
        <p:spPr>
          <a:xfrm>
            <a:off x="4572000" y="6146829"/>
            <a:ext cx="287020" cy="711171"/>
          </a:xfrm>
          <a:prstGeom prst="rect">
            <a:avLst/>
          </a:prstGeom>
          <a:solidFill>
            <a:srgbClr val="E35D45">
              <a:alpha val="78000"/>
            </a:srgbClr>
          </a:solidFill>
          <a:ln/>
        </p:spPr>
      </p:sp>
      <p:sp>
        <p:nvSpPr>
          <p:cNvPr id="19" name="Shape 17"/>
          <p:cNvSpPr/>
          <p:nvPr/>
        </p:nvSpPr>
        <p:spPr>
          <a:xfrm>
            <a:off x="4876800" y="6325380"/>
            <a:ext cx="287020" cy="532620"/>
          </a:xfrm>
          <a:prstGeom prst="rect">
            <a:avLst/>
          </a:prstGeom>
          <a:solidFill>
            <a:srgbClr val="E35D45">
              <a:alpha val="78000"/>
            </a:srgbClr>
          </a:solidFill>
          <a:ln/>
        </p:spPr>
      </p:sp>
      <p:sp>
        <p:nvSpPr>
          <p:cNvPr id="20" name="Shape 18"/>
          <p:cNvSpPr/>
          <p:nvPr/>
        </p:nvSpPr>
        <p:spPr>
          <a:xfrm>
            <a:off x="5181600" y="6355505"/>
            <a:ext cx="287020" cy="502495"/>
          </a:xfrm>
          <a:prstGeom prst="rect">
            <a:avLst/>
          </a:prstGeom>
          <a:solidFill>
            <a:srgbClr val="E35D45">
              <a:alpha val="78000"/>
            </a:srgbClr>
          </a:solidFill>
          <a:ln/>
        </p:spPr>
      </p:sp>
      <p:sp>
        <p:nvSpPr>
          <p:cNvPr id="21" name="Shape 19"/>
          <p:cNvSpPr/>
          <p:nvPr/>
        </p:nvSpPr>
        <p:spPr>
          <a:xfrm>
            <a:off x="5486400" y="6409910"/>
            <a:ext cx="287020" cy="448090"/>
          </a:xfrm>
          <a:prstGeom prst="rect">
            <a:avLst/>
          </a:prstGeom>
          <a:solidFill>
            <a:srgbClr val="E35D45">
              <a:alpha val="78000"/>
            </a:srgbClr>
          </a:solidFill>
          <a:ln/>
        </p:spPr>
      </p:sp>
      <p:sp>
        <p:nvSpPr>
          <p:cNvPr id="22" name="Shape 20"/>
          <p:cNvSpPr/>
          <p:nvPr/>
        </p:nvSpPr>
        <p:spPr>
          <a:xfrm>
            <a:off x="5791200" y="6438850"/>
            <a:ext cx="287020" cy="419150"/>
          </a:xfrm>
          <a:prstGeom prst="rect">
            <a:avLst/>
          </a:prstGeom>
          <a:solidFill>
            <a:srgbClr val="E35D45">
              <a:alpha val="78000"/>
            </a:srgbClr>
          </a:solidFill>
          <a:ln/>
        </p:spPr>
      </p:sp>
      <p:sp>
        <p:nvSpPr>
          <p:cNvPr id="23" name="Shape 21"/>
          <p:cNvSpPr/>
          <p:nvPr/>
        </p:nvSpPr>
        <p:spPr>
          <a:xfrm>
            <a:off x="6096000" y="6524774"/>
            <a:ext cx="287020" cy="333226"/>
          </a:xfrm>
          <a:prstGeom prst="rect">
            <a:avLst/>
          </a:prstGeom>
          <a:solidFill>
            <a:srgbClr val="E35D45">
              <a:alpha val="78000"/>
            </a:srgbClr>
          </a:solidFill>
          <a:ln/>
        </p:spPr>
      </p:sp>
      <p:sp>
        <p:nvSpPr>
          <p:cNvPr id="24" name="Shape 22"/>
          <p:cNvSpPr/>
          <p:nvPr/>
        </p:nvSpPr>
        <p:spPr>
          <a:xfrm>
            <a:off x="6400800" y="6582220"/>
            <a:ext cx="287020" cy="275780"/>
          </a:xfrm>
          <a:prstGeom prst="rect">
            <a:avLst/>
          </a:prstGeom>
          <a:solidFill>
            <a:srgbClr val="2F5F67">
              <a:alpha val="50000"/>
            </a:srgbClr>
          </a:solidFill>
          <a:ln/>
        </p:spPr>
      </p:sp>
      <p:sp>
        <p:nvSpPr>
          <p:cNvPr id="25" name="Shape 23"/>
          <p:cNvSpPr/>
          <p:nvPr/>
        </p:nvSpPr>
        <p:spPr>
          <a:xfrm>
            <a:off x="6705600" y="6587792"/>
            <a:ext cx="287020" cy="270208"/>
          </a:xfrm>
          <a:prstGeom prst="rect">
            <a:avLst/>
          </a:prstGeom>
          <a:solidFill>
            <a:srgbClr val="2F5F67">
              <a:alpha val="50000"/>
            </a:srgbClr>
          </a:solidFill>
          <a:ln/>
        </p:spPr>
      </p:sp>
      <p:sp>
        <p:nvSpPr>
          <p:cNvPr id="26" name="Shape 24"/>
          <p:cNvSpPr/>
          <p:nvPr/>
        </p:nvSpPr>
        <p:spPr>
          <a:xfrm>
            <a:off x="7010400" y="6559698"/>
            <a:ext cx="287020" cy="298302"/>
          </a:xfrm>
          <a:prstGeom prst="rect">
            <a:avLst/>
          </a:prstGeom>
          <a:solidFill>
            <a:srgbClr val="2F5F67">
              <a:alpha val="50000"/>
            </a:srgbClr>
          </a:solidFill>
          <a:ln/>
        </p:spPr>
      </p:sp>
      <p:sp>
        <p:nvSpPr>
          <p:cNvPr id="27" name="Shape 25"/>
          <p:cNvSpPr/>
          <p:nvPr/>
        </p:nvSpPr>
        <p:spPr>
          <a:xfrm>
            <a:off x="7315200" y="6457406"/>
            <a:ext cx="287020" cy="400594"/>
          </a:xfrm>
          <a:prstGeom prst="rect">
            <a:avLst/>
          </a:prstGeom>
          <a:solidFill>
            <a:srgbClr val="E35D45">
              <a:alpha val="78000"/>
            </a:srgbClr>
          </a:solidFill>
          <a:ln/>
        </p:spPr>
      </p:sp>
      <p:sp>
        <p:nvSpPr>
          <p:cNvPr id="28" name="Shape 26"/>
          <p:cNvSpPr/>
          <p:nvPr/>
        </p:nvSpPr>
        <p:spPr>
          <a:xfrm>
            <a:off x="7620000" y="6620765"/>
            <a:ext cx="287020" cy="237235"/>
          </a:xfrm>
          <a:prstGeom prst="rect">
            <a:avLst/>
          </a:prstGeom>
          <a:solidFill>
            <a:srgbClr val="2F5F67">
              <a:alpha val="50000"/>
            </a:srgbClr>
          </a:solidFill>
          <a:ln/>
        </p:spPr>
      </p:sp>
      <p:sp>
        <p:nvSpPr>
          <p:cNvPr id="29" name="Shape 27"/>
          <p:cNvSpPr/>
          <p:nvPr/>
        </p:nvSpPr>
        <p:spPr>
          <a:xfrm>
            <a:off x="7924800" y="6627266"/>
            <a:ext cx="287020" cy="230734"/>
          </a:xfrm>
          <a:prstGeom prst="rect">
            <a:avLst/>
          </a:prstGeom>
          <a:solidFill>
            <a:srgbClr val="2F5F67">
              <a:alpha val="50000"/>
            </a:srgbClr>
          </a:solidFill>
          <a:ln/>
        </p:spPr>
      </p:sp>
      <p:sp>
        <p:nvSpPr>
          <p:cNvPr id="30" name="Shape 28"/>
          <p:cNvSpPr/>
          <p:nvPr/>
        </p:nvSpPr>
        <p:spPr>
          <a:xfrm>
            <a:off x="8229600" y="6655344"/>
            <a:ext cx="287020" cy="202656"/>
          </a:xfrm>
          <a:prstGeom prst="rect">
            <a:avLst/>
          </a:prstGeom>
          <a:solidFill>
            <a:srgbClr val="2F5F67">
              <a:alpha val="50000"/>
            </a:srgbClr>
          </a:solidFill>
          <a:ln/>
        </p:spPr>
      </p:sp>
      <p:sp>
        <p:nvSpPr>
          <p:cNvPr id="31" name="Shape 29"/>
          <p:cNvSpPr/>
          <p:nvPr/>
        </p:nvSpPr>
        <p:spPr>
          <a:xfrm>
            <a:off x="8534400" y="6699576"/>
            <a:ext cx="287020" cy="158424"/>
          </a:xfrm>
          <a:prstGeom prst="rect">
            <a:avLst/>
          </a:prstGeom>
          <a:solidFill>
            <a:srgbClr val="2F5F67">
              <a:alpha val="50000"/>
            </a:srgbClr>
          </a:solidFill>
          <a:ln/>
        </p:spPr>
      </p:sp>
      <p:sp>
        <p:nvSpPr>
          <p:cNvPr id="32" name="Shape 30"/>
          <p:cNvSpPr/>
          <p:nvPr/>
        </p:nvSpPr>
        <p:spPr>
          <a:xfrm>
            <a:off x="8839200" y="6679274"/>
            <a:ext cx="287020" cy="178726"/>
          </a:xfrm>
          <a:prstGeom prst="rect">
            <a:avLst/>
          </a:prstGeom>
          <a:solidFill>
            <a:srgbClr val="2F5F67">
              <a:alpha val="50000"/>
            </a:srgbClr>
          </a:solidFill>
          <a:ln/>
        </p:spPr>
      </p:sp>
      <p:sp>
        <p:nvSpPr>
          <p:cNvPr id="33" name="Shape 31"/>
          <p:cNvSpPr/>
          <p:nvPr/>
        </p:nvSpPr>
        <p:spPr>
          <a:xfrm>
            <a:off x="9144000" y="6673001"/>
            <a:ext cx="287020" cy="184999"/>
          </a:xfrm>
          <a:prstGeom prst="rect">
            <a:avLst/>
          </a:prstGeom>
          <a:solidFill>
            <a:srgbClr val="2F5F67">
              <a:alpha val="50000"/>
            </a:srgbClr>
          </a:solidFill>
          <a:ln/>
        </p:spPr>
      </p:sp>
      <p:sp>
        <p:nvSpPr>
          <p:cNvPr id="34" name="Shape 32"/>
          <p:cNvSpPr/>
          <p:nvPr/>
        </p:nvSpPr>
        <p:spPr>
          <a:xfrm>
            <a:off x="9448800" y="6675068"/>
            <a:ext cx="287020" cy="182932"/>
          </a:xfrm>
          <a:prstGeom prst="rect">
            <a:avLst/>
          </a:prstGeom>
          <a:solidFill>
            <a:srgbClr val="2F5F67">
              <a:alpha val="50000"/>
            </a:srgbClr>
          </a:solidFill>
          <a:ln/>
        </p:spPr>
      </p:sp>
      <p:sp>
        <p:nvSpPr>
          <p:cNvPr id="35" name="Shape 33"/>
          <p:cNvSpPr/>
          <p:nvPr/>
        </p:nvSpPr>
        <p:spPr>
          <a:xfrm>
            <a:off x="9753600" y="6647972"/>
            <a:ext cx="287020" cy="210028"/>
          </a:xfrm>
          <a:prstGeom prst="rect">
            <a:avLst/>
          </a:prstGeom>
          <a:solidFill>
            <a:srgbClr val="2F5F67">
              <a:alpha val="50000"/>
            </a:srgbClr>
          </a:solidFill>
          <a:ln/>
        </p:spPr>
      </p:sp>
      <p:sp>
        <p:nvSpPr>
          <p:cNvPr id="36" name="Shape 34"/>
          <p:cNvSpPr/>
          <p:nvPr/>
        </p:nvSpPr>
        <p:spPr>
          <a:xfrm>
            <a:off x="10058400" y="6466043"/>
            <a:ext cx="287020" cy="391957"/>
          </a:xfrm>
          <a:prstGeom prst="rect">
            <a:avLst/>
          </a:prstGeom>
          <a:solidFill>
            <a:srgbClr val="E35D45">
              <a:alpha val="78000"/>
            </a:srgbClr>
          </a:solidFill>
          <a:ln/>
        </p:spPr>
      </p:sp>
      <p:sp>
        <p:nvSpPr>
          <p:cNvPr id="37" name="Shape 35"/>
          <p:cNvSpPr/>
          <p:nvPr/>
        </p:nvSpPr>
        <p:spPr>
          <a:xfrm>
            <a:off x="10363200" y="6360066"/>
            <a:ext cx="287020" cy="497934"/>
          </a:xfrm>
          <a:prstGeom prst="rect">
            <a:avLst/>
          </a:prstGeom>
          <a:solidFill>
            <a:srgbClr val="E35D45">
              <a:alpha val="78000"/>
            </a:srgbClr>
          </a:solidFill>
          <a:ln/>
        </p:spPr>
      </p:sp>
      <p:sp>
        <p:nvSpPr>
          <p:cNvPr id="38" name="Shape 36"/>
          <p:cNvSpPr/>
          <p:nvPr/>
        </p:nvSpPr>
        <p:spPr>
          <a:xfrm>
            <a:off x="10668000" y="6434338"/>
            <a:ext cx="287020" cy="423662"/>
          </a:xfrm>
          <a:prstGeom prst="rect">
            <a:avLst/>
          </a:prstGeom>
          <a:solidFill>
            <a:srgbClr val="E35D45">
              <a:alpha val="78000"/>
            </a:srgbClr>
          </a:solidFill>
          <a:ln/>
        </p:spPr>
      </p:sp>
      <p:sp>
        <p:nvSpPr>
          <p:cNvPr id="39" name="Shape 37"/>
          <p:cNvSpPr/>
          <p:nvPr/>
        </p:nvSpPr>
        <p:spPr>
          <a:xfrm>
            <a:off x="10972800" y="6317583"/>
            <a:ext cx="287020" cy="540417"/>
          </a:xfrm>
          <a:prstGeom prst="rect">
            <a:avLst/>
          </a:prstGeom>
          <a:solidFill>
            <a:srgbClr val="E35D45">
              <a:alpha val="78000"/>
            </a:srgbClr>
          </a:solidFill>
          <a:ln/>
        </p:spPr>
      </p:sp>
      <p:sp>
        <p:nvSpPr>
          <p:cNvPr id="40" name="Shape 38"/>
          <p:cNvSpPr/>
          <p:nvPr/>
        </p:nvSpPr>
        <p:spPr>
          <a:xfrm>
            <a:off x="11277600" y="6392429"/>
            <a:ext cx="287020" cy="465571"/>
          </a:xfrm>
          <a:prstGeom prst="rect">
            <a:avLst/>
          </a:prstGeom>
          <a:solidFill>
            <a:srgbClr val="E35D45">
              <a:alpha val="78000"/>
            </a:srgbClr>
          </a:solidFill>
          <a:ln/>
        </p:spPr>
      </p:sp>
      <p:sp>
        <p:nvSpPr>
          <p:cNvPr id="41" name="Shape 39"/>
          <p:cNvSpPr/>
          <p:nvPr/>
        </p:nvSpPr>
        <p:spPr>
          <a:xfrm>
            <a:off x="11582400" y="6328962"/>
            <a:ext cx="287020" cy="529038"/>
          </a:xfrm>
          <a:prstGeom prst="rect">
            <a:avLst/>
          </a:prstGeom>
          <a:solidFill>
            <a:srgbClr val="E35D45">
              <a:alpha val="78000"/>
            </a:srgbClr>
          </a:solidFill>
          <a:ln/>
        </p:spPr>
      </p:sp>
      <p:sp>
        <p:nvSpPr>
          <p:cNvPr id="42" name="Shape 40"/>
          <p:cNvSpPr/>
          <p:nvPr/>
        </p:nvSpPr>
        <p:spPr>
          <a:xfrm>
            <a:off x="11887200" y="6478865"/>
            <a:ext cx="287020" cy="379135"/>
          </a:xfrm>
          <a:prstGeom prst="rect">
            <a:avLst/>
          </a:prstGeom>
          <a:solidFill>
            <a:srgbClr val="E35D45">
              <a:alpha val="78000"/>
            </a:srgbClr>
          </a:solidFill>
          <a:ln/>
        </p:spPr>
      </p:sp>
      <p:sp>
        <p:nvSpPr>
          <p:cNvPr id="43" name="Shape 41"/>
          <p:cNvSpPr/>
          <p:nvPr/>
        </p:nvSpPr>
        <p:spPr>
          <a:xfrm>
            <a:off x="0" y="6546850"/>
            <a:ext cx="12192000" cy="12700"/>
          </a:xfrm>
          <a:prstGeom prst="rect">
            <a:avLst/>
          </a:prstGeom>
          <a:solidFill>
            <a:srgbClr val="F0A999">
              <a:alpha val="50000"/>
            </a:srgbClr>
          </a:solidFill>
          <a:ln/>
        </p:spPr>
      </p:sp>
      <p:sp>
        <p:nvSpPr>
          <p:cNvPr id="44" name="Text 42"/>
          <p:cNvSpPr/>
          <p:nvPr/>
        </p:nvSpPr>
        <p:spPr>
          <a:xfrm>
            <a:off x="889000" y="2527300"/>
            <a:ext cx="5715000" cy="228600"/>
          </a:xfrm>
          <a:prstGeom prst="rect">
            <a:avLst/>
          </a:prstGeom>
          <a:noFill/>
          <a:ln/>
        </p:spPr>
        <p:txBody>
          <a:bodyPr wrap="square" rtlCol="0" anchor="ctr"/>
          <a:lstStyle/>
          <a:p>
            <a:pPr indent="0" marL="0">
              <a:buNone/>
            </a:pPr>
            <a:r>
              <a:rPr lang="en-US" sz="1100" b="1" spc="180" kern="0" dirty="0">
                <a:solidFill>
                  <a:srgbClr val="E35D45"/>
                </a:solidFill>
                <a:latin typeface="Calibri" pitchFamily="34" charset="0"/>
                <a:ea typeface="Calibri" pitchFamily="34" charset="-122"/>
                <a:cs typeface="Calibri" pitchFamily="34" charset="-120"/>
              </a:rPr>
              <a:t>CHAPTER 05 OF 06</a:t>
            </a:r>
            <a:endParaRPr lang="en-US" sz="1100" dirty="0"/>
          </a:p>
        </p:txBody>
      </p:sp>
      <p:sp>
        <p:nvSpPr>
          <p:cNvPr id="45" name="Text 43"/>
          <p:cNvSpPr/>
          <p:nvPr/>
        </p:nvSpPr>
        <p:spPr>
          <a:xfrm>
            <a:off x="889000" y="2794000"/>
            <a:ext cx="6350000" cy="762000"/>
          </a:xfrm>
          <a:prstGeom prst="rect">
            <a:avLst/>
          </a:prstGeom>
          <a:noFill/>
          <a:ln/>
        </p:spPr>
        <p:txBody>
          <a:bodyPr wrap="square"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Discussion</a:t>
            </a:r>
            <a:endParaRPr lang="en-US" sz="4600" dirty="0"/>
          </a:p>
        </p:txBody>
      </p:sp>
      <p:sp>
        <p:nvSpPr>
          <p:cNvPr id="46" name="Text 44"/>
          <p:cNvSpPr/>
          <p:nvPr/>
        </p:nvSpPr>
        <p:spPr>
          <a:xfrm>
            <a:off x="889000" y="3683000"/>
            <a:ext cx="5461000" cy="635000"/>
          </a:xfrm>
          <a:prstGeom prst="rect">
            <a:avLst/>
          </a:prstGeom>
          <a:noFill/>
          <a:ln/>
        </p:spPr>
        <p:txBody>
          <a:bodyPr wrap="square" rtlCol="0" anchor="t"/>
          <a:lstStyle/>
          <a:p>
            <a:pPr indent="0" marL="0">
              <a:lnSpc>
                <a:spcPct val="140000"/>
              </a:lnSpc>
              <a:buNone/>
            </a:pPr>
            <a:r>
              <a:rPr lang="en-US" sz="1500" dirty="0">
                <a:solidFill>
                  <a:srgbClr val="AFC6C8"/>
                </a:solidFill>
                <a:latin typeface="Calibri" pitchFamily="34" charset="0"/>
                <a:ea typeface="Calibri" pitchFamily="34" charset="-122"/>
                <a:cs typeface="Calibri" pitchFamily="34" charset="-120"/>
              </a:rPr>
              <a:t>What the numbers mean, how large a difference really is, and where the limits sit.</a:t>
            </a:r>
            <a:endParaRPr lang="en-US" sz="1500" dirty="0"/>
          </a:p>
        </p:txBody>
      </p:sp>
      <p:sp>
        <p:nvSpPr>
          <p:cNvPr id="47" name="Shape 45"/>
          <p:cNvSpPr/>
          <p:nvPr/>
        </p:nvSpPr>
        <p:spPr>
          <a:xfrm>
            <a:off x="889000" y="4445000"/>
            <a:ext cx="546100" cy="44450"/>
          </a:xfrm>
          <a:prstGeom prst="roundRect">
            <a:avLst>
              <a:gd name="adj" fmla="val 41143"/>
            </a:avLst>
          </a:prstGeom>
          <a:solidFill>
            <a:srgbClr val="2F5F67"/>
          </a:solidFill>
          <a:ln/>
        </p:spPr>
      </p:sp>
      <p:sp>
        <p:nvSpPr>
          <p:cNvPr id="48" name="Shape 46"/>
          <p:cNvSpPr/>
          <p:nvPr/>
        </p:nvSpPr>
        <p:spPr>
          <a:xfrm>
            <a:off x="1498600" y="4445000"/>
            <a:ext cx="546100" cy="44450"/>
          </a:xfrm>
          <a:prstGeom prst="roundRect">
            <a:avLst>
              <a:gd name="adj" fmla="val 41143"/>
            </a:avLst>
          </a:prstGeom>
          <a:solidFill>
            <a:srgbClr val="2F5F67"/>
          </a:solidFill>
          <a:ln/>
        </p:spPr>
      </p:sp>
      <p:sp>
        <p:nvSpPr>
          <p:cNvPr id="49" name="Shape 47"/>
          <p:cNvSpPr/>
          <p:nvPr/>
        </p:nvSpPr>
        <p:spPr>
          <a:xfrm>
            <a:off x="2108200" y="4445000"/>
            <a:ext cx="546100" cy="44450"/>
          </a:xfrm>
          <a:prstGeom prst="roundRect">
            <a:avLst>
              <a:gd name="adj" fmla="val 41143"/>
            </a:avLst>
          </a:prstGeom>
          <a:solidFill>
            <a:srgbClr val="2F5F67"/>
          </a:solidFill>
          <a:ln/>
        </p:spPr>
      </p:sp>
      <p:sp>
        <p:nvSpPr>
          <p:cNvPr id="50" name="Shape 48"/>
          <p:cNvSpPr/>
          <p:nvPr/>
        </p:nvSpPr>
        <p:spPr>
          <a:xfrm>
            <a:off x="2717800" y="4445000"/>
            <a:ext cx="546100" cy="44450"/>
          </a:xfrm>
          <a:prstGeom prst="roundRect">
            <a:avLst>
              <a:gd name="adj" fmla="val 41143"/>
            </a:avLst>
          </a:prstGeom>
          <a:solidFill>
            <a:srgbClr val="2F5F67"/>
          </a:solidFill>
          <a:ln/>
        </p:spPr>
      </p:sp>
      <p:sp>
        <p:nvSpPr>
          <p:cNvPr id="51" name="Shape 49"/>
          <p:cNvSpPr/>
          <p:nvPr/>
        </p:nvSpPr>
        <p:spPr>
          <a:xfrm>
            <a:off x="3327400" y="4445000"/>
            <a:ext cx="546100" cy="44450"/>
          </a:xfrm>
          <a:prstGeom prst="roundRect">
            <a:avLst>
              <a:gd name="adj" fmla="val 41143"/>
            </a:avLst>
          </a:prstGeom>
          <a:solidFill>
            <a:srgbClr val="E35D45"/>
          </a:solidFill>
          <a:ln/>
        </p:spPr>
      </p:sp>
      <p:sp>
        <p:nvSpPr>
          <p:cNvPr id="52" name="Shape 50"/>
          <p:cNvSpPr/>
          <p:nvPr/>
        </p:nvSpPr>
        <p:spPr>
          <a:xfrm>
            <a:off x="3937000" y="4445000"/>
            <a:ext cx="546100" cy="44450"/>
          </a:xfrm>
          <a:prstGeom prst="roundRect">
            <a:avLst>
              <a:gd name="adj" fmla="val 41143"/>
            </a:avLst>
          </a:prstGeom>
          <a:solidFill>
            <a:srgbClr val="2F5F67"/>
          </a:solidFill>
          <a:ln/>
        </p:spPr>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7E9A9C"/>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DISCUSSION</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The operational question dominates</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52600"/>
            <a:ext cx="5588000" cy="2590800"/>
          </a:xfrm>
          <a:prstGeom prst="roundRect">
            <a:avLst>
              <a:gd name="adj" fmla="val 4941"/>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90600" y="1968500"/>
            <a:ext cx="5016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THREE DAYS AHEAD, AT THE LOOSEST BUDGET</a:t>
            </a:r>
            <a:endParaRPr lang="en-US" sz="900" dirty="0"/>
          </a:p>
        </p:txBody>
      </p:sp>
      <p:sp>
        <p:nvSpPr>
          <p:cNvPr id="7" name="Text 5"/>
          <p:cNvSpPr/>
          <p:nvPr/>
        </p:nvSpPr>
        <p:spPr>
          <a:xfrm>
            <a:off x="990600" y="2311400"/>
            <a:ext cx="5016500" cy="215900"/>
          </a:xfrm>
          <a:prstGeom prst="rect">
            <a:avLst/>
          </a:prstGeom>
          <a:noFill/>
          <a:ln/>
        </p:spPr>
        <p:txBody>
          <a:bodyPr wrap="square" rtlCol="0" anchor="ctr"/>
          <a:lstStyle/>
          <a:p>
            <a:pPr indent="0" marL="0">
              <a:buNone/>
            </a:pPr>
            <a:r>
              <a:rPr lang="en-US" sz="1100" dirty="0">
                <a:solidFill>
                  <a:srgbClr val="5C7678"/>
                </a:solidFill>
                <a:latin typeface="Calibri" pitchFamily="34" charset="0"/>
                <a:ea typeface="Calibri" pitchFamily="34" charset="-122"/>
                <a:cs typeface="Calibri" pitchFamily="34" charset="-120"/>
              </a:rPr>
              <a:t>Climatology — uses no recent information at all</a:t>
            </a:r>
            <a:endParaRPr lang="en-US" sz="1100" dirty="0"/>
          </a:p>
        </p:txBody>
      </p:sp>
      <p:sp>
        <p:nvSpPr>
          <p:cNvPr id="8" name="Shape 6"/>
          <p:cNvSpPr/>
          <p:nvPr/>
        </p:nvSpPr>
        <p:spPr>
          <a:xfrm>
            <a:off x="990600" y="2565400"/>
            <a:ext cx="4025900" cy="292100"/>
          </a:xfrm>
          <a:prstGeom prst="roundRect">
            <a:avLst>
              <a:gd name="adj" fmla="val 15652"/>
            </a:avLst>
          </a:prstGeom>
          <a:solidFill>
            <a:srgbClr val="C7D3D3"/>
          </a:solidFill>
          <a:ln/>
        </p:spPr>
      </p:sp>
      <p:sp>
        <p:nvSpPr>
          <p:cNvPr id="9" name="Text 7"/>
          <p:cNvSpPr/>
          <p:nvPr/>
        </p:nvSpPr>
        <p:spPr>
          <a:xfrm>
            <a:off x="5118100" y="2578100"/>
            <a:ext cx="889000" cy="279400"/>
          </a:xfrm>
          <a:prstGeom prst="rect">
            <a:avLst/>
          </a:prstGeom>
          <a:noFill/>
          <a:ln/>
        </p:spPr>
        <p:txBody>
          <a:bodyPr wrap="square" rtlCol="0" anchor="ctr"/>
          <a:lstStyle/>
          <a:p>
            <a:pPr indent="0" marL="0">
              <a:buNone/>
            </a:pPr>
            <a:r>
              <a:rPr lang="en-US" sz="1500" b="1" dirty="0">
                <a:solidFill>
                  <a:srgbClr val="16343A"/>
                </a:solidFill>
                <a:latin typeface="Calibri" pitchFamily="34" charset="0"/>
                <a:ea typeface="Calibri" pitchFamily="34" charset="-122"/>
                <a:cs typeface="Calibri" pitchFamily="34" charset="-120"/>
              </a:rPr>
              <a:t>0.816</a:t>
            </a:r>
            <a:endParaRPr lang="en-US" sz="1500" dirty="0"/>
          </a:p>
        </p:txBody>
      </p:sp>
      <p:sp>
        <p:nvSpPr>
          <p:cNvPr id="10" name="Text 8"/>
          <p:cNvSpPr/>
          <p:nvPr/>
        </p:nvSpPr>
        <p:spPr>
          <a:xfrm>
            <a:off x="990600" y="3073400"/>
            <a:ext cx="5016500" cy="215900"/>
          </a:xfrm>
          <a:prstGeom prst="rect">
            <a:avLst/>
          </a:prstGeom>
          <a:noFill/>
          <a:ln/>
        </p:spPr>
        <p:txBody>
          <a:bodyPr wrap="square" rtlCol="0" anchor="ctr"/>
          <a:lstStyle/>
          <a:p>
            <a:pPr indent="0" marL="0">
              <a:buNone/>
            </a:pPr>
            <a:r>
              <a:rPr lang="en-US" sz="1100" dirty="0">
                <a:solidFill>
                  <a:srgbClr val="5C7678"/>
                </a:solidFill>
                <a:latin typeface="Calibri" pitchFamily="34" charset="0"/>
                <a:ea typeface="Calibri" pitchFamily="34" charset="-122"/>
                <a:cs typeface="Calibri" pitchFamily="34" charset="-120"/>
              </a:rPr>
              <a:t>The best fitted model in the study</a:t>
            </a:r>
            <a:endParaRPr lang="en-US" sz="1100" dirty="0"/>
          </a:p>
        </p:txBody>
      </p:sp>
      <p:sp>
        <p:nvSpPr>
          <p:cNvPr id="11" name="Shape 9"/>
          <p:cNvSpPr/>
          <p:nvPr/>
        </p:nvSpPr>
        <p:spPr>
          <a:xfrm>
            <a:off x="990600" y="3327400"/>
            <a:ext cx="4083050" cy="292100"/>
          </a:xfrm>
          <a:prstGeom prst="roundRect">
            <a:avLst>
              <a:gd name="adj" fmla="val 15652"/>
            </a:avLst>
          </a:prstGeom>
          <a:solidFill>
            <a:srgbClr val="E35D45"/>
          </a:solidFill>
          <a:ln/>
        </p:spPr>
      </p:sp>
      <p:sp>
        <p:nvSpPr>
          <p:cNvPr id="12" name="Text 10"/>
          <p:cNvSpPr/>
          <p:nvPr/>
        </p:nvSpPr>
        <p:spPr>
          <a:xfrm>
            <a:off x="5118100" y="3340100"/>
            <a:ext cx="889000" cy="279400"/>
          </a:xfrm>
          <a:prstGeom prst="rect">
            <a:avLst/>
          </a:prstGeom>
          <a:noFill/>
          <a:ln/>
        </p:spPr>
        <p:txBody>
          <a:bodyPr wrap="square" rtlCol="0" anchor="ctr"/>
          <a:lstStyle/>
          <a:p>
            <a:pPr indent="0" marL="0">
              <a:buNone/>
            </a:pPr>
            <a:r>
              <a:rPr lang="en-US" sz="1500" b="1" dirty="0">
                <a:solidFill>
                  <a:srgbClr val="16343A"/>
                </a:solidFill>
                <a:latin typeface="Calibri" pitchFamily="34" charset="0"/>
                <a:ea typeface="Calibri" pitchFamily="34" charset="-122"/>
                <a:cs typeface="Calibri" pitchFamily="34" charset="-120"/>
              </a:rPr>
              <a:t>0.827</a:t>
            </a:r>
            <a:endParaRPr lang="en-US" sz="1500" dirty="0"/>
          </a:p>
        </p:txBody>
      </p:sp>
      <p:sp>
        <p:nvSpPr>
          <p:cNvPr id="13" name="Text 11"/>
          <p:cNvSpPr/>
          <p:nvPr/>
        </p:nvSpPr>
        <p:spPr>
          <a:xfrm>
            <a:off x="990600" y="3822700"/>
            <a:ext cx="5016500" cy="444500"/>
          </a:xfrm>
          <a:prstGeom prst="rect">
            <a:avLst/>
          </a:prstGeom>
          <a:noFill/>
          <a:ln/>
        </p:spPr>
        <p:txBody>
          <a:bodyPr wrap="square" rtlCol="0" anchor="t"/>
          <a:lstStyle/>
          <a:p>
            <a:pPr indent="0" marL="0">
              <a:lnSpc>
                <a:spcPct val="140000"/>
              </a:lnSpc>
              <a:buNone/>
            </a:pPr>
            <a:r>
              <a:rPr lang="en-US" sz="1100" dirty="0">
                <a:solidFill>
                  <a:srgbClr val="5C7678"/>
                </a:solidFill>
                <a:latin typeface="Calibri" pitchFamily="34" charset="0"/>
                <a:ea typeface="Calibri" pitchFamily="34" charset="-122"/>
                <a:cs typeface="Calibri" pitchFamily="34" charset="-120"/>
              </a:rPr>
              <a:t>A forecast using nothing but the calendar lands within roughly a hundredth of the best model fitted here.</a:t>
            </a:r>
            <a:endParaRPr lang="en-US" sz="1100" dirty="0"/>
          </a:p>
        </p:txBody>
      </p:sp>
      <p:sp>
        <p:nvSpPr>
          <p:cNvPr id="14" name="Shape 12"/>
          <p:cNvSpPr/>
          <p:nvPr/>
        </p:nvSpPr>
        <p:spPr>
          <a:xfrm>
            <a:off x="6540500" y="1752600"/>
            <a:ext cx="4953000" cy="2590800"/>
          </a:xfrm>
          <a:prstGeom prst="roundRect">
            <a:avLst>
              <a:gd name="adj" fmla="val 4941"/>
            </a:avLst>
          </a:prstGeom>
          <a:solidFill>
            <a:srgbClr val="FFFFFF"/>
          </a:solidFill>
          <a:ln/>
          <a:effectLst>
            <a:outerShdw sx="100000" sy="100000" kx="0" ky="0" algn="bl" rotWithShape="0" blurRad="127000" dist="38100" dir="5400000">
              <a:srgbClr val="16343A">
                <a:alpha val="16000"/>
              </a:srgbClr>
            </a:outerShdw>
          </a:effectLst>
        </p:spPr>
      </p:sp>
      <p:sp>
        <p:nvSpPr>
          <p:cNvPr id="15" name="Text 13"/>
          <p:cNvSpPr/>
          <p:nvPr/>
        </p:nvSpPr>
        <p:spPr>
          <a:xfrm>
            <a:off x="6832600" y="1968500"/>
            <a:ext cx="4381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BUT NOT AN ARGUMENT AGAINST MODELLING</a:t>
            </a:r>
            <a:endParaRPr lang="en-US" sz="900" dirty="0"/>
          </a:p>
        </p:txBody>
      </p:sp>
      <p:sp>
        <p:nvSpPr>
          <p:cNvPr id="16" name="Text 14"/>
          <p:cNvSpPr/>
          <p:nvPr/>
        </p:nvSpPr>
        <p:spPr>
          <a:xfrm>
            <a:off x="6832600" y="2311400"/>
            <a:ext cx="4381500" cy="1905000"/>
          </a:xfrm>
          <a:prstGeom prst="rect">
            <a:avLst/>
          </a:prstGeom>
          <a:noFill/>
          <a:ln/>
        </p:spPr>
        <p:txBody>
          <a:bodyPr wrap="square" rtlCol="0" anchor="t"/>
          <a:lstStyle/>
          <a:p>
            <a:pPr marL="203200" indent="-203200">
              <a:lnSpc>
                <a:spcPct val="150000"/>
              </a:lnSpc>
              <a:spcAft>
                <a:spcPts val="1200"/>
              </a:spcAft>
              <a:buSzPct val="100000"/>
              <a:buChar char="●"/>
            </a:pPr>
            <a:r>
              <a:rPr lang="en-US" sz="1200" dirty="0">
                <a:solidFill>
                  <a:srgbClr val="1C2B2C"/>
                </a:solidFill>
                <a:latin typeface="Calibri" pitchFamily="34" charset="0"/>
                <a:ea typeface="Calibri" pitchFamily="34" charset="-122"/>
                <a:cs typeface="Calibri" pitchFamily="34" charset="-120"/>
              </a:rPr>
              <a:t>ARIMA and the GRU both earn real gains over persistence</a:t>
            </a:r>
            <a:endParaRPr lang="en-US" sz="1200" dirty="0"/>
          </a:p>
          <a:p>
            <a:pPr marL="203200" indent="-203200">
              <a:lnSpc>
                <a:spcPct val="150000"/>
              </a:lnSpc>
              <a:spcAft>
                <a:spcPts val="1200"/>
              </a:spcAft>
              <a:buSzPct val="100000"/>
              <a:buChar char="●"/>
            </a:pPr>
            <a:r>
              <a:rPr lang="en-US" sz="1200" dirty="0">
                <a:solidFill>
                  <a:srgbClr val="1C2B2C"/>
                </a:solidFill>
                <a:latin typeface="Calibri" pitchFamily="34" charset="0"/>
                <a:ea typeface="Calibri" pitchFamily="34" charset="-122"/>
                <a:cs typeface="Calibri" pitchFamily="34" charset="-120"/>
              </a:rPr>
              <a:t>A better point forecast still narrows the range of thresholds worth considering</a:t>
            </a:r>
            <a:endParaRPr lang="en-US" sz="1200" dirty="0"/>
          </a:p>
          <a:p>
            <a:pPr marL="203200" indent="-203200">
              <a:lnSpc>
                <a:spcPct val="150000"/>
              </a:lnSpc>
              <a:spcAft>
                <a:spcPts val="1200"/>
              </a:spcAft>
              <a:buSzPct val="100000"/>
              <a:buChar char="●"/>
            </a:pPr>
            <a:r>
              <a:rPr lang="en-US" sz="1200" dirty="0">
                <a:solidFill>
                  <a:srgbClr val="1C2B2C"/>
                </a:solidFill>
                <a:latin typeface="Calibri" pitchFamily="34" charset="0"/>
                <a:ea typeface="Calibri" pitchFamily="34" charset="-122"/>
                <a:cs typeface="Calibri" pitchFamily="34" charset="-120"/>
              </a:rPr>
              <a:t>The argument is about where the leverage sits, not whether to model at all</a:t>
            </a:r>
            <a:endParaRPr lang="en-US" sz="1200" dirty="0"/>
          </a:p>
        </p:txBody>
      </p:sp>
      <p:sp>
        <p:nvSpPr>
          <p:cNvPr id="17" name="Shape 15"/>
          <p:cNvSpPr/>
          <p:nvPr/>
        </p:nvSpPr>
        <p:spPr>
          <a:xfrm>
            <a:off x="698500" y="4546600"/>
            <a:ext cx="10795000" cy="1651000"/>
          </a:xfrm>
          <a:prstGeom prst="roundRect">
            <a:avLst>
              <a:gd name="adj" fmla="val 7754"/>
            </a:avLst>
          </a:prstGeom>
          <a:solidFill>
            <a:srgbClr val="16343A"/>
          </a:solidFill>
          <a:ln/>
        </p:spPr>
      </p:sp>
      <p:sp>
        <p:nvSpPr>
          <p:cNvPr id="18" name="Text 16"/>
          <p:cNvSpPr/>
          <p:nvPr/>
        </p:nvSpPr>
        <p:spPr>
          <a:xfrm>
            <a:off x="1054100" y="4762500"/>
            <a:ext cx="3175000" cy="190500"/>
          </a:xfrm>
          <a:prstGeom prst="rect">
            <a:avLst/>
          </a:prstGeom>
          <a:noFill/>
          <a:ln/>
        </p:spPr>
        <p:txBody>
          <a:bodyPr wrap="square" rtlCol="0" anchor="ctr"/>
          <a:lstStyle/>
          <a:p>
            <a:pPr indent="0" marL="0">
              <a:buNone/>
            </a:pPr>
            <a:r>
              <a:rPr lang="en-US" sz="950" b="1" spc="160" kern="0" dirty="0">
                <a:solidFill>
                  <a:srgbClr val="F0A999"/>
                </a:solidFill>
                <a:latin typeface="Calibri" pitchFamily="34" charset="0"/>
                <a:ea typeface="Calibri" pitchFamily="34" charset="-122"/>
                <a:cs typeface="Calibri" pitchFamily="34" charset="-120"/>
              </a:rPr>
              <a:t>THE RECOMMENDATION</a:t>
            </a:r>
            <a:endParaRPr lang="en-US" sz="950" dirty="0"/>
          </a:p>
        </p:txBody>
      </p:sp>
      <p:sp>
        <p:nvSpPr>
          <p:cNvPr id="19" name="Text 17"/>
          <p:cNvSpPr/>
          <p:nvPr/>
        </p:nvSpPr>
        <p:spPr>
          <a:xfrm>
            <a:off x="1054100" y="5029200"/>
            <a:ext cx="10096500" cy="1016000"/>
          </a:xfrm>
          <a:prstGeom prst="rect">
            <a:avLst/>
          </a:prstGeom>
          <a:noFill/>
          <a:ln/>
        </p:spPr>
        <p:txBody>
          <a:bodyPr wrap="square" rtlCol="0" anchor="t"/>
          <a:lstStyle/>
          <a:p>
            <a:pPr indent="0" marL="0">
              <a:lnSpc>
                <a:spcPct val="145000"/>
              </a:lnSpc>
              <a:buNone/>
            </a:pPr>
            <a:r>
              <a:rPr lang="en-US" sz="1500" dirty="0">
                <a:solidFill>
                  <a:srgbClr val="FFFFFF"/>
                </a:solidFill>
                <a:latin typeface="Calibri" pitchFamily="34" charset="0"/>
                <a:ea typeface="Calibri" pitchFamily="34" charset="-122"/>
                <a:cs typeface="Calibri" pitchFamily="34" charset="-120"/>
              </a:rPr>
              <a:t>The alarm budget is the policy instrument; the forecasting model only supplies its input. Fix the budget with the health authority first — and treat the choice of model as a secondary refinement of a curve whose shape is already mostly set.</a:t>
            </a:r>
            <a:endParaRPr lang="en-US" sz="15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DISCUSSION</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How large is a difference between models?</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52600"/>
            <a:ext cx="6350000" cy="2832100"/>
          </a:xfrm>
          <a:prstGeom prst="roundRect">
            <a:avLst>
              <a:gd name="adj" fmla="val 4520"/>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90600" y="1968500"/>
            <a:ext cx="5715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MEASURED IN rMAE — ON THE SAME SCALE</a:t>
            </a:r>
            <a:endParaRPr lang="en-US" sz="900" dirty="0"/>
          </a:p>
        </p:txBody>
      </p:sp>
      <p:sp>
        <p:nvSpPr>
          <p:cNvPr id="7" name="Text 5"/>
          <p:cNvSpPr/>
          <p:nvPr/>
        </p:nvSpPr>
        <p:spPr>
          <a:xfrm>
            <a:off x="990600" y="2298700"/>
            <a:ext cx="5715000" cy="215900"/>
          </a:xfrm>
          <a:prstGeom prst="rect">
            <a:avLst/>
          </a:prstGeom>
          <a:noFill/>
          <a:ln/>
        </p:spPr>
        <p:txBody>
          <a:bodyPr wrap="square" rtlCol="0" anchor="ctr"/>
          <a:lstStyle/>
          <a:p>
            <a:pPr indent="0" marL="0">
              <a:buNone/>
            </a:pPr>
            <a:r>
              <a:rPr lang="en-US" sz="1050" dirty="0">
                <a:solidFill>
                  <a:srgbClr val="5C7678"/>
                </a:solidFill>
                <a:latin typeface="Calibri" pitchFamily="34" charset="0"/>
                <a:ea typeface="Calibri" pitchFamily="34" charset="-122"/>
                <a:cs typeface="Calibri" pitchFamily="34" charset="-120"/>
              </a:rPr>
              <a:t>Gap between two models in the table (0.878 vs 0.879 at h = 3)</a:t>
            </a:r>
            <a:endParaRPr lang="en-US" sz="1050" dirty="0"/>
          </a:p>
        </p:txBody>
      </p:sp>
      <p:sp>
        <p:nvSpPr>
          <p:cNvPr id="8" name="Shape 6"/>
          <p:cNvSpPr/>
          <p:nvPr/>
        </p:nvSpPr>
        <p:spPr>
          <a:xfrm>
            <a:off x="990600" y="2552700"/>
            <a:ext cx="114300" cy="241300"/>
          </a:xfrm>
          <a:prstGeom prst="roundRect">
            <a:avLst>
              <a:gd name="adj" fmla="val 32000"/>
            </a:avLst>
          </a:prstGeom>
          <a:solidFill>
            <a:srgbClr val="16343A"/>
          </a:solidFill>
          <a:ln/>
        </p:spPr>
      </p:sp>
      <p:sp>
        <p:nvSpPr>
          <p:cNvPr id="9" name="Text 7"/>
          <p:cNvSpPr/>
          <p:nvPr/>
        </p:nvSpPr>
        <p:spPr>
          <a:xfrm>
            <a:off x="1206500" y="2565400"/>
            <a:ext cx="1270000" cy="228600"/>
          </a:xfrm>
          <a:prstGeom prst="rect">
            <a:avLst/>
          </a:prstGeom>
          <a:noFill/>
          <a:ln/>
        </p:spPr>
        <p:txBody>
          <a:bodyPr wrap="square" rtlCol="0" anchor="ctr"/>
          <a:lstStyle/>
          <a:p>
            <a:pPr indent="0" marL="0">
              <a:buNone/>
            </a:pPr>
            <a:r>
              <a:rPr lang="en-US" sz="1100" b="1" dirty="0">
                <a:solidFill>
                  <a:srgbClr val="16343A"/>
                </a:solidFill>
                <a:latin typeface="Calibri" pitchFamily="34" charset="0"/>
                <a:ea typeface="Calibri" pitchFamily="34" charset="-122"/>
                <a:cs typeface="Calibri" pitchFamily="34" charset="-120"/>
              </a:rPr>
              <a:t>0.001</a:t>
            </a:r>
            <a:endParaRPr lang="en-US" sz="1100" dirty="0"/>
          </a:p>
        </p:txBody>
      </p:sp>
      <p:sp>
        <p:nvSpPr>
          <p:cNvPr id="10" name="Text 8"/>
          <p:cNvSpPr/>
          <p:nvPr/>
        </p:nvSpPr>
        <p:spPr>
          <a:xfrm>
            <a:off x="990600" y="2984500"/>
            <a:ext cx="5715000" cy="215900"/>
          </a:xfrm>
          <a:prstGeom prst="rect">
            <a:avLst/>
          </a:prstGeom>
          <a:noFill/>
          <a:ln/>
        </p:spPr>
        <p:txBody>
          <a:bodyPr wrap="square" rtlCol="0" anchor="ctr"/>
          <a:lstStyle/>
          <a:p>
            <a:pPr indent="0" marL="0">
              <a:buNone/>
            </a:pPr>
            <a:r>
              <a:rPr lang="en-US" sz="1050" dirty="0">
                <a:solidFill>
                  <a:srgbClr val="5C7678"/>
                </a:solidFill>
                <a:latin typeface="Calibri" pitchFamily="34" charset="0"/>
                <a:ea typeface="Calibri" pitchFamily="34" charset="-122"/>
                <a:cs typeface="Calibri" pitchFamily="34" charset="-120"/>
              </a:rPr>
              <a:t>Same pipeline, same seeds, two different machines</a:t>
            </a:r>
            <a:endParaRPr lang="en-US" sz="1050" dirty="0"/>
          </a:p>
        </p:txBody>
      </p:sp>
      <p:sp>
        <p:nvSpPr>
          <p:cNvPr id="11" name="Shape 9"/>
          <p:cNvSpPr/>
          <p:nvPr/>
        </p:nvSpPr>
        <p:spPr>
          <a:xfrm>
            <a:off x="990600" y="3238500"/>
            <a:ext cx="457200" cy="241300"/>
          </a:xfrm>
          <a:prstGeom prst="roundRect">
            <a:avLst>
              <a:gd name="adj" fmla="val 15158"/>
            </a:avLst>
          </a:prstGeom>
          <a:solidFill>
            <a:srgbClr val="5C7678"/>
          </a:solidFill>
          <a:ln/>
        </p:spPr>
      </p:sp>
      <p:sp>
        <p:nvSpPr>
          <p:cNvPr id="12" name="Text 10"/>
          <p:cNvSpPr/>
          <p:nvPr/>
        </p:nvSpPr>
        <p:spPr>
          <a:xfrm>
            <a:off x="1549400" y="3251200"/>
            <a:ext cx="1270000" cy="228600"/>
          </a:xfrm>
          <a:prstGeom prst="rect">
            <a:avLst/>
          </a:prstGeom>
          <a:noFill/>
          <a:ln/>
        </p:spPr>
        <p:txBody>
          <a:bodyPr wrap="square" rtlCol="0" anchor="ctr"/>
          <a:lstStyle/>
          <a:p>
            <a:pPr indent="0" marL="0">
              <a:buNone/>
            </a:pPr>
            <a:r>
              <a:rPr lang="en-US" sz="1100" b="1" dirty="0">
                <a:solidFill>
                  <a:srgbClr val="16343A"/>
                </a:solidFill>
                <a:latin typeface="Calibri" pitchFamily="34" charset="0"/>
                <a:ea typeface="Calibri" pitchFamily="34" charset="-122"/>
                <a:cs typeface="Calibri" pitchFamily="34" charset="-120"/>
              </a:rPr>
              <a:t>0.004</a:t>
            </a:r>
            <a:endParaRPr lang="en-US" sz="1100" dirty="0"/>
          </a:p>
        </p:txBody>
      </p:sp>
      <p:sp>
        <p:nvSpPr>
          <p:cNvPr id="13" name="Text 11"/>
          <p:cNvSpPr/>
          <p:nvPr/>
        </p:nvSpPr>
        <p:spPr>
          <a:xfrm>
            <a:off x="990600" y="3670300"/>
            <a:ext cx="5715000" cy="215900"/>
          </a:xfrm>
          <a:prstGeom prst="rect">
            <a:avLst/>
          </a:prstGeom>
          <a:noFill/>
          <a:ln/>
        </p:spPr>
        <p:txBody>
          <a:bodyPr wrap="square" rtlCol="0" anchor="ctr"/>
          <a:lstStyle/>
          <a:p>
            <a:pPr indent="0" marL="0">
              <a:buNone/>
            </a:pPr>
            <a:r>
              <a:rPr lang="en-US" sz="1050" dirty="0">
                <a:solidFill>
                  <a:srgbClr val="5C7678"/>
                </a:solidFill>
                <a:latin typeface="Calibri" pitchFamily="34" charset="0"/>
                <a:ea typeface="Calibri" pitchFamily="34" charset="-122"/>
                <a:cs typeface="Calibri" pitchFamily="34" charset="-120"/>
              </a:rPr>
              <a:t>The GRU, across ten random seeds</a:t>
            </a:r>
            <a:endParaRPr lang="en-US" sz="1050" dirty="0"/>
          </a:p>
        </p:txBody>
      </p:sp>
      <p:sp>
        <p:nvSpPr>
          <p:cNvPr id="14" name="Shape 12"/>
          <p:cNvSpPr/>
          <p:nvPr/>
        </p:nvSpPr>
        <p:spPr>
          <a:xfrm>
            <a:off x="4191000" y="3924300"/>
            <a:ext cx="2286000" cy="241300"/>
          </a:xfrm>
          <a:prstGeom prst="roundRect">
            <a:avLst>
              <a:gd name="adj" fmla="val 15158"/>
            </a:avLst>
          </a:prstGeom>
          <a:solidFill>
            <a:srgbClr val="E35D45"/>
          </a:solidFill>
          <a:ln/>
        </p:spPr>
      </p:sp>
      <p:sp>
        <p:nvSpPr>
          <p:cNvPr id="15" name="Text 13"/>
          <p:cNvSpPr/>
          <p:nvPr/>
        </p:nvSpPr>
        <p:spPr>
          <a:xfrm>
            <a:off x="990600" y="3937000"/>
            <a:ext cx="3048000" cy="228600"/>
          </a:xfrm>
          <a:prstGeom prst="rect">
            <a:avLst/>
          </a:prstGeom>
          <a:noFill/>
          <a:ln/>
        </p:spPr>
        <p:txBody>
          <a:bodyPr wrap="square" rtlCol="0" anchor="ctr"/>
          <a:lstStyle/>
          <a:p>
            <a:pPr indent="0" marL="0">
              <a:buNone/>
            </a:pPr>
            <a:r>
              <a:rPr lang="en-US" sz="1100" b="1" dirty="0">
                <a:solidFill>
                  <a:srgbClr val="E35D45"/>
                </a:solidFill>
                <a:latin typeface="Calibri" pitchFamily="34" charset="0"/>
                <a:ea typeface="Calibri" pitchFamily="34" charset="-122"/>
                <a:cs typeface="Calibri" pitchFamily="34" charset="-120"/>
              </a:rPr>
              <a:t>0.028 – 0.048</a:t>
            </a:r>
            <a:endParaRPr lang="en-US" sz="1100" dirty="0"/>
          </a:p>
        </p:txBody>
      </p:sp>
      <p:sp>
        <p:nvSpPr>
          <p:cNvPr id="16" name="Text 14"/>
          <p:cNvSpPr/>
          <p:nvPr/>
        </p:nvSpPr>
        <p:spPr>
          <a:xfrm>
            <a:off x="990600" y="4292600"/>
            <a:ext cx="5715000" cy="215900"/>
          </a:xfrm>
          <a:prstGeom prst="rect">
            <a:avLst/>
          </a:prstGeom>
          <a:noFill/>
          <a:ln/>
        </p:spPr>
        <p:txBody>
          <a:bodyPr wrap="square" rtlCol="0" anchor="ctr"/>
          <a:lstStyle/>
          <a:p>
            <a:pPr indent="0" marL="0">
              <a:buNone/>
            </a:pPr>
            <a:r>
              <a:rPr lang="en-US" sz="1000" dirty="0">
                <a:solidFill>
                  <a:srgbClr val="7E9A9C"/>
                </a:solidFill>
                <a:latin typeface="Calibri" pitchFamily="34" charset="0"/>
                <a:ea typeface="Calibri" pitchFamily="34" charset="-122"/>
                <a:cs typeface="Calibri" pitchFamily="34" charset="-120"/>
              </a:rPr>
              <a:t>Rerunning the identical command with the same seed moves it almost as much.</a:t>
            </a:r>
            <a:endParaRPr lang="en-US" sz="1000" dirty="0"/>
          </a:p>
        </p:txBody>
      </p:sp>
      <p:sp>
        <p:nvSpPr>
          <p:cNvPr id="17" name="Shape 15"/>
          <p:cNvSpPr/>
          <p:nvPr/>
        </p:nvSpPr>
        <p:spPr>
          <a:xfrm>
            <a:off x="7302500" y="1752600"/>
            <a:ext cx="4191000" cy="2832100"/>
          </a:xfrm>
          <a:prstGeom prst="roundRect">
            <a:avLst>
              <a:gd name="adj" fmla="val 4520"/>
            </a:avLst>
          </a:prstGeom>
          <a:solidFill>
            <a:srgbClr val="16343A"/>
          </a:solidFill>
          <a:ln/>
        </p:spPr>
      </p:sp>
      <p:sp>
        <p:nvSpPr>
          <p:cNvPr id="18" name="Text 16"/>
          <p:cNvSpPr/>
          <p:nvPr/>
        </p:nvSpPr>
        <p:spPr>
          <a:xfrm>
            <a:off x="7594600" y="1968500"/>
            <a:ext cx="3619500" cy="203200"/>
          </a:xfrm>
          <a:prstGeom prst="rect">
            <a:avLst/>
          </a:prstGeom>
          <a:noFill/>
          <a:ln/>
        </p:spPr>
        <p:txBody>
          <a:bodyPr wrap="square" rtlCol="0" anchor="ctr"/>
          <a:lstStyle/>
          <a:p>
            <a:pPr indent="0" marL="0">
              <a:buNone/>
            </a:pPr>
            <a:r>
              <a:rPr lang="en-US" sz="900" b="1" spc="140" kern="0" dirty="0">
                <a:solidFill>
                  <a:srgbClr val="F0A999"/>
                </a:solidFill>
                <a:latin typeface="Calibri" pitchFamily="34" charset="0"/>
                <a:ea typeface="Calibri" pitchFamily="34" charset="-122"/>
                <a:cs typeface="Calibri" pitchFamily="34" charset="-120"/>
              </a:rPr>
              <a:t>THE FORMAL TEST IS STRICTER STILL</a:t>
            </a:r>
            <a:endParaRPr lang="en-US" sz="900" dirty="0"/>
          </a:p>
        </p:txBody>
      </p:sp>
      <p:sp>
        <p:nvSpPr>
          <p:cNvPr id="19" name="Text 17"/>
          <p:cNvSpPr/>
          <p:nvPr/>
        </p:nvSpPr>
        <p:spPr>
          <a:xfrm>
            <a:off x="7594600" y="2260600"/>
            <a:ext cx="3619500" cy="215900"/>
          </a:xfrm>
          <a:prstGeom prst="rect">
            <a:avLst/>
          </a:prstGeom>
          <a:noFill/>
          <a:ln/>
        </p:spPr>
        <p:txBody>
          <a:bodyPr wrap="square" rtlCol="0" anchor="ctr"/>
          <a:lstStyle/>
          <a:p>
            <a:pPr indent="0" marL="0">
              <a:buNone/>
            </a:pPr>
            <a:r>
              <a:rPr lang="en-US" sz="1050" dirty="0">
                <a:solidFill>
                  <a:srgbClr val="AFC6C8"/>
                </a:solidFill>
                <a:latin typeface="Calibri" pitchFamily="34" charset="0"/>
                <a:ea typeface="Calibri" pitchFamily="34" charset="-122"/>
                <a:cs typeface="Calibri" pitchFamily="34" charset="-120"/>
              </a:rPr>
              <a:t>GRU seeds reaching p &lt; 0.05 against ARIMA</a:t>
            </a:r>
            <a:endParaRPr lang="en-US" sz="1050" dirty="0"/>
          </a:p>
        </p:txBody>
      </p:sp>
      <p:sp>
        <p:nvSpPr>
          <p:cNvPr id="20" name="Text 18"/>
          <p:cNvSpPr/>
          <p:nvPr/>
        </p:nvSpPr>
        <p:spPr>
          <a:xfrm>
            <a:off x="7594600" y="2616200"/>
            <a:ext cx="1079500" cy="406400"/>
          </a:xfrm>
          <a:prstGeom prst="rect">
            <a:avLst/>
          </a:prstGeom>
          <a:noFill/>
          <a:ln/>
        </p:spPr>
        <p:txBody>
          <a:bodyPr wrap="square" rtlCol="0" anchor="t"/>
          <a:lstStyle/>
          <a:p>
            <a:pPr indent="0" marL="0">
              <a:buNone/>
            </a:pPr>
            <a:r>
              <a:rPr lang="en-US" sz="2600" b="1" dirty="0">
                <a:solidFill>
                  <a:srgbClr val="E35D45"/>
                </a:solidFill>
                <a:latin typeface="Calibri" pitchFamily="34" charset="0"/>
                <a:ea typeface="Calibri" pitchFamily="34" charset="-122"/>
                <a:cs typeface="Calibri" pitchFamily="34" charset="-120"/>
              </a:rPr>
              <a:t>4/10</a:t>
            </a:r>
            <a:endParaRPr lang="en-US" sz="2600" dirty="0"/>
          </a:p>
        </p:txBody>
      </p:sp>
      <p:sp>
        <p:nvSpPr>
          <p:cNvPr id="21" name="Text 19"/>
          <p:cNvSpPr/>
          <p:nvPr/>
        </p:nvSpPr>
        <p:spPr>
          <a:xfrm>
            <a:off x="8763000" y="2705100"/>
            <a:ext cx="2476500" cy="38100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at h = 1 — the noise floor credits 8 of 10</a:t>
            </a:r>
            <a:endParaRPr lang="en-US" sz="1100" dirty="0"/>
          </a:p>
        </p:txBody>
      </p:sp>
      <p:sp>
        <p:nvSpPr>
          <p:cNvPr id="22" name="Shape 20"/>
          <p:cNvSpPr/>
          <p:nvPr/>
        </p:nvSpPr>
        <p:spPr>
          <a:xfrm>
            <a:off x="7594600" y="3162300"/>
            <a:ext cx="3594100" cy="12700"/>
          </a:xfrm>
          <a:prstGeom prst="rect">
            <a:avLst/>
          </a:prstGeom>
          <a:solidFill>
            <a:srgbClr val="2F5F67"/>
          </a:solidFill>
          <a:ln/>
        </p:spPr>
      </p:sp>
      <p:sp>
        <p:nvSpPr>
          <p:cNvPr id="23" name="Text 21"/>
          <p:cNvSpPr/>
          <p:nvPr/>
        </p:nvSpPr>
        <p:spPr>
          <a:xfrm>
            <a:off x="7594600" y="3263900"/>
            <a:ext cx="1079500" cy="406400"/>
          </a:xfrm>
          <a:prstGeom prst="rect">
            <a:avLst/>
          </a:prstGeom>
          <a:noFill/>
          <a:ln/>
        </p:spPr>
        <p:txBody>
          <a:bodyPr wrap="square"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0/10</a:t>
            </a:r>
            <a:endParaRPr lang="en-US" sz="2600" dirty="0"/>
          </a:p>
        </p:txBody>
      </p:sp>
      <p:sp>
        <p:nvSpPr>
          <p:cNvPr id="24" name="Text 22"/>
          <p:cNvSpPr/>
          <p:nvPr/>
        </p:nvSpPr>
        <p:spPr>
          <a:xfrm>
            <a:off x="8763000" y="3352800"/>
            <a:ext cx="2476500" cy="381000"/>
          </a:xfrm>
          <a:prstGeom prst="rect">
            <a:avLst/>
          </a:prstGeom>
          <a:noFill/>
          <a:ln/>
        </p:spPr>
        <p:txBody>
          <a:bodyPr wrap="square" rtlCol="0" anchor="t"/>
          <a:lstStyle/>
          <a:p>
            <a:pPr indent="0" marL="0">
              <a:buNone/>
            </a:pPr>
            <a:r>
              <a:rPr lang="en-US" sz="1100" dirty="0">
                <a:solidFill>
                  <a:srgbClr val="AFC6C8"/>
                </a:solidFill>
                <a:latin typeface="Calibri" pitchFamily="34" charset="0"/>
                <a:ea typeface="Calibri" pitchFamily="34" charset="-122"/>
                <a:cs typeface="Calibri" pitchFamily="34" charset="-120"/>
              </a:rPr>
              <a:t>at h = 2</a:t>
            </a:r>
            <a:endParaRPr lang="en-US" sz="1100" dirty="0"/>
          </a:p>
        </p:txBody>
      </p:sp>
      <p:sp>
        <p:nvSpPr>
          <p:cNvPr id="25" name="Shape 23"/>
          <p:cNvSpPr/>
          <p:nvPr/>
        </p:nvSpPr>
        <p:spPr>
          <a:xfrm>
            <a:off x="7594600" y="3810000"/>
            <a:ext cx="3594100" cy="12700"/>
          </a:xfrm>
          <a:prstGeom prst="rect">
            <a:avLst/>
          </a:prstGeom>
          <a:solidFill>
            <a:srgbClr val="2F5F67"/>
          </a:solidFill>
          <a:ln/>
        </p:spPr>
      </p:sp>
      <p:sp>
        <p:nvSpPr>
          <p:cNvPr id="26" name="Text 24"/>
          <p:cNvSpPr/>
          <p:nvPr/>
        </p:nvSpPr>
        <p:spPr>
          <a:xfrm>
            <a:off x="7594600" y="3911600"/>
            <a:ext cx="1079500" cy="406400"/>
          </a:xfrm>
          <a:prstGeom prst="rect">
            <a:avLst/>
          </a:prstGeom>
          <a:noFill/>
          <a:ln/>
        </p:spPr>
        <p:txBody>
          <a:bodyPr wrap="square"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1/10</a:t>
            </a:r>
            <a:endParaRPr lang="en-US" sz="2600" dirty="0"/>
          </a:p>
        </p:txBody>
      </p:sp>
      <p:sp>
        <p:nvSpPr>
          <p:cNvPr id="27" name="Text 25"/>
          <p:cNvSpPr/>
          <p:nvPr/>
        </p:nvSpPr>
        <p:spPr>
          <a:xfrm>
            <a:off x="8763000" y="4000500"/>
            <a:ext cx="2476500" cy="381000"/>
          </a:xfrm>
          <a:prstGeom prst="rect">
            <a:avLst/>
          </a:prstGeom>
          <a:noFill/>
          <a:ln/>
        </p:spPr>
        <p:txBody>
          <a:bodyPr wrap="square" rtlCol="0" anchor="t"/>
          <a:lstStyle/>
          <a:p>
            <a:pPr indent="0" marL="0">
              <a:buNone/>
            </a:pPr>
            <a:r>
              <a:rPr lang="en-US" sz="1100" dirty="0">
                <a:solidFill>
                  <a:srgbClr val="AFC6C8"/>
                </a:solidFill>
                <a:latin typeface="Calibri" pitchFamily="34" charset="0"/>
                <a:ea typeface="Calibri" pitchFamily="34" charset="-122"/>
                <a:cs typeface="Calibri" pitchFamily="34" charset="-120"/>
              </a:rPr>
              <a:t>at h = 3 — and that one favours ARIMA</a:t>
            </a:r>
            <a:endParaRPr lang="en-US" sz="1100" dirty="0"/>
          </a:p>
        </p:txBody>
      </p:sp>
      <p:sp>
        <p:nvSpPr>
          <p:cNvPr id="28" name="Shape 26"/>
          <p:cNvSpPr/>
          <p:nvPr/>
        </p:nvSpPr>
        <p:spPr>
          <a:xfrm>
            <a:off x="698500" y="4800600"/>
            <a:ext cx="10795000" cy="1397000"/>
          </a:xfrm>
          <a:prstGeom prst="roundRect">
            <a:avLst>
              <a:gd name="adj" fmla="val 9164"/>
            </a:avLst>
          </a:prstGeom>
          <a:solidFill>
            <a:srgbClr val="FFFFFF"/>
          </a:solidFill>
          <a:ln/>
          <a:effectLst>
            <a:outerShdw sx="100000" sy="100000" kx="0" ky="0" algn="bl" rotWithShape="0" blurRad="127000" dist="38100" dir="5400000">
              <a:srgbClr val="16343A">
                <a:alpha val="16000"/>
              </a:srgbClr>
            </a:outerShdw>
          </a:effectLst>
        </p:spPr>
      </p:sp>
      <p:sp>
        <p:nvSpPr>
          <p:cNvPr id="29" name="Text 27"/>
          <p:cNvSpPr/>
          <p:nvPr/>
        </p:nvSpPr>
        <p:spPr>
          <a:xfrm>
            <a:off x="1054100" y="5016500"/>
            <a:ext cx="10033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AND THOSE COUNTS ARE THEMSELVES SMALL SAMPLES</a:t>
            </a:r>
            <a:endParaRPr lang="en-US" sz="900" dirty="0"/>
          </a:p>
        </p:txBody>
      </p:sp>
      <p:sp>
        <p:nvSpPr>
          <p:cNvPr id="30" name="Text 28"/>
          <p:cNvSpPr/>
          <p:nvPr/>
        </p:nvSpPr>
        <p:spPr>
          <a:xfrm>
            <a:off x="1054100" y="5295900"/>
            <a:ext cx="10033000" cy="762000"/>
          </a:xfrm>
          <a:prstGeom prst="rect">
            <a:avLst/>
          </a:prstGeom>
          <a:noFill/>
          <a:ln/>
        </p:spPr>
        <p:txBody>
          <a:bodyPr wrap="square" rtlCol="0" anchor="t"/>
          <a:lstStyle/>
          <a:p>
            <a:pPr indent="0" marL="0">
              <a:lnSpc>
                <a:spcPct val="150000"/>
              </a:lnSpc>
              <a:buNone/>
            </a:pPr>
            <a:r>
              <a:rPr lang="en-US" sz="1300" dirty="0">
                <a:solidFill>
                  <a:srgbClr val="1C2B2C"/>
                </a:solidFill>
                <a:latin typeface="Calibri" pitchFamily="34" charset="0"/>
                <a:ea typeface="Calibri" pitchFamily="34" charset="-122"/>
                <a:cs typeface="Calibri" pitchFamily="34" charset="-120"/>
              </a:rPr>
              <a:t>A 95% Wilson interval on “4 of 10” at one day ahead runs from 0.17 to 0.69. A different batch of ten seeds could plausibly have produced a noticeably different count without the underlying comparison having changed at all.</a:t>
            </a:r>
            <a:endParaRPr lang="en-US" sz="13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DISCUSSION</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Limitations I — scope and sensitivity</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90700"/>
            <a:ext cx="3429000" cy="2095500"/>
          </a:xfrm>
          <a:prstGeom prst="roundRect">
            <a:avLst>
              <a:gd name="adj" fmla="val 6109"/>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90600" y="2006600"/>
            <a:ext cx="2857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ONE STATION</a:t>
            </a:r>
            <a:endParaRPr lang="en-US" sz="900" dirty="0"/>
          </a:p>
        </p:txBody>
      </p:sp>
      <p:sp>
        <p:nvSpPr>
          <p:cNvPr id="7" name="Text 5"/>
          <p:cNvSpPr/>
          <p:nvPr/>
        </p:nvSpPr>
        <p:spPr>
          <a:xfrm>
            <a:off x="990600" y="2286000"/>
            <a:ext cx="2857500" cy="1397000"/>
          </a:xfrm>
          <a:prstGeom prst="rect">
            <a:avLst/>
          </a:prstGeom>
          <a:noFill/>
          <a:ln/>
        </p:spPr>
        <p:txBody>
          <a:bodyPr wrap="square" rtlCol="0" anchor="t"/>
          <a:lstStyle/>
          <a:p>
            <a:pPr indent="0" marL="0">
              <a:lnSpc>
                <a:spcPct val="150000"/>
              </a:lnSpc>
              <a:buNone/>
            </a:pPr>
            <a:r>
              <a:rPr lang="en-US" sz="1150" dirty="0">
                <a:solidFill>
                  <a:srgbClr val="1C2B2C"/>
                </a:solidFill>
                <a:latin typeface="Calibri" pitchFamily="34" charset="0"/>
                <a:ea typeface="Calibri" pitchFamily="34" charset="-122"/>
                <a:cs typeface="Calibri" pitchFamily="34" charset="-120"/>
              </a:rPr>
              <a:t>An AirNow diplomatic-post monitor, not the CPCB network. It was chosen because it is the only nearby monitor with a full decade of record — history bought at the cost of representativeness.</a:t>
            </a:r>
            <a:endParaRPr lang="en-US" sz="1150" dirty="0"/>
          </a:p>
        </p:txBody>
      </p:sp>
      <p:sp>
        <p:nvSpPr>
          <p:cNvPr id="8" name="Shape 6"/>
          <p:cNvSpPr/>
          <p:nvPr/>
        </p:nvSpPr>
        <p:spPr>
          <a:xfrm>
            <a:off x="4381500" y="1790700"/>
            <a:ext cx="3429000" cy="2095500"/>
          </a:xfrm>
          <a:prstGeom prst="roundRect">
            <a:avLst>
              <a:gd name="adj" fmla="val 6109"/>
            </a:avLst>
          </a:prstGeom>
          <a:solidFill>
            <a:srgbClr val="FFFFFF"/>
          </a:solidFill>
          <a:ln/>
          <a:effectLst>
            <a:outerShdw sx="100000" sy="100000" kx="0" ky="0" algn="bl" rotWithShape="0" blurRad="127000" dist="38100" dir="5400000">
              <a:srgbClr val="16343A">
                <a:alpha val="16000"/>
              </a:srgbClr>
            </a:outerShdw>
          </a:effectLst>
        </p:spPr>
      </p:sp>
      <p:sp>
        <p:nvSpPr>
          <p:cNvPr id="9" name="Text 7"/>
          <p:cNvSpPr/>
          <p:nvPr/>
        </p:nvSpPr>
        <p:spPr>
          <a:xfrm>
            <a:off x="4673600" y="2006600"/>
            <a:ext cx="2857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ONE CITY</a:t>
            </a:r>
            <a:endParaRPr lang="en-US" sz="900" dirty="0"/>
          </a:p>
        </p:txBody>
      </p:sp>
      <p:sp>
        <p:nvSpPr>
          <p:cNvPr id="10" name="Text 8"/>
          <p:cNvSpPr/>
          <p:nvPr/>
        </p:nvSpPr>
        <p:spPr>
          <a:xfrm>
            <a:off x="4673600" y="2286000"/>
            <a:ext cx="2857500" cy="1397000"/>
          </a:xfrm>
          <a:prstGeom prst="rect">
            <a:avLst/>
          </a:prstGeom>
          <a:noFill/>
          <a:ln/>
        </p:spPr>
        <p:txBody>
          <a:bodyPr wrap="square" rtlCol="0" anchor="t"/>
          <a:lstStyle/>
          <a:p>
            <a:pPr indent="0" marL="0">
              <a:lnSpc>
                <a:spcPct val="150000"/>
              </a:lnSpc>
              <a:buNone/>
            </a:pPr>
            <a:r>
              <a:rPr lang="en-US" sz="1150" dirty="0">
                <a:solidFill>
                  <a:srgbClr val="1C2B2C"/>
                </a:solidFill>
                <a:latin typeface="Calibri" pitchFamily="34" charset="0"/>
                <a:ea typeface="Calibri" pitchFamily="34" charset="-122"/>
                <a:cs typeface="Calibri" pitchFamily="34" charset="-120"/>
              </a:rPr>
              <a:t>Delhi only. Nothing here should be read as a claim about any other station or city — sources, meteorology and the strength of the annual cycle all vary by region.</a:t>
            </a:r>
            <a:endParaRPr lang="en-US" sz="1150" dirty="0"/>
          </a:p>
        </p:txBody>
      </p:sp>
      <p:sp>
        <p:nvSpPr>
          <p:cNvPr id="11" name="Shape 9"/>
          <p:cNvSpPr/>
          <p:nvPr/>
        </p:nvSpPr>
        <p:spPr>
          <a:xfrm>
            <a:off x="8064500" y="1790700"/>
            <a:ext cx="3429000" cy="2095500"/>
          </a:xfrm>
          <a:prstGeom prst="roundRect">
            <a:avLst>
              <a:gd name="adj" fmla="val 6109"/>
            </a:avLst>
          </a:prstGeom>
          <a:solidFill>
            <a:srgbClr val="FFFFFF"/>
          </a:solidFill>
          <a:ln/>
          <a:effectLst>
            <a:outerShdw sx="100000" sy="100000" kx="0" ky="0" algn="bl" rotWithShape="0" blurRad="127000" dist="38100" dir="5400000">
              <a:srgbClr val="16343A">
                <a:alpha val="16000"/>
              </a:srgbClr>
            </a:outerShdw>
          </a:effectLst>
        </p:spPr>
      </p:sp>
      <p:sp>
        <p:nvSpPr>
          <p:cNvPr id="12" name="Text 10"/>
          <p:cNvSpPr/>
          <p:nvPr/>
        </p:nvSpPr>
        <p:spPr>
          <a:xfrm>
            <a:off x="8356600" y="2006600"/>
            <a:ext cx="28575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HYPERPARAMETERS</a:t>
            </a:r>
            <a:endParaRPr lang="en-US" sz="900" dirty="0"/>
          </a:p>
        </p:txBody>
      </p:sp>
      <p:sp>
        <p:nvSpPr>
          <p:cNvPr id="13" name="Text 11"/>
          <p:cNvSpPr/>
          <p:nvPr/>
        </p:nvSpPr>
        <p:spPr>
          <a:xfrm>
            <a:off x="8356600" y="2286000"/>
            <a:ext cx="2857500" cy="1397000"/>
          </a:xfrm>
          <a:prstGeom prst="rect">
            <a:avLst/>
          </a:prstGeom>
          <a:noFill/>
          <a:ln/>
        </p:spPr>
        <p:txBody>
          <a:bodyPr wrap="square" rtlCol="0" anchor="t"/>
          <a:lstStyle/>
          <a:p>
            <a:pPr indent="0" marL="0">
              <a:lnSpc>
                <a:spcPct val="150000"/>
              </a:lnSpc>
              <a:buNone/>
            </a:pPr>
            <a:r>
              <a:rPr lang="en-US" sz="1150" dirty="0">
                <a:solidFill>
                  <a:srgbClr val="1C2B2C"/>
                </a:solidFill>
                <a:latin typeface="Calibri" pitchFamily="34" charset="0"/>
                <a:ea typeface="Calibri" pitchFamily="34" charset="-122"/>
                <a:cs typeface="Calibri" pitchFamily="34" charset="-120"/>
              </a:rPr>
              <a:t>Tree models were tuned from a small explicit grid at every refit, not an exhaustive search — so their results are a lower bound on what those model classes could reach.</a:t>
            </a:r>
            <a:endParaRPr lang="en-US" sz="1150" dirty="0"/>
          </a:p>
        </p:txBody>
      </p:sp>
      <p:sp>
        <p:nvSpPr>
          <p:cNvPr id="14" name="Text 12"/>
          <p:cNvSpPr/>
          <p:nvPr/>
        </p:nvSpPr>
        <p:spPr>
          <a:xfrm>
            <a:off x="698500" y="4127500"/>
            <a:ext cx="6858000" cy="203200"/>
          </a:xfrm>
          <a:prstGeom prst="rect">
            <a:avLst/>
          </a:prstGeom>
          <a:noFill/>
          <a:ln/>
        </p:spPr>
        <p:txBody>
          <a:bodyPr wrap="square" rtlCol="0" anchor="ctr"/>
          <a:lstStyle/>
          <a:p>
            <a:pPr indent="0" marL="0">
              <a:buNone/>
            </a:pPr>
            <a:r>
              <a:rPr lang="en-US" sz="900" b="1" spc="130" kern="0" dirty="0">
                <a:solidFill>
                  <a:srgbClr val="5C7678"/>
                </a:solidFill>
                <a:latin typeface="Calibri" pitchFamily="34" charset="0"/>
                <a:ea typeface="Calibri" pitchFamily="34" charset="-122"/>
                <a:cs typeface="Calibri" pitchFamily="34" charset="-120"/>
              </a:rPr>
              <a:t>CLEANING THRESHOLD, CHECKED DIRECTLY — rMAE WITH AND WITHOUT THE 1000 µg/m³ CAP</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98500" y="4419600"/>
          <a:ext cx="6858000" cy="914400"/>
        </p:xfrm>
        <a:graphic>
          <a:graphicData uri="http://schemas.openxmlformats.org/drawingml/2006/table">
            <a:tbl>
              <a:tblPr/>
              <a:tblGrid>
                <a:gridCol w="3048000"/>
                <a:gridCol w="1905000"/>
                <a:gridCol w="1905000"/>
              </a:tblGrid>
              <a:tr h="3683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1634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Reported (capped)</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1634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Uncapped</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16343A"/>
                    </a:solidFill>
                  </a:tcPr>
                </a:tc>
              </a:tr>
              <a:tr h="368300">
                <a:tc>
                  <a:txBody>
                    <a:bodyPr/>
                    <a:lstStyle/>
                    <a:p>
                      <a:pPr algn="ctr" indent="0" marL="0">
                        <a:buNone/>
                      </a:pPr>
                      <a:r>
                        <a:rPr lang="en-US" sz="1100" dirty="0">
                          <a:solidFill>
                            <a:srgbClr val="1C2B2C"/>
                          </a:solidFill>
                          <a:latin typeface="Calibri" pitchFamily="34" charset="0"/>
                          <a:ea typeface="Calibri" pitchFamily="34" charset="-122"/>
                          <a:cs typeface="Calibri" pitchFamily="34" charset="-120"/>
                        </a:rPr>
                        <a:t>ARIMA, h = 1</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2C"/>
                          </a:solidFill>
                          <a:latin typeface="Calibri" pitchFamily="34" charset="0"/>
                          <a:ea typeface="Calibri" pitchFamily="34" charset="-122"/>
                          <a:cs typeface="Calibri" pitchFamily="34" charset="-120"/>
                        </a:rPr>
                        <a:t>0.940</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2C"/>
                          </a:solidFill>
                          <a:latin typeface="Calibri" pitchFamily="34" charset="0"/>
                          <a:ea typeface="Calibri" pitchFamily="34" charset="-122"/>
                          <a:cs typeface="Calibri" pitchFamily="34" charset="-120"/>
                        </a:rPr>
                        <a:t>0.935</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r>
              <a:tr h="368300">
                <a:tc>
                  <a:txBody>
                    <a:bodyPr/>
                    <a:lstStyle/>
                    <a:p>
                      <a:pPr algn="ctr" indent="0" marL="0">
                        <a:buNone/>
                      </a:pPr>
                      <a:r>
                        <a:rPr lang="en-US" sz="1100" dirty="0">
                          <a:solidFill>
                            <a:srgbClr val="1C2B2C"/>
                          </a:solidFill>
                          <a:latin typeface="Calibri" pitchFamily="34" charset="0"/>
                          <a:ea typeface="Calibri" pitchFamily="34" charset="-122"/>
                          <a:cs typeface="Calibri" pitchFamily="34" charset="-120"/>
                        </a:rPr>
                        <a:t>Ridge, h = 1</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2C"/>
                          </a:solidFill>
                          <a:latin typeface="Calibri" pitchFamily="34" charset="0"/>
                          <a:ea typeface="Calibri" pitchFamily="34" charset="-122"/>
                          <a:cs typeface="Calibri" pitchFamily="34" charset="-120"/>
                        </a:rPr>
                        <a:t>0.997</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2C"/>
                          </a:solidFill>
                          <a:latin typeface="Calibri" pitchFamily="34" charset="0"/>
                          <a:ea typeface="Calibri" pitchFamily="34" charset="-122"/>
                          <a:cs typeface="Calibri" pitchFamily="34" charset="-120"/>
                        </a:rPr>
                        <a:t>1.118</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r>
              <a:tr h="368300">
                <a:tc>
                  <a:txBody>
                    <a:bodyPr/>
                    <a:lstStyle/>
                    <a:p>
                      <a:pPr algn="ctr" indent="0" marL="0">
                        <a:buNone/>
                      </a:pPr>
                      <a:r>
                        <a:rPr lang="en-US" sz="1100" dirty="0">
                          <a:solidFill>
                            <a:srgbClr val="1C2B2C"/>
                          </a:solidFill>
                          <a:latin typeface="Calibri" pitchFamily="34" charset="0"/>
                          <a:ea typeface="Calibri" pitchFamily="34" charset="-122"/>
                          <a:cs typeface="Calibri" pitchFamily="34" charset="-120"/>
                        </a:rPr>
                        <a:t>Gradient boosting (level), h = 3</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2C"/>
                          </a:solidFill>
                          <a:latin typeface="Calibri" pitchFamily="34" charset="0"/>
                          <a:ea typeface="Calibri" pitchFamily="34" charset="-122"/>
                          <a:cs typeface="Calibri" pitchFamily="34" charset="-120"/>
                        </a:rPr>
                        <a:t>0.883</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B2C"/>
                          </a:solidFill>
                          <a:latin typeface="Calibri" pitchFamily="34" charset="0"/>
                          <a:ea typeface="Calibri" pitchFamily="34" charset="-122"/>
                          <a:cs typeface="Calibri" pitchFamily="34" charset="-120"/>
                        </a:rPr>
                        <a:t>1.006</a:t>
                      </a:r>
                      <a:endParaRPr lang="en-US" sz="110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CE3E3"/>
                      </a:solidFill>
                      <a:prstDash val="solid"/>
                      <a:round/>
                      <a:headEnd type="none" w="med" len="med"/>
                      <a:tailEnd type="none" w="med" len="med"/>
                    </a:lnB>
                    <a:solidFill>
                      <a:srgbClr val="FFFFFF"/>
                    </a:solidFill>
                  </a:tcPr>
                </a:tc>
              </a:tr>
            </a:tbl>
          </a:graphicData>
        </a:graphic>
      </p:graphicFrame>
      <p:sp>
        <p:nvSpPr>
          <p:cNvPr id="16" name="Shape 13"/>
          <p:cNvSpPr/>
          <p:nvPr/>
        </p:nvSpPr>
        <p:spPr>
          <a:xfrm>
            <a:off x="7810500" y="4140200"/>
            <a:ext cx="3683000" cy="2057400"/>
          </a:xfrm>
          <a:prstGeom prst="roundRect">
            <a:avLst>
              <a:gd name="adj" fmla="val 6222"/>
            </a:avLst>
          </a:prstGeom>
          <a:solidFill>
            <a:srgbClr val="16343A"/>
          </a:solidFill>
          <a:ln/>
        </p:spPr>
      </p:sp>
      <p:sp>
        <p:nvSpPr>
          <p:cNvPr id="17" name="Text 14"/>
          <p:cNvSpPr/>
          <p:nvPr/>
        </p:nvSpPr>
        <p:spPr>
          <a:xfrm>
            <a:off x="8115300" y="4356100"/>
            <a:ext cx="3111500" cy="203200"/>
          </a:xfrm>
          <a:prstGeom prst="rect">
            <a:avLst/>
          </a:prstGeom>
          <a:noFill/>
          <a:ln/>
        </p:spPr>
        <p:txBody>
          <a:bodyPr wrap="square" rtlCol="0" anchor="ctr"/>
          <a:lstStyle/>
          <a:p>
            <a:pPr indent="0" marL="0">
              <a:buNone/>
            </a:pPr>
            <a:r>
              <a:rPr lang="en-US" sz="900" b="1" spc="140" kern="0" dirty="0">
                <a:solidFill>
                  <a:srgbClr val="F0A999"/>
                </a:solidFill>
                <a:latin typeface="Calibri" pitchFamily="34" charset="0"/>
                <a:ea typeface="Calibri" pitchFamily="34" charset="-122"/>
                <a:cs typeface="Calibri" pitchFamily="34" charset="-120"/>
              </a:rPr>
              <a:t>WHAT THAT MEANS</a:t>
            </a:r>
            <a:endParaRPr lang="en-US" sz="900" dirty="0"/>
          </a:p>
        </p:txBody>
      </p:sp>
      <p:sp>
        <p:nvSpPr>
          <p:cNvPr id="18" name="Text 15"/>
          <p:cNvSpPr/>
          <p:nvPr/>
        </p:nvSpPr>
        <p:spPr>
          <a:xfrm>
            <a:off x="8115300" y="4648200"/>
            <a:ext cx="3111500" cy="1397000"/>
          </a:xfrm>
          <a:prstGeom prst="rect">
            <a:avLst/>
          </a:prstGeom>
          <a:noFill/>
          <a:ln/>
        </p:spPr>
        <p:txBody>
          <a:bodyPr wrap="square" rtlCol="0" anchor="t"/>
          <a:lstStyle/>
          <a:p>
            <a:pPr indent="0" marL="0">
              <a:lnSpc>
                <a:spcPct val="150000"/>
              </a:lnSpc>
              <a:buNone/>
            </a:pPr>
            <a:r>
              <a:rPr lang="en-US" sz="1200" dirty="0">
                <a:solidFill>
                  <a:srgbClr val="FFFFFF"/>
                </a:solidFill>
                <a:latin typeface="Calibri" pitchFamily="34" charset="0"/>
                <a:ea typeface="Calibri" pitchFamily="34" charset="-122"/>
                <a:cs typeface="Calibri" pitchFamily="34" charset="-120"/>
              </a:rPr>
              <a:t>The central finding does not merely survive removing the threshold — it strengthens. The models ARIMA beat most narrowly are precisely the ones most exposed to the uncleaned tail.</a:t>
            </a:r>
            <a:endParaRPr lang="en-US" sz="12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DISCUSSION</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Limitations II — the GRU and reproducibility</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90700"/>
            <a:ext cx="5270500" cy="2095500"/>
          </a:xfrm>
          <a:prstGeom prst="roundRect">
            <a:avLst>
              <a:gd name="adj" fmla="val 6109"/>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90600" y="20066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ARCHITECTURE FIXED BY INSPECTION</a:t>
            </a:r>
            <a:endParaRPr lang="en-US" sz="900" dirty="0"/>
          </a:p>
        </p:txBody>
      </p:sp>
      <p:sp>
        <p:nvSpPr>
          <p:cNvPr id="7" name="Text 5"/>
          <p:cNvSpPr/>
          <p:nvPr/>
        </p:nvSpPr>
        <p:spPr>
          <a:xfrm>
            <a:off x="990600" y="2298700"/>
            <a:ext cx="4699000" cy="13970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H = 24 and a 30-day window were set by inspection, with no search equivalent to the tree models' grid. A bounded check found a 45-day window scored 2.2 points better at h = 3 — untested at the full ten-seed scale, and nothing in the reported table was changed on the strength of it.</a:t>
            </a:r>
            <a:endParaRPr lang="en-US" sz="1200" dirty="0"/>
          </a:p>
        </p:txBody>
      </p:sp>
      <p:sp>
        <p:nvSpPr>
          <p:cNvPr id="8" name="Shape 6"/>
          <p:cNvSpPr/>
          <p:nvPr/>
        </p:nvSpPr>
        <p:spPr>
          <a:xfrm>
            <a:off x="6223000" y="1790700"/>
            <a:ext cx="5270500" cy="2095500"/>
          </a:xfrm>
          <a:prstGeom prst="roundRect">
            <a:avLst>
              <a:gd name="adj" fmla="val 6109"/>
            </a:avLst>
          </a:prstGeom>
          <a:solidFill>
            <a:srgbClr val="FFFFFF"/>
          </a:solidFill>
          <a:ln/>
          <a:effectLst>
            <a:outerShdw sx="100000" sy="100000" kx="0" ky="0" algn="bl" rotWithShape="0" blurRad="127000" dist="38100" dir="5400000">
              <a:srgbClr val="16343A">
                <a:alpha val="16000"/>
              </a:srgbClr>
            </a:outerShdw>
          </a:effectLst>
        </p:spPr>
      </p:sp>
      <p:sp>
        <p:nvSpPr>
          <p:cNvPr id="9" name="Text 7"/>
          <p:cNvSpPr/>
          <p:nvPr/>
        </p:nvSpPr>
        <p:spPr>
          <a:xfrm>
            <a:off x="6515100" y="20066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THE FOURIER ABLATION</a:t>
            </a:r>
            <a:endParaRPr lang="en-US" sz="900" dirty="0"/>
          </a:p>
        </p:txBody>
      </p:sp>
      <p:sp>
        <p:nvSpPr>
          <p:cNvPr id="10" name="Text 8"/>
          <p:cNvSpPr/>
          <p:nvPr/>
        </p:nvSpPr>
        <p:spPr>
          <a:xfrm>
            <a:off x="6515100" y="2298700"/>
            <a:ext cx="4699000" cy="13970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Giving the network ARIMA's K = 4 harmonics instead of its own K = 2 helps at every horizon — substantially at h = 3, by 3.96 points. The network was already handed a seasonal signal; just a coarser one than assumed.</a:t>
            </a:r>
            <a:endParaRPr lang="en-US" sz="1200" dirty="0"/>
          </a:p>
        </p:txBody>
      </p:sp>
      <p:sp>
        <p:nvSpPr>
          <p:cNvPr id="11" name="Shape 9"/>
          <p:cNvSpPr/>
          <p:nvPr/>
        </p:nvSpPr>
        <p:spPr>
          <a:xfrm>
            <a:off x="698500" y="4140200"/>
            <a:ext cx="5270500" cy="2057400"/>
          </a:xfrm>
          <a:prstGeom prst="roundRect">
            <a:avLst>
              <a:gd name="adj" fmla="val 6222"/>
            </a:avLst>
          </a:prstGeom>
          <a:solidFill>
            <a:srgbClr val="16343A"/>
          </a:solidFill>
          <a:ln/>
        </p:spPr>
      </p:sp>
      <p:sp>
        <p:nvSpPr>
          <p:cNvPr id="12" name="Text 10"/>
          <p:cNvSpPr/>
          <p:nvPr/>
        </p:nvSpPr>
        <p:spPr>
          <a:xfrm>
            <a:off x="990600" y="4356100"/>
            <a:ext cx="4699000" cy="203200"/>
          </a:xfrm>
          <a:prstGeom prst="rect">
            <a:avLst/>
          </a:prstGeom>
          <a:noFill/>
          <a:ln/>
        </p:spPr>
        <p:txBody>
          <a:bodyPr wrap="square" rtlCol="0" anchor="ctr"/>
          <a:lstStyle/>
          <a:p>
            <a:pPr indent="0" marL="0">
              <a:buNone/>
            </a:pPr>
            <a:r>
              <a:rPr lang="en-US" sz="900" b="1" spc="140" kern="0" dirty="0">
                <a:solidFill>
                  <a:srgbClr val="F0A999"/>
                </a:solidFill>
                <a:latin typeface="Calibri" pitchFamily="34" charset="0"/>
                <a:ea typeface="Calibri" pitchFamily="34" charset="-122"/>
                <a:cs typeface="Calibri" pitchFamily="34" charset="-120"/>
              </a:rPr>
              <a:t>NOT BIT-REPRODUCIBLE</a:t>
            </a:r>
            <a:endParaRPr lang="en-US" sz="900" dirty="0"/>
          </a:p>
        </p:txBody>
      </p:sp>
      <p:sp>
        <p:nvSpPr>
          <p:cNvPr id="13" name="Text 11"/>
          <p:cNvSpPr/>
          <p:nvPr/>
        </p:nvSpPr>
        <p:spPr>
          <a:xfrm>
            <a:off x="990600" y="4648200"/>
            <a:ext cx="4699000" cy="1397000"/>
          </a:xfrm>
          <a:prstGeom prst="rect">
            <a:avLst/>
          </a:prstGeom>
          <a:noFill/>
          <a:ln/>
        </p:spPr>
        <p:txBody>
          <a:bodyPr wrap="square" rtlCol="0" anchor="t"/>
          <a:lstStyle/>
          <a:p>
            <a:pPr indent="0" marL="0">
              <a:lnSpc>
                <a:spcPct val="150000"/>
              </a:lnSpc>
              <a:buNone/>
            </a:pPr>
            <a:r>
              <a:rPr lang="en-US" sz="1200" dirty="0">
                <a:solidFill>
                  <a:srgbClr val="FFFFFF"/>
                </a:solidFill>
                <a:latin typeface="Calibri" pitchFamily="34" charset="0"/>
                <a:ea typeface="Calibri" pitchFamily="34" charset="-122"/>
                <a:cs typeface="Calibri" pitchFamily="34" charset="-120"/>
              </a:rPr>
              <a:t>Rerunning the identical command with the same seed moved the network's score by nearly as much as switching to a genuinely different one. That is why the seed count was doubled from five to ten — and why even ten should be read as a reduction in the problem, not a solution to it.</a:t>
            </a:r>
            <a:endParaRPr lang="en-US" sz="1200" dirty="0"/>
          </a:p>
        </p:txBody>
      </p:sp>
      <p:sp>
        <p:nvSpPr>
          <p:cNvPr id="14" name="Shape 12"/>
          <p:cNvSpPr/>
          <p:nvPr/>
        </p:nvSpPr>
        <p:spPr>
          <a:xfrm>
            <a:off x="6223000" y="4140200"/>
            <a:ext cx="5270500" cy="2057400"/>
          </a:xfrm>
          <a:prstGeom prst="roundRect">
            <a:avLst>
              <a:gd name="adj" fmla="val 6222"/>
            </a:avLst>
          </a:prstGeom>
          <a:solidFill>
            <a:srgbClr val="FFFFFF"/>
          </a:solidFill>
          <a:ln/>
          <a:effectLst>
            <a:outerShdw sx="100000" sy="100000" kx="0" ky="0" algn="bl" rotWithShape="0" blurRad="127000" dist="38100" dir="5400000">
              <a:srgbClr val="16343A">
                <a:alpha val="16000"/>
              </a:srgbClr>
            </a:outerShdw>
          </a:effectLst>
        </p:spPr>
      </p:sp>
      <p:sp>
        <p:nvSpPr>
          <p:cNvPr id="15" name="Text 13"/>
          <p:cNvSpPr/>
          <p:nvPr/>
        </p:nvSpPr>
        <p:spPr>
          <a:xfrm>
            <a:off x="6515100" y="43561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THE WEATHER EXTENSION IS NARROW</a:t>
            </a:r>
            <a:endParaRPr lang="en-US" sz="900" dirty="0"/>
          </a:p>
        </p:txBody>
      </p:sp>
      <p:sp>
        <p:nvSpPr>
          <p:cNvPr id="16" name="Text 14"/>
          <p:cNvSpPr/>
          <p:nvPr/>
        </p:nvSpPr>
        <p:spPr>
          <a:xfrm>
            <a:off x="6515100" y="4648200"/>
            <a:ext cx="4699000" cy="1397000"/>
          </a:xfrm>
          <a:prstGeom prst="rect">
            <a:avLst/>
          </a:prstGeom>
          <a:noFill/>
          <a:ln/>
        </p:spPr>
        <p:txBody>
          <a:bodyPr wrap="square" rtlCol="0" anchor="t"/>
          <a:lstStyle/>
          <a:p>
            <a:pPr indent="0" marL="0">
              <a:lnSpc>
                <a:spcPct val="150000"/>
              </a:lnSpc>
              <a:buNone/>
            </a:pPr>
            <a:r>
              <a:rPr lang="en-US" sz="1200" dirty="0">
                <a:solidFill>
                  <a:srgbClr val="1C2B2C"/>
                </a:solidFill>
                <a:latin typeface="Calibri" pitchFamily="34" charset="0"/>
                <a:ea typeface="Calibri" pitchFamily="34" charset="-122"/>
                <a:cs typeface="Calibri" pitchFamily="34" charset="-120"/>
              </a:rPr>
              <a:t>Only observed weather enters the table, never a forecast — a real early-warning system would use a numerical weather prediction, which is a materially stronger claim. Boundary layer height, the variable most directly tied to the physical mechanism, is unavailable without a reanalysis product.</a:t>
            </a:r>
            <a:endParaRPr lang="en-US" sz="12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DISCUSSION</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Limitations III — what the supervisor reviews added</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790700"/>
            <a:ext cx="5270500" cy="2095500"/>
          </a:xfrm>
          <a:prstGeom prst="roundRect">
            <a:avLst>
              <a:gd name="adj" fmla="val 6109"/>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90600" y="20066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OPTIMISER AND LEARNING RATE — BOUNDED CHECK</a:t>
            </a:r>
            <a:endParaRPr lang="en-US" sz="900" dirty="0"/>
          </a:p>
        </p:txBody>
      </p:sp>
      <p:sp>
        <p:nvSpPr>
          <p:cNvPr id="7" name="Text 5"/>
          <p:cNvSpPr/>
          <p:nvPr/>
        </p:nvSpPr>
        <p:spPr>
          <a:xfrm>
            <a:off x="990600" y="2298700"/>
            <a:ext cx="4699000" cy="1409700"/>
          </a:xfrm>
          <a:prstGeom prst="rect">
            <a:avLst/>
          </a:prstGeom>
          <a:noFill/>
          <a:ln/>
        </p:spPr>
        <p:txBody>
          <a:bodyPr wrap="square" rtlCol="0" anchor="t"/>
          <a:lstStyle/>
          <a:p>
            <a:pPr indent="0" marL="0">
              <a:lnSpc>
                <a:spcPct val="140000"/>
              </a:lnSpc>
              <a:buNone/>
            </a:pPr>
            <a:r>
              <a:rPr lang="en-US" sz="1100" dirty="0">
                <a:solidFill>
                  <a:srgbClr val="1C2B2C"/>
                </a:solidFill>
                <a:latin typeface="Calibri" pitchFamily="34" charset="0"/>
                <a:ea typeface="Calibri" pitchFamily="34" charset="-122"/>
                <a:cs typeface="Calibri" pitchFamily="34" charset="-120"/>
              </a:rPr>
              <a:t>Adam at 0.01 is at or near the best setting tried at one and two days. At three days SGD with momentum beats it by about two points, 0.839 against 0.858, with a tighter seed spread. Three separate bounded checks now agree that the three-day configuration is the one this project would least defend.</a:t>
            </a:r>
            <a:endParaRPr lang="en-US" sz="1100" dirty="0"/>
          </a:p>
        </p:txBody>
      </p:sp>
      <p:sp>
        <p:nvSpPr>
          <p:cNvPr id="8" name="Shape 6"/>
          <p:cNvSpPr/>
          <p:nvPr/>
        </p:nvSpPr>
        <p:spPr>
          <a:xfrm>
            <a:off x="6223000" y="1790700"/>
            <a:ext cx="5270500" cy="2095500"/>
          </a:xfrm>
          <a:prstGeom prst="roundRect">
            <a:avLst>
              <a:gd name="adj" fmla="val 6109"/>
            </a:avLst>
          </a:prstGeom>
          <a:solidFill>
            <a:srgbClr val="FFFFFF"/>
          </a:solidFill>
          <a:ln/>
          <a:effectLst>
            <a:outerShdw sx="100000" sy="100000" kx="0" ky="0" algn="bl" rotWithShape="0" blurRad="127000" dist="38100" dir="5400000">
              <a:srgbClr val="16343A">
                <a:alpha val="16000"/>
              </a:srgbClr>
            </a:outerShdw>
          </a:effectLst>
        </p:spPr>
      </p:sp>
      <p:sp>
        <p:nvSpPr>
          <p:cNvPr id="9" name="Text 7"/>
          <p:cNvSpPr/>
          <p:nvPr/>
        </p:nvSpPr>
        <p:spPr>
          <a:xfrm>
            <a:off x="6515100" y="20066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THE LSTM AND TRANSFORMER SCOPE, STATED PLAINLY</a:t>
            </a:r>
            <a:endParaRPr lang="en-US" sz="900" dirty="0"/>
          </a:p>
        </p:txBody>
      </p:sp>
      <p:sp>
        <p:nvSpPr>
          <p:cNvPr id="10" name="Text 8"/>
          <p:cNvSpPr/>
          <p:nvPr/>
        </p:nvSpPr>
        <p:spPr>
          <a:xfrm>
            <a:off x="6515100" y="2298700"/>
            <a:ext cx="4699000" cy="1409700"/>
          </a:xfrm>
          <a:prstGeom prst="rect">
            <a:avLst/>
          </a:prstGeom>
          <a:noFill/>
          <a:ln/>
        </p:spPr>
        <p:txBody>
          <a:bodyPr wrap="square" rtlCol="0" anchor="t"/>
          <a:lstStyle/>
          <a:p>
            <a:pPr indent="0" marL="0">
              <a:lnSpc>
                <a:spcPct val="140000"/>
              </a:lnSpc>
              <a:buNone/>
            </a:pPr>
            <a:r>
              <a:rPr lang="en-US" sz="1100" dirty="0">
                <a:solidFill>
                  <a:srgbClr val="1C2B2C"/>
                </a:solidFill>
                <a:latin typeface="Calibri" pitchFamily="34" charset="0"/>
                <a:ea typeface="Calibri" pitchFamily="34" charset="-122"/>
                <a:cs typeface="Calibri" pitchFamily="34" charset="-120"/>
              </a:rPr>
              <a:t>Both were held to the same ten-seed rolling-origin evaluation as the GRU for accuracy, and no further: no weather channels, no threshold sweep for either. Both appear in the accuracy and significance tables and nowhere in the warning-system tables. Not tested because the marginal evidence did not justify the compute, not because a result was avoided.</a:t>
            </a:r>
            <a:endParaRPr lang="en-US" sz="1100" dirty="0"/>
          </a:p>
        </p:txBody>
      </p:sp>
      <p:sp>
        <p:nvSpPr>
          <p:cNvPr id="11" name="Shape 9"/>
          <p:cNvSpPr/>
          <p:nvPr/>
        </p:nvSpPr>
        <p:spPr>
          <a:xfrm>
            <a:off x="698500" y="4140200"/>
            <a:ext cx="5270500" cy="2057400"/>
          </a:xfrm>
          <a:prstGeom prst="roundRect">
            <a:avLst>
              <a:gd name="adj" fmla="val 6222"/>
            </a:avLst>
          </a:prstGeom>
          <a:solidFill>
            <a:srgbClr val="16343A"/>
          </a:solidFill>
          <a:ln/>
        </p:spPr>
      </p:sp>
      <p:sp>
        <p:nvSpPr>
          <p:cNvPr id="12" name="Text 10"/>
          <p:cNvSpPr/>
          <p:nvPr/>
        </p:nvSpPr>
        <p:spPr>
          <a:xfrm>
            <a:off x="990600" y="4356100"/>
            <a:ext cx="4699000" cy="203200"/>
          </a:xfrm>
          <a:prstGeom prst="rect">
            <a:avLst/>
          </a:prstGeom>
          <a:noFill/>
          <a:ln/>
        </p:spPr>
        <p:txBody>
          <a:bodyPr wrap="square" rtlCol="0" anchor="ctr"/>
          <a:lstStyle/>
          <a:p>
            <a:pPr indent="0" marL="0">
              <a:buNone/>
            </a:pPr>
            <a:r>
              <a:rPr lang="en-US" sz="900" b="1" spc="140" kern="0" dirty="0">
                <a:solidFill>
                  <a:srgbClr val="F0A999"/>
                </a:solidFill>
                <a:latin typeface="Calibri" pitchFamily="34" charset="0"/>
                <a:ea typeface="Calibri" pitchFamily="34" charset="-122"/>
                <a:cs typeface="Calibri" pitchFamily="34" charset="-120"/>
              </a:rPr>
              <a:t>THE TRANSFORMER, PROMOTED OUT OF THIS LIST</a:t>
            </a:r>
            <a:endParaRPr lang="en-US" sz="900" dirty="0"/>
          </a:p>
        </p:txBody>
      </p:sp>
      <p:sp>
        <p:nvSpPr>
          <p:cNvPr id="13" name="Text 11"/>
          <p:cNvSpPr/>
          <p:nvPr/>
        </p:nvSpPr>
        <p:spPr>
          <a:xfrm>
            <a:off x="990600" y="4648200"/>
            <a:ext cx="4699000" cy="1409700"/>
          </a:xfrm>
          <a:prstGeom prst="rect">
            <a:avLst/>
          </a:prstGeom>
          <a:noFill/>
          <a:ln/>
        </p:spPr>
        <p:txBody>
          <a:bodyPr wrap="square" rtlCol="0" anchor="t"/>
          <a:lstStyle/>
          <a:p>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It began here as a bounded check. Dr Tian challenged the small-data premise directly — some four thousand days clears the threshold he had seen cited — so it was given the full ten-seed treatment. It beats the GRU in 8 of 10 matched seeds at every horizon and carries the strongest formal result against ARIMA at one day ahead, 7 of 10 seeds.</a:t>
            </a:r>
            <a:endParaRPr lang="en-US" sz="1100" dirty="0"/>
          </a:p>
        </p:txBody>
      </p:sp>
      <p:sp>
        <p:nvSpPr>
          <p:cNvPr id="14" name="Shape 12"/>
          <p:cNvSpPr/>
          <p:nvPr/>
        </p:nvSpPr>
        <p:spPr>
          <a:xfrm>
            <a:off x="6223000" y="4140200"/>
            <a:ext cx="5270500" cy="2057400"/>
          </a:xfrm>
          <a:prstGeom prst="roundRect">
            <a:avLst>
              <a:gd name="adj" fmla="val 6222"/>
            </a:avLst>
          </a:prstGeom>
          <a:solidFill>
            <a:srgbClr val="FFFFFF"/>
          </a:solidFill>
          <a:ln/>
          <a:effectLst>
            <a:outerShdw sx="100000" sy="100000" kx="0" ky="0" algn="bl" rotWithShape="0" blurRad="127000" dist="38100" dir="5400000">
              <a:srgbClr val="16343A">
                <a:alpha val="16000"/>
              </a:srgbClr>
            </a:outerShdw>
          </a:effectLst>
        </p:spPr>
      </p:sp>
      <p:sp>
        <p:nvSpPr>
          <p:cNvPr id="15" name="Text 13"/>
          <p:cNvSpPr/>
          <p:nvPr/>
        </p:nvSpPr>
        <p:spPr>
          <a:xfrm>
            <a:off x="6515100" y="4356100"/>
            <a:ext cx="4699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A KAN-LSTM HYBRID — THE ONE CHECK STILL BOUNDED</a:t>
            </a:r>
            <a:endParaRPr lang="en-US" sz="900" dirty="0"/>
          </a:p>
        </p:txBody>
      </p:sp>
      <p:sp>
        <p:nvSpPr>
          <p:cNvPr id="16" name="Text 14"/>
          <p:cNvSpPr/>
          <p:nvPr/>
        </p:nvSpPr>
        <p:spPr>
          <a:xfrm>
            <a:off x="6515100" y="4648200"/>
            <a:ext cx="4699000" cy="1409700"/>
          </a:xfrm>
          <a:prstGeom prst="rect">
            <a:avLst/>
          </a:prstGeom>
          <a:noFill/>
          <a:ln/>
        </p:spPr>
        <p:txBody>
          <a:bodyPr wrap="square" rtlCol="0" anchor="t"/>
          <a:lstStyle/>
          <a:p>
            <a:pPr indent="0" marL="0">
              <a:lnSpc>
                <a:spcPct val="140000"/>
              </a:lnSpc>
              <a:buNone/>
            </a:pPr>
            <a:r>
              <a:rPr lang="en-US" sz="1100" dirty="0">
                <a:solidFill>
                  <a:srgbClr val="1C2B2C"/>
                </a:solidFill>
                <a:latin typeface="Calibri" pitchFamily="34" charset="0"/>
                <a:ea typeface="Calibri" pitchFamily="34" charset="-122"/>
                <a:cs typeface="Calibri" pitchFamily="34" charset="-120"/>
              </a:rPr>
              <a:t>Dr Tian named this combination directly. No maintained library exists, so the layer was built from the published construction and unit-tested alone first, recovering sin(3x) to 1e-4. All three seeds trained stably. Competitive with the other three: worst at one day, best at two.</a:t>
            </a:r>
            <a:endParaRPr lang="en-US" sz="11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93000" y="952500"/>
            <a:ext cx="4445000" cy="3556000"/>
          </a:xfrm>
          <a:prstGeom prst="rect">
            <a:avLst/>
          </a:prstGeom>
          <a:noFill/>
          <a:ln/>
        </p:spPr>
        <p:txBody>
          <a:bodyPr wrap="square" rtlCol="0" anchor="t"/>
          <a:lstStyle/>
          <a:p>
            <a:pPr algn="r" indent="0" marL="0">
              <a:buNone/>
            </a:pPr>
            <a:r>
              <a:rPr lang="en-US" sz="20000" b="1" dirty="0">
                <a:solidFill>
                  <a:srgbClr val="1E4850"/>
                </a:solidFill>
                <a:latin typeface="Calibri" pitchFamily="34" charset="0"/>
                <a:ea typeface="Calibri" pitchFamily="34" charset="-122"/>
                <a:cs typeface="Calibri" pitchFamily="34" charset="-120"/>
              </a:rPr>
              <a:t>06</a:t>
            </a:r>
            <a:endParaRPr lang="en-US" sz="20000" dirty="0"/>
          </a:p>
        </p:txBody>
      </p:sp>
      <p:sp>
        <p:nvSpPr>
          <p:cNvPr id="3" name="Shape 1"/>
          <p:cNvSpPr/>
          <p:nvPr/>
        </p:nvSpPr>
        <p:spPr>
          <a:xfrm>
            <a:off x="0" y="6679274"/>
            <a:ext cx="287020" cy="178726"/>
          </a:xfrm>
          <a:prstGeom prst="rect">
            <a:avLst/>
          </a:prstGeom>
          <a:solidFill>
            <a:srgbClr val="2F5F67">
              <a:alpha val="50000"/>
            </a:srgbClr>
          </a:solidFill>
          <a:ln/>
        </p:spPr>
      </p:sp>
      <p:sp>
        <p:nvSpPr>
          <p:cNvPr id="4" name="Shape 2"/>
          <p:cNvSpPr/>
          <p:nvPr/>
        </p:nvSpPr>
        <p:spPr>
          <a:xfrm>
            <a:off x="304800" y="6670957"/>
            <a:ext cx="287020" cy="187043"/>
          </a:xfrm>
          <a:prstGeom prst="rect">
            <a:avLst/>
          </a:prstGeom>
          <a:solidFill>
            <a:srgbClr val="2F5F67">
              <a:alpha val="50000"/>
            </a:srgbClr>
          </a:solidFill>
          <a:ln/>
        </p:spPr>
      </p:sp>
      <p:sp>
        <p:nvSpPr>
          <p:cNvPr id="5" name="Shape 3"/>
          <p:cNvSpPr/>
          <p:nvPr/>
        </p:nvSpPr>
        <p:spPr>
          <a:xfrm>
            <a:off x="609600" y="6630586"/>
            <a:ext cx="287020" cy="227414"/>
          </a:xfrm>
          <a:prstGeom prst="rect">
            <a:avLst/>
          </a:prstGeom>
          <a:solidFill>
            <a:srgbClr val="2F5F67">
              <a:alpha val="50000"/>
            </a:srgbClr>
          </a:solidFill>
          <a:ln/>
        </p:spPr>
      </p:sp>
      <p:sp>
        <p:nvSpPr>
          <p:cNvPr id="6" name="Shape 4"/>
          <p:cNvSpPr/>
          <p:nvPr/>
        </p:nvSpPr>
        <p:spPr>
          <a:xfrm>
            <a:off x="914400" y="6608270"/>
            <a:ext cx="287020" cy="249730"/>
          </a:xfrm>
          <a:prstGeom prst="rect">
            <a:avLst/>
          </a:prstGeom>
          <a:solidFill>
            <a:srgbClr val="2F5F67">
              <a:alpha val="50000"/>
            </a:srgbClr>
          </a:solidFill>
          <a:ln/>
        </p:spPr>
      </p:sp>
      <p:sp>
        <p:nvSpPr>
          <p:cNvPr id="7" name="Shape 5"/>
          <p:cNvSpPr/>
          <p:nvPr/>
        </p:nvSpPr>
        <p:spPr>
          <a:xfrm>
            <a:off x="1219200" y="6474874"/>
            <a:ext cx="287020" cy="383126"/>
          </a:xfrm>
          <a:prstGeom prst="rect">
            <a:avLst/>
          </a:prstGeom>
          <a:solidFill>
            <a:srgbClr val="E35D45">
              <a:alpha val="78000"/>
            </a:srgbClr>
          </a:solidFill>
          <a:ln/>
        </p:spPr>
      </p:sp>
      <p:sp>
        <p:nvSpPr>
          <p:cNvPr id="8" name="Shape 6"/>
          <p:cNvSpPr/>
          <p:nvPr/>
        </p:nvSpPr>
        <p:spPr>
          <a:xfrm>
            <a:off x="1524000" y="6211826"/>
            <a:ext cx="287020" cy="646174"/>
          </a:xfrm>
          <a:prstGeom prst="rect">
            <a:avLst/>
          </a:prstGeom>
          <a:solidFill>
            <a:srgbClr val="E35D45">
              <a:alpha val="78000"/>
            </a:srgbClr>
          </a:solidFill>
          <a:ln/>
        </p:spPr>
      </p:sp>
      <p:sp>
        <p:nvSpPr>
          <p:cNvPr id="9" name="Shape 7"/>
          <p:cNvSpPr/>
          <p:nvPr/>
        </p:nvSpPr>
        <p:spPr>
          <a:xfrm>
            <a:off x="1828800" y="6381131"/>
            <a:ext cx="287020" cy="476869"/>
          </a:xfrm>
          <a:prstGeom prst="rect">
            <a:avLst/>
          </a:prstGeom>
          <a:solidFill>
            <a:srgbClr val="E35D45">
              <a:alpha val="78000"/>
            </a:srgbClr>
          </a:solidFill>
          <a:ln/>
        </p:spPr>
      </p:sp>
      <p:sp>
        <p:nvSpPr>
          <p:cNvPr id="10" name="Shape 8"/>
          <p:cNvSpPr/>
          <p:nvPr/>
        </p:nvSpPr>
        <p:spPr>
          <a:xfrm>
            <a:off x="2133600" y="6342800"/>
            <a:ext cx="287020" cy="515200"/>
          </a:xfrm>
          <a:prstGeom prst="rect">
            <a:avLst/>
          </a:prstGeom>
          <a:solidFill>
            <a:srgbClr val="E35D45">
              <a:alpha val="78000"/>
            </a:srgbClr>
          </a:solidFill>
          <a:ln/>
        </p:spPr>
      </p:sp>
      <p:sp>
        <p:nvSpPr>
          <p:cNvPr id="11" name="Shape 9"/>
          <p:cNvSpPr/>
          <p:nvPr/>
        </p:nvSpPr>
        <p:spPr>
          <a:xfrm>
            <a:off x="2438400" y="6290804"/>
            <a:ext cx="287020" cy="567196"/>
          </a:xfrm>
          <a:prstGeom prst="rect">
            <a:avLst/>
          </a:prstGeom>
          <a:solidFill>
            <a:srgbClr val="E35D45">
              <a:alpha val="78000"/>
            </a:srgbClr>
          </a:solidFill>
          <a:ln/>
        </p:spPr>
      </p:sp>
      <p:sp>
        <p:nvSpPr>
          <p:cNvPr id="12" name="Shape 10"/>
          <p:cNvSpPr/>
          <p:nvPr/>
        </p:nvSpPr>
        <p:spPr>
          <a:xfrm>
            <a:off x="2743200" y="6415031"/>
            <a:ext cx="287020" cy="442969"/>
          </a:xfrm>
          <a:prstGeom prst="rect">
            <a:avLst/>
          </a:prstGeom>
          <a:solidFill>
            <a:srgbClr val="E35D45">
              <a:alpha val="78000"/>
            </a:srgbClr>
          </a:solidFill>
          <a:ln/>
        </p:spPr>
      </p:sp>
      <p:sp>
        <p:nvSpPr>
          <p:cNvPr id="13" name="Shape 11"/>
          <p:cNvSpPr/>
          <p:nvPr/>
        </p:nvSpPr>
        <p:spPr>
          <a:xfrm>
            <a:off x="3048000" y="6440669"/>
            <a:ext cx="287020" cy="417331"/>
          </a:xfrm>
          <a:prstGeom prst="rect">
            <a:avLst/>
          </a:prstGeom>
          <a:solidFill>
            <a:srgbClr val="E35D45">
              <a:alpha val="78000"/>
            </a:srgbClr>
          </a:solidFill>
          <a:ln/>
        </p:spPr>
      </p:sp>
      <p:sp>
        <p:nvSpPr>
          <p:cNvPr id="14" name="Shape 12"/>
          <p:cNvSpPr/>
          <p:nvPr/>
        </p:nvSpPr>
        <p:spPr>
          <a:xfrm>
            <a:off x="3352800" y="6525917"/>
            <a:ext cx="287020" cy="332083"/>
          </a:xfrm>
          <a:prstGeom prst="rect">
            <a:avLst/>
          </a:prstGeom>
          <a:solidFill>
            <a:srgbClr val="E35D45">
              <a:alpha val="78000"/>
            </a:srgbClr>
          </a:solidFill>
          <a:ln/>
        </p:spPr>
      </p:sp>
      <p:sp>
        <p:nvSpPr>
          <p:cNvPr id="15" name="Shape 13"/>
          <p:cNvSpPr/>
          <p:nvPr/>
        </p:nvSpPr>
        <p:spPr>
          <a:xfrm>
            <a:off x="3657600" y="6566142"/>
            <a:ext cx="287020" cy="291858"/>
          </a:xfrm>
          <a:prstGeom prst="rect">
            <a:avLst/>
          </a:prstGeom>
          <a:solidFill>
            <a:srgbClr val="2F5F67">
              <a:alpha val="50000"/>
            </a:srgbClr>
          </a:solidFill>
          <a:ln/>
        </p:spPr>
      </p:sp>
      <p:sp>
        <p:nvSpPr>
          <p:cNvPr id="16" name="Shape 14"/>
          <p:cNvSpPr/>
          <p:nvPr/>
        </p:nvSpPr>
        <p:spPr>
          <a:xfrm>
            <a:off x="3962400" y="6495268"/>
            <a:ext cx="287020" cy="362732"/>
          </a:xfrm>
          <a:prstGeom prst="rect">
            <a:avLst/>
          </a:prstGeom>
          <a:solidFill>
            <a:srgbClr val="E35D45">
              <a:alpha val="78000"/>
            </a:srgbClr>
          </a:solidFill>
          <a:ln/>
        </p:spPr>
      </p:sp>
      <p:sp>
        <p:nvSpPr>
          <p:cNvPr id="17" name="Shape 15"/>
          <p:cNvSpPr/>
          <p:nvPr/>
        </p:nvSpPr>
        <p:spPr>
          <a:xfrm>
            <a:off x="4267200" y="6627266"/>
            <a:ext cx="287020" cy="230734"/>
          </a:xfrm>
          <a:prstGeom prst="rect">
            <a:avLst/>
          </a:prstGeom>
          <a:solidFill>
            <a:srgbClr val="2F5F67">
              <a:alpha val="50000"/>
            </a:srgbClr>
          </a:solidFill>
          <a:ln/>
        </p:spPr>
      </p:sp>
      <p:sp>
        <p:nvSpPr>
          <p:cNvPr id="18" name="Shape 16"/>
          <p:cNvSpPr/>
          <p:nvPr/>
        </p:nvSpPr>
        <p:spPr>
          <a:xfrm>
            <a:off x="4572000" y="6670957"/>
            <a:ext cx="287020" cy="187043"/>
          </a:xfrm>
          <a:prstGeom prst="rect">
            <a:avLst/>
          </a:prstGeom>
          <a:solidFill>
            <a:srgbClr val="2F5F67">
              <a:alpha val="50000"/>
            </a:srgbClr>
          </a:solidFill>
          <a:ln/>
        </p:spPr>
      </p:sp>
      <p:sp>
        <p:nvSpPr>
          <p:cNvPr id="19" name="Shape 17"/>
          <p:cNvSpPr/>
          <p:nvPr/>
        </p:nvSpPr>
        <p:spPr>
          <a:xfrm>
            <a:off x="4876800" y="6661054"/>
            <a:ext cx="287020" cy="196946"/>
          </a:xfrm>
          <a:prstGeom prst="rect">
            <a:avLst/>
          </a:prstGeom>
          <a:solidFill>
            <a:srgbClr val="2F5F67">
              <a:alpha val="50000"/>
            </a:srgbClr>
          </a:solidFill>
          <a:ln/>
        </p:spPr>
      </p:sp>
      <p:sp>
        <p:nvSpPr>
          <p:cNvPr id="20" name="Shape 18"/>
          <p:cNvSpPr/>
          <p:nvPr/>
        </p:nvSpPr>
        <p:spPr>
          <a:xfrm>
            <a:off x="5181600" y="6681415"/>
            <a:ext cx="287020" cy="176585"/>
          </a:xfrm>
          <a:prstGeom prst="rect">
            <a:avLst/>
          </a:prstGeom>
          <a:solidFill>
            <a:srgbClr val="2F5F67">
              <a:alpha val="50000"/>
            </a:srgbClr>
          </a:solidFill>
          <a:ln/>
        </p:spPr>
      </p:sp>
      <p:sp>
        <p:nvSpPr>
          <p:cNvPr id="21" name="Shape 19"/>
          <p:cNvSpPr/>
          <p:nvPr/>
        </p:nvSpPr>
        <p:spPr>
          <a:xfrm>
            <a:off x="5486400" y="6620765"/>
            <a:ext cx="287020" cy="237235"/>
          </a:xfrm>
          <a:prstGeom prst="rect">
            <a:avLst/>
          </a:prstGeom>
          <a:solidFill>
            <a:srgbClr val="2F5F67">
              <a:alpha val="50000"/>
            </a:srgbClr>
          </a:solidFill>
          <a:ln/>
        </p:spPr>
      </p:sp>
      <p:sp>
        <p:nvSpPr>
          <p:cNvPr id="22" name="Shape 20"/>
          <p:cNvSpPr/>
          <p:nvPr/>
        </p:nvSpPr>
        <p:spPr>
          <a:xfrm>
            <a:off x="5791200" y="6511350"/>
            <a:ext cx="287020" cy="346650"/>
          </a:xfrm>
          <a:prstGeom prst="rect">
            <a:avLst/>
          </a:prstGeom>
          <a:solidFill>
            <a:srgbClr val="E35D45">
              <a:alpha val="78000"/>
            </a:srgbClr>
          </a:solidFill>
          <a:ln/>
        </p:spPr>
      </p:sp>
      <p:sp>
        <p:nvSpPr>
          <p:cNvPr id="23" name="Shape 21"/>
          <p:cNvSpPr/>
          <p:nvPr/>
        </p:nvSpPr>
        <p:spPr>
          <a:xfrm>
            <a:off x="6096000" y="6300269"/>
            <a:ext cx="287020" cy="557731"/>
          </a:xfrm>
          <a:prstGeom prst="rect">
            <a:avLst/>
          </a:prstGeom>
          <a:solidFill>
            <a:srgbClr val="E35D45">
              <a:alpha val="78000"/>
            </a:srgbClr>
          </a:solidFill>
          <a:ln/>
        </p:spPr>
      </p:sp>
      <p:sp>
        <p:nvSpPr>
          <p:cNvPr id="24" name="Shape 22"/>
          <p:cNvSpPr/>
          <p:nvPr/>
        </p:nvSpPr>
        <p:spPr>
          <a:xfrm>
            <a:off x="6400800" y="6379539"/>
            <a:ext cx="287020" cy="478461"/>
          </a:xfrm>
          <a:prstGeom prst="rect">
            <a:avLst/>
          </a:prstGeom>
          <a:solidFill>
            <a:srgbClr val="E35D45">
              <a:alpha val="78000"/>
            </a:srgbClr>
          </a:solidFill>
          <a:ln/>
        </p:spPr>
      </p:sp>
      <p:sp>
        <p:nvSpPr>
          <p:cNvPr id="25" name="Shape 23"/>
          <p:cNvSpPr/>
          <p:nvPr/>
        </p:nvSpPr>
        <p:spPr>
          <a:xfrm>
            <a:off x="6705600" y="6328244"/>
            <a:ext cx="287020" cy="529756"/>
          </a:xfrm>
          <a:prstGeom prst="rect">
            <a:avLst/>
          </a:prstGeom>
          <a:solidFill>
            <a:srgbClr val="E35D45">
              <a:alpha val="78000"/>
            </a:srgbClr>
          </a:solidFill>
          <a:ln/>
        </p:spPr>
      </p:sp>
      <p:sp>
        <p:nvSpPr>
          <p:cNvPr id="26" name="Shape 24"/>
          <p:cNvSpPr/>
          <p:nvPr/>
        </p:nvSpPr>
        <p:spPr>
          <a:xfrm>
            <a:off x="7010400" y="6398183"/>
            <a:ext cx="287020" cy="459817"/>
          </a:xfrm>
          <a:prstGeom prst="rect">
            <a:avLst/>
          </a:prstGeom>
          <a:solidFill>
            <a:srgbClr val="E35D45">
              <a:alpha val="78000"/>
            </a:srgbClr>
          </a:solidFill>
          <a:ln/>
        </p:spPr>
      </p:sp>
      <p:sp>
        <p:nvSpPr>
          <p:cNvPr id="27" name="Shape 25"/>
          <p:cNvSpPr/>
          <p:nvPr/>
        </p:nvSpPr>
        <p:spPr>
          <a:xfrm>
            <a:off x="7315200" y="6401503"/>
            <a:ext cx="287020" cy="456497"/>
          </a:xfrm>
          <a:prstGeom prst="rect">
            <a:avLst/>
          </a:prstGeom>
          <a:solidFill>
            <a:srgbClr val="E35D45">
              <a:alpha val="78000"/>
            </a:srgbClr>
          </a:solidFill>
          <a:ln/>
        </p:spPr>
      </p:sp>
      <p:sp>
        <p:nvSpPr>
          <p:cNvPr id="28" name="Shape 26"/>
          <p:cNvSpPr/>
          <p:nvPr/>
        </p:nvSpPr>
        <p:spPr>
          <a:xfrm>
            <a:off x="7620000" y="6558426"/>
            <a:ext cx="287020" cy="299574"/>
          </a:xfrm>
          <a:prstGeom prst="rect">
            <a:avLst/>
          </a:prstGeom>
          <a:solidFill>
            <a:srgbClr val="2F5F67">
              <a:alpha val="50000"/>
            </a:srgbClr>
          </a:solidFill>
          <a:ln/>
        </p:spPr>
      </p:sp>
      <p:sp>
        <p:nvSpPr>
          <p:cNvPr id="29" name="Shape 27"/>
          <p:cNvSpPr/>
          <p:nvPr/>
        </p:nvSpPr>
        <p:spPr>
          <a:xfrm>
            <a:off x="7924800" y="6536388"/>
            <a:ext cx="287020" cy="321612"/>
          </a:xfrm>
          <a:prstGeom prst="rect">
            <a:avLst/>
          </a:prstGeom>
          <a:solidFill>
            <a:srgbClr val="E35D45">
              <a:alpha val="78000"/>
            </a:srgbClr>
          </a:solidFill>
          <a:ln/>
        </p:spPr>
      </p:sp>
      <p:sp>
        <p:nvSpPr>
          <p:cNvPr id="30" name="Shape 28"/>
          <p:cNvSpPr/>
          <p:nvPr/>
        </p:nvSpPr>
        <p:spPr>
          <a:xfrm>
            <a:off x="8229600" y="6554642"/>
            <a:ext cx="287020" cy="303358"/>
          </a:xfrm>
          <a:prstGeom prst="rect">
            <a:avLst/>
          </a:prstGeom>
          <a:solidFill>
            <a:srgbClr val="2F5F67">
              <a:alpha val="50000"/>
            </a:srgbClr>
          </a:solidFill>
          <a:ln/>
        </p:spPr>
      </p:sp>
      <p:sp>
        <p:nvSpPr>
          <p:cNvPr id="31" name="Shape 29"/>
          <p:cNvSpPr/>
          <p:nvPr/>
        </p:nvSpPr>
        <p:spPr>
          <a:xfrm>
            <a:off x="8534400" y="6558426"/>
            <a:ext cx="287020" cy="299574"/>
          </a:xfrm>
          <a:prstGeom prst="rect">
            <a:avLst/>
          </a:prstGeom>
          <a:solidFill>
            <a:srgbClr val="2F5F67">
              <a:alpha val="50000"/>
            </a:srgbClr>
          </a:solidFill>
          <a:ln/>
        </p:spPr>
      </p:sp>
      <p:sp>
        <p:nvSpPr>
          <p:cNvPr id="32" name="Shape 30"/>
          <p:cNvSpPr/>
          <p:nvPr/>
        </p:nvSpPr>
        <p:spPr>
          <a:xfrm>
            <a:off x="8839200" y="6508074"/>
            <a:ext cx="287020" cy="349926"/>
          </a:xfrm>
          <a:prstGeom prst="rect">
            <a:avLst/>
          </a:prstGeom>
          <a:solidFill>
            <a:srgbClr val="E35D45">
              <a:alpha val="78000"/>
            </a:srgbClr>
          </a:solidFill>
          <a:ln/>
        </p:spPr>
      </p:sp>
      <p:sp>
        <p:nvSpPr>
          <p:cNvPr id="33" name="Shape 31"/>
          <p:cNvSpPr/>
          <p:nvPr/>
        </p:nvSpPr>
        <p:spPr>
          <a:xfrm>
            <a:off x="9144000" y="6612881"/>
            <a:ext cx="287020" cy="245119"/>
          </a:xfrm>
          <a:prstGeom prst="rect">
            <a:avLst/>
          </a:prstGeom>
          <a:solidFill>
            <a:srgbClr val="2F5F67">
              <a:alpha val="50000"/>
            </a:srgbClr>
          </a:solidFill>
          <a:ln/>
        </p:spPr>
      </p:sp>
      <p:sp>
        <p:nvSpPr>
          <p:cNvPr id="34" name="Shape 32"/>
          <p:cNvSpPr/>
          <p:nvPr/>
        </p:nvSpPr>
        <p:spPr>
          <a:xfrm>
            <a:off x="9448800" y="6639106"/>
            <a:ext cx="287020" cy="218894"/>
          </a:xfrm>
          <a:prstGeom prst="rect">
            <a:avLst/>
          </a:prstGeom>
          <a:solidFill>
            <a:srgbClr val="2F5F67">
              <a:alpha val="50000"/>
            </a:srgbClr>
          </a:solidFill>
          <a:ln/>
        </p:spPr>
      </p:sp>
      <p:sp>
        <p:nvSpPr>
          <p:cNvPr id="35" name="Shape 33"/>
          <p:cNvSpPr/>
          <p:nvPr/>
        </p:nvSpPr>
        <p:spPr>
          <a:xfrm>
            <a:off x="9753600" y="6670957"/>
            <a:ext cx="287020" cy="187043"/>
          </a:xfrm>
          <a:prstGeom prst="rect">
            <a:avLst/>
          </a:prstGeom>
          <a:solidFill>
            <a:srgbClr val="2F5F67">
              <a:alpha val="50000"/>
            </a:srgbClr>
          </a:solidFill>
          <a:ln/>
        </p:spPr>
      </p:sp>
      <p:sp>
        <p:nvSpPr>
          <p:cNvPr id="36" name="Shape 34"/>
          <p:cNvSpPr/>
          <p:nvPr/>
        </p:nvSpPr>
        <p:spPr>
          <a:xfrm>
            <a:off x="10058400" y="6673001"/>
            <a:ext cx="287020" cy="184999"/>
          </a:xfrm>
          <a:prstGeom prst="rect">
            <a:avLst/>
          </a:prstGeom>
          <a:solidFill>
            <a:srgbClr val="2F5F67">
              <a:alpha val="50000"/>
            </a:srgbClr>
          </a:solidFill>
          <a:ln/>
        </p:spPr>
      </p:sp>
      <p:sp>
        <p:nvSpPr>
          <p:cNvPr id="37" name="Shape 35"/>
          <p:cNvSpPr/>
          <p:nvPr/>
        </p:nvSpPr>
        <p:spPr>
          <a:xfrm>
            <a:off x="10363200" y="6659132"/>
            <a:ext cx="287020" cy="198868"/>
          </a:xfrm>
          <a:prstGeom prst="rect">
            <a:avLst/>
          </a:prstGeom>
          <a:solidFill>
            <a:srgbClr val="2F5F67">
              <a:alpha val="50000"/>
            </a:srgbClr>
          </a:solidFill>
          <a:ln/>
        </p:spPr>
      </p:sp>
      <p:sp>
        <p:nvSpPr>
          <p:cNvPr id="38" name="Shape 36"/>
          <p:cNvSpPr/>
          <p:nvPr/>
        </p:nvSpPr>
        <p:spPr>
          <a:xfrm>
            <a:off x="10668000" y="6627266"/>
            <a:ext cx="287020" cy="230734"/>
          </a:xfrm>
          <a:prstGeom prst="rect">
            <a:avLst/>
          </a:prstGeom>
          <a:solidFill>
            <a:srgbClr val="2F5F67">
              <a:alpha val="50000"/>
            </a:srgbClr>
          </a:solidFill>
          <a:ln/>
        </p:spPr>
      </p:sp>
      <p:sp>
        <p:nvSpPr>
          <p:cNvPr id="39" name="Shape 37"/>
          <p:cNvSpPr/>
          <p:nvPr/>
        </p:nvSpPr>
        <p:spPr>
          <a:xfrm>
            <a:off x="10972800" y="6586388"/>
            <a:ext cx="287020" cy="271612"/>
          </a:xfrm>
          <a:prstGeom prst="rect">
            <a:avLst/>
          </a:prstGeom>
          <a:solidFill>
            <a:srgbClr val="2F5F67">
              <a:alpha val="50000"/>
            </a:srgbClr>
          </a:solidFill>
          <a:ln/>
        </p:spPr>
      </p:sp>
      <p:sp>
        <p:nvSpPr>
          <p:cNvPr id="40" name="Shape 38"/>
          <p:cNvSpPr/>
          <p:nvPr/>
        </p:nvSpPr>
        <p:spPr>
          <a:xfrm>
            <a:off x="11277600" y="6321113"/>
            <a:ext cx="287020" cy="536887"/>
          </a:xfrm>
          <a:prstGeom prst="rect">
            <a:avLst/>
          </a:prstGeom>
          <a:solidFill>
            <a:srgbClr val="E35D45">
              <a:alpha val="78000"/>
            </a:srgbClr>
          </a:solidFill>
          <a:ln/>
        </p:spPr>
      </p:sp>
      <p:sp>
        <p:nvSpPr>
          <p:cNvPr id="41" name="Shape 39"/>
          <p:cNvSpPr/>
          <p:nvPr/>
        </p:nvSpPr>
        <p:spPr>
          <a:xfrm>
            <a:off x="11582400" y="6440669"/>
            <a:ext cx="287020" cy="417331"/>
          </a:xfrm>
          <a:prstGeom prst="rect">
            <a:avLst/>
          </a:prstGeom>
          <a:solidFill>
            <a:srgbClr val="E35D45">
              <a:alpha val="78000"/>
            </a:srgbClr>
          </a:solidFill>
          <a:ln/>
        </p:spPr>
      </p:sp>
      <p:sp>
        <p:nvSpPr>
          <p:cNvPr id="42" name="Shape 40"/>
          <p:cNvSpPr/>
          <p:nvPr/>
        </p:nvSpPr>
        <p:spPr>
          <a:xfrm>
            <a:off x="11887200" y="6446172"/>
            <a:ext cx="287020" cy="411828"/>
          </a:xfrm>
          <a:prstGeom prst="rect">
            <a:avLst/>
          </a:prstGeom>
          <a:solidFill>
            <a:srgbClr val="E35D45">
              <a:alpha val="78000"/>
            </a:srgbClr>
          </a:solidFill>
          <a:ln/>
        </p:spPr>
      </p:sp>
      <p:sp>
        <p:nvSpPr>
          <p:cNvPr id="43" name="Shape 41"/>
          <p:cNvSpPr/>
          <p:nvPr/>
        </p:nvSpPr>
        <p:spPr>
          <a:xfrm>
            <a:off x="0" y="6546850"/>
            <a:ext cx="12192000" cy="12700"/>
          </a:xfrm>
          <a:prstGeom prst="rect">
            <a:avLst/>
          </a:prstGeom>
          <a:solidFill>
            <a:srgbClr val="F0A999">
              <a:alpha val="50000"/>
            </a:srgbClr>
          </a:solidFill>
          <a:ln/>
        </p:spPr>
      </p:sp>
      <p:sp>
        <p:nvSpPr>
          <p:cNvPr id="44" name="Text 42"/>
          <p:cNvSpPr/>
          <p:nvPr/>
        </p:nvSpPr>
        <p:spPr>
          <a:xfrm>
            <a:off x="889000" y="2527300"/>
            <a:ext cx="5715000" cy="228600"/>
          </a:xfrm>
          <a:prstGeom prst="rect">
            <a:avLst/>
          </a:prstGeom>
          <a:noFill/>
          <a:ln/>
        </p:spPr>
        <p:txBody>
          <a:bodyPr wrap="square" rtlCol="0" anchor="ctr"/>
          <a:lstStyle/>
          <a:p>
            <a:pPr indent="0" marL="0">
              <a:buNone/>
            </a:pPr>
            <a:r>
              <a:rPr lang="en-US" sz="1100" b="1" spc="180" kern="0" dirty="0">
                <a:solidFill>
                  <a:srgbClr val="E35D45"/>
                </a:solidFill>
                <a:latin typeface="Calibri" pitchFamily="34" charset="0"/>
                <a:ea typeface="Calibri" pitchFamily="34" charset="-122"/>
                <a:cs typeface="Calibri" pitchFamily="34" charset="-120"/>
              </a:rPr>
              <a:t>CHAPTER 06 OF 06</a:t>
            </a:r>
            <a:endParaRPr lang="en-US" sz="1100" dirty="0"/>
          </a:p>
        </p:txBody>
      </p:sp>
      <p:sp>
        <p:nvSpPr>
          <p:cNvPr id="45" name="Text 43"/>
          <p:cNvSpPr/>
          <p:nvPr/>
        </p:nvSpPr>
        <p:spPr>
          <a:xfrm>
            <a:off x="889000" y="2794000"/>
            <a:ext cx="6350000" cy="762000"/>
          </a:xfrm>
          <a:prstGeom prst="rect">
            <a:avLst/>
          </a:prstGeom>
          <a:noFill/>
          <a:ln/>
        </p:spPr>
        <p:txBody>
          <a:bodyPr wrap="square"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Conclusion</a:t>
            </a:r>
            <a:endParaRPr lang="en-US" sz="4600" dirty="0"/>
          </a:p>
        </p:txBody>
      </p:sp>
      <p:sp>
        <p:nvSpPr>
          <p:cNvPr id="46" name="Text 44"/>
          <p:cNvSpPr/>
          <p:nvPr/>
        </p:nvSpPr>
        <p:spPr>
          <a:xfrm>
            <a:off x="889000" y="3683000"/>
            <a:ext cx="5461000" cy="635000"/>
          </a:xfrm>
          <a:prstGeom prst="rect">
            <a:avLst/>
          </a:prstGeom>
          <a:noFill/>
          <a:ln/>
        </p:spPr>
        <p:txBody>
          <a:bodyPr wrap="square" rtlCol="0" anchor="t"/>
          <a:lstStyle/>
          <a:p>
            <a:pPr indent="0" marL="0">
              <a:lnSpc>
                <a:spcPct val="140000"/>
              </a:lnSpc>
              <a:buNone/>
            </a:pPr>
            <a:r>
              <a:rPr lang="en-US" sz="1500" dirty="0">
                <a:solidFill>
                  <a:srgbClr val="AFC6C8"/>
                </a:solidFill>
                <a:latin typeface="Calibri" pitchFamily="34" charset="0"/>
                <a:ea typeface="Calibri" pitchFamily="34" charset="-122"/>
                <a:cs typeface="Calibri" pitchFamily="34" charset="-120"/>
              </a:rPr>
              <a:t>What was found, what it recommends, and what should be done next.</a:t>
            </a:r>
            <a:endParaRPr lang="en-US" sz="1500" dirty="0"/>
          </a:p>
        </p:txBody>
      </p:sp>
      <p:sp>
        <p:nvSpPr>
          <p:cNvPr id="47" name="Shape 45"/>
          <p:cNvSpPr/>
          <p:nvPr/>
        </p:nvSpPr>
        <p:spPr>
          <a:xfrm>
            <a:off x="889000" y="4445000"/>
            <a:ext cx="546100" cy="44450"/>
          </a:xfrm>
          <a:prstGeom prst="roundRect">
            <a:avLst>
              <a:gd name="adj" fmla="val 41143"/>
            </a:avLst>
          </a:prstGeom>
          <a:solidFill>
            <a:srgbClr val="2F5F67"/>
          </a:solidFill>
          <a:ln/>
        </p:spPr>
      </p:sp>
      <p:sp>
        <p:nvSpPr>
          <p:cNvPr id="48" name="Shape 46"/>
          <p:cNvSpPr/>
          <p:nvPr/>
        </p:nvSpPr>
        <p:spPr>
          <a:xfrm>
            <a:off x="1498600" y="4445000"/>
            <a:ext cx="546100" cy="44450"/>
          </a:xfrm>
          <a:prstGeom prst="roundRect">
            <a:avLst>
              <a:gd name="adj" fmla="val 41143"/>
            </a:avLst>
          </a:prstGeom>
          <a:solidFill>
            <a:srgbClr val="2F5F67"/>
          </a:solidFill>
          <a:ln/>
        </p:spPr>
      </p:sp>
      <p:sp>
        <p:nvSpPr>
          <p:cNvPr id="49" name="Shape 47"/>
          <p:cNvSpPr/>
          <p:nvPr/>
        </p:nvSpPr>
        <p:spPr>
          <a:xfrm>
            <a:off x="2108200" y="4445000"/>
            <a:ext cx="546100" cy="44450"/>
          </a:xfrm>
          <a:prstGeom prst="roundRect">
            <a:avLst>
              <a:gd name="adj" fmla="val 41143"/>
            </a:avLst>
          </a:prstGeom>
          <a:solidFill>
            <a:srgbClr val="2F5F67"/>
          </a:solidFill>
          <a:ln/>
        </p:spPr>
      </p:sp>
      <p:sp>
        <p:nvSpPr>
          <p:cNvPr id="50" name="Shape 48"/>
          <p:cNvSpPr/>
          <p:nvPr/>
        </p:nvSpPr>
        <p:spPr>
          <a:xfrm>
            <a:off x="2717800" y="4445000"/>
            <a:ext cx="546100" cy="44450"/>
          </a:xfrm>
          <a:prstGeom prst="roundRect">
            <a:avLst>
              <a:gd name="adj" fmla="val 41143"/>
            </a:avLst>
          </a:prstGeom>
          <a:solidFill>
            <a:srgbClr val="2F5F67"/>
          </a:solidFill>
          <a:ln/>
        </p:spPr>
      </p:sp>
      <p:sp>
        <p:nvSpPr>
          <p:cNvPr id="51" name="Shape 49"/>
          <p:cNvSpPr/>
          <p:nvPr/>
        </p:nvSpPr>
        <p:spPr>
          <a:xfrm>
            <a:off x="3327400" y="4445000"/>
            <a:ext cx="546100" cy="44450"/>
          </a:xfrm>
          <a:prstGeom prst="roundRect">
            <a:avLst>
              <a:gd name="adj" fmla="val 41143"/>
            </a:avLst>
          </a:prstGeom>
          <a:solidFill>
            <a:srgbClr val="2F5F67"/>
          </a:solidFill>
          <a:ln/>
        </p:spPr>
      </p:sp>
      <p:sp>
        <p:nvSpPr>
          <p:cNvPr id="52" name="Shape 50"/>
          <p:cNvSpPr/>
          <p:nvPr/>
        </p:nvSpPr>
        <p:spPr>
          <a:xfrm>
            <a:off x="3937000" y="4445000"/>
            <a:ext cx="546100" cy="44450"/>
          </a:xfrm>
          <a:prstGeom prst="roundRect">
            <a:avLst>
              <a:gd name="adj" fmla="val 41143"/>
            </a:avLst>
          </a:prstGeom>
          <a:solidFill>
            <a:srgbClr val="E35D45"/>
          </a:solidFill>
          <a:ln/>
        </p:spPr>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7E9A9C"/>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CONCLUSION</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Three questions, three answers</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Text 3"/>
          <p:cNvSpPr/>
          <p:nvPr/>
        </p:nvSpPr>
        <p:spPr>
          <a:xfrm>
            <a:off x="698500" y="1638300"/>
            <a:ext cx="10795000" cy="279400"/>
          </a:xfrm>
          <a:prstGeom prst="rect">
            <a:avLst/>
          </a:prstGeom>
          <a:noFill/>
          <a:ln/>
        </p:spPr>
        <p:txBody>
          <a:bodyPr wrap="square" rtlCol="0" anchor="t"/>
          <a:lstStyle/>
          <a:p>
            <a:pPr indent="0" marL="0">
              <a:lnSpc>
                <a:spcPct val="130000"/>
              </a:lnSpc>
              <a:buNone/>
            </a:pPr>
            <a:r>
              <a:rPr lang="en-US" sz="1150" dirty="0">
                <a:solidFill>
                  <a:srgbClr val="5C7678"/>
                </a:solidFill>
                <a:latin typeface="Calibri" pitchFamily="34" charset="0"/>
                <a:ea typeface="Calibri" pitchFamily="34" charset="-122"/>
                <a:cs typeface="Calibri" pitchFamily="34" charset="-120"/>
              </a:rPr>
              <a:t>Hazardous PM2.5 forecast one to three days ahead at one Delhi monitor; two real data defects corrected first; the proposal's weekly-cycle assumption tested and rejected.</a:t>
            </a:r>
            <a:endParaRPr lang="en-US" sz="1150" dirty="0"/>
          </a:p>
        </p:txBody>
      </p:sp>
      <p:sp>
        <p:nvSpPr>
          <p:cNvPr id="6" name="Shape 4"/>
          <p:cNvSpPr/>
          <p:nvPr/>
        </p:nvSpPr>
        <p:spPr>
          <a:xfrm>
            <a:off x="698500" y="2120900"/>
            <a:ext cx="3429000" cy="2489200"/>
          </a:xfrm>
          <a:prstGeom prst="roundRect">
            <a:avLst>
              <a:gd name="adj" fmla="val 5143"/>
            </a:avLst>
          </a:prstGeom>
          <a:solidFill>
            <a:srgbClr val="FFFFFF"/>
          </a:solidFill>
          <a:ln/>
          <a:effectLst>
            <a:outerShdw sx="100000" sy="100000" kx="0" ky="0" algn="bl" rotWithShape="0" blurRad="127000" dist="38100" dir="5400000">
              <a:srgbClr val="16343A">
                <a:alpha val="16000"/>
              </a:srgbClr>
            </a:outerShdw>
          </a:effectLst>
        </p:spPr>
      </p:sp>
      <p:sp>
        <p:nvSpPr>
          <p:cNvPr id="7" name="Text 5"/>
          <p:cNvSpPr/>
          <p:nvPr/>
        </p:nvSpPr>
        <p:spPr>
          <a:xfrm>
            <a:off x="990600" y="2349500"/>
            <a:ext cx="381000" cy="279400"/>
          </a:xfrm>
          <a:prstGeom prst="roundRect">
            <a:avLst>
              <a:gd name="adj" fmla="val 50000"/>
            </a:avLst>
          </a:prstGeom>
          <a:solidFill>
            <a:srgbClr val="CDDBDB"/>
          </a:solidFill>
          <a:ln/>
        </p:spPr>
        <p:txBody>
          <a:bodyPr wrap="square" lIns="0" tIns="0" rIns="0" bIns="0" rtlCol="0" anchor="ctr"/>
          <a:lstStyle/>
          <a:p>
            <a:pPr algn="ctr" indent="0" marL="0">
              <a:buNone/>
            </a:pPr>
            <a:r>
              <a:rPr lang="en-US" sz="1000" b="1" dirty="0">
                <a:solidFill>
                  <a:srgbClr val="16343A"/>
                </a:solidFill>
                <a:latin typeface="Calibri" pitchFamily="34" charset="0"/>
                <a:ea typeface="Calibri" pitchFamily="34" charset="-122"/>
                <a:cs typeface="Calibri" pitchFamily="34" charset="-120"/>
              </a:rPr>
              <a:t>Q1</a:t>
            </a:r>
            <a:endParaRPr lang="en-US" sz="1000" dirty="0"/>
          </a:p>
        </p:txBody>
      </p:sp>
      <p:sp>
        <p:nvSpPr>
          <p:cNvPr id="8" name="Text 6"/>
          <p:cNvSpPr/>
          <p:nvPr/>
        </p:nvSpPr>
        <p:spPr>
          <a:xfrm>
            <a:off x="990600" y="2730500"/>
            <a:ext cx="2857500" cy="444500"/>
          </a:xfrm>
          <a:prstGeom prst="rect">
            <a:avLst/>
          </a:prstGeom>
          <a:noFill/>
          <a:ln/>
        </p:spPr>
        <p:txBody>
          <a:bodyPr wrap="square" rtlCol="0" anchor="t"/>
          <a:lstStyle/>
          <a:p>
            <a:pPr indent="0" marL="0">
              <a:buNone/>
            </a:pPr>
            <a:r>
              <a:rPr lang="en-US" sz="1350" b="1" dirty="0">
                <a:solidFill>
                  <a:srgbClr val="16343A"/>
                </a:solidFill>
                <a:latin typeface="Calibri" pitchFamily="34" charset="0"/>
                <a:ea typeface="Calibri" pitchFamily="34" charset="-122"/>
                <a:cs typeface="Calibri" pitchFamily="34" charset="-120"/>
              </a:rPr>
              <a:t>Machine learning earns a narrow place</a:t>
            </a:r>
            <a:endParaRPr lang="en-US" sz="1350" dirty="0"/>
          </a:p>
        </p:txBody>
      </p:sp>
      <p:sp>
        <p:nvSpPr>
          <p:cNvPr id="9" name="Text 7"/>
          <p:cNvSpPr/>
          <p:nvPr/>
        </p:nvSpPr>
        <p:spPr>
          <a:xfrm>
            <a:off x="990600" y="3175000"/>
            <a:ext cx="2857500" cy="1365250"/>
          </a:xfrm>
          <a:prstGeom prst="rect">
            <a:avLst/>
          </a:prstGeom>
          <a:noFill/>
          <a:ln/>
        </p:spPr>
        <p:txBody>
          <a:bodyPr wrap="square" rtlCol="0" anchor="t"/>
          <a:lstStyle/>
          <a:p>
            <a:pPr indent="0" marL="0">
              <a:lnSpc>
                <a:spcPct val="138000"/>
              </a:lnSpc>
              <a:buNone/>
            </a:pPr>
            <a:r>
              <a:rPr lang="en-US" sz="1050" dirty="0">
                <a:solidFill>
                  <a:srgbClr val="5C7678"/>
                </a:solidFill>
                <a:latin typeface="Calibri" pitchFamily="34" charset="0"/>
                <a:ea typeface="Calibri" pitchFamily="34" charset="-122"/>
                <a:cs typeface="Calibri" pitchFamily="34" charset="-120"/>
              </a:rPr>
              <a:t>ARIMA beats every ML regressor at every horizon, DM-backed. The three that win are the networks — GRU, LSTM and transformer — each clearly only at one day ahead, reported as a range over ten seeds. Both of the two added on review beat the GRU originally chosen.</a:t>
            </a:r>
            <a:endParaRPr lang="en-US" sz="1050" dirty="0"/>
          </a:p>
        </p:txBody>
      </p:sp>
      <p:sp>
        <p:nvSpPr>
          <p:cNvPr id="10" name="Shape 8"/>
          <p:cNvSpPr/>
          <p:nvPr/>
        </p:nvSpPr>
        <p:spPr>
          <a:xfrm>
            <a:off x="4381500" y="2120900"/>
            <a:ext cx="3429000" cy="2489200"/>
          </a:xfrm>
          <a:prstGeom prst="roundRect">
            <a:avLst>
              <a:gd name="adj" fmla="val 5143"/>
            </a:avLst>
          </a:prstGeom>
          <a:solidFill>
            <a:srgbClr val="FFFFFF"/>
          </a:solidFill>
          <a:ln/>
          <a:effectLst>
            <a:outerShdw sx="100000" sy="100000" kx="0" ky="0" algn="bl" rotWithShape="0" blurRad="127000" dist="38100" dir="5400000">
              <a:srgbClr val="16343A">
                <a:alpha val="16000"/>
              </a:srgbClr>
            </a:outerShdw>
          </a:effectLst>
        </p:spPr>
      </p:sp>
      <p:sp>
        <p:nvSpPr>
          <p:cNvPr id="11" name="Text 9"/>
          <p:cNvSpPr/>
          <p:nvPr/>
        </p:nvSpPr>
        <p:spPr>
          <a:xfrm>
            <a:off x="4673600" y="2349500"/>
            <a:ext cx="381000" cy="279400"/>
          </a:xfrm>
          <a:prstGeom prst="roundRect">
            <a:avLst>
              <a:gd name="adj" fmla="val 50000"/>
            </a:avLst>
          </a:prstGeom>
          <a:solidFill>
            <a:srgbClr val="CDDBDB"/>
          </a:solidFill>
          <a:ln/>
        </p:spPr>
        <p:txBody>
          <a:bodyPr wrap="square" lIns="0" tIns="0" rIns="0" bIns="0" rtlCol="0" anchor="ctr"/>
          <a:lstStyle/>
          <a:p>
            <a:pPr algn="ctr" indent="0" marL="0">
              <a:buNone/>
            </a:pPr>
            <a:r>
              <a:rPr lang="en-US" sz="1000" b="1" dirty="0">
                <a:solidFill>
                  <a:srgbClr val="16343A"/>
                </a:solidFill>
                <a:latin typeface="Calibri" pitchFamily="34" charset="0"/>
                <a:ea typeface="Calibri" pitchFamily="34" charset="-122"/>
                <a:cs typeface="Calibri" pitchFamily="34" charset="-120"/>
              </a:rPr>
              <a:t>Q2</a:t>
            </a:r>
            <a:endParaRPr lang="en-US" sz="1000" dirty="0"/>
          </a:p>
        </p:txBody>
      </p:sp>
      <p:sp>
        <p:nvSpPr>
          <p:cNvPr id="12" name="Text 10"/>
          <p:cNvSpPr/>
          <p:nvPr/>
        </p:nvSpPr>
        <p:spPr>
          <a:xfrm>
            <a:off x="4673600" y="2730500"/>
            <a:ext cx="2857500" cy="444500"/>
          </a:xfrm>
          <a:prstGeom prst="rect">
            <a:avLst/>
          </a:prstGeom>
          <a:noFill/>
          <a:ln/>
        </p:spPr>
        <p:txBody>
          <a:bodyPr wrap="square" rtlCol="0" anchor="t"/>
          <a:lstStyle/>
          <a:p>
            <a:pPr indent="0" marL="0">
              <a:buNone/>
            </a:pPr>
            <a:r>
              <a:rPr lang="en-US" sz="1350" b="1" dirty="0">
                <a:solidFill>
                  <a:srgbClr val="16343A"/>
                </a:solidFill>
                <a:latin typeface="Calibri" pitchFamily="34" charset="0"/>
                <a:ea typeface="Calibri" pitchFamily="34" charset="-122"/>
                <a:cs typeface="Calibri" pitchFamily="34" charset="-120"/>
              </a:rPr>
              <a:t>Threshold the forecast</a:t>
            </a:r>
            <a:endParaRPr lang="en-US" sz="1350" dirty="0"/>
          </a:p>
        </p:txBody>
      </p:sp>
      <p:sp>
        <p:nvSpPr>
          <p:cNvPr id="13" name="Text 11"/>
          <p:cNvSpPr/>
          <p:nvPr/>
        </p:nvSpPr>
        <p:spPr>
          <a:xfrm>
            <a:off x="4673600" y="3175000"/>
            <a:ext cx="2857500" cy="1365250"/>
          </a:xfrm>
          <a:prstGeom prst="rect">
            <a:avLst/>
          </a:prstGeom>
          <a:noFill/>
          <a:ln/>
        </p:spPr>
        <p:txBody>
          <a:bodyPr wrap="square" rtlCol="0" anchor="t"/>
          <a:lstStyle/>
          <a:p>
            <a:pPr indent="0" marL="0">
              <a:lnSpc>
                <a:spcPct val="138000"/>
              </a:lnSpc>
              <a:buNone/>
            </a:pPr>
            <a:r>
              <a:rPr lang="en-US" sz="1050" dirty="0">
                <a:solidFill>
                  <a:srgbClr val="5C7678"/>
                </a:solidFill>
                <a:latin typeface="Calibri" pitchFamily="34" charset="0"/>
                <a:ea typeface="Calibri" pitchFamily="34" charset="-122"/>
                <a:cs typeface="Calibri" pitchFamily="34" charset="-120"/>
              </a:rPr>
              <a:t>Forecast-then-threshold beats direct classification in 21 of 36 matched comparisons to 11, with 4 ties — real but modest. It is preferred anyway, because a forecast can be rethresholded for any future policy without refitting.</a:t>
            </a:r>
            <a:endParaRPr lang="en-US" sz="1050" dirty="0"/>
          </a:p>
        </p:txBody>
      </p:sp>
      <p:sp>
        <p:nvSpPr>
          <p:cNvPr id="14" name="Shape 12"/>
          <p:cNvSpPr/>
          <p:nvPr/>
        </p:nvSpPr>
        <p:spPr>
          <a:xfrm>
            <a:off x="8064500" y="2120900"/>
            <a:ext cx="3429000" cy="2489200"/>
          </a:xfrm>
          <a:prstGeom prst="roundRect">
            <a:avLst>
              <a:gd name="adj" fmla="val 5143"/>
            </a:avLst>
          </a:prstGeom>
          <a:solidFill>
            <a:srgbClr val="16343A"/>
          </a:solidFill>
          <a:ln/>
        </p:spPr>
      </p:sp>
      <p:sp>
        <p:nvSpPr>
          <p:cNvPr id="15" name="Text 13"/>
          <p:cNvSpPr/>
          <p:nvPr/>
        </p:nvSpPr>
        <p:spPr>
          <a:xfrm>
            <a:off x="8356600" y="2349500"/>
            <a:ext cx="381000" cy="279400"/>
          </a:xfrm>
          <a:prstGeom prst="roundRect">
            <a:avLst>
              <a:gd name="adj" fmla="val 50000"/>
            </a:avLst>
          </a:prstGeom>
          <a:solidFill>
            <a:srgbClr val="E35D45"/>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16" name="Text 14"/>
          <p:cNvSpPr/>
          <p:nvPr/>
        </p:nvSpPr>
        <p:spPr>
          <a:xfrm>
            <a:off x="8356600" y="2730500"/>
            <a:ext cx="2857500" cy="4445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The budget beats the model</a:t>
            </a:r>
            <a:endParaRPr lang="en-US" sz="1350" dirty="0"/>
          </a:p>
        </p:txBody>
      </p:sp>
      <p:sp>
        <p:nvSpPr>
          <p:cNvPr id="17" name="Text 15"/>
          <p:cNvSpPr/>
          <p:nvPr/>
        </p:nvSpPr>
        <p:spPr>
          <a:xfrm>
            <a:off x="8356600" y="3175000"/>
            <a:ext cx="2857500" cy="1365250"/>
          </a:xfrm>
          <a:prstGeom prst="rect">
            <a:avLst/>
          </a:prstGeom>
          <a:noFill/>
          <a:ln/>
        </p:spPr>
        <p:txBody>
          <a:bodyPr wrap="square" rtlCol="0" anchor="t"/>
          <a:lstStyle/>
          <a:p>
            <a:pPr indent="0" marL="0">
              <a:lnSpc>
                <a:spcPct val="138000"/>
              </a:lnSpc>
              <a:buNone/>
            </a:pPr>
            <a:r>
              <a:rPr lang="en-US" sz="1050" dirty="0">
                <a:solidFill>
                  <a:srgbClr val="AFC6C8"/>
                </a:solidFill>
                <a:latin typeface="Calibri" pitchFamily="34" charset="0"/>
                <a:ea typeface="Calibri" pitchFamily="34" charset="-122"/>
                <a:cs typeface="Calibri" pitchFamily="34" charset="-120"/>
              </a:rPr>
              <a:t>Across ten specifications at a fixed alarm budget, the spread in hit rate is about five points. Moving the budget instead moves it about fifty. The decision maker's choice outweighs the modeller's.</a:t>
            </a:r>
            <a:endParaRPr lang="en-US" sz="1050" dirty="0"/>
          </a:p>
        </p:txBody>
      </p:sp>
      <p:sp>
        <p:nvSpPr>
          <p:cNvPr id="18" name="Shape 16"/>
          <p:cNvSpPr/>
          <p:nvPr/>
        </p:nvSpPr>
        <p:spPr>
          <a:xfrm>
            <a:off x="698500" y="4889500"/>
            <a:ext cx="10795000" cy="1308100"/>
          </a:xfrm>
          <a:prstGeom prst="roundRect">
            <a:avLst>
              <a:gd name="adj" fmla="val 9786"/>
            </a:avLst>
          </a:prstGeom>
          <a:solidFill>
            <a:srgbClr val="FFFFFF"/>
          </a:solidFill>
          <a:ln/>
          <a:effectLst>
            <a:outerShdw sx="100000" sy="100000" kx="0" ky="0" algn="bl" rotWithShape="0" blurRad="127000" dist="38100" dir="5400000">
              <a:srgbClr val="16343A">
                <a:alpha val="16000"/>
              </a:srgbClr>
            </a:outerShdw>
          </a:effectLst>
        </p:spPr>
      </p:sp>
      <p:sp>
        <p:nvSpPr>
          <p:cNvPr id="19" name="Text 17"/>
          <p:cNvSpPr/>
          <p:nvPr/>
        </p:nvSpPr>
        <p:spPr>
          <a:xfrm>
            <a:off x="1054100" y="5105400"/>
            <a:ext cx="10033000" cy="203200"/>
          </a:xfrm>
          <a:prstGeom prst="rect">
            <a:avLst/>
          </a:prstGeom>
          <a:noFill/>
          <a:ln/>
        </p:spPr>
        <p:txBody>
          <a:bodyPr wrap="square" rtlCol="0" anchor="ctr"/>
          <a:lstStyle/>
          <a:p>
            <a:pPr indent="0" marL="0">
              <a:buNone/>
            </a:pPr>
            <a:r>
              <a:rPr lang="en-US" sz="900" b="1" spc="140" kern="0" dirty="0">
                <a:solidFill>
                  <a:srgbClr val="E35D45"/>
                </a:solidFill>
                <a:latin typeface="Calibri" pitchFamily="34" charset="0"/>
                <a:ea typeface="Calibri" pitchFamily="34" charset="-122"/>
                <a:cs typeface="Calibri" pitchFamily="34" charset="-120"/>
              </a:rPr>
              <a:t>ON THE METHOD ITSELF</a:t>
            </a:r>
            <a:endParaRPr lang="en-US" sz="900" dirty="0"/>
          </a:p>
        </p:txBody>
      </p:sp>
      <p:sp>
        <p:nvSpPr>
          <p:cNvPr id="20" name="Text 18"/>
          <p:cNvSpPr/>
          <p:nvPr/>
        </p:nvSpPr>
        <p:spPr>
          <a:xfrm>
            <a:off x="1054100" y="5384800"/>
            <a:ext cx="10033000" cy="698500"/>
          </a:xfrm>
          <a:prstGeom prst="rect">
            <a:avLst/>
          </a:prstGeom>
          <a:noFill/>
          <a:ln/>
        </p:spPr>
        <p:txBody>
          <a:bodyPr wrap="square" rtlCol="0" anchor="t"/>
          <a:lstStyle/>
          <a:p>
            <a:pPr indent="0" marL="0">
              <a:lnSpc>
                <a:spcPct val="150000"/>
              </a:lnSpc>
              <a:buNone/>
            </a:pPr>
            <a:r>
              <a:rPr lang="en-US" sz="1300" dirty="0">
                <a:solidFill>
                  <a:srgbClr val="1C2B2C"/>
                </a:solidFill>
                <a:latin typeface="Calibri" pitchFamily="34" charset="0"/>
                <a:ea typeface="Calibri" pitchFamily="34" charset="-122"/>
                <a:cs typeface="Calibri" pitchFamily="34" charset="-120"/>
              </a:rPr>
              <a:t>Trying several methods rather than defaulting to ARIMA is what surfaced the one-day-ahead network win — and what makes the negative result at two and three days credible. Two rounds of supervisor review then added two more architectures, and both beat the one originally chosen.</a:t>
            </a:r>
            <a:endParaRPr lang="en-US" sz="130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98500" y="533400"/>
            <a:ext cx="5715000" cy="215900"/>
          </a:xfrm>
          <a:prstGeom prst="rect">
            <a:avLst/>
          </a:prstGeom>
          <a:noFill/>
          <a:ln/>
        </p:spPr>
        <p:txBody>
          <a:bodyPr wrap="square" rtlCol="0" anchor="ctr"/>
          <a:lstStyle/>
          <a:p>
            <a:pPr indent="0" marL="0">
              <a:buNone/>
            </a:pPr>
            <a:r>
              <a:rPr lang="en-US" sz="1000" b="1" spc="160" kern="0" dirty="0">
                <a:solidFill>
                  <a:srgbClr val="E35D45"/>
                </a:solidFill>
                <a:latin typeface="Calibri" pitchFamily="34" charset="0"/>
                <a:ea typeface="Calibri" pitchFamily="34" charset="-122"/>
                <a:cs typeface="Calibri" pitchFamily="34" charset="-120"/>
              </a:rPr>
              <a:t>CONCLUSION</a:t>
            </a:r>
            <a:endParaRPr lang="en-US" sz="1000" dirty="0"/>
          </a:p>
        </p:txBody>
      </p:sp>
      <p:sp>
        <p:nvSpPr>
          <p:cNvPr id="3" name="Text 1"/>
          <p:cNvSpPr/>
          <p:nvPr/>
        </p:nvSpPr>
        <p:spPr>
          <a:xfrm>
            <a:off x="698500" y="762000"/>
            <a:ext cx="10287000" cy="571500"/>
          </a:xfrm>
          <a:prstGeom prst="rect">
            <a:avLst/>
          </a:prstGeom>
          <a:noFill/>
          <a:ln/>
        </p:spPr>
        <p:txBody>
          <a:bodyPr wrap="square" rtlCol="0" anchor="t"/>
          <a:lstStyle/>
          <a:p>
            <a:pPr indent="0" marL="0">
              <a:buNone/>
            </a:pPr>
            <a:r>
              <a:rPr lang="en-US" sz="2900" b="1" dirty="0">
                <a:solidFill>
                  <a:srgbClr val="16343A"/>
                </a:solidFill>
                <a:latin typeface="Calibri" pitchFamily="34" charset="0"/>
                <a:ea typeface="Calibri" pitchFamily="34" charset="-122"/>
                <a:cs typeface="Calibri" pitchFamily="34" charset="-120"/>
              </a:rPr>
              <a:t>Future work</a:t>
            </a:r>
            <a:endParaRPr lang="en-US" sz="2900" dirty="0"/>
          </a:p>
        </p:txBody>
      </p:sp>
      <p:sp>
        <p:nvSpPr>
          <p:cNvPr id="4" name="Shape 2"/>
          <p:cNvSpPr/>
          <p:nvPr/>
        </p:nvSpPr>
        <p:spPr>
          <a:xfrm>
            <a:off x="698500" y="1473200"/>
            <a:ext cx="10795000" cy="12700"/>
          </a:xfrm>
          <a:prstGeom prst="rect">
            <a:avLst/>
          </a:prstGeom>
          <a:solidFill>
            <a:srgbClr val="DCE3E3"/>
          </a:solidFill>
          <a:ln/>
        </p:spPr>
      </p:sp>
      <p:sp>
        <p:nvSpPr>
          <p:cNvPr id="5" name="Shape 3"/>
          <p:cNvSpPr/>
          <p:nvPr/>
        </p:nvSpPr>
        <p:spPr>
          <a:xfrm>
            <a:off x="698500" y="1816100"/>
            <a:ext cx="3467100" cy="2006600"/>
          </a:xfrm>
          <a:prstGeom prst="roundRect">
            <a:avLst>
              <a:gd name="adj" fmla="val 6380"/>
            </a:avLst>
          </a:prstGeom>
          <a:solidFill>
            <a:srgbClr val="FFFFFF"/>
          </a:solidFill>
          <a:ln/>
          <a:effectLst>
            <a:outerShdw sx="100000" sy="100000" kx="0" ky="0" algn="bl" rotWithShape="0" blurRad="127000" dist="38100" dir="5400000">
              <a:srgbClr val="16343A">
                <a:alpha val="16000"/>
              </a:srgbClr>
            </a:outerShdw>
          </a:effectLst>
        </p:spPr>
      </p:sp>
      <p:sp>
        <p:nvSpPr>
          <p:cNvPr id="6" name="Text 4"/>
          <p:cNvSpPr/>
          <p:nvPr/>
        </p:nvSpPr>
        <p:spPr>
          <a:xfrm>
            <a:off x="939800" y="2019300"/>
            <a:ext cx="304800" cy="304800"/>
          </a:xfrm>
          <a:prstGeom prst="roundRect">
            <a:avLst>
              <a:gd name="adj" fmla="val 50000"/>
            </a:avLst>
          </a:prstGeom>
          <a:solidFill>
            <a:srgbClr val="E35D45"/>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1333500" y="2006600"/>
            <a:ext cx="2603500" cy="508000"/>
          </a:xfrm>
          <a:prstGeom prst="rect">
            <a:avLst/>
          </a:prstGeom>
          <a:noFill/>
          <a:ln/>
        </p:spPr>
        <p:txBody>
          <a:bodyPr wrap="square" rtlCol="0" anchor="ctr"/>
          <a:lstStyle/>
          <a:p>
            <a:pPr indent="0" marL="0">
              <a:buNone/>
            </a:pPr>
            <a:r>
              <a:rPr lang="en-US" sz="1250" b="1" dirty="0">
                <a:solidFill>
                  <a:srgbClr val="16343A"/>
                </a:solidFill>
                <a:latin typeface="Calibri" pitchFamily="34" charset="0"/>
                <a:ea typeface="Calibri" pitchFamily="34" charset="-122"/>
                <a:cs typeface="Calibri" pitchFamily="34" charset="-120"/>
              </a:rPr>
              <a:t>A genuine weather forecast</a:t>
            </a:r>
            <a:endParaRPr lang="en-US" sz="1250" dirty="0"/>
          </a:p>
        </p:txBody>
      </p:sp>
      <p:sp>
        <p:nvSpPr>
          <p:cNvPr id="8" name="Text 6"/>
          <p:cNvSpPr/>
          <p:nvPr/>
        </p:nvSpPr>
        <p:spPr>
          <a:xfrm>
            <a:off x="939800" y="2552700"/>
            <a:ext cx="2984500" cy="1143000"/>
          </a:xfrm>
          <a:prstGeom prst="rect">
            <a:avLst/>
          </a:prstGeom>
          <a:noFill/>
          <a:ln/>
        </p:spPr>
        <p:txBody>
          <a:bodyPr wrap="square" rtlCol="0" anchor="t"/>
          <a:lstStyle/>
          <a:p>
            <a:pPr indent="0" marL="0">
              <a:lnSpc>
                <a:spcPct val="138000"/>
              </a:lnSpc>
              <a:buNone/>
            </a:pPr>
            <a:r>
              <a:rPr lang="en-US" sz="1050" dirty="0">
                <a:solidFill>
                  <a:srgbClr val="5C7678"/>
                </a:solidFill>
                <a:latin typeface="Calibri" pitchFamily="34" charset="0"/>
                <a:ea typeface="Calibri" pitchFamily="34" charset="-122"/>
                <a:cs typeface="Calibri" pitchFamily="34" charset="-120"/>
              </a:rPr>
              <a:t>A numerical weather prediction for the days ahead, rather than the conditions already observed at the origin — the stronger claim for an operational system, and the one this project deliberately did not make.</a:t>
            </a:r>
            <a:endParaRPr lang="en-US" sz="1050" dirty="0"/>
          </a:p>
        </p:txBody>
      </p:sp>
      <p:sp>
        <p:nvSpPr>
          <p:cNvPr id="9" name="Shape 7"/>
          <p:cNvSpPr/>
          <p:nvPr/>
        </p:nvSpPr>
        <p:spPr>
          <a:xfrm>
            <a:off x="4356100" y="1816100"/>
            <a:ext cx="3467100" cy="2006600"/>
          </a:xfrm>
          <a:prstGeom prst="roundRect">
            <a:avLst>
              <a:gd name="adj" fmla="val 6380"/>
            </a:avLst>
          </a:prstGeom>
          <a:solidFill>
            <a:srgbClr val="FFFFFF"/>
          </a:solidFill>
          <a:ln/>
          <a:effectLst>
            <a:outerShdw sx="100000" sy="100000" kx="0" ky="0" algn="bl" rotWithShape="0" blurRad="127000" dist="38100" dir="5400000">
              <a:srgbClr val="16343A">
                <a:alpha val="16000"/>
              </a:srgbClr>
            </a:outerShdw>
          </a:effectLst>
        </p:spPr>
      </p:sp>
      <p:sp>
        <p:nvSpPr>
          <p:cNvPr id="10" name="Text 8"/>
          <p:cNvSpPr/>
          <p:nvPr/>
        </p:nvSpPr>
        <p:spPr>
          <a:xfrm>
            <a:off x="4597400" y="2019300"/>
            <a:ext cx="304800" cy="304800"/>
          </a:xfrm>
          <a:prstGeom prst="roundRect">
            <a:avLst>
              <a:gd name="adj" fmla="val 50000"/>
            </a:avLst>
          </a:prstGeom>
          <a:solidFill>
            <a:srgbClr val="E35D45"/>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1" name="Text 9"/>
          <p:cNvSpPr/>
          <p:nvPr/>
        </p:nvSpPr>
        <p:spPr>
          <a:xfrm>
            <a:off x="4991100" y="2006600"/>
            <a:ext cx="2603500" cy="508000"/>
          </a:xfrm>
          <a:prstGeom prst="rect">
            <a:avLst/>
          </a:prstGeom>
          <a:noFill/>
          <a:ln/>
        </p:spPr>
        <p:txBody>
          <a:bodyPr wrap="square" rtlCol="0" anchor="ctr"/>
          <a:lstStyle/>
          <a:p>
            <a:pPr indent="0" marL="0">
              <a:buNone/>
            </a:pPr>
            <a:r>
              <a:rPr lang="en-US" sz="1250" b="1" dirty="0">
                <a:solidFill>
                  <a:srgbClr val="16343A"/>
                </a:solidFill>
                <a:latin typeface="Calibri" pitchFamily="34" charset="0"/>
                <a:ea typeface="Calibri" pitchFamily="34" charset="-122"/>
                <a:cs typeface="Calibri" pitchFamily="34" charset="-120"/>
              </a:rPr>
              <a:t>Boundary layer height</a:t>
            </a:r>
            <a:endParaRPr lang="en-US" sz="1250" dirty="0"/>
          </a:p>
        </p:txBody>
      </p:sp>
      <p:sp>
        <p:nvSpPr>
          <p:cNvPr id="12" name="Text 10"/>
          <p:cNvSpPr/>
          <p:nvPr/>
        </p:nvSpPr>
        <p:spPr>
          <a:xfrm>
            <a:off x="4597400" y="2552700"/>
            <a:ext cx="2984500" cy="1143000"/>
          </a:xfrm>
          <a:prstGeom prst="rect">
            <a:avLst/>
          </a:prstGeom>
          <a:noFill/>
          <a:ln/>
        </p:spPr>
        <p:txBody>
          <a:bodyPr wrap="square" rtlCol="0" anchor="t"/>
          <a:lstStyle/>
          <a:p>
            <a:pPr indent="0" marL="0">
              <a:lnSpc>
                <a:spcPct val="138000"/>
              </a:lnSpc>
              <a:buNone/>
            </a:pPr>
            <a:r>
              <a:rPr lang="en-US" sz="1050" dirty="0">
                <a:solidFill>
                  <a:srgbClr val="5C7678"/>
                </a:solidFill>
                <a:latin typeface="Calibri" pitchFamily="34" charset="0"/>
                <a:ea typeface="Calibri" pitchFamily="34" charset="-122"/>
                <a:cs typeface="Calibri" pitchFamily="34" charset="-120"/>
              </a:rPr>
              <a:t>Unavailable from meteostat; it would need a reanalysis product such as ERA5. It is the variable most directly tied to the physical mechanism of an episode rather than a correlate of it.</a:t>
            </a:r>
            <a:endParaRPr lang="en-US" sz="1050" dirty="0"/>
          </a:p>
        </p:txBody>
      </p:sp>
      <p:sp>
        <p:nvSpPr>
          <p:cNvPr id="13" name="Shape 11"/>
          <p:cNvSpPr/>
          <p:nvPr/>
        </p:nvSpPr>
        <p:spPr>
          <a:xfrm>
            <a:off x="8013700" y="1816100"/>
            <a:ext cx="3467100" cy="2006600"/>
          </a:xfrm>
          <a:prstGeom prst="roundRect">
            <a:avLst>
              <a:gd name="adj" fmla="val 6380"/>
            </a:avLst>
          </a:prstGeom>
          <a:solidFill>
            <a:srgbClr val="FFFFFF"/>
          </a:solidFill>
          <a:ln/>
          <a:effectLst>
            <a:outerShdw sx="100000" sy="100000" kx="0" ky="0" algn="bl" rotWithShape="0" blurRad="127000" dist="38100" dir="5400000">
              <a:srgbClr val="16343A">
                <a:alpha val="16000"/>
              </a:srgbClr>
            </a:outerShdw>
          </a:effectLst>
        </p:spPr>
      </p:sp>
      <p:sp>
        <p:nvSpPr>
          <p:cNvPr id="14" name="Text 12"/>
          <p:cNvSpPr/>
          <p:nvPr/>
        </p:nvSpPr>
        <p:spPr>
          <a:xfrm>
            <a:off x="8255000" y="2019300"/>
            <a:ext cx="304800" cy="304800"/>
          </a:xfrm>
          <a:prstGeom prst="roundRect">
            <a:avLst>
              <a:gd name="adj" fmla="val 50000"/>
            </a:avLst>
          </a:prstGeom>
          <a:solidFill>
            <a:srgbClr val="E35D45"/>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5" name="Text 13"/>
          <p:cNvSpPr/>
          <p:nvPr/>
        </p:nvSpPr>
        <p:spPr>
          <a:xfrm>
            <a:off x="8648700" y="2006600"/>
            <a:ext cx="2603500" cy="508000"/>
          </a:xfrm>
          <a:prstGeom prst="rect">
            <a:avLst/>
          </a:prstGeom>
          <a:noFill/>
          <a:ln/>
        </p:spPr>
        <p:txBody>
          <a:bodyPr wrap="square" rtlCol="0" anchor="ctr"/>
          <a:lstStyle/>
          <a:p>
            <a:pPr indent="0" marL="0">
              <a:buNone/>
            </a:pPr>
            <a:r>
              <a:rPr lang="en-US" sz="1250" b="1" dirty="0">
                <a:solidFill>
                  <a:srgbClr val="16343A"/>
                </a:solidFill>
                <a:latin typeface="Calibri" pitchFamily="34" charset="0"/>
                <a:ea typeface="Calibri" pitchFamily="34" charset="-122"/>
                <a:cs typeface="Calibri" pitchFamily="34" charset="-120"/>
              </a:rPr>
              <a:t>Refit the GRU with K = 4</a:t>
            </a:r>
            <a:endParaRPr lang="en-US" sz="1250" dirty="0"/>
          </a:p>
        </p:txBody>
      </p:sp>
      <p:sp>
        <p:nvSpPr>
          <p:cNvPr id="16" name="Text 14"/>
          <p:cNvSpPr/>
          <p:nvPr/>
        </p:nvSpPr>
        <p:spPr>
          <a:xfrm>
            <a:off x="8255000" y="2552700"/>
            <a:ext cx="2984500" cy="1143000"/>
          </a:xfrm>
          <a:prstGeom prst="rect">
            <a:avLst/>
          </a:prstGeom>
          <a:noFill/>
          <a:ln/>
        </p:spPr>
        <p:txBody>
          <a:bodyPr wrap="square" rtlCol="0" anchor="t"/>
          <a:lstStyle/>
          <a:p>
            <a:pPr indent="0" marL="0">
              <a:lnSpc>
                <a:spcPct val="138000"/>
              </a:lnSpc>
              <a:buNone/>
            </a:pPr>
            <a:r>
              <a:rPr lang="en-US" sz="1050" dirty="0">
                <a:solidFill>
                  <a:srgbClr val="5C7678"/>
                </a:solidFill>
                <a:latin typeface="Calibri" pitchFamily="34" charset="0"/>
                <a:ea typeface="Calibri" pitchFamily="34" charset="-122"/>
                <a:cs typeface="Calibri" pitchFamily="34" charset="-120"/>
              </a:rPr>
              <a:t>Four Fourier harmonics under the full ten-seed evaluation, not the single validation split used so far — to settle how much of the gap to ARIMA that one difference explains.</a:t>
            </a:r>
            <a:endParaRPr lang="en-US" sz="1050" dirty="0"/>
          </a:p>
        </p:txBody>
      </p:sp>
      <p:sp>
        <p:nvSpPr>
          <p:cNvPr id="17" name="Shape 15"/>
          <p:cNvSpPr/>
          <p:nvPr/>
        </p:nvSpPr>
        <p:spPr>
          <a:xfrm>
            <a:off x="698500" y="4000500"/>
            <a:ext cx="3467100" cy="2006600"/>
          </a:xfrm>
          <a:prstGeom prst="roundRect">
            <a:avLst>
              <a:gd name="adj" fmla="val 6380"/>
            </a:avLst>
          </a:prstGeom>
          <a:solidFill>
            <a:srgbClr val="FFFFFF"/>
          </a:solidFill>
          <a:ln/>
          <a:effectLst>
            <a:outerShdw sx="100000" sy="100000" kx="0" ky="0" algn="bl" rotWithShape="0" blurRad="127000" dist="38100" dir="5400000">
              <a:srgbClr val="16343A">
                <a:alpha val="16000"/>
              </a:srgbClr>
            </a:outerShdw>
          </a:effectLst>
        </p:spPr>
      </p:sp>
      <p:sp>
        <p:nvSpPr>
          <p:cNvPr id="18" name="Text 16"/>
          <p:cNvSpPr/>
          <p:nvPr/>
        </p:nvSpPr>
        <p:spPr>
          <a:xfrm>
            <a:off x="939800" y="4203700"/>
            <a:ext cx="304800" cy="304800"/>
          </a:xfrm>
          <a:prstGeom prst="roundRect">
            <a:avLst>
              <a:gd name="adj" fmla="val 50000"/>
            </a:avLst>
          </a:prstGeom>
          <a:solidFill>
            <a:srgbClr val="E35D45"/>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9" name="Text 17"/>
          <p:cNvSpPr/>
          <p:nvPr/>
        </p:nvSpPr>
        <p:spPr>
          <a:xfrm>
            <a:off x="1333500" y="4191000"/>
            <a:ext cx="2603500" cy="508000"/>
          </a:xfrm>
          <a:prstGeom prst="rect">
            <a:avLst/>
          </a:prstGeom>
          <a:noFill/>
          <a:ln/>
        </p:spPr>
        <p:txBody>
          <a:bodyPr wrap="square" rtlCol="0" anchor="ctr"/>
          <a:lstStyle/>
          <a:p>
            <a:pPr indent="0" marL="0">
              <a:buNone/>
            </a:pPr>
            <a:r>
              <a:rPr lang="en-US" sz="1250" b="1" dirty="0">
                <a:solidFill>
                  <a:srgbClr val="16343A"/>
                </a:solidFill>
                <a:latin typeface="Calibri" pitchFamily="34" charset="0"/>
                <a:ea typeface="Calibri" pitchFamily="34" charset="-122"/>
                <a:cs typeface="Calibri" pitchFamily="34" charset="-120"/>
              </a:rPr>
              <a:t>A second station</a:t>
            </a:r>
            <a:endParaRPr lang="en-US" sz="1250" dirty="0"/>
          </a:p>
        </p:txBody>
      </p:sp>
      <p:sp>
        <p:nvSpPr>
          <p:cNvPr id="20" name="Text 18"/>
          <p:cNvSpPr/>
          <p:nvPr/>
        </p:nvSpPr>
        <p:spPr>
          <a:xfrm>
            <a:off x="939800" y="4737100"/>
            <a:ext cx="2984500" cy="1143000"/>
          </a:xfrm>
          <a:prstGeom prst="rect">
            <a:avLst/>
          </a:prstGeom>
          <a:noFill/>
          <a:ln/>
        </p:spPr>
        <p:txBody>
          <a:bodyPr wrap="square" rtlCol="0" anchor="t"/>
          <a:lstStyle/>
          <a:p>
            <a:pPr indent="0" marL="0">
              <a:lnSpc>
                <a:spcPct val="138000"/>
              </a:lnSpc>
              <a:buNone/>
            </a:pPr>
            <a:r>
              <a:rPr lang="en-US" sz="1050" dirty="0">
                <a:solidFill>
                  <a:srgbClr val="5C7678"/>
                </a:solidFill>
                <a:latin typeface="Calibri" pitchFamily="34" charset="0"/>
                <a:ea typeface="Calibri" pitchFamily="34" charset="-122"/>
                <a:cs typeface="Calibri" pitchFamily="34" charset="-120"/>
              </a:rPr>
              <a:t>Ideally one inside the CPCB network once its record lengthens — to test whether these findings are a property of Delhi air quality, or of this one diplomatic-enclave monitor.</a:t>
            </a:r>
            <a:endParaRPr lang="en-US" sz="1050" dirty="0"/>
          </a:p>
        </p:txBody>
      </p:sp>
      <p:sp>
        <p:nvSpPr>
          <p:cNvPr id="21" name="Shape 19"/>
          <p:cNvSpPr/>
          <p:nvPr/>
        </p:nvSpPr>
        <p:spPr>
          <a:xfrm>
            <a:off x="4356100" y="4000500"/>
            <a:ext cx="3467100" cy="2006600"/>
          </a:xfrm>
          <a:prstGeom prst="roundRect">
            <a:avLst>
              <a:gd name="adj" fmla="val 6380"/>
            </a:avLst>
          </a:prstGeom>
          <a:solidFill>
            <a:srgbClr val="FFFFFF"/>
          </a:solidFill>
          <a:ln/>
          <a:effectLst>
            <a:outerShdw sx="100000" sy="100000" kx="0" ky="0" algn="bl" rotWithShape="0" blurRad="127000" dist="38100" dir="5400000">
              <a:srgbClr val="16343A">
                <a:alpha val="16000"/>
              </a:srgbClr>
            </a:outerShdw>
          </a:effectLst>
        </p:spPr>
      </p:sp>
      <p:sp>
        <p:nvSpPr>
          <p:cNvPr id="22" name="Text 20"/>
          <p:cNvSpPr/>
          <p:nvPr/>
        </p:nvSpPr>
        <p:spPr>
          <a:xfrm>
            <a:off x="4597400" y="4203700"/>
            <a:ext cx="304800" cy="304800"/>
          </a:xfrm>
          <a:prstGeom prst="roundRect">
            <a:avLst>
              <a:gd name="adj" fmla="val 50000"/>
            </a:avLst>
          </a:prstGeom>
          <a:solidFill>
            <a:srgbClr val="E35D45"/>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3" name="Text 21"/>
          <p:cNvSpPr/>
          <p:nvPr/>
        </p:nvSpPr>
        <p:spPr>
          <a:xfrm>
            <a:off x="4991100" y="4191000"/>
            <a:ext cx="2603500" cy="508000"/>
          </a:xfrm>
          <a:prstGeom prst="rect">
            <a:avLst/>
          </a:prstGeom>
          <a:noFill/>
          <a:ln/>
        </p:spPr>
        <p:txBody>
          <a:bodyPr wrap="square" rtlCol="0" anchor="ctr"/>
          <a:lstStyle/>
          <a:p>
            <a:pPr indent="0" marL="0">
              <a:buNone/>
            </a:pPr>
            <a:r>
              <a:rPr lang="en-US" sz="1250" b="1" dirty="0">
                <a:solidFill>
                  <a:srgbClr val="16343A"/>
                </a:solidFill>
                <a:latin typeface="Calibri" pitchFamily="34" charset="0"/>
                <a:ea typeface="Calibri" pitchFamily="34" charset="-122"/>
                <a:cs typeface="Calibri" pitchFamily="34" charset="-120"/>
              </a:rPr>
              <a:t>Finish the LSTM and the transformer</a:t>
            </a:r>
            <a:endParaRPr lang="en-US" sz="1250" dirty="0"/>
          </a:p>
        </p:txBody>
      </p:sp>
      <p:sp>
        <p:nvSpPr>
          <p:cNvPr id="24" name="Text 22"/>
          <p:cNvSpPr/>
          <p:nvPr/>
        </p:nvSpPr>
        <p:spPr>
          <a:xfrm>
            <a:off x="4597400" y="4737100"/>
            <a:ext cx="2984500" cy="1143000"/>
          </a:xfrm>
          <a:prstGeom prst="rect">
            <a:avLst/>
          </a:prstGeom>
          <a:noFill/>
          <a:ln/>
        </p:spPr>
        <p:txBody>
          <a:bodyPr wrap="square" rtlCol="0" anchor="t"/>
          <a:lstStyle/>
          <a:p>
            <a:pPr indent="0" marL="0">
              <a:lnSpc>
                <a:spcPct val="138000"/>
              </a:lnSpc>
              <a:buNone/>
            </a:pPr>
            <a:r>
              <a:rPr lang="en-US" sz="1050" dirty="0">
                <a:solidFill>
                  <a:srgbClr val="5C7678"/>
                </a:solidFill>
                <a:latin typeface="Calibri" pitchFamily="34" charset="0"/>
                <a:ea typeface="Calibri" pitchFamily="34" charset="-122"/>
                <a:cs typeface="Calibri" pitchFamily="34" charset="-120"/>
              </a:rPr>
              <a:t>Fit each with the weather channels and carry each through the threshold sweep — the two steps taken for neither. The honest expectation is that this refines the central finding rather than overturning it.</a:t>
            </a:r>
            <a:endParaRPr lang="en-US" sz="1050" dirty="0"/>
          </a:p>
        </p:txBody>
      </p:sp>
      <p:sp>
        <p:nvSpPr>
          <p:cNvPr id="25" name="Shape 23"/>
          <p:cNvSpPr/>
          <p:nvPr/>
        </p:nvSpPr>
        <p:spPr>
          <a:xfrm>
            <a:off x="8013700" y="4000500"/>
            <a:ext cx="3467100" cy="2006600"/>
          </a:xfrm>
          <a:prstGeom prst="roundRect">
            <a:avLst>
              <a:gd name="adj" fmla="val 6380"/>
            </a:avLst>
          </a:prstGeom>
          <a:solidFill>
            <a:srgbClr val="FFFFFF"/>
          </a:solidFill>
          <a:ln/>
          <a:effectLst>
            <a:outerShdw sx="100000" sy="100000" kx="0" ky="0" algn="bl" rotWithShape="0" blurRad="127000" dist="38100" dir="5400000">
              <a:srgbClr val="16343A">
                <a:alpha val="16000"/>
              </a:srgbClr>
            </a:outerShdw>
          </a:effectLst>
        </p:spPr>
      </p:sp>
      <p:sp>
        <p:nvSpPr>
          <p:cNvPr id="26" name="Text 24"/>
          <p:cNvSpPr/>
          <p:nvPr/>
        </p:nvSpPr>
        <p:spPr>
          <a:xfrm>
            <a:off x="8255000" y="4203700"/>
            <a:ext cx="304800" cy="304800"/>
          </a:xfrm>
          <a:prstGeom prst="roundRect">
            <a:avLst>
              <a:gd name="adj" fmla="val 50000"/>
            </a:avLst>
          </a:prstGeom>
          <a:solidFill>
            <a:srgbClr val="E35D45"/>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27" name="Text 25"/>
          <p:cNvSpPr/>
          <p:nvPr/>
        </p:nvSpPr>
        <p:spPr>
          <a:xfrm>
            <a:off x="8648700" y="4191000"/>
            <a:ext cx="2603500" cy="508000"/>
          </a:xfrm>
          <a:prstGeom prst="rect">
            <a:avLst/>
          </a:prstGeom>
          <a:noFill/>
          <a:ln/>
        </p:spPr>
        <p:txBody>
          <a:bodyPr wrap="square" rtlCol="0" anchor="ctr"/>
          <a:lstStyle/>
          <a:p>
            <a:pPr indent="0" marL="0">
              <a:buNone/>
            </a:pPr>
            <a:r>
              <a:rPr lang="en-US" sz="1250" b="1" dirty="0">
                <a:solidFill>
                  <a:srgbClr val="16343A"/>
                </a:solidFill>
                <a:latin typeface="Calibri" pitchFamily="34" charset="0"/>
                <a:ea typeface="Calibri" pitchFamily="34" charset="-122"/>
                <a:cs typeface="Calibri" pitchFamily="34" charset="-120"/>
              </a:rPr>
              <a:t>Evaluate the KAN-LSTM hybrid in full</a:t>
            </a:r>
            <a:endParaRPr lang="en-US" sz="1250" dirty="0"/>
          </a:p>
        </p:txBody>
      </p:sp>
      <p:sp>
        <p:nvSpPr>
          <p:cNvPr id="28" name="Text 26"/>
          <p:cNvSpPr/>
          <p:nvPr/>
        </p:nvSpPr>
        <p:spPr>
          <a:xfrm>
            <a:off x="8255000" y="4737100"/>
            <a:ext cx="2984500" cy="1143000"/>
          </a:xfrm>
          <a:prstGeom prst="rect">
            <a:avLst/>
          </a:prstGeom>
          <a:noFill/>
          <a:ln/>
        </p:spPr>
        <p:txBody>
          <a:bodyPr wrap="square" rtlCol="0" anchor="t"/>
          <a:lstStyle/>
          <a:p>
            <a:pPr indent="0" marL="0">
              <a:lnSpc>
                <a:spcPct val="138000"/>
              </a:lnSpc>
              <a:buNone/>
            </a:pPr>
            <a:r>
              <a:rPr lang="en-US" sz="1050" dirty="0">
                <a:solidFill>
                  <a:srgbClr val="5C7678"/>
                </a:solidFill>
                <a:latin typeface="Calibri" pitchFamily="34" charset="0"/>
                <a:ea typeface="Calibri" pitchFamily="34" charset="-122"/>
                <a:cs typeface="Calibri" pitchFamily="34" charset="-120"/>
              </a:rPr>
              <a:t>Ten seeds and rolling origins for the one architecture still on a bounded check — the same promotion the transformer was just given, after its own bounded check proved to be understating it.</a:t>
            </a:r>
            <a:endParaRPr lang="en-US" sz="1050" dirty="0"/>
          </a:p>
        </p:txBody>
      </p:sp>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5C76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190811"/>
            <a:ext cx="61558" cy="667189"/>
          </a:xfrm>
          <a:prstGeom prst="rect">
            <a:avLst/>
          </a:prstGeom>
          <a:solidFill>
            <a:srgbClr val="E35D45">
              <a:alpha val="55000"/>
            </a:srgbClr>
          </a:solidFill>
          <a:ln/>
        </p:spPr>
      </p:sp>
      <p:sp>
        <p:nvSpPr>
          <p:cNvPr id="3" name="Shape 1"/>
          <p:cNvSpPr/>
          <p:nvPr/>
        </p:nvSpPr>
        <p:spPr>
          <a:xfrm>
            <a:off x="71718" y="6179942"/>
            <a:ext cx="61558" cy="678058"/>
          </a:xfrm>
          <a:prstGeom prst="rect">
            <a:avLst/>
          </a:prstGeom>
          <a:solidFill>
            <a:srgbClr val="E35D45">
              <a:alpha val="55000"/>
            </a:srgbClr>
          </a:solidFill>
          <a:ln/>
        </p:spPr>
      </p:sp>
      <p:sp>
        <p:nvSpPr>
          <p:cNvPr id="4" name="Shape 2"/>
          <p:cNvSpPr/>
          <p:nvPr/>
        </p:nvSpPr>
        <p:spPr>
          <a:xfrm>
            <a:off x="143435" y="6112605"/>
            <a:ext cx="61558" cy="745395"/>
          </a:xfrm>
          <a:prstGeom prst="rect">
            <a:avLst/>
          </a:prstGeom>
          <a:solidFill>
            <a:srgbClr val="E35D45">
              <a:alpha val="55000"/>
            </a:srgbClr>
          </a:solidFill>
          <a:ln/>
        </p:spPr>
      </p:sp>
      <p:sp>
        <p:nvSpPr>
          <p:cNvPr id="5" name="Shape 3"/>
          <p:cNvSpPr/>
          <p:nvPr/>
        </p:nvSpPr>
        <p:spPr>
          <a:xfrm>
            <a:off x="215153" y="6163373"/>
            <a:ext cx="61558" cy="694627"/>
          </a:xfrm>
          <a:prstGeom prst="rect">
            <a:avLst/>
          </a:prstGeom>
          <a:solidFill>
            <a:srgbClr val="E35D45">
              <a:alpha val="55000"/>
            </a:srgbClr>
          </a:solidFill>
          <a:ln/>
        </p:spPr>
      </p:sp>
      <p:sp>
        <p:nvSpPr>
          <p:cNvPr id="6" name="Shape 4"/>
          <p:cNvSpPr/>
          <p:nvPr/>
        </p:nvSpPr>
        <p:spPr>
          <a:xfrm>
            <a:off x="286871" y="6262884"/>
            <a:ext cx="61558" cy="595116"/>
          </a:xfrm>
          <a:prstGeom prst="rect">
            <a:avLst/>
          </a:prstGeom>
          <a:solidFill>
            <a:srgbClr val="E35D45">
              <a:alpha val="55000"/>
            </a:srgbClr>
          </a:solidFill>
          <a:ln/>
        </p:spPr>
      </p:sp>
      <p:sp>
        <p:nvSpPr>
          <p:cNvPr id="7" name="Shape 5"/>
          <p:cNvSpPr/>
          <p:nvPr/>
        </p:nvSpPr>
        <p:spPr>
          <a:xfrm>
            <a:off x="358588" y="6405563"/>
            <a:ext cx="61558" cy="452438"/>
          </a:xfrm>
          <a:prstGeom prst="rect">
            <a:avLst/>
          </a:prstGeom>
          <a:solidFill>
            <a:srgbClr val="E35D45">
              <a:alpha val="55000"/>
            </a:srgbClr>
          </a:solidFill>
          <a:ln/>
        </p:spPr>
      </p:sp>
      <p:sp>
        <p:nvSpPr>
          <p:cNvPr id="8" name="Shape 6"/>
          <p:cNvSpPr/>
          <p:nvPr/>
        </p:nvSpPr>
        <p:spPr>
          <a:xfrm>
            <a:off x="430306" y="6334018"/>
            <a:ext cx="61558" cy="523982"/>
          </a:xfrm>
          <a:prstGeom prst="rect">
            <a:avLst/>
          </a:prstGeom>
          <a:solidFill>
            <a:srgbClr val="E35D45">
              <a:alpha val="55000"/>
            </a:srgbClr>
          </a:solidFill>
          <a:ln/>
        </p:spPr>
      </p:sp>
      <p:sp>
        <p:nvSpPr>
          <p:cNvPr id="9" name="Shape 7"/>
          <p:cNvSpPr/>
          <p:nvPr/>
        </p:nvSpPr>
        <p:spPr>
          <a:xfrm>
            <a:off x="502024" y="6346570"/>
            <a:ext cx="61558" cy="511430"/>
          </a:xfrm>
          <a:prstGeom prst="rect">
            <a:avLst/>
          </a:prstGeom>
          <a:solidFill>
            <a:srgbClr val="E35D45">
              <a:alpha val="55000"/>
            </a:srgbClr>
          </a:solidFill>
          <a:ln/>
        </p:spPr>
      </p:sp>
      <p:sp>
        <p:nvSpPr>
          <p:cNvPr id="10" name="Shape 8"/>
          <p:cNvSpPr/>
          <p:nvPr/>
        </p:nvSpPr>
        <p:spPr>
          <a:xfrm>
            <a:off x="573741" y="5791595"/>
            <a:ext cx="61558" cy="1066405"/>
          </a:xfrm>
          <a:prstGeom prst="rect">
            <a:avLst/>
          </a:prstGeom>
          <a:solidFill>
            <a:srgbClr val="E35D45">
              <a:alpha val="55000"/>
            </a:srgbClr>
          </a:solidFill>
          <a:ln/>
        </p:spPr>
      </p:sp>
      <p:sp>
        <p:nvSpPr>
          <p:cNvPr id="11" name="Shape 9"/>
          <p:cNvSpPr/>
          <p:nvPr/>
        </p:nvSpPr>
        <p:spPr>
          <a:xfrm>
            <a:off x="645459" y="6337127"/>
            <a:ext cx="61558" cy="520873"/>
          </a:xfrm>
          <a:prstGeom prst="rect">
            <a:avLst/>
          </a:prstGeom>
          <a:solidFill>
            <a:srgbClr val="E35D45">
              <a:alpha val="55000"/>
            </a:srgbClr>
          </a:solidFill>
          <a:ln/>
        </p:spPr>
      </p:sp>
      <p:sp>
        <p:nvSpPr>
          <p:cNvPr id="12" name="Shape 10"/>
          <p:cNvSpPr/>
          <p:nvPr/>
        </p:nvSpPr>
        <p:spPr>
          <a:xfrm>
            <a:off x="717176" y="6409168"/>
            <a:ext cx="61558" cy="448832"/>
          </a:xfrm>
          <a:prstGeom prst="rect">
            <a:avLst/>
          </a:prstGeom>
          <a:solidFill>
            <a:srgbClr val="E35D45">
              <a:alpha val="55000"/>
            </a:srgbClr>
          </a:solidFill>
          <a:ln/>
        </p:spPr>
      </p:sp>
      <p:sp>
        <p:nvSpPr>
          <p:cNvPr id="13" name="Shape 11"/>
          <p:cNvSpPr/>
          <p:nvPr/>
        </p:nvSpPr>
        <p:spPr>
          <a:xfrm>
            <a:off x="788894" y="6443021"/>
            <a:ext cx="61558" cy="414979"/>
          </a:xfrm>
          <a:prstGeom prst="rect">
            <a:avLst/>
          </a:prstGeom>
          <a:solidFill>
            <a:srgbClr val="2F5F67">
              <a:alpha val="35000"/>
            </a:srgbClr>
          </a:solidFill>
          <a:ln/>
        </p:spPr>
      </p:sp>
      <p:sp>
        <p:nvSpPr>
          <p:cNvPr id="14" name="Shape 12"/>
          <p:cNvSpPr/>
          <p:nvPr/>
        </p:nvSpPr>
        <p:spPr>
          <a:xfrm>
            <a:off x="860612" y="6567347"/>
            <a:ext cx="61558" cy="290653"/>
          </a:xfrm>
          <a:prstGeom prst="rect">
            <a:avLst/>
          </a:prstGeom>
          <a:solidFill>
            <a:srgbClr val="2F5F67">
              <a:alpha val="35000"/>
            </a:srgbClr>
          </a:solidFill>
          <a:ln/>
        </p:spPr>
      </p:sp>
      <p:sp>
        <p:nvSpPr>
          <p:cNvPr id="15" name="Shape 13"/>
          <p:cNvSpPr/>
          <p:nvPr/>
        </p:nvSpPr>
        <p:spPr>
          <a:xfrm>
            <a:off x="932329" y="6446954"/>
            <a:ext cx="61558" cy="411046"/>
          </a:xfrm>
          <a:prstGeom prst="rect">
            <a:avLst/>
          </a:prstGeom>
          <a:solidFill>
            <a:srgbClr val="2F5F67">
              <a:alpha val="35000"/>
            </a:srgbClr>
          </a:solidFill>
          <a:ln/>
        </p:spPr>
      </p:sp>
      <p:sp>
        <p:nvSpPr>
          <p:cNvPr id="16" name="Shape 14"/>
          <p:cNvSpPr/>
          <p:nvPr/>
        </p:nvSpPr>
        <p:spPr>
          <a:xfrm>
            <a:off x="1004047" y="6384508"/>
            <a:ext cx="61558" cy="473492"/>
          </a:xfrm>
          <a:prstGeom prst="rect">
            <a:avLst/>
          </a:prstGeom>
          <a:solidFill>
            <a:srgbClr val="E35D45">
              <a:alpha val="55000"/>
            </a:srgbClr>
          </a:solidFill>
          <a:ln/>
        </p:spPr>
      </p:sp>
      <p:sp>
        <p:nvSpPr>
          <p:cNvPr id="17" name="Shape 15"/>
          <p:cNvSpPr/>
          <p:nvPr/>
        </p:nvSpPr>
        <p:spPr>
          <a:xfrm>
            <a:off x="1075765" y="5795410"/>
            <a:ext cx="61558" cy="1062590"/>
          </a:xfrm>
          <a:prstGeom prst="rect">
            <a:avLst/>
          </a:prstGeom>
          <a:solidFill>
            <a:srgbClr val="E35D45">
              <a:alpha val="55000"/>
            </a:srgbClr>
          </a:solidFill>
          <a:ln/>
        </p:spPr>
      </p:sp>
      <p:sp>
        <p:nvSpPr>
          <p:cNvPr id="18" name="Shape 16"/>
          <p:cNvSpPr/>
          <p:nvPr/>
        </p:nvSpPr>
        <p:spPr>
          <a:xfrm>
            <a:off x="1147482" y="5651500"/>
            <a:ext cx="61558" cy="1206500"/>
          </a:xfrm>
          <a:prstGeom prst="rect">
            <a:avLst/>
          </a:prstGeom>
          <a:solidFill>
            <a:srgbClr val="E35D45">
              <a:alpha val="55000"/>
            </a:srgbClr>
          </a:solidFill>
          <a:ln/>
        </p:spPr>
      </p:sp>
      <p:sp>
        <p:nvSpPr>
          <p:cNvPr id="19" name="Shape 17"/>
          <p:cNvSpPr/>
          <p:nvPr/>
        </p:nvSpPr>
        <p:spPr>
          <a:xfrm>
            <a:off x="1219200" y="5952228"/>
            <a:ext cx="61558" cy="905772"/>
          </a:xfrm>
          <a:prstGeom prst="rect">
            <a:avLst/>
          </a:prstGeom>
          <a:solidFill>
            <a:srgbClr val="E35D45">
              <a:alpha val="55000"/>
            </a:srgbClr>
          </a:solidFill>
          <a:ln/>
        </p:spPr>
      </p:sp>
      <p:sp>
        <p:nvSpPr>
          <p:cNvPr id="20" name="Shape 18"/>
          <p:cNvSpPr/>
          <p:nvPr/>
        </p:nvSpPr>
        <p:spPr>
          <a:xfrm>
            <a:off x="1290918" y="6069189"/>
            <a:ext cx="61558" cy="788811"/>
          </a:xfrm>
          <a:prstGeom prst="rect">
            <a:avLst/>
          </a:prstGeom>
          <a:solidFill>
            <a:srgbClr val="E35D45">
              <a:alpha val="55000"/>
            </a:srgbClr>
          </a:solidFill>
          <a:ln/>
        </p:spPr>
      </p:sp>
      <p:sp>
        <p:nvSpPr>
          <p:cNvPr id="21" name="Shape 19"/>
          <p:cNvSpPr/>
          <p:nvPr/>
        </p:nvSpPr>
        <p:spPr>
          <a:xfrm>
            <a:off x="1362635" y="6162205"/>
            <a:ext cx="61558" cy="695795"/>
          </a:xfrm>
          <a:prstGeom prst="rect">
            <a:avLst/>
          </a:prstGeom>
          <a:solidFill>
            <a:srgbClr val="E35D45">
              <a:alpha val="55000"/>
            </a:srgbClr>
          </a:solidFill>
          <a:ln/>
        </p:spPr>
      </p:sp>
      <p:sp>
        <p:nvSpPr>
          <p:cNvPr id="22" name="Shape 20"/>
          <p:cNvSpPr/>
          <p:nvPr/>
        </p:nvSpPr>
        <p:spPr>
          <a:xfrm>
            <a:off x="1434353" y="6323276"/>
            <a:ext cx="61558" cy="534724"/>
          </a:xfrm>
          <a:prstGeom prst="rect">
            <a:avLst/>
          </a:prstGeom>
          <a:solidFill>
            <a:srgbClr val="E35D45">
              <a:alpha val="55000"/>
            </a:srgbClr>
          </a:solidFill>
          <a:ln/>
        </p:spPr>
      </p:sp>
      <p:sp>
        <p:nvSpPr>
          <p:cNvPr id="23" name="Shape 21"/>
          <p:cNvSpPr/>
          <p:nvPr/>
        </p:nvSpPr>
        <p:spPr>
          <a:xfrm>
            <a:off x="1506071" y="6394915"/>
            <a:ext cx="61558" cy="463085"/>
          </a:xfrm>
          <a:prstGeom prst="rect">
            <a:avLst/>
          </a:prstGeom>
          <a:solidFill>
            <a:srgbClr val="E35D45">
              <a:alpha val="55000"/>
            </a:srgbClr>
          </a:solidFill>
          <a:ln/>
        </p:spPr>
      </p:sp>
      <p:sp>
        <p:nvSpPr>
          <p:cNvPr id="24" name="Shape 22"/>
          <p:cNvSpPr/>
          <p:nvPr/>
        </p:nvSpPr>
        <p:spPr>
          <a:xfrm>
            <a:off x="1577788" y="5716541"/>
            <a:ext cx="61558" cy="1141459"/>
          </a:xfrm>
          <a:prstGeom prst="rect">
            <a:avLst/>
          </a:prstGeom>
          <a:solidFill>
            <a:srgbClr val="E35D45">
              <a:alpha val="55000"/>
            </a:srgbClr>
          </a:solidFill>
          <a:ln/>
        </p:spPr>
      </p:sp>
      <p:sp>
        <p:nvSpPr>
          <p:cNvPr id="25" name="Shape 23"/>
          <p:cNvSpPr/>
          <p:nvPr/>
        </p:nvSpPr>
        <p:spPr>
          <a:xfrm>
            <a:off x="1649506" y="6176358"/>
            <a:ext cx="61558" cy="681642"/>
          </a:xfrm>
          <a:prstGeom prst="rect">
            <a:avLst/>
          </a:prstGeom>
          <a:solidFill>
            <a:srgbClr val="E35D45">
              <a:alpha val="55000"/>
            </a:srgbClr>
          </a:solidFill>
          <a:ln/>
        </p:spPr>
      </p:sp>
      <p:sp>
        <p:nvSpPr>
          <p:cNvPr id="26" name="Shape 24"/>
          <p:cNvSpPr/>
          <p:nvPr/>
        </p:nvSpPr>
        <p:spPr>
          <a:xfrm>
            <a:off x="1721224" y="6520773"/>
            <a:ext cx="61558" cy="337227"/>
          </a:xfrm>
          <a:prstGeom prst="rect">
            <a:avLst/>
          </a:prstGeom>
          <a:solidFill>
            <a:srgbClr val="2F5F67">
              <a:alpha val="35000"/>
            </a:srgbClr>
          </a:solidFill>
          <a:ln/>
        </p:spPr>
      </p:sp>
      <p:sp>
        <p:nvSpPr>
          <p:cNvPr id="27" name="Shape 25"/>
          <p:cNvSpPr/>
          <p:nvPr/>
        </p:nvSpPr>
        <p:spPr>
          <a:xfrm>
            <a:off x="1792941" y="6054902"/>
            <a:ext cx="61558" cy="803098"/>
          </a:xfrm>
          <a:prstGeom prst="rect">
            <a:avLst/>
          </a:prstGeom>
          <a:solidFill>
            <a:srgbClr val="E35D45">
              <a:alpha val="55000"/>
            </a:srgbClr>
          </a:solidFill>
          <a:ln/>
        </p:spPr>
      </p:sp>
      <p:sp>
        <p:nvSpPr>
          <p:cNvPr id="28" name="Shape 26"/>
          <p:cNvSpPr/>
          <p:nvPr/>
        </p:nvSpPr>
        <p:spPr>
          <a:xfrm>
            <a:off x="1864659" y="6448935"/>
            <a:ext cx="61558" cy="409065"/>
          </a:xfrm>
          <a:prstGeom prst="rect">
            <a:avLst/>
          </a:prstGeom>
          <a:solidFill>
            <a:srgbClr val="2F5F67">
              <a:alpha val="35000"/>
            </a:srgbClr>
          </a:solidFill>
          <a:ln/>
        </p:spPr>
      </p:sp>
      <p:sp>
        <p:nvSpPr>
          <p:cNvPr id="29" name="Shape 27"/>
          <p:cNvSpPr/>
          <p:nvPr/>
        </p:nvSpPr>
        <p:spPr>
          <a:xfrm>
            <a:off x="1936376" y="5732305"/>
            <a:ext cx="61558" cy="1125695"/>
          </a:xfrm>
          <a:prstGeom prst="rect">
            <a:avLst/>
          </a:prstGeom>
          <a:solidFill>
            <a:srgbClr val="E35D45">
              <a:alpha val="55000"/>
            </a:srgbClr>
          </a:solidFill>
          <a:ln/>
        </p:spPr>
      </p:sp>
      <p:sp>
        <p:nvSpPr>
          <p:cNvPr id="30" name="Shape 28"/>
          <p:cNvSpPr/>
          <p:nvPr/>
        </p:nvSpPr>
        <p:spPr>
          <a:xfrm>
            <a:off x="2008094" y="6359438"/>
            <a:ext cx="61558" cy="498562"/>
          </a:xfrm>
          <a:prstGeom prst="rect">
            <a:avLst/>
          </a:prstGeom>
          <a:solidFill>
            <a:srgbClr val="E35D45">
              <a:alpha val="55000"/>
            </a:srgbClr>
          </a:solidFill>
          <a:ln/>
        </p:spPr>
      </p:sp>
      <p:sp>
        <p:nvSpPr>
          <p:cNvPr id="31" name="Shape 29"/>
          <p:cNvSpPr/>
          <p:nvPr/>
        </p:nvSpPr>
        <p:spPr>
          <a:xfrm>
            <a:off x="2079812" y="6311258"/>
            <a:ext cx="61558" cy="546742"/>
          </a:xfrm>
          <a:prstGeom prst="rect">
            <a:avLst/>
          </a:prstGeom>
          <a:solidFill>
            <a:srgbClr val="E35D45">
              <a:alpha val="55000"/>
            </a:srgbClr>
          </a:solidFill>
          <a:ln/>
        </p:spPr>
      </p:sp>
      <p:sp>
        <p:nvSpPr>
          <p:cNvPr id="32" name="Shape 30"/>
          <p:cNvSpPr/>
          <p:nvPr/>
        </p:nvSpPr>
        <p:spPr>
          <a:xfrm>
            <a:off x="2151529" y="6022190"/>
            <a:ext cx="61558" cy="835810"/>
          </a:xfrm>
          <a:prstGeom prst="rect">
            <a:avLst/>
          </a:prstGeom>
          <a:solidFill>
            <a:srgbClr val="E35D45">
              <a:alpha val="55000"/>
            </a:srgbClr>
          </a:solidFill>
          <a:ln/>
        </p:spPr>
      </p:sp>
      <p:sp>
        <p:nvSpPr>
          <p:cNvPr id="33" name="Shape 31"/>
          <p:cNvSpPr/>
          <p:nvPr/>
        </p:nvSpPr>
        <p:spPr>
          <a:xfrm>
            <a:off x="2223247" y="5854380"/>
            <a:ext cx="61558" cy="1003620"/>
          </a:xfrm>
          <a:prstGeom prst="rect">
            <a:avLst/>
          </a:prstGeom>
          <a:solidFill>
            <a:srgbClr val="E35D45">
              <a:alpha val="55000"/>
            </a:srgbClr>
          </a:solidFill>
          <a:ln/>
        </p:spPr>
      </p:sp>
      <p:sp>
        <p:nvSpPr>
          <p:cNvPr id="34" name="Shape 32"/>
          <p:cNvSpPr/>
          <p:nvPr/>
        </p:nvSpPr>
        <p:spPr>
          <a:xfrm>
            <a:off x="2294965" y="6136978"/>
            <a:ext cx="61558" cy="721022"/>
          </a:xfrm>
          <a:prstGeom prst="rect">
            <a:avLst/>
          </a:prstGeom>
          <a:solidFill>
            <a:srgbClr val="E35D45">
              <a:alpha val="55000"/>
            </a:srgbClr>
          </a:solidFill>
          <a:ln/>
        </p:spPr>
      </p:sp>
      <p:sp>
        <p:nvSpPr>
          <p:cNvPr id="35" name="Shape 33"/>
          <p:cNvSpPr/>
          <p:nvPr/>
        </p:nvSpPr>
        <p:spPr>
          <a:xfrm>
            <a:off x="2366682" y="6090061"/>
            <a:ext cx="61558" cy="767939"/>
          </a:xfrm>
          <a:prstGeom prst="rect">
            <a:avLst/>
          </a:prstGeom>
          <a:solidFill>
            <a:srgbClr val="E35D45">
              <a:alpha val="55000"/>
            </a:srgbClr>
          </a:solidFill>
          <a:ln/>
        </p:spPr>
      </p:sp>
      <p:sp>
        <p:nvSpPr>
          <p:cNvPr id="36" name="Shape 34"/>
          <p:cNvSpPr/>
          <p:nvPr/>
        </p:nvSpPr>
        <p:spPr>
          <a:xfrm>
            <a:off x="2438400" y="6155235"/>
            <a:ext cx="61558" cy="702765"/>
          </a:xfrm>
          <a:prstGeom prst="rect">
            <a:avLst/>
          </a:prstGeom>
          <a:solidFill>
            <a:srgbClr val="E35D45">
              <a:alpha val="55000"/>
            </a:srgbClr>
          </a:solidFill>
          <a:ln/>
        </p:spPr>
      </p:sp>
      <p:sp>
        <p:nvSpPr>
          <p:cNvPr id="37" name="Shape 35"/>
          <p:cNvSpPr/>
          <p:nvPr/>
        </p:nvSpPr>
        <p:spPr>
          <a:xfrm>
            <a:off x="2510118" y="5947755"/>
            <a:ext cx="61558" cy="910245"/>
          </a:xfrm>
          <a:prstGeom prst="rect">
            <a:avLst/>
          </a:prstGeom>
          <a:solidFill>
            <a:srgbClr val="E35D45">
              <a:alpha val="55000"/>
            </a:srgbClr>
          </a:solidFill>
          <a:ln/>
        </p:spPr>
      </p:sp>
      <p:sp>
        <p:nvSpPr>
          <p:cNvPr id="38" name="Shape 36"/>
          <p:cNvSpPr/>
          <p:nvPr/>
        </p:nvSpPr>
        <p:spPr>
          <a:xfrm>
            <a:off x="2581835" y="6389683"/>
            <a:ext cx="61558" cy="468317"/>
          </a:xfrm>
          <a:prstGeom prst="rect">
            <a:avLst/>
          </a:prstGeom>
          <a:solidFill>
            <a:srgbClr val="E35D45">
              <a:alpha val="55000"/>
            </a:srgbClr>
          </a:solidFill>
          <a:ln/>
        </p:spPr>
      </p:sp>
      <p:sp>
        <p:nvSpPr>
          <p:cNvPr id="39" name="Shape 37"/>
          <p:cNvSpPr/>
          <p:nvPr/>
        </p:nvSpPr>
        <p:spPr>
          <a:xfrm>
            <a:off x="2653553" y="6352963"/>
            <a:ext cx="61558" cy="505037"/>
          </a:xfrm>
          <a:prstGeom prst="rect">
            <a:avLst/>
          </a:prstGeom>
          <a:solidFill>
            <a:srgbClr val="E35D45">
              <a:alpha val="55000"/>
            </a:srgbClr>
          </a:solidFill>
          <a:ln/>
        </p:spPr>
      </p:sp>
      <p:sp>
        <p:nvSpPr>
          <p:cNvPr id="40" name="Shape 38"/>
          <p:cNvSpPr/>
          <p:nvPr/>
        </p:nvSpPr>
        <p:spPr>
          <a:xfrm>
            <a:off x="2725271" y="6250724"/>
            <a:ext cx="61558" cy="607276"/>
          </a:xfrm>
          <a:prstGeom prst="rect">
            <a:avLst/>
          </a:prstGeom>
          <a:solidFill>
            <a:srgbClr val="E35D45">
              <a:alpha val="55000"/>
            </a:srgbClr>
          </a:solidFill>
          <a:ln/>
        </p:spPr>
      </p:sp>
      <p:sp>
        <p:nvSpPr>
          <p:cNvPr id="41" name="Shape 39"/>
          <p:cNvSpPr/>
          <p:nvPr/>
        </p:nvSpPr>
        <p:spPr>
          <a:xfrm>
            <a:off x="2796988" y="6158711"/>
            <a:ext cx="61558" cy="699289"/>
          </a:xfrm>
          <a:prstGeom prst="rect">
            <a:avLst/>
          </a:prstGeom>
          <a:solidFill>
            <a:srgbClr val="E35D45">
              <a:alpha val="55000"/>
            </a:srgbClr>
          </a:solidFill>
          <a:ln/>
        </p:spPr>
      </p:sp>
      <p:sp>
        <p:nvSpPr>
          <p:cNvPr id="42" name="Shape 40"/>
          <p:cNvSpPr/>
          <p:nvPr/>
        </p:nvSpPr>
        <p:spPr>
          <a:xfrm>
            <a:off x="2868706" y="5990711"/>
            <a:ext cx="61558" cy="867289"/>
          </a:xfrm>
          <a:prstGeom prst="rect">
            <a:avLst/>
          </a:prstGeom>
          <a:solidFill>
            <a:srgbClr val="E35D45">
              <a:alpha val="55000"/>
            </a:srgbClr>
          </a:solidFill>
          <a:ln/>
        </p:spPr>
      </p:sp>
      <p:sp>
        <p:nvSpPr>
          <p:cNvPr id="43" name="Shape 41"/>
          <p:cNvSpPr/>
          <p:nvPr/>
        </p:nvSpPr>
        <p:spPr>
          <a:xfrm>
            <a:off x="2940424" y="6490792"/>
            <a:ext cx="61558" cy="367208"/>
          </a:xfrm>
          <a:prstGeom prst="rect">
            <a:avLst/>
          </a:prstGeom>
          <a:solidFill>
            <a:srgbClr val="2F5F67">
              <a:alpha val="35000"/>
            </a:srgbClr>
          </a:solidFill>
          <a:ln/>
        </p:spPr>
      </p:sp>
      <p:sp>
        <p:nvSpPr>
          <p:cNvPr id="44" name="Shape 42"/>
          <p:cNvSpPr/>
          <p:nvPr/>
        </p:nvSpPr>
        <p:spPr>
          <a:xfrm>
            <a:off x="3012141" y="6572991"/>
            <a:ext cx="61558" cy="285009"/>
          </a:xfrm>
          <a:prstGeom prst="rect">
            <a:avLst/>
          </a:prstGeom>
          <a:solidFill>
            <a:srgbClr val="2F5F67">
              <a:alpha val="35000"/>
            </a:srgbClr>
          </a:solidFill>
          <a:ln/>
        </p:spPr>
      </p:sp>
      <p:sp>
        <p:nvSpPr>
          <p:cNvPr id="45" name="Shape 43"/>
          <p:cNvSpPr/>
          <p:nvPr/>
        </p:nvSpPr>
        <p:spPr>
          <a:xfrm>
            <a:off x="3083859" y="6525625"/>
            <a:ext cx="61558" cy="332375"/>
          </a:xfrm>
          <a:prstGeom prst="rect">
            <a:avLst/>
          </a:prstGeom>
          <a:solidFill>
            <a:srgbClr val="2F5F67">
              <a:alpha val="35000"/>
            </a:srgbClr>
          </a:solidFill>
          <a:ln/>
        </p:spPr>
      </p:sp>
      <p:sp>
        <p:nvSpPr>
          <p:cNvPr id="46" name="Shape 44"/>
          <p:cNvSpPr/>
          <p:nvPr/>
        </p:nvSpPr>
        <p:spPr>
          <a:xfrm>
            <a:off x="3155576" y="6508937"/>
            <a:ext cx="61558" cy="349063"/>
          </a:xfrm>
          <a:prstGeom prst="rect">
            <a:avLst/>
          </a:prstGeom>
          <a:solidFill>
            <a:srgbClr val="2F5F67">
              <a:alpha val="35000"/>
            </a:srgbClr>
          </a:solidFill>
          <a:ln/>
        </p:spPr>
      </p:sp>
      <p:sp>
        <p:nvSpPr>
          <p:cNvPr id="47" name="Shape 45"/>
          <p:cNvSpPr/>
          <p:nvPr/>
        </p:nvSpPr>
        <p:spPr>
          <a:xfrm>
            <a:off x="3227294" y="6559080"/>
            <a:ext cx="61558" cy="298920"/>
          </a:xfrm>
          <a:prstGeom prst="rect">
            <a:avLst/>
          </a:prstGeom>
          <a:solidFill>
            <a:srgbClr val="2F5F67">
              <a:alpha val="35000"/>
            </a:srgbClr>
          </a:solidFill>
          <a:ln/>
        </p:spPr>
      </p:sp>
      <p:sp>
        <p:nvSpPr>
          <p:cNvPr id="48" name="Shape 46"/>
          <p:cNvSpPr/>
          <p:nvPr/>
        </p:nvSpPr>
        <p:spPr>
          <a:xfrm>
            <a:off x="3299012" y="6201860"/>
            <a:ext cx="61558" cy="656140"/>
          </a:xfrm>
          <a:prstGeom prst="rect">
            <a:avLst/>
          </a:prstGeom>
          <a:solidFill>
            <a:srgbClr val="E35D45">
              <a:alpha val="55000"/>
            </a:srgbClr>
          </a:solidFill>
          <a:ln/>
        </p:spPr>
      </p:sp>
      <p:sp>
        <p:nvSpPr>
          <p:cNvPr id="49" name="Shape 47"/>
          <p:cNvSpPr/>
          <p:nvPr/>
        </p:nvSpPr>
        <p:spPr>
          <a:xfrm>
            <a:off x="3370729" y="5934466"/>
            <a:ext cx="61558" cy="923534"/>
          </a:xfrm>
          <a:prstGeom prst="rect">
            <a:avLst/>
          </a:prstGeom>
          <a:solidFill>
            <a:srgbClr val="E35D45">
              <a:alpha val="55000"/>
            </a:srgbClr>
          </a:solidFill>
          <a:ln/>
        </p:spPr>
      </p:sp>
      <p:sp>
        <p:nvSpPr>
          <p:cNvPr id="50" name="Shape 48"/>
          <p:cNvSpPr/>
          <p:nvPr/>
        </p:nvSpPr>
        <p:spPr>
          <a:xfrm>
            <a:off x="3442447" y="6229686"/>
            <a:ext cx="61558" cy="628314"/>
          </a:xfrm>
          <a:prstGeom prst="rect">
            <a:avLst/>
          </a:prstGeom>
          <a:solidFill>
            <a:srgbClr val="E35D45">
              <a:alpha val="55000"/>
            </a:srgbClr>
          </a:solidFill>
          <a:ln/>
        </p:spPr>
      </p:sp>
      <p:sp>
        <p:nvSpPr>
          <p:cNvPr id="51" name="Shape 49"/>
          <p:cNvSpPr/>
          <p:nvPr/>
        </p:nvSpPr>
        <p:spPr>
          <a:xfrm>
            <a:off x="3514165" y="6120273"/>
            <a:ext cx="61558" cy="737727"/>
          </a:xfrm>
          <a:prstGeom prst="rect">
            <a:avLst/>
          </a:prstGeom>
          <a:solidFill>
            <a:srgbClr val="E35D45">
              <a:alpha val="55000"/>
            </a:srgbClr>
          </a:solidFill>
          <a:ln/>
        </p:spPr>
      </p:sp>
      <p:sp>
        <p:nvSpPr>
          <p:cNvPr id="52" name="Shape 50"/>
          <p:cNvSpPr/>
          <p:nvPr/>
        </p:nvSpPr>
        <p:spPr>
          <a:xfrm>
            <a:off x="3585882" y="6084790"/>
            <a:ext cx="61558" cy="773210"/>
          </a:xfrm>
          <a:prstGeom prst="rect">
            <a:avLst/>
          </a:prstGeom>
          <a:solidFill>
            <a:srgbClr val="E35D45">
              <a:alpha val="55000"/>
            </a:srgbClr>
          </a:solidFill>
          <a:ln/>
        </p:spPr>
      </p:sp>
      <p:sp>
        <p:nvSpPr>
          <p:cNvPr id="53" name="Shape 51"/>
          <p:cNvSpPr/>
          <p:nvPr/>
        </p:nvSpPr>
        <p:spPr>
          <a:xfrm>
            <a:off x="3657600" y="6258803"/>
            <a:ext cx="61558" cy="599197"/>
          </a:xfrm>
          <a:prstGeom prst="rect">
            <a:avLst/>
          </a:prstGeom>
          <a:solidFill>
            <a:srgbClr val="E35D45">
              <a:alpha val="55000"/>
            </a:srgbClr>
          </a:solidFill>
          <a:ln/>
        </p:spPr>
      </p:sp>
      <p:sp>
        <p:nvSpPr>
          <p:cNvPr id="54" name="Shape 52"/>
          <p:cNvSpPr/>
          <p:nvPr/>
        </p:nvSpPr>
        <p:spPr>
          <a:xfrm>
            <a:off x="3729318" y="6296598"/>
            <a:ext cx="61558" cy="561402"/>
          </a:xfrm>
          <a:prstGeom prst="rect">
            <a:avLst/>
          </a:prstGeom>
          <a:solidFill>
            <a:srgbClr val="E35D45">
              <a:alpha val="55000"/>
            </a:srgbClr>
          </a:solidFill>
          <a:ln/>
        </p:spPr>
      </p:sp>
      <p:sp>
        <p:nvSpPr>
          <p:cNvPr id="55" name="Shape 53"/>
          <p:cNvSpPr/>
          <p:nvPr/>
        </p:nvSpPr>
        <p:spPr>
          <a:xfrm>
            <a:off x="3801035" y="6361070"/>
            <a:ext cx="61558" cy="496930"/>
          </a:xfrm>
          <a:prstGeom prst="rect">
            <a:avLst/>
          </a:prstGeom>
          <a:solidFill>
            <a:srgbClr val="E35D45">
              <a:alpha val="55000"/>
            </a:srgbClr>
          </a:solidFill>
          <a:ln/>
        </p:spPr>
      </p:sp>
      <p:sp>
        <p:nvSpPr>
          <p:cNvPr id="56" name="Shape 54"/>
          <p:cNvSpPr/>
          <p:nvPr/>
        </p:nvSpPr>
        <p:spPr>
          <a:xfrm>
            <a:off x="3872753" y="6471395"/>
            <a:ext cx="61558" cy="386605"/>
          </a:xfrm>
          <a:prstGeom prst="rect">
            <a:avLst/>
          </a:prstGeom>
          <a:solidFill>
            <a:srgbClr val="2F5F67">
              <a:alpha val="35000"/>
            </a:srgbClr>
          </a:solidFill>
          <a:ln/>
        </p:spPr>
      </p:sp>
      <p:sp>
        <p:nvSpPr>
          <p:cNvPr id="57" name="Shape 55"/>
          <p:cNvSpPr/>
          <p:nvPr/>
        </p:nvSpPr>
        <p:spPr>
          <a:xfrm>
            <a:off x="3944471" y="6543197"/>
            <a:ext cx="61558" cy="314803"/>
          </a:xfrm>
          <a:prstGeom prst="rect">
            <a:avLst/>
          </a:prstGeom>
          <a:solidFill>
            <a:srgbClr val="2F5F67">
              <a:alpha val="35000"/>
            </a:srgbClr>
          </a:solidFill>
          <a:ln/>
        </p:spPr>
      </p:sp>
      <p:sp>
        <p:nvSpPr>
          <p:cNvPr id="58" name="Shape 56"/>
          <p:cNvSpPr/>
          <p:nvPr/>
        </p:nvSpPr>
        <p:spPr>
          <a:xfrm>
            <a:off x="4016188" y="6533040"/>
            <a:ext cx="61558" cy="324960"/>
          </a:xfrm>
          <a:prstGeom prst="rect">
            <a:avLst/>
          </a:prstGeom>
          <a:solidFill>
            <a:srgbClr val="2F5F67">
              <a:alpha val="35000"/>
            </a:srgbClr>
          </a:solidFill>
          <a:ln/>
        </p:spPr>
      </p:sp>
      <p:sp>
        <p:nvSpPr>
          <p:cNvPr id="59" name="Shape 57"/>
          <p:cNvSpPr/>
          <p:nvPr/>
        </p:nvSpPr>
        <p:spPr>
          <a:xfrm>
            <a:off x="4087906" y="6469300"/>
            <a:ext cx="61558" cy="388700"/>
          </a:xfrm>
          <a:prstGeom prst="rect">
            <a:avLst/>
          </a:prstGeom>
          <a:solidFill>
            <a:srgbClr val="2F5F67">
              <a:alpha val="35000"/>
            </a:srgbClr>
          </a:solidFill>
          <a:ln/>
        </p:spPr>
      </p:sp>
      <p:sp>
        <p:nvSpPr>
          <p:cNvPr id="60" name="Shape 58"/>
          <p:cNvSpPr/>
          <p:nvPr/>
        </p:nvSpPr>
        <p:spPr>
          <a:xfrm>
            <a:off x="4159624" y="6530550"/>
            <a:ext cx="61558" cy="327450"/>
          </a:xfrm>
          <a:prstGeom prst="rect">
            <a:avLst/>
          </a:prstGeom>
          <a:solidFill>
            <a:srgbClr val="2F5F67">
              <a:alpha val="35000"/>
            </a:srgbClr>
          </a:solidFill>
          <a:ln/>
        </p:spPr>
      </p:sp>
      <p:sp>
        <p:nvSpPr>
          <p:cNvPr id="61" name="Shape 59"/>
          <p:cNvSpPr/>
          <p:nvPr/>
        </p:nvSpPr>
        <p:spPr>
          <a:xfrm>
            <a:off x="4231341" y="6543197"/>
            <a:ext cx="61558" cy="314803"/>
          </a:xfrm>
          <a:prstGeom prst="rect">
            <a:avLst/>
          </a:prstGeom>
          <a:solidFill>
            <a:srgbClr val="2F5F67">
              <a:alpha val="35000"/>
            </a:srgbClr>
          </a:solidFill>
          <a:ln/>
        </p:spPr>
      </p:sp>
      <p:sp>
        <p:nvSpPr>
          <p:cNvPr id="62" name="Shape 60"/>
          <p:cNvSpPr/>
          <p:nvPr/>
        </p:nvSpPr>
        <p:spPr>
          <a:xfrm>
            <a:off x="4303059" y="6596785"/>
            <a:ext cx="61558" cy="261215"/>
          </a:xfrm>
          <a:prstGeom prst="rect">
            <a:avLst/>
          </a:prstGeom>
          <a:solidFill>
            <a:srgbClr val="2F5F67">
              <a:alpha val="35000"/>
            </a:srgbClr>
          </a:solidFill>
          <a:ln/>
        </p:spPr>
      </p:sp>
      <p:sp>
        <p:nvSpPr>
          <p:cNvPr id="63" name="Shape 61"/>
          <p:cNvSpPr/>
          <p:nvPr/>
        </p:nvSpPr>
        <p:spPr>
          <a:xfrm>
            <a:off x="4374776" y="6584629"/>
            <a:ext cx="61558" cy="273371"/>
          </a:xfrm>
          <a:prstGeom prst="rect">
            <a:avLst/>
          </a:prstGeom>
          <a:solidFill>
            <a:srgbClr val="2F5F67">
              <a:alpha val="35000"/>
            </a:srgbClr>
          </a:solidFill>
          <a:ln/>
        </p:spPr>
      </p:sp>
      <p:sp>
        <p:nvSpPr>
          <p:cNvPr id="64" name="Shape 62"/>
          <p:cNvSpPr/>
          <p:nvPr/>
        </p:nvSpPr>
        <p:spPr>
          <a:xfrm>
            <a:off x="4446494" y="6525625"/>
            <a:ext cx="61558" cy="332375"/>
          </a:xfrm>
          <a:prstGeom prst="rect">
            <a:avLst/>
          </a:prstGeom>
          <a:solidFill>
            <a:srgbClr val="2F5F67">
              <a:alpha val="35000"/>
            </a:srgbClr>
          </a:solidFill>
          <a:ln/>
        </p:spPr>
      </p:sp>
      <p:sp>
        <p:nvSpPr>
          <p:cNvPr id="65" name="Shape 63"/>
          <p:cNvSpPr/>
          <p:nvPr/>
        </p:nvSpPr>
        <p:spPr>
          <a:xfrm>
            <a:off x="4518212" y="6493011"/>
            <a:ext cx="61558" cy="364989"/>
          </a:xfrm>
          <a:prstGeom prst="rect">
            <a:avLst/>
          </a:prstGeom>
          <a:solidFill>
            <a:srgbClr val="2F5F67">
              <a:alpha val="35000"/>
            </a:srgbClr>
          </a:solidFill>
          <a:ln/>
        </p:spPr>
      </p:sp>
      <p:sp>
        <p:nvSpPr>
          <p:cNvPr id="66" name="Shape 64"/>
          <p:cNvSpPr/>
          <p:nvPr/>
        </p:nvSpPr>
        <p:spPr>
          <a:xfrm>
            <a:off x="4589929" y="6298046"/>
            <a:ext cx="61558" cy="559954"/>
          </a:xfrm>
          <a:prstGeom prst="rect">
            <a:avLst/>
          </a:prstGeom>
          <a:solidFill>
            <a:srgbClr val="E35D45">
              <a:alpha val="55000"/>
            </a:srgbClr>
          </a:solidFill>
          <a:ln/>
        </p:spPr>
      </p:sp>
      <p:sp>
        <p:nvSpPr>
          <p:cNvPr id="67" name="Shape 65"/>
          <p:cNvSpPr/>
          <p:nvPr/>
        </p:nvSpPr>
        <p:spPr>
          <a:xfrm>
            <a:off x="4661647" y="5913592"/>
            <a:ext cx="61558" cy="944408"/>
          </a:xfrm>
          <a:prstGeom prst="rect">
            <a:avLst/>
          </a:prstGeom>
          <a:solidFill>
            <a:srgbClr val="E35D45">
              <a:alpha val="55000"/>
            </a:srgbClr>
          </a:solidFill>
          <a:ln/>
        </p:spPr>
      </p:sp>
      <p:sp>
        <p:nvSpPr>
          <p:cNvPr id="68" name="Shape 66"/>
          <p:cNvSpPr/>
          <p:nvPr/>
        </p:nvSpPr>
        <p:spPr>
          <a:xfrm>
            <a:off x="4733365" y="6161038"/>
            <a:ext cx="61558" cy="696962"/>
          </a:xfrm>
          <a:prstGeom prst="rect">
            <a:avLst/>
          </a:prstGeom>
          <a:solidFill>
            <a:srgbClr val="E35D45">
              <a:alpha val="55000"/>
            </a:srgbClr>
          </a:solidFill>
          <a:ln/>
        </p:spPr>
      </p:sp>
      <p:sp>
        <p:nvSpPr>
          <p:cNvPr id="69" name="Shape 67"/>
          <p:cNvSpPr/>
          <p:nvPr/>
        </p:nvSpPr>
        <p:spPr>
          <a:xfrm>
            <a:off x="4805082" y="6105016"/>
            <a:ext cx="61558" cy="752984"/>
          </a:xfrm>
          <a:prstGeom prst="rect">
            <a:avLst/>
          </a:prstGeom>
          <a:solidFill>
            <a:srgbClr val="E35D45">
              <a:alpha val="55000"/>
            </a:srgbClr>
          </a:solidFill>
          <a:ln/>
        </p:spPr>
      </p:sp>
      <p:sp>
        <p:nvSpPr>
          <p:cNvPr id="70" name="Shape 68"/>
          <p:cNvSpPr/>
          <p:nvPr/>
        </p:nvSpPr>
        <p:spPr>
          <a:xfrm>
            <a:off x="4876800" y="6029021"/>
            <a:ext cx="61558" cy="828979"/>
          </a:xfrm>
          <a:prstGeom prst="rect">
            <a:avLst/>
          </a:prstGeom>
          <a:solidFill>
            <a:srgbClr val="E35D45">
              <a:alpha val="55000"/>
            </a:srgbClr>
          </a:solidFill>
          <a:ln/>
        </p:spPr>
      </p:sp>
      <p:sp>
        <p:nvSpPr>
          <p:cNvPr id="71" name="Shape 69"/>
          <p:cNvSpPr/>
          <p:nvPr/>
        </p:nvSpPr>
        <p:spPr>
          <a:xfrm>
            <a:off x="4948518" y="6210584"/>
            <a:ext cx="61558" cy="647416"/>
          </a:xfrm>
          <a:prstGeom prst="rect">
            <a:avLst/>
          </a:prstGeom>
          <a:solidFill>
            <a:srgbClr val="E35D45">
              <a:alpha val="55000"/>
            </a:srgbClr>
          </a:solidFill>
          <a:ln/>
        </p:spPr>
      </p:sp>
      <p:sp>
        <p:nvSpPr>
          <p:cNvPr id="72" name="Shape 70"/>
          <p:cNvSpPr/>
          <p:nvPr/>
        </p:nvSpPr>
        <p:spPr>
          <a:xfrm>
            <a:off x="5020235" y="6248054"/>
            <a:ext cx="61558" cy="609946"/>
          </a:xfrm>
          <a:prstGeom prst="rect">
            <a:avLst/>
          </a:prstGeom>
          <a:solidFill>
            <a:srgbClr val="E35D45">
              <a:alpha val="55000"/>
            </a:srgbClr>
          </a:solidFill>
          <a:ln/>
        </p:spPr>
      </p:sp>
      <p:sp>
        <p:nvSpPr>
          <p:cNvPr id="73" name="Shape 71"/>
          <p:cNvSpPr/>
          <p:nvPr/>
        </p:nvSpPr>
        <p:spPr>
          <a:xfrm>
            <a:off x="5091953" y="6372647"/>
            <a:ext cx="61558" cy="485353"/>
          </a:xfrm>
          <a:prstGeom prst="rect">
            <a:avLst/>
          </a:prstGeom>
          <a:solidFill>
            <a:srgbClr val="E35D45">
              <a:alpha val="55000"/>
            </a:srgbClr>
          </a:solidFill>
          <a:ln/>
        </p:spPr>
      </p:sp>
      <p:sp>
        <p:nvSpPr>
          <p:cNvPr id="74" name="Shape 72"/>
          <p:cNvSpPr/>
          <p:nvPr/>
        </p:nvSpPr>
        <p:spPr>
          <a:xfrm>
            <a:off x="5163671" y="6431438"/>
            <a:ext cx="61558" cy="426562"/>
          </a:xfrm>
          <a:prstGeom prst="rect">
            <a:avLst/>
          </a:prstGeom>
          <a:solidFill>
            <a:srgbClr val="2F5F67">
              <a:alpha val="35000"/>
            </a:srgbClr>
          </a:solidFill>
          <a:ln/>
        </p:spPr>
      </p:sp>
      <p:sp>
        <p:nvSpPr>
          <p:cNvPr id="75" name="Shape 73"/>
          <p:cNvSpPr/>
          <p:nvPr/>
        </p:nvSpPr>
        <p:spPr>
          <a:xfrm>
            <a:off x="5235388" y="6327853"/>
            <a:ext cx="61558" cy="530147"/>
          </a:xfrm>
          <a:prstGeom prst="rect">
            <a:avLst/>
          </a:prstGeom>
          <a:solidFill>
            <a:srgbClr val="E35D45">
              <a:alpha val="55000"/>
            </a:srgbClr>
          </a:solidFill>
          <a:ln/>
        </p:spPr>
      </p:sp>
      <p:sp>
        <p:nvSpPr>
          <p:cNvPr id="76" name="Shape 74"/>
          <p:cNvSpPr/>
          <p:nvPr/>
        </p:nvSpPr>
        <p:spPr>
          <a:xfrm>
            <a:off x="5307106" y="6520773"/>
            <a:ext cx="61558" cy="337227"/>
          </a:xfrm>
          <a:prstGeom prst="rect">
            <a:avLst/>
          </a:prstGeom>
          <a:solidFill>
            <a:srgbClr val="2F5F67">
              <a:alpha val="35000"/>
            </a:srgbClr>
          </a:solidFill>
          <a:ln/>
        </p:spPr>
      </p:sp>
      <p:sp>
        <p:nvSpPr>
          <p:cNvPr id="77" name="Shape 75"/>
          <p:cNvSpPr/>
          <p:nvPr/>
        </p:nvSpPr>
        <p:spPr>
          <a:xfrm>
            <a:off x="5378824" y="6584629"/>
            <a:ext cx="61558" cy="273371"/>
          </a:xfrm>
          <a:prstGeom prst="rect">
            <a:avLst/>
          </a:prstGeom>
          <a:solidFill>
            <a:srgbClr val="2F5F67">
              <a:alpha val="35000"/>
            </a:srgbClr>
          </a:solidFill>
          <a:ln/>
        </p:spPr>
      </p:sp>
      <p:sp>
        <p:nvSpPr>
          <p:cNvPr id="78" name="Shape 76"/>
          <p:cNvSpPr/>
          <p:nvPr/>
        </p:nvSpPr>
        <p:spPr>
          <a:xfrm>
            <a:off x="5450541" y="6570155"/>
            <a:ext cx="61558" cy="287845"/>
          </a:xfrm>
          <a:prstGeom prst="rect">
            <a:avLst/>
          </a:prstGeom>
          <a:solidFill>
            <a:srgbClr val="2F5F67">
              <a:alpha val="35000"/>
            </a:srgbClr>
          </a:solidFill>
          <a:ln/>
        </p:spPr>
      </p:sp>
      <p:sp>
        <p:nvSpPr>
          <p:cNvPr id="79" name="Shape 77"/>
          <p:cNvSpPr/>
          <p:nvPr/>
        </p:nvSpPr>
        <p:spPr>
          <a:xfrm>
            <a:off x="5522259" y="6599914"/>
            <a:ext cx="61558" cy="258086"/>
          </a:xfrm>
          <a:prstGeom prst="rect">
            <a:avLst/>
          </a:prstGeom>
          <a:solidFill>
            <a:srgbClr val="2F5F67">
              <a:alpha val="35000"/>
            </a:srgbClr>
          </a:solidFill>
          <a:ln/>
        </p:spPr>
      </p:sp>
      <p:sp>
        <p:nvSpPr>
          <p:cNvPr id="80" name="Shape 78"/>
          <p:cNvSpPr/>
          <p:nvPr/>
        </p:nvSpPr>
        <p:spPr>
          <a:xfrm>
            <a:off x="5593976" y="6511272"/>
            <a:ext cx="61558" cy="346728"/>
          </a:xfrm>
          <a:prstGeom prst="rect">
            <a:avLst/>
          </a:prstGeom>
          <a:solidFill>
            <a:srgbClr val="2F5F67">
              <a:alpha val="35000"/>
            </a:srgbClr>
          </a:solidFill>
          <a:ln/>
        </p:spPr>
      </p:sp>
      <p:sp>
        <p:nvSpPr>
          <p:cNvPr id="81" name="Shape 79"/>
          <p:cNvSpPr/>
          <p:nvPr/>
        </p:nvSpPr>
        <p:spPr>
          <a:xfrm>
            <a:off x="5665694" y="6351357"/>
            <a:ext cx="61558" cy="506643"/>
          </a:xfrm>
          <a:prstGeom prst="rect">
            <a:avLst/>
          </a:prstGeom>
          <a:solidFill>
            <a:srgbClr val="E35D45">
              <a:alpha val="55000"/>
            </a:srgbClr>
          </a:solidFill>
          <a:ln/>
        </p:spPr>
      </p:sp>
      <p:sp>
        <p:nvSpPr>
          <p:cNvPr id="82" name="Shape 80"/>
          <p:cNvSpPr/>
          <p:nvPr/>
        </p:nvSpPr>
        <p:spPr>
          <a:xfrm>
            <a:off x="5737412" y="6042855"/>
            <a:ext cx="61558" cy="815145"/>
          </a:xfrm>
          <a:prstGeom prst="rect">
            <a:avLst/>
          </a:prstGeom>
          <a:solidFill>
            <a:srgbClr val="E35D45">
              <a:alpha val="55000"/>
            </a:srgbClr>
          </a:solidFill>
          <a:ln/>
        </p:spPr>
      </p:sp>
      <p:sp>
        <p:nvSpPr>
          <p:cNvPr id="83" name="Shape 81"/>
          <p:cNvSpPr/>
          <p:nvPr/>
        </p:nvSpPr>
        <p:spPr>
          <a:xfrm>
            <a:off x="5809129" y="6158711"/>
            <a:ext cx="61558" cy="699289"/>
          </a:xfrm>
          <a:prstGeom prst="rect">
            <a:avLst/>
          </a:prstGeom>
          <a:solidFill>
            <a:srgbClr val="E35D45">
              <a:alpha val="55000"/>
            </a:srgbClr>
          </a:solidFill>
          <a:ln/>
        </p:spPr>
      </p:sp>
      <p:sp>
        <p:nvSpPr>
          <p:cNvPr id="84" name="Shape 82"/>
          <p:cNvSpPr/>
          <p:nvPr/>
        </p:nvSpPr>
        <p:spPr>
          <a:xfrm>
            <a:off x="5880847" y="6083741"/>
            <a:ext cx="61558" cy="774259"/>
          </a:xfrm>
          <a:prstGeom prst="rect">
            <a:avLst/>
          </a:prstGeom>
          <a:solidFill>
            <a:srgbClr val="E35D45">
              <a:alpha val="55000"/>
            </a:srgbClr>
          </a:solidFill>
          <a:ln/>
        </p:spPr>
      </p:sp>
      <p:sp>
        <p:nvSpPr>
          <p:cNvPr id="85" name="Shape 83"/>
          <p:cNvSpPr/>
          <p:nvPr/>
        </p:nvSpPr>
        <p:spPr>
          <a:xfrm>
            <a:off x="5952565" y="6185959"/>
            <a:ext cx="61558" cy="672041"/>
          </a:xfrm>
          <a:prstGeom prst="rect">
            <a:avLst/>
          </a:prstGeom>
          <a:solidFill>
            <a:srgbClr val="E35D45">
              <a:alpha val="55000"/>
            </a:srgbClr>
          </a:solidFill>
          <a:ln/>
        </p:spPr>
      </p:sp>
      <p:sp>
        <p:nvSpPr>
          <p:cNvPr id="86" name="Shape 84"/>
          <p:cNvSpPr/>
          <p:nvPr/>
        </p:nvSpPr>
        <p:spPr>
          <a:xfrm>
            <a:off x="6024282" y="6190811"/>
            <a:ext cx="61558" cy="667189"/>
          </a:xfrm>
          <a:prstGeom prst="rect">
            <a:avLst/>
          </a:prstGeom>
          <a:solidFill>
            <a:srgbClr val="E35D45">
              <a:alpha val="55000"/>
            </a:srgbClr>
          </a:solidFill>
          <a:ln/>
        </p:spPr>
      </p:sp>
      <p:sp>
        <p:nvSpPr>
          <p:cNvPr id="87" name="Shape 85"/>
          <p:cNvSpPr/>
          <p:nvPr/>
        </p:nvSpPr>
        <p:spPr>
          <a:xfrm>
            <a:off x="6096000" y="6420161"/>
            <a:ext cx="61558" cy="437839"/>
          </a:xfrm>
          <a:prstGeom prst="rect">
            <a:avLst/>
          </a:prstGeom>
          <a:solidFill>
            <a:srgbClr val="2F5F67">
              <a:alpha val="35000"/>
            </a:srgbClr>
          </a:solidFill>
          <a:ln/>
        </p:spPr>
      </p:sp>
      <p:sp>
        <p:nvSpPr>
          <p:cNvPr id="88" name="Shape 86"/>
          <p:cNvSpPr/>
          <p:nvPr/>
        </p:nvSpPr>
        <p:spPr>
          <a:xfrm>
            <a:off x="6167718" y="6387951"/>
            <a:ext cx="61558" cy="470049"/>
          </a:xfrm>
          <a:prstGeom prst="rect">
            <a:avLst/>
          </a:prstGeom>
          <a:solidFill>
            <a:srgbClr val="E35D45">
              <a:alpha val="55000"/>
            </a:srgbClr>
          </a:solidFill>
          <a:ln/>
        </p:spPr>
      </p:sp>
      <p:sp>
        <p:nvSpPr>
          <p:cNvPr id="89" name="Shape 87"/>
          <p:cNvSpPr/>
          <p:nvPr/>
        </p:nvSpPr>
        <p:spPr>
          <a:xfrm>
            <a:off x="6239435" y="6414630"/>
            <a:ext cx="61558" cy="443370"/>
          </a:xfrm>
          <a:prstGeom prst="rect">
            <a:avLst/>
          </a:prstGeom>
          <a:solidFill>
            <a:srgbClr val="2F5F67">
              <a:alpha val="35000"/>
            </a:srgbClr>
          </a:solidFill>
          <a:ln/>
        </p:spPr>
      </p:sp>
      <p:sp>
        <p:nvSpPr>
          <p:cNvPr id="90" name="Shape 88"/>
          <p:cNvSpPr/>
          <p:nvPr/>
        </p:nvSpPr>
        <p:spPr>
          <a:xfrm>
            <a:off x="6311153" y="6420161"/>
            <a:ext cx="61558" cy="437839"/>
          </a:xfrm>
          <a:prstGeom prst="rect">
            <a:avLst/>
          </a:prstGeom>
          <a:solidFill>
            <a:srgbClr val="2F5F67">
              <a:alpha val="35000"/>
            </a:srgbClr>
          </a:solidFill>
          <a:ln/>
        </p:spPr>
      </p:sp>
      <p:sp>
        <p:nvSpPr>
          <p:cNvPr id="91" name="Shape 89"/>
          <p:cNvSpPr/>
          <p:nvPr/>
        </p:nvSpPr>
        <p:spPr>
          <a:xfrm>
            <a:off x="6382871" y="6346570"/>
            <a:ext cx="61558" cy="511430"/>
          </a:xfrm>
          <a:prstGeom prst="rect">
            <a:avLst/>
          </a:prstGeom>
          <a:solidFill>
            <a:srgbClr val="E35D45">
              <a:alpha val="55000"/>
            </a:srgbClr>
          </a:solidFill>
          <a:ln/>
        </p:spPr>
      </p:sp>
      <p:sp>
        <p:nvSpPr>
          <p:cNvPr id="92" name="Shape 90"/>
          <p:cNvSpPr/>
          <p:nvPr/>
        </p:nvSpPr>
        <p:spPr>
          <a:xfrm>
            <a:off x="6454588" y="6499749"/>
            <a:ext cx="61558" cy="358251"/>
          </a:xfrm>
          <a:prstGeom prst="rect">
            <a:avLst/>
          </a:prstGeom>
          <a:solidFill>
            <a:srgbClr val="2F5F67">
              <a:alpha val="35000"/>
            </a:srgbClr>
          </a:solidFill>
          <a:ln/>
        </p:spPr>
      </p:sp>
      <p:sp>
        <p:nvSpPr>
          <p:cNvPr id="93" name="Shape 91"/>
          <p:cNvSpPr/>
          <p:nvPr/>
        </p:nvSpPr>
        <p:spPr>
          <a:xfrm>
            <a:off x="6526306" y="6538078"/>
            <a:ext cx="61558" cy="319922"/>
          </a:xfrm>
          <a:prstGeom prst="rect">
            <a:avLst/>
          </a:prstGeom>
          <a:solidFill>
            <a:srgbClr val="2F5F67">
              <a:alpha val="35000"/>
            </a:srgbClr>
          </a:solidFill>
          <a:ln/>
        </p:spPr>
      </p:sp>
      <p:sp>
        <p:nvSpPr>
          <p:cNvPr id="94" name="Shape 92"/>
          <p:cNvSpPr/>
          <p:nvPr/>
        </p:nvSpPr>
        <p:spPr>
          <a:xfrm>
            <a:off x="6598024" y="6584629"/>
            <a:ext cx="61558" cy="273371"/>
          </a:xfrm>
          <a:prstGeom prst="rect">
            <a:avLst/>
          </a:prstGeom>
          <a:solidFill>
            <a:srgbClr val="2F5F67">
              <a:alpha val="35000"/>
            </a:srgbClr>
          </a:solidFill>
          <a:ln/>
        </p:spPr>
      </p:sp>
      <p:sp>
        <p:nvSpPr>
          <p:cNvPr id="95" name="Shape 93"/>
          <p:cNvSpPr/>
          <p:nvPr/>
        </p:nvSpPr>
        <p:spPr>
          <a:xfrm>
            <a:off x="6669741" y="6587617"/>
            <a:ext cx="61558" cy="270383"/>
          </a:xfrm>
          <a:prstGeom prst="rect">
            <a:avLst/>
          </a:prstGeom>
          <a:solidFill>
            <a:srgbClr val="2F5F67">
              <a:alpha val="35000"/>
            </a:srgbClr>
          </a:solidFill>
          <a:ln/>
        </p:spPr>
      </p:sp>
      <p:sp>
        <p:nvSpPr>
          <p:cNvPr id="96" name="Shape 94"/>
          <p:cNvSpPr/>
          <p:nvPr/>
        </p:nvSpPr>
        <p:spPr>
          <a:xfrm>
            <a:off x="6741459" y="6567347"/>
            <a:ext cx="61558" cy="290653"/>
          </a:xfrm>
          <a:prstGeom prst="rect">
            <a:avLst/>
          </a:prstGeom>
          <a:solidFill>
            <a:srgbClr val="2F5F67">
              <a:alpha val="35000"/>
            </a:srgbClr>
          </a:solidFill>
          <a:ln/>
        </p:spPr>
      </p:sp>
      <p:sp>
        <p:nvSpPr>
          <p:cNvPr id="97" name="Shape 95"/>
          <p:cNvSpPr/>
          <p:nvPr/>
        </p:nvSpPr>
        <p:spPr>
          <a:xfrm>
            <a:off x="6813176" y="6520773"/>
            <a:ext cx="61558" cy="337227"/>
          </a:xfrm>
          <a:prstGeom prst="rect">
            <a:avLst/>
          </a:prstGeom>
          <a:solidFill>
            <a:srgbClr val="2F5F67">
              <a:alpha val="35000"/>
            </a:srgbClr>
          </a:solidFill>
          <a:ln/>
        </p:spPr>
      </p:sp>
      <p:sp>
        <p:nvSpPr>
          <p:cNvPr id="98" name="Shape 96"/>
          <p:cNvSpPr/>
          <p:nvPr/>
        </p:nvSpPr>
        <p:spPr>
          <a:xfrm>
            <a:off x="6884894" y="6461029"/>
            <a:ext cx="61558" cy="396971"/>
          </a:xfrm>
          <a:prstGeom prst="rect">
            <a:avLst/>
          </a:prstGeom>
          <a:solidFill>
            <a:srgbClr val="2F5F67">
              <a:alpha val="35000"/>
            </a:srgbClr>
          </a:solidFill>
          <a:ln/>
        </p:spPr>
      </p:sp>
      <p:sp>
        <p:nvSpPr>
          <p:cNvPr id="99" name="Shape 97"/>
          <p:cNvSpPr/>
          <p:nvPr/>
        </p:nvSpPr>
        <p:spPr>
          <a:xfrm>
            <a:off x="6956612" y="6073319"/>
            <a:ext cx="61558" cy="784681"/>
          </a:xfrm>
          <a:prstGeom prst="rect">
            <a:avLst/>
          </a:prstGeom>
          <a:solidFill>
            <a:srgbClr val="E35D45">
              <a:alpha val="55000"/>
            </a:srgbClr>
          </a:solidFill>
          <a:ln/>
        </p:spPr>
      </p:sp>
      <p:sp>
        <p:nvSpPr>
          <p:cNvPr id="100" name="Shape 98"/>
          <p:cNvSpPr/>
          <p:nvPr/>
        </p:nvSpPr>
        <p:spPr>
          <a:xfrm>
            <a:off x="7028329" y="6248054"/>
            <a:ext cx="61558" cy="609946"/>
          </a:xfrm>
          <a:prstGeom prst="rect">
            <a:avLst/>
          </a:prstGeom>
          <a:solidFill>
            <a:srgbClr val="E35D45">
              <a:alpha val="55000"/>
            </a:srgbClr>
          </a:solidFill>
          <a:ln/>
        </p:spPr>
      </p:sp>
      <p:sp>
        <p:nvSpPr>
          <p:cNvPr id="101" name="Shape 99"/>
          <p:cNvSpPr/>
          <p:nvPr/>
        </p:nvSpPr>
        <p:spPr>
          <a:xfrm>
            <a:off x="7100047" y="6256098"/>
            <a:ext cx="61558" cy="601902"/>
          </a:xfrm>
          <a:prstGeom prst="rect">
            <a:avLst/>
          </a:prstGeom>
          <a:solidFill>
            <a:srgbClr val="E35D45">
              <a:alpha val="55000"/>
            </a:srgbClr>
          </a:solidFill>
          <a:ln/>
        </p:spPr>
      </p:sp>
      <p:sp>
        <p:nvSpPr>
          <p:cNvPr id="102" name="Shape 100"/>
          <p:cNvSpPr/>
          <p:nvPr/>
        </p:nvSpPr>
        <p:spPr>
          <a:xfrm>
            <a:off x="7171765" y="6161038"/>
            <a:ext cx="61558" cy="696962"/>
          </a:xfrm>
          <a:prstGeom prst="rect">
            <a:avLst/>
          </a:prstGeom>
          <a:solidFill>
            <a:srgbClr val="E35D45">
              <a:alpha val="55000"/>
            </a:srgbClr>
          </a:solidFill>
          <a:ln/>
        </p:spPr>
      </p:sp>
      <p:sp>
        <p:nvSpPr>
          <p:cNvPr id="103" name="Shape 101"/>
          <p:cNvSpPr/>
          <p:nvPr/>
        </p:nvSpPr>
        <p:spPr>
          <a:xfrm>
            <a:off x="7243482" y="6003924"/>
            <a:ext cx="61558" cy="854076"/>
          </a:xfrm>
          <a:prstGeom prst="rect">
            <a:avLst/>
          </a:prstGeom>
          <a:solidFill>
            <a:srgbClr val="E35D45">
              <a:alpha val="55000"/>
            </a:srgbClr>
          </a:solidFill>
          <a:ln/>
        </p:spPr>
      </p:sp>
      <p:sp>
        <p:nvSpPr>
          <p:cNvPr id="104" name="Shape 102"/>
          <p:cNvSpPr/>
          <p:nvPr/>
        </p:nvSpPr>
        <p:spPr>
          <a:xfrm>
            <a:off x="7315200" y="6323276"/>
            <a:ext cx="61558" cy="534724"/>
          </a:xfrm>
          <a:prstGeom prst="rect">
            <a:avLst/>
          </a:prstGeom>
          <a:solidFill>
            <a:srgbClr val="E35D45">
              <a:alpha val="55000"/>
            </a:srgbClr>
          </a:solidFill>
          <a:ln/>
        </p:spPr>
      </p:sp>
      <p:sp>
        <p:nvSpPr>
          <p:cNvPr id="105" name="Shape 103"/>
          <p:cNvSpPr/>
          <p:nvPr/>
        </p:nvSpPr>
        <p:spPr>
          <a:xfrm>
            <a:off x="7386918" y="6422020"/>
            <a:ext cx="61558" cy="435980"/>
          </a:xfrm>
          <a:prstGeom prst="rect">
            <a:avLst/>
          </a:prstGeom>
          <a:solidFill>
            <a:srgbClr val="2F5F67">
              <a:alpha val="35000"/>
            </a:srgbClr>
          </a:solidFill>
          <a:ln/>
        </p:spPr>
      </p:sp>
      <p:sp>
        <p:nvSpPr>
          <p:cNvPr id="106" name="Shape 104"/>
          <p:cNvSpPr/>
          <p:nvPr/>
        </p:nvSpPr>
        <p:spPr>
          <a:xfrm>
            <a:off x="7458635" y="6448935"/>
            <a:ext cx="61558" cy="409065"/>
          </a:xfrm>
          <a:prstGeom prst="rect">
            <a:avLst/>
          </a:prstGeom>
          <a:solidFill>
            <a:srgbClr val="2F5F67">
              <a:alpha val="35000"/>
            </a:srgbClr>
          </a:solidFill>
          <a:ln/>
        </p:spPr>
      </p:sp>
      <p:sp>
        <p:nvSpPr>
          <p:cNvPr id="107" name="Shape 105"/>
          <p:cNvSpPr/>
          <p:nvPr/>
        </p:nvSpPr>
        <p:spPr>
          <a:xfrm>
            <a:off x="7530353" y="6400208"/>
            <a:ext cx="61558" cy="457792"/>
          </a:xfrm>
          <a:prstGeom prst="rect">
            <a:avLst/>
          </a:prstGeom>
          <a:solidFill>
            <a:srgbClr val="E35D45">
              <a:alpha val="55000"/>
            </a:srgbClr>
          </a:solidFill>
          <a:ln/>
        </p:spPr>
      </p:sp>
      <p:sp>
        <p:nvSpPr>
          <p:cNvPr id="108" name="Shape 106"/>
          <p:cNvSpPr/>
          <p:nvPr/>
        </p:nvSpPr>
        <p:spPr>
          <a:xfrm>
            <a:off x="7602071" y="6473502"/>
            <a:ext cx="61558" cy="384498"/>
          </a:xfrm>
          <a:prstGeom prst="rect">
            <a:avLst/>
          </a:prstGeom>
          <a:solidFill>
            <a:srgbClr val="2F5F67">
              <a:alpha val="35000"/>
            </a:srgbClr>
          </a:solidFill>
          <a:ln/>
        </p:spPr>
      </p:sp>
      <p:sp>
        <p:nvSpPr>
          <p:cNvPr id="109" name="Shape 107"/>
          <p:cNvSpPr/>
          <p:nvPr/>
        </p:nvSpPr>
        <p:spPr>
          <a:xfrm>
            <a:off x="7673788" y="6551036"/>
            <a:ext cx="61558" cy="306964"/>
          </a:xfrm>
          <a:prstGeom prst="rect">
            <a:avLst/>
          </a:prstGeom>
          <a:solidFill>
            <a:srgbClr val="2F5F67">
              <a:alpha val="35000"/>
            </a:srgbClr>
          </a:solidFill>
          <a:ln/>
        </p:spPr>
      </p:sp>
      <p:sp>
        <p:nvSpPr>
          <p:cNvPr id="110" name="Shape 108"/>
          <p:cNvSpPr/>
          <p:nvPr/>
        </p:nvSpPr>
        <p:spPr>
          <a:xfrm>
            <a:off x="7745506" y="6603080"/>
            <a:ext cx="61558" cy="254920"/>
          </a:xfrm>
          <a:prstGeom prst="rect">
            <a:avLst/>
          </a:prstGeom>
          <a:solidFill>
            <a:srgbClr val="2F5F67">
              <a:alpha val="35000"/>
            </a:srgbClr>
          </a:solidFill>
          <a:ln/>
        </p:spPr>
      </p:sp>
      <p:sp>
        <p:nvSpPr>
          <p:cNvPr id="111" name="Shape 109"/>
          <p:cNvSpPr/>
          <p:nvPr/>
        </p:nvSpPr>
        <p:spPr>
          <a:xfrm>
            <a:off x="7817224" y="6622976"/>
            <a:ext cx="61558" cy="235024"/>
          </a:xfrm>
          <a:prstGeom prst="rect">
            <a:avLst/>
          </a:prstGeom>
          <a:solidFill>
            <a:srgbClr val="2F5F67">
              <a:alpha val="35000"/>
            </a:srgbClr>
          </a:solidFill>
          <a:ln/>
        </p:spPr>
      </p:sp>
      <p:sp>
        <p:nvSpPr>
          <p:cNvPr id="112" name="Shape 110"/>
          <p:cNvSpPr/>
          <p:nvPr/>
        </p:nvSpPr>
        <p:spPr>
          <a:xfrm>
            <a:off x="7888941" y="6581674"/>
            <a:ext cx="61558" cy="276326"/>
          </a:xfrm>
          <a:prstGeom prst="rect">
            <a:avLst/>
          </a:prstGeom>
          <a:solidFill>
            <a:srgbClr val="2F5F67">
              <a:alpha val="35000"/>
            </a:srgbClr>
          </a:solidFill>
          <a:ln/>
        </p:spPr>
      </p:sp>
      <p:sp>
        <p:nvSpPr>
          <p:cNvPr id="113" name="Shape 111"/>
          <p:cNvSpPr/>
          <p:nvPr/>
        </p:nvSpPr>
        <p:spPr>
          <a:xfrm>
            <a:off x="7960659" y="6567347"/>
            <a:ext cx="61558" cy="290653"/>
          </a:xfrm>
          <a:prstGeom prst="rect">
            <a:avLst/>
          </a:prstGeom>
          <a:solidFill>
            <a:srgbClr val="2F5F67">
              <a:alpha val="35000"/>
            </a:srgbClr>
          </a:solidFill>
          <a:ln/>
        </p:spPr>
      </p:sp>
      <p:sp>
        <p:nvSpPr>
          <p:cNvPr id="114" name="Shape 112"/>
          <p:cNvSpPr/>
          <p:nvPr/>
        </p:nvSpPr>
        <p:spPr>
          <a:xfrm>
            <a:off x="8032376" y="6515989"/>
            <a:ext cx="61558" cy="342011"/>
          </a:xfrm>
          <a:prstGeom prst="rect">
            <a:avLst/>
          </a:prstGeom>
          <a:solidFill>
            <a:srgbClr val="2F5F67">
              <a:alpha val="35000"/>
            </a:srgbClr>
          </a:solidFill>
          <a:ln/>
        </p:spPr>
      </p:sp>
      <p:sp>
        <p:nvSpPr>
          <p:cNvPr id="115" name="Shape 113"/>
          <p:cNvSpPr/>
          <p:nvPr/>
        </p:nvSpPr>
        <p:spPr>
          <a:xfrm>
            <a:off x="8104094" y="6386226"/>
            <a:ext cx="61558" cy="471774"/>
          </a:xfrm>
          <a:prstGeom prst="rect">
            <a:avLst/>
          </a:prstGeom>
          <a:solidFill>
            <a:srgbClr val="E35D45">
              <a:alpha val="55000"/>
            </a:srgbClr>
          </a:solidFill>
          <a:ln/>
        </p:spPr>
      </p:sp>
      <p:sp>
        <p:nvSpPr>
          <p:cNvPr id="116" name="Shape 114"/>
          <p:cNvSpPr/>
          <p:nvPr/>
        </p:nvSpPr>
        <p:spPr>
          <a:xfrm>
            <a:off x="8175812" y="6095368"/>
            <a:ext cx="61558" cy="762632"/>
          </a:xfrm>
          <a:prstGeom prst="rect">
            <a:avLst/>
          </a:prstGeom>
          <a:solidFill>
            <a:srgbClr val="E35D45">
              <a:alpha val="55000"/>
            </a:srgbClr>
          </a:solidFill>
          <a:ln/>
        </p:spPr>
      </p:sp>
      <p:sp>
        <p:nvSpPr>
          <p:cNvPr id="117" name="Shape 115"/>
          <p:cNvSpPr/>
          <p:nvPr/>
        </p:nvSpPr>
        <p:spPr>
          <a:xfrm>
            <a:off x="8247529" y="6109343"/>
            <a:ext cx="61558" cy="748657"/>
          </a:xfrm>
          <a:prstGeom prst="rect">
            <a:avLst/>
          </a:prstGeom>
          <a:solidFill>
            <a:srgbClr val="E35D45">
              <a:alpha val="55000"/>
            </a:srgbClr>
          </a:solidFill>
          <a:ln/>
        </p:spPr>
      </p:sp>
      <p:sp>
        <p:nvSpPr>
          <p:cNvPr id="118" name="Shape 116"/>
          <p:cNvSpPr/>
          <p:nvPr/>
        </p:nvSpPr>
        <p:spPr>
          <a:xfrm>
            <a:off x="8319247" y="6242750"/>
            <a:ext cx="61558" cy="615250"/>
          </a:xfrm>
          <a:prstGeom prst="rect">
            <a:avLst/>
          </a:prstGeom>
          <a:solidFill>
            <a:srgbClr val="E35D45">
              <a:alpha val="55000"/>
            </a:srgbClr>
          </a:solidFill>
          <a:ln/>
        </p:spPr>
      </p:sp>
      <p:sp>
        <p:nvSpPr>
          <p:cNvPr id="119" name="Shape 117"/>
          <p:cNvSpPr/>
          <p:nvPr/>
        </p:nvSpPr>
        <p:spPr>
          <a:xfrm>
            <a:off x="8390965" y="6111516"/>
            <a:ext cx="61558" cy="746484"/>
          </a:xfrm>
          <a:prstGeom prst="rect">
            <a:avLst/>
          </a:prstGeom>
          <a:solidFill>
            <a:srgbClr val="E35D45">
              <a:alpha val="55000"/>
            </a:srgbClr>
          </a:solidFill>
          <a:ln/>
        </p:spPr>
      </p:sp>
      <p:sp>
        <p:nvSpPr>
          <p:cNvPr id="120" name="Shape 118"/>
          <p:cNvSpPr/>
          <p:nvPr/>
        </p:nvSpPr>
        <p:spPr>
          <a:xfrm>
            <a:off x="8462682" y="5993525"/>
            <a:ext cx="61558" cy="864475"/>
          </a:xfrm>
          <a:prstGeom prst="rect">
            <a:avLst/>
          </a:prstGeom>
          <a:solidFill>
            <a:srgbClr val="E35D45">
              <a:alpha val="55000"/>
            </a:srgbClr>
          </a:solidFill>
          <a:ln/>
        </p:spPr>
      </p:sp>
      <p:sp>
        <p:nvSpPr>
          <p:cNvPr id="121" name="Shape 119"/>
          <p:cNvSpPr/>
          <p:nvPr/>
        </p:nvSpPr>
        <p:spPr>
          <a:xfrm>
            <a:off x="8534400" y="6077471"/>
            <a:ext cx="61558" cy="780529"/>
          </a:xfrm>
          <a:prstGeom prst="rect">
            <a:avLst/>
          </a:prstGeom>
          <a:solidFill>
            <a:srgbClr val="E35D45">
              <a:alpha val="55000"/>
            </a:srgbClr>
          </a:solidFill>
          <a:ln/>
        </p:spPr>
      </p:sp>
      <p:sp>
        <p:nvSpPr>
          <p:cNvPr id="122" name="Shape 120"/>
          <p:cNvSpPr/>
          <p:nvPr/>
        </p:nvSpPr>
        <p:spPr>
          <a:xfrm>
            <a:off x="8606118" y="6250724"/>
            <a:ext cx="61558" cy="607276"/>
          </a:xfrm>
          <a:prstGeom prst="rect">
            <a:avLst/>
          </a:prstGeom>
          <a:solidFill>
            <a:srgbClr val="E35D45">
              <a:alpha val="55000"/>
            </a:srgbClr>
          </a:solidFill>
          <a:ln/>
        </p:spPr>
      </p:sp>
      <p:sp>
        <p:nvSpPr>
          <p:cNvPr id="123" name="Shape 121"/>
          <p:cNvSpPr/>
          <p:nvPr/>
        </p:nvSpPr>
        <p:spPr>
          <a:xfrm>
            <a:off x="8677835" y="6461029"/>
            <a:ext cx="61558" cy="396971"/>
          </a:xfrm>
          <a:prstGeom prst="rect">
            <a:avLst/>
          </a:prstGeom>
          <a:solidFill>
            <a:srgbClr val="2F5F67">
              <a:alpha val="35000"/>
            </a:srgbClr>
          </a:solidFill>
          <a:ln/>
        </p:spPr>
      </p:sp>
      <p:sp>
        <p:nvSpPr>
          <p:cNvPr id="124" name="Shape 122"/>
          <p:cNvSpPr/>
          <p:nvPr/>
        </p:nvSpPr>
        <p:spPr>
          <a:xfrm>
            <a:off x="8749553" y="6264251"/>
            <a:ext cx="61558" cy="593749"/>
          </a:xfrm>
          <a:prstGeom prst="rect">
            <a:avLst/>
          </a:prstGeom>
          <a:solidFill>
            <a:srgbClr val="E35D45">
              <a:alpha val="55000"/>
            </a:srgbClr>
          </a:solidFill>
          <a:ln/>
        </p:spPr>
      </p:sp>
      <p:sp>
        <p:nvSpPr>
          <p:cNvPr id="125" name="Shape 123"/>
          <p:cNvSpPr/>
          <p:nvPr/>
        </p:nvSpPr>
        <p:spPr>
          <a:xfrm>
            <a:off x="8821271" y="6482048"/>
            <a:ext cx="61558" cy="375952"/>
          </a:xfrm>
          <a:prstGeom prst="rect">
            <a:avLst/>
          </a:prstGeom>
          <a:solidFill>
            <a:srgbClr val="2F5F67">
              <a:alpha val="35000"/>
            </a:srgbClr>
          </a:solidFill>
          <a:ln/>
        </p:spPr>
      </p:sp>
      <p:sp>
        <p:nvSpPr>
          <p:cNvPr id="126" name="Shape 124"/>
          <p:cNvSpPr/>
          <p:nvPr/>
        </p:nvSpPr>
        <p:spPr>
          <a:xfrm>
            <a:off x="8892988" y="6356190"/>
            <a:ext cx="61558" cy="501810"/>
          </a:xfrm>
          <a:prstGeom prst="rect">
            <a:avLst/>
          </a:prstGeom>
          <a:solidFill>
            <a:srgbClr val="E35D45">
              <a:alpha val="55000"/>
            </a:srgbClr>
          </a:solidFill>
          <a:ln/>
        </p:spPr>
      </p:sp>
      <p:sp>
        <p:nvSpPr>
          <p:cNvPr id="127" name="Shape 125"/>
          <p:cNvSpPr/>
          <p:nvPr/>
        </p:nvSpPr>
        <p:spPr>
          <a:xfrm>
            <a:off x="8964706" y="6456957"/>
            <a:ext cx="61558" cy="401043"/>
          </a:xfrm>
          <a:prstGeom prst="rect">
            <a:avLst/>
          </a:prstGeom>
          <a:solidFill>
            <a:srgbClr val="2F5F67">
              <a:alpha val="35000"/>
            </a:srgbClr>
          </a:solidFill>
          <a:ln/>
        </p:spPr>
      </p:sp>
      <p:sp>
        <p:nvSpPr>
          <p:cNvPr id="128" name="Shape 126"/>
          <p:cNvSpPr/>
          <p:nvPr/>
        </p:nvSpPr>
        <p:spPr>
          <a:xfrm>
            <a:off x="9036424" y="6423887"/>
            <a:ext cx="61558" cy="434113"/>
          </a:xfrm>
          <a:prstGeom prst="rect">
            <a:avLst/>
          </a:prstGeom>
          <a:solidFill>
            <a:srgbClr val="2F5F67">
              <a:alpha val="35000"/>
            </a:srgbClr>
          </a:solidFill>
          <a:ln/>
        </p:spPr>
      </p:sp>
      <p:sp>
        <p:nvSpPr>
          <p:cNvPr id="129" name="Shape 127"/>
          <p:cNvSpPr/>
          <p:nvPr/>
        </p:nvSpPr>
        <p:spPr>
          <a:xfrm>
            <a:off x="9108141" y="6497489"/>
            <a:ext cx="61558" cy="360511"/>
          </a:xfrm>
          <a:prstGeom prst="rect">
            <a:avLst/>
          </a:prstGeom>
          <a:solidFill>
            <a:srgbClr val="2F5F67">
              <a:alpha val="35000"/>
            </a:srgbClr>
          </a:solidFill>
          <a:ln/>
        </p:spPr>
      </p:sp>
      <p:sp>
        <p:nvSpPr>
          <p:cNvPr id="130" name="Shape 128"/>
          <p:cNvSpPr/>
          <p:nvPr/>
        </p:nvSpPr>
        <p:spPr>
          <a:xfrm>
            <a:off x="9179859" y="6551036"/>
            <a:ext cx="61558" cy="306964"/>
          </a:xfrm>
          <a:prstGeom prst="rect">
            <a:avLst/>
          </a:prstGeom>
          <a:solidFill>
            <a:srgbClr val="2F5F67">
              <a:alpha val="35000"/>
            </a:srgbClr>
          </a:solidFill>
          <a:ln/>
        </p:spPr>
      </p:sp>
      <p:sp>
        <p:nvSpPr>
          <p:cNvPr id="131" name="Shape 129"/>
          <p:cNvSpPr/>
          <p:nvPr/>
        </p:nvSpPr>
        <p:spPr>
          <a:xfrm>
            <a:off x="9251576" y="6633584"/>
            <a:ext cx="61558" cy="224416"/>
          </a:xfrm>
          <a:prstGeom prst="rect">
            <a:avLst/>
          </a:prstGeom>
          <a:solidFill>
            <a:srgbClr val="2F5F67">
              <a:alpha val="35000"/>
            </a:srgbClr>
          </a:solidFill>
          <a:ln/>
        </p:spPr>
      </p:sp>
      <p:sp>
        <p:nvSpPr>
          <p:cNvPr id="132" name="Shape 130"/>
          <p:cNvSpPr/>
          <p:nvPr/>
        </p:nvSpPr>
        <p:spPr>
          <a:xfrm>
            <a:off x="9323294" y="6572991"/>
            <a:ext cx="61558" cy="285009"/>
          </a:xfrm>
          <a:prstGeom prst="rect">
            <a:avLst/>
          </a:prstGeom>
          <a:solidFill>
            <a:srgbClr val="2F5F67">
              <a:alpha val="35000"/>
            </a:srgbClr>
          </a:solidFill>
          <a:ln/>
        </p:spPr>
      </p:sp>
      <p:sp>
        <p:nvSpPr>
          <p:cNvPr id="133" name="Shape 131"/>
          <p:cNvSpPr/>
          <p:nvPr/>
        </p:nvSpPr>
        <p:spPr>
          <a:xfrm>
            <a:off x="9395012" y="6581674"/>
            <a:ext cx="61558" cy="276326"/>
          </a:xfrm>
          <a:prstGeom prst="rect">
            <a:avLst/>
          </a:prstGeom>
          <a:solidFill>
            <a:srgbClr val="2F5F67">
              <a:alpha val="35000"/>
            </a:srgbClr>
          </a:solidFill>
          <a:ln/>
        </p:spPr>
      </p:sp>
      <p:sp>
        <p:nvSpPr>
          <p:cNvPr id="134" name="Shape 132"/>
          <p:cNvSpPr/>
          <p:nvPr/>
        </p:nvSpPr>
        <p:spPr>
          <a:xfrm>
            <a:off x="9466729" y="6495243"/>
            <a:ext cx="61558" cy="362757"/>
          </a:xfrm>
          <a:prstGeom prst="rect">
            <a:avLst/>
          </a:prstGeom>
          <a:solidFill>
            <a:srgbClr val="2F5F67">
              <a:alpha val="35000"/>
            </a:srgbClr>
          </a:solidFill>
          <a:ln/>
        </p:spPr>
      </p:sp>
      <p:sp>
        <p:nvSpPr>
          <p:cNvPr id="135" name="Shape 133"/>
          <p:cNvSpPr/>
          <p:nvPr/>
        </p:nvSpPr>
        <p:spPr>
          <a:xfrm>
            <a:off x="9538447" y="6296598"/>
            <a:ext cx="61558" cy="561402"/>
          </a:xfrm>
          <a:prstGeom prst="rect">
            <a:avLst/>
          </a:prstGeom>
          <a:solidFill>
            <a:srgbClr val="E35D45">
              <a:alpha val="55000"/>
            </a:srgbClr>
          </a:solidFill>
          <a:ln/>
        </p:spPr>
      </p:sp>
      <p:sp>
        <p:nvSpPr>
          <p:cNvPr id="136" name="Shape 134"/>
          <p:cNvSpPr/>
          <p:nvPr/>
        </p:nvSpPr>
        <p:spPr>
          <a:xfrm>
            <a:off x="9610165" y="6067133"/>
            <a:ext cx="61558" cy="790867"/>
          </a:xfrm>
          <a:prstGeom prst="rect">
            <a:avLst/>
          </a:prstGeom>
          <a:solidFill>
            <a:srgbClr val="E35D45">
              <a:alpha val="55000"/>
            </a:srgbClr>
          </a:solidFill>
          <a:ln/>
        </p:spPr>
      </p:sp>
      <p:sp>
        <p:nvSpPr>
          <p:cNvPr id="137" name="Shape 135"/>
          <p:cNvSpPr/>
          <p:nvPr/>
        </p:nvSpPr>
        <p:spPr>
          <a:xfrm>
            <a:off x="9681882" y="5818597"/>
            <a:ext cx="61558" cy="1039403"/>
          </a:xfrm>
          <a:prstGeom prst="rect">
            <a:avLst/>
          </a:prstGeom>
          <a:solidFill>
            <a:srgbClr val="E35D45">
              <a:alpha val="55000"/>
            </a:srgbClr>
          </a:solidFill>
          <a:ln/>
        </p:spPr>
      </p:sp>
      <p:sp>
        <p:nvSpPr>
          <p:cNvPr id="138" name="Shape 136"/>
          <p:cNvSpPr/>
          <p:nvPr/>
        </p:nvSpPr>
        <p:spPr>
          <a:xfrm>
            <a:off x="9753600" y="6079555"/>
            <a:ext cx="61558" cy="778445"/>
          </a:xfrm>
          <a:prstGeom prst="rect">
            <a:avLst/>
          </a:prstGeom>
          <a:solidFill>
            <a:srgbClr val="E35D45">
              <a:alpha val="55000"/>
            </a:srgbClr>
          </a:solidFill>
          <a:ln/>
        </p:spPr>
      </p:sp>
      <p:sp>
        <p:nvSpPr>
          <p:cNvPr id="139" name="Shape 137"/>
          <p:cNvSpPr/>
          <p:nvPr/>
        </p:nvSpPr>
        <p:spPr>
          <a:xfrm>
            <a:off x="9825318" y="6123584"/>
            <a:ext cx="61558" cy="734416"/>
          </a:xfrm>
          <a:prstGeom prst="rect">
            <a:avLst/>
          </a:prstGeom>
          <a:solidFill>
            <a:srgbClr val="E35D45">
              <a:alpha val="55000"/>
            </a:srgbClr>
          </a:solidFill>
          <a:ln/>
        </p:spPr>
      </p:sp>
      <p:sp>
        <p:nvSpPr>
          <p:cNvPr id="140" name="Shape 138"/>
          <p:cNvSpPr/>
          <p:nvPr/>
        </p:nvSpPr>
        <p:spPr>
          <a:xfrm>
            <a:off x="9897035" y="6203100"/>
            <a:ext cx="61558" cy="654900"/>
          </a:xfrm>
          <a:prstGeom prst="rect">
            <a:avLst/>
          </a:prstGeom>
          <a:solidFill>
            <a:srgbClr val="E35D45">
              <a:alpha val="55000"/>
            </a:srgbClr>
          </a:solidFill>
          <a:ln/>
        </p:spPr>
      </p:sp>
      <p:sp>
        <p:nvSpPr>
          <p:cNvPr id="141" name="Shape 139"/>
          <p:cNvSpPr/>
          <p:nvPr/>
        </p:nvSpPr>
        <p:spPr>
          <a:xfrm>
            <a:off x="9968753" y="6245397"/>
            <a:ext cx="61558" cy="612603"/>
          </a:xfrm>
          <a:prstGeom prst="rect">
            <a:avLst/>
          </a:prstGeom>
          <a:solidFill>
            <a:srgbClr val="E35D45">
              <a:alpha val="55000"/>
            </a:srgbClr>
          </a:solidFill>
          <a:ln/>
        </p:spPr>
      </p:sp>
      <p:sp>
        <p:nvSpPr>
          <p:cNvPr id="142" name="Shape 140"/>
          <p:cNvSpPr/>
          <p:nvPr/>
        </p:nvSpPr>
        <p:spPr>
          <a:xfrm>
            <a:off x="10040471" y="6370977"/>
            <a:ext cx="61558" cy="487023"/>
          </a:xfrm>
          <a:prstGeom prst="rect">
            <a:avLst/>
          </a:prstGeom>
          <a:solidFill>
            <a:srgbClr val="E35D45">
              <a:alpha val="55000"/>
            </a:srgbClr>
          </a:solidFill>
          <a:ln/>
        </p:spPr>
      </p:sp>
      <p:sp>
        <p:nvSpPr>
          <p:cNvPr id="143" name="Shape 141"/>
          <p:cNvSpPr/>
          <p:nvPr/>
        </p:nvSpPr>
        <p:spPr>
          <a:xfrm>
            <a:off x="10112188" y="6454937"/>
            <a:ext cx="61558" cy="403063"/>
          </a:xfrm>
          <a:prstGeom prst="rect">
            <a:avLst/>
          </a:prstGeom>
          <a:solidFill>
            <a:srgbClr val="2F5F67">
              <a:alpha val="35000"/>
            </a:srgbClr>
          </a:solidFill>
          <a:ln/>
        </p:spPr>
      </p:sp>
      <p:sp>
        <p:nvSpPr>
          <p:cNvPr id="144" name="Shape 142"/>
          <p:cNvSpPr/>
          <p:nvPr/>
        </p:nvSpPr>
        <p:spPr>
          <a:xfrm>
            <a:off x="10183906" y="6463080"/>
            <a:ext cx="61558" cy="394920"/>
          </a:xfrm>
          <a:prstGeom prst="rect">
            <a:avLst/>
          </a:prstGeom>
          <a:solidFill>
            <a:srgbClr val="2F5F67">
              <a:alpha val="35000"/>
            </a:srgbClr>
          </a:solidFill>
          <a:ln/>
        </p:spPr>
      </p:sp>
      <p:sp>
        <p:nvSpPr>
          <p:cNvPr id="145" name="Shape 143"/>
          <p:cNvSpPr/>
          <p:nvPr/>
        </p:nvSpPr>
        <p:spPr>
          <a:xfrm>
            <a:off x="10255624" y="6422020"/>
            <a:ext cx="61558" cy="435980"/>
          </a:xfrm>
          <a:prstGeom prst="rect">
            <a:avLst/>
          </a:prstGeom>
          <a:solidFill>
            <a:srgbClr val="2F5F67">
              <a:alpha val="35000"/>
            </a:srgbClr>
          </a:solidFill>
          <a:ln/>
        </p:spPr>
      </p:sp>
      <p:sp>
        <p:nvSpPr>
          <p:cNvPr id="146" name="Shape 144"/>
          <p:cNvSpPr/>
          <p:nvPr/>
        </p:nvSpPr>
        <p:spPr>
          <a:xfrm>
            <a:off x="10327341" y="6272517"/>
            <a:ext cx="61558" cy="585483"/>
          </a:xfrm>
          <a:prstGeom prst="rect">
            <a:avLst/>
          </a:prstGeom>
          <a:solidFill>
            <a:srgbClr val="E35D45">
              <a:alpha val="55000"/>
            </a:srgbClr>
          </a:solidFill>
          <a:ln/>
        </p:spPr>
      </p:sp>
      <p:sp>
        <p:nvSpPr>
          <p:cNvPr id="147" name="Shape 145"/>
          <p:cNvSpPr/>
          <p:nvPr/>
        </p:nvSpPr>
        <p:spPr>
          <a:xfrm>
            <a:off x="10399059" y="6511272"/>
            <a:ext cx="61558" cy="346728"/>
          </a:xfrm>
          <a:prstGeom prst="rect">
            <a:avLst/>
          </a:prstGeom>
          <a:solidFill>
            <a:srgbClr val="2F5F67">
              <a:alpha val="35000"/>
            </a:srgbClr>
          </a:solidFill>
          <a:ln/>
        </p:spPr>
      </p:sp>
      <p:sp>
        <p:nvSpPr>
          <p:cNvPr id="148" name="Shape 146"/>
          <p:cNvSpPr/>
          <p:nvPr/>
        </p:nvSpPr>
        <p:spPr>
          <a:xfrm>
            <a:off x="10470776" y="6520773"/>
            <a:ext cx="61558" cy="337227"/>
          </a:xfrm>
          <a:prstGeom prst="rect">
            <a:avLst/>
          </a:prstGeom>
          <a:solidFill>
            <a:srgbClr val="2F5F67">
              <a:alpha val="35000"/>
            </a:srgbClr>
          </a:solidFill>
          <a:ln/>
        </p:spPr>
      </p:sp>
      <p:sp>
        <p:nvSpPr>
          <p:cNvPr id="149" name="Shape 147"/>
          <p:cNvSpPr/>
          <p:nvPr/>
        </p:nvSpPr>
        <p:spPr>
          <a:xfrm>
            <a:off x="10542494" y="6561810"/>
            <a:ext cx="61558" cy="296190"/>
          </a:xfrm>
          <a:prstGeom prst="rect">
            <a:avLst/>
          </a:prstGeom>
          <a:solidFill>
            <a:srgbClr val="2F5F67">
              <a:alpha val="35000"/>
            </a:srgbClr>
          </a:solidFill>
          <a:ln/>
        </p:spPr>
      </p:sp>
      <p:sp>
        <p:nvSpPr>
          <p:cNvPr id="150" name="Shape 148"/>
          <p:cNvSpPr/>
          <p:nvPr/>
        </p:nvSpPr>
        <p:spPr>
          <a:xfrm>
            <a:off x="10614212" y="6626458"/>
            <a:ext cx="61558" cy="231542"/>
          </a:xfrm>
          <a:prstGeom prst="rect">
            <a:avLst/>
          </a:prstGeom>
          <a:solidFill>
            <a:srgbClr val="2F5F67">
              <a:alpha val="35000"/>
            </a:srgbClr>
          </a:solidFill>
          <a:ln/>
        </p:spPr>
      </p:sp>
      <p:sp>
        <p:nvSpPr>
          <p:cNvPr id="151" name="Shape 149"/>
          <p:cNvSpPr/>
          <p:nvPr/>
        </p:nvSpPr>
        <p:spPr>
          <a:xfrm>
            <a:off x="10685929" y="6596785"/>
            <a:ext cx="61558" cy="261215"/>
          </a:xfrm>
          <a:prstGeom prst="rect">
            <a:avLst/>
          </a:prstGeom>
          <a:solidFill>
            <a:srgbClr val="2F5F67">
              <a:alpha val="35000"/>
            </a:srgbClr>
          </a:solidFill>
          <a:ln/>
        </p:spPr>
      </p:sp>
      <p:sp>
        <p:nvSpPr>
          <p:cNvPr id="152" name="Shape 150"/>
          <p:cNvSpPr/>
          <p:nvPr/>
        </p:nvSpPr>
        <p:spPr>
          <a:xfrm>
            <a:off x="10757647" y="6587617"/>
            <a:ext cx="61558" cy="270383"/>
          </a:xfrm>
          <a:prstGeom prst="rect">
            <a:avLst/>
          </a:prstGeom>
          <a:solidFill>
            <a:srgbClr val="2F5F67">
              <a:alpha val="35000"/>
            </a:srgbClr>
          </a:solidFill>
          <a:ln/>
        </p:spPr>
      </p:sp>
      <p:sp>
        <p:nvSpPr>
          <p:cNvPr id="153" name="Shape 151"/>
          <p:cNvSpPr/>
          <p:nvPr/>
        </p:nvSpPr>
        <p:spPr>
          <a:xfrm>
            <a:off x="10829365" y="6590638"/>
            <a:ext cx="61558" cy="267362"/>
          </a:xfrm>
          <a:prstGeom prst="rect">
            <a:avLst/>
          </a:prstGeom>
          <a:solidFill>
            <a:srgbClr val="2F5F67">
              <a:alpha val="35000"/>
            </a:srgbClr>
          </a:solidFill>
          <a:ln/>
        </p:spPr>
      </p:sp>
      <p:sp>
        <p:nvSpPr>
          <p:cNvPr id="154" name="Shape 152"/>
          <p:cNvSpPr/>
          <p:nvPr/>
        </p:nvSpPr>
        <p:spPr>
          <a:xfrm>
            <a:off x="10901082" y="6551036"/>
            <a:ext cx="61558" cy="306964"/>
          </a:xfrm>
          <a:prstGeom prst="rect">
            <a:avLst/>
          </a:prstGeom>
          <a:solidFill>
            <a:srgbClr val="2F5F67">
              <a:alpha val="35000"/>
            </a:srgbClr>
          </a:solidFill>
          <a:ln/>
        </p:spPr>
      </p:sp>
      <p:sp>
        <p:nvSpPr>
          <p:cNvPr id="155" name="Shape 153"/>
          <p:cNvSpPr/>
          <p:nvPr/>
        </p:nvSpPr>
        <p:spPr>
          <a:xfrm>
            <a:off x="10972800" y="6285139"/>
            <a:ext cx="61558" cy="572861"/>
          </a:xfrm>
          <a:prstGeom prst="rect">
            <a:avLst/>
          </a:prstGeom>
          <a:solidFill>
            <a:srgbClr val="E35D45">
              <a:alpha val="55000"/>
            </a:srgbClr>
          </a:solidFill>
          <a:ln/>
        </p:spPr>
      </p:sp>
      <p:sp>
        <p:nvSpPr>
          <p:cNvPr id="156" name="Shape 154"/>
          <p:cNvSpPr/>
          <p:nvPr/>
        </p:nvSpPr>
        <p:spPr>
          <a:xfrm>
            <a:off x="11044518" y="6130250"/>
            <a:ext cx="61558" cy="727750"/>
          </a:xfrm>
          <a:prstGeom prst="rect">
            <a:avLst/>
          </a:prstGeom>
          <a:solidFill>
            <a:srgbClr val="E35D45">
              <a:alpha val="55000"/>
            </a:srgbClr>
          </a:solidFill>
          <a:ln/>
        </p:spPr>
      </p:sp>
      <p:sp>
        <p:nvSpPr>
          <p:cNvPr id="157" name="Shape 155"/>
          <p:cNvSpPr/>
          <p:nvPr/>
        </p:nvSpPr>
        <p:spPr>
          <a:xfrm>
            <a:off x="11116235" y="6238802"/>
            <a:ext cx="61558" cy="619198"/>
          </a:xfrm>
          <a:prstGeom prst="rect">
            <a:avLst/>
          </a:prstGeom>
          <a:solidFill>
            <a:srgbClr val="E35D45">
              <a:alpha val="55000"/>
            </a:srgbClr>
          </a:solidFill>
          <a:ln/>
        </p:spPr>
      </p:sp>
      <p:sp>
        <p:nvSpPr>
          <p:cNvPr id="158" name="Shape 156"/>
          <p:cNvSpPr/>
          <p:nvPr/>
        </p:nvSpPr>
        <p:spPr>
          <a:xfrm>
            <a:off x="11187953" y="6068160"/>
            <a:ext cx="61558" cy="789840"/>
          </a:xfrm>
          <a:prstGeom prst="rect">
            <a:avLst/>
          </a:prstGeom>
          <a:solidFill>
            <a:srgbClr val="E35D45">
              <a:alpha val="55000"/>
            </a:srgbClr>
          </a:solidFill>
          <a:ln/>
        </p:spPr>
      </p:sp>
      <p:sp>
        <p:nvSpPr>
          <p:cNvPr id="159" name="Shape 157"/>
          <p:cNvSpPr/>
          <p:nvPr/>
        </p:nvSpPr>
        <p:spPr>
          <a:xfrm>
            <a:off x="11259671" y="6177551"/>
            <a:ext cx="61558" cy="680449"/>
          </a:xfrm>
          <a:prstGeom prst="rect">
            <a:avLst/>
          </a:prstGeom>
          <a:solidFill>
            <a:srgbClr val="E35D45">
              <a:alpha val="55000"/>
            </a:srgbClr>
          </a:solidFill>
          <a:ln/>
        </p:spPr>
      </p:sp>
      <p:sp>
        <p:nvSpPr>
          <p:cNvPr id="160" name="Shape 158"/>
          <p:cNvSpPr/>
          <p:nvPr/>
        </p:nvSpPr>
        <p:spPr>
          <a:xfrm>
            <a:off x="11331388" y="6084790"/>
            <a:ext cx="61558" cy="773210"/>
          </a:xfrm>
          <a:prstGeom prst="rect">
            <a:avLst/>
          </a:prstGeom>
          <a:solidFill>
            <a:srgbClr val="E35D45">
              <a:alpha val="55000"/>
            </a:srgbClr>
          </a:solidFill>
          <a:ln/>
        </p:spPr>
      </p:sp>
      <p:sp>
        <p:nvSpPr>
          <p:cNvPr id="161" name="Shape 159"/>
          <p:cNvSpPr/>
          <p:nvPr/>
        </p:nvSpPr>
        <p:spPr>
          <a:xfrm>
            <a:off x="11403106" y="6303879"/>
            <a:ext cx="61558" cy="554121"/>
          </a:xfrm>
          <a:prstGeom prst="rect">
            <a:avLst/>
          </a:prstGeom>
          <a:solidFill>
            <a:srgbClr val="E35D45">
              <a:alpha val="55000"/>
            </a:srgbClr>
          </a:solidFill>
          <a:ln/>
        </p:spPr>
      </p:sp>
      <p:sp>
        <p:nvSpPr>
          <p:cNvPr id="162" name="Shape 160"/>
          <p:cNvSpPr/>
          <p:nvPr/>
        </p:nvSpPr>
        <p:spPr>
          <a:xfrm>
            <a:off x="11474824" y="6439124"/>
            <a:ext cx="61558" cy="418876"/>
          </a:xfrm>
          <a:prstGeom prst="rect">
            <a:avLst/>
          </a:prstGeom>
          <a:solidFill>
            <a:srgbClr val="2F5F67">
              <a:alpha val="35000"/>
            </a:srgbClr>
          </a:solidFill>
          <a:ln/>
        </p:spPr>
      </p:sp>
      <p:sp>
        <p:nvSpPr>
          <p:cNvPr id="163" name="Shape 161"/>
          <p:cNvSpPr/>
          <p:nvPr/>
        </p:nvSpPr>
        <p:spPr>
          <a:xfrm>
            <a:off x="11546541" y="6484214"/>
            <a:ext cx="61558" cy="373786"/>
          </a:xfrm>
          <a:prstGeom prst="rect">
            <a:avLst/>
          </a:prstGeom>
          <a:solidFill>
            <a:srgbClr val="2F5F67">
              <a:alpha val="35000"/>
            </a:srgbClr>
          </a:solidFill>
          <a:ln/>
        </p:spPr>
      </p:sp>
      <p:sp>
        <p:nvSpPr>
          <p:cNvPr id="164" name="Shape 162"/>
          <p:cNvSpPr/>
          <p:nvPr/>
        </p:nvSpPr>
        <p:spPr>
          <a:xfrm>
            <a:off x="11618259" y="6495243"/>
            <a:ext cx="61558" cy="362757"/>
          </a:xfrm>
          <a:prstGeom prst="rect">
            <a:avLst/>
          </a:prstGeom>
          <a:solidFill>
            <a:srgbClr val="2F5F67">
              <a:alpha val="35000"/>
            </a:srgbClr>
          </a:solidFill>
          <a:ln/>
        </p:spPr>
      </p:sp>
      <p:sp>
        <p:nvSpPr>
          <p:cNvPr id="165" name="Shape 163"/>
          <p:cNvSpPr/>
          <p:nvPr/>
        </p:nvSpPr>
        <p:spPr>
          <a:xfrm>
            <a:off x="11689976" y="6439124"/>
            <a:ext cx="61558" cy="418876"/>
          </a:xfrm>
          <a:prstGeom prst="rect">
            <a:avLst/>
          </a:prstGeom>
          <a:solidFill>
            <a:srgbClr val="2F5F67">
              <a:alpha val="35000"/>
            </a:srgbClr>
          </a:solidFill>
          <a:ln/>
        </p:spPr>
      </p:sp>
      <p:sp>
        <p:nvSpPr>
          <p:cNvPr id="166" name="Shape 164"/>
          <p:cNvSpPr/>
          <p:nvPr/>
        </p:nvSpPr>
        <p:spPr>
          <a:xfrm>
            <a:off x="11761694" y="6497489"/>
            <a:ext cx="61558" cy="360511"/>
          </a:xfrm>
          <a:prstGeom prst="rect">
            <a:avLst/>
          </a:prstGeom>
          <a:solidFill>
            <a:srgbClr val="2F5F67">
              <a:alpha val="35000"/>
            </a:srgbClr>
          </a:solidFill>
          <a:ln/>
        </p:spPr>
      </p:sp>
      <p:sp>
        <p:nvSpPr>
          <p:cNvPr id="167" name="Shape 165"/>
          <p:cNvSpPr/>
          <p:nvPr/>
        </p:nvSpPr>
        <p:spPr>
          <a:xfrm>
            <a:off x="11833412" y="6545788"/>
            <a:ext cx="61558" cy="312212"/>
          </a:xfrm>
          <a:prstGeom prst="rect">
            <a:avLst/>
          </a:prstGeom>
          <a:solidFill>
            <a:srgbClr val="2F5F67">
              <a:alpha val="35000"/>
            </a:srgbClr>
          </a:solidFill>
          <a:ln/>
        </p:spPr>
      </p:sp>
      <p:sp>
        <p:nvSpPr>
          <p:cNvPr id="168" name="Shape 166"/>
          <p:cNvSpPr/>
          <p:nvPr/>
        </p:nvSpPr>
        <p:spPr>
          <a:xfrm>
            <a:off x="11905129" y="6561810"/>
            <a:ext cx="61558" cy="296190"/>
          </a:xfrm>
          <a:prstGeom prst="rect">
            <a:avLst/>
          </a:prstGeom>
          <a:solidFill>
            <a:srgbClr val="2F5F67">
              <a:alpha val="35000"/>
            </a:srgbClr>
          </a:solidFill>
          <a:ln/>
        </p:spPr>
      </p:sp>
      <p:sp>
        <p:nvSpPr>
          <p:cNvPr id="169" name="Shape 167"/>
          <p:cNvSpPr/>
          <p:nvPr/>
        </p:nvSpPr>
        <p:spPr>
          <a:xfrm>
            <a:off x="11976847" y="6535549"/>
            <a:ext cx="61558" cy="322451"/>
          </a:xfrm>
          <a:prstGeom prst="rect">
            <a:avLst/>
          </a:prstGeom>
          <a:solidFill>
            <a:srgbClr val="2F5F67">
              <a:alpha val="35000"/>
            </a:srgbClr>
          </a:solidFill>
          <a:ln/>
        </p:spPr>
      </p:sp>
      <p:sp>
        <p:nvSpPr>
          <p:cNvPr id="170" name="Shape 168"/>
          <p:cNvSpPr/>
          <p:nvPr/>
        </p:nvSpPr>
        <p:spPr>
          <a:xfrm>
            <a:off x="12048565" y="6603080"/>
            <a:ext cx="61558" cy="254920"/>
          </a:xfrm>
          <a:prstGeom prst="rect">
            <a:avLst/>
          </a:prstGeom>
          <a:solidFill>
            <a:srgbClr val="2F5F67">
              <a:alpha val="35000"/>
            </a:srgbClr>
          </a:solidFill>
          <a:ln/>
        </p:spPr>
      </p:sp>
      <p:sp>
        <p:nvSpPr>
          <p:cNvPr id="171" name="Shape 169"/>
          <p:cNvSpPr/>
          <p:nvPr/>
        </p:nvSpPr>
        <p:spPr>
          <a:xfrm>
            <a:off x="12120282" y="6570155"/>
            <a:ext cx="61558" cy="287845"/>
          </a:xfrm>
          <a:prstGeom prst="rect">
            <a:avLst/>
          </a:prstGeom>
          <a:solidFill>
            <a:srgbClr val="2F5F67">
              <a:alpha val="35000"/>
            </a:srgbClr>
          </a:solidFill>
          <a:ln/>
        </p:spPr>
      </p:sp>
      <p:sp>
        <p:nvSpPr>
          <p:cNvPr id="172" name="Shape 170"/>
          <p:cNvSpPr/>
          <p:nvPr/>
        </p:nvSpPr>
        <p:spPr>
          <a:xfrm>
            <a:off x="0" y="6407150"/>
            <a:ext cx="12192000" cy="12700"/>
          </a:xfrm>
          <a:prstGeom prst="rect">
            <a:avLst/>
          </a:prstGeom>
          <a:solidFill>
            <a:srgbClr val="F0A999">
              <a:alpha val="50000"/>
            </a:srgbClr>
          </a:solidFill>
          <a:ln/>
        </p:spPr>
      </p:sp>
      <p:sp>
        <p:nvSpPr>
          <p:cNvPr id="173" name="Text 171"/>
          <p:cNvSpPr/>
          <p:nvPr/>
        </p:nvSpPr>
        <p:spPr>
          <a:xfrm>
            <a:off x="698500" y="1587500"/>
            <a:ext cx="7620000" cy="228600"/>
          </a:xfrm>
          <a:prstGeom prst="rect">
            <a:avLst/>
          </a:prstGeom>
          <a:noFill/>
          <a:ln/>
        </p:spPr>
        <p:txBody>
          <a:bodyPr wrap="square" rtlCol="0" anchor="ctr"/>
          <a:lstStyle/>
          <a:p>
            <a:pPr indent="0" marL="0">
              <a:buNone/>
            </a:pPr>
            <a:r>
              <a:rPr lang="en-US" sz="1100" b="1" spc="180" kern="0" dirty="0">
                <a:solidFill>
                  <a:srgbClr val="E35D45"/>
                </a:solidFill>
                <a:latin typeface="Calibri" pitchFamily="34" charset="0"/>
                <a:ea typeface="Calibri" pitchFamily="34" charset="-122"/>
                <a:cs typeface="Calibri" pitchFamily="34" charset="-120"/>
              </a:rPr>
              <a:t>THE RECOMMENDATION</a:t>
            </a:r>
            <a:endParaRPr lang="en-US" sz="1100" dirty="0"/>
          </a:p>
        </p:txBody>
      </p:sp>
      <p:sp>
        <p:nvSpPr>
          <p:cNvPr id="174" name="Text 172"/>
          <p:cNvSpPr/>
          <p:nvPr/>
        </p:nvSpPr>
        <p:spPr>
          <a:xfrm>
            <a:off x="698500" y="1905000"/>
            <a:ext cx="9525000" cy="1905000"/>
          </a:xfrm>
          <a:prstGeom prst="rect">
            <a:avLst/>
          </a:prstGeom>
          <a:noFill/>
          <a:ln/>
        </p:spPr>
        <p:txBody>
          <a:bodyPr wrap="square" rtlCol="0" anchor="t"/>
          <a:lstStyle/>
          <a:p>
            <a:pPr indent="0" marL="0">
              <a:lnSpc>
                <a:spcPct val="120000"/>
              </a:lnSpc>
              <a:buNone/>
            </a:pPr>
            <a:r>
              <a:rPr lang="en-US" sz="3100" b="1" dirty="0">
                <a:solidFill>
                  <a:srgbClr val="FFFFFF"/>
                </a:solidFill>
                <a:latin typeface="Calibri" pitchFamily="34" charset="0"/>
                <a:ea typeface="Calibri" pitchFamily="34" charset="-122"/>
                <a:cs typeface="Calibri" pitchFamily="34" charset="-120"/>
              </a:rPr>
              <a:t>Design the warning system around the alarm budget it can justify — and treat the forecasting model as a secondary refinement.</a:t>
            </a:r>
            <a:endParaRPr lang="en-US" sz="3100" dirty="0"/>
          </a:p>
        </p:txBody>
      </p:sp>
      <p:sp>
        <p:nvSpPr>
          <p:cNvPr id="175" name="Text 173"/>
          <p:cNvSpPr/>
          <p:nvPr/>
        </p:nvSpPr>
        <p:spPr>
          <a:xfrm>
            <a:off x="698500" y="3962400"/>
            <a:ext cx="9525000" cy="952500"/>
          </a:xfrm>
          <a:prstGeom prst="rect">
            <a:avLst/>
          </a:prstGeom>
          <a:noFill/>
          <a:ln/>
        </p:spPr>
        <p:txBody>
          <a:bodyPr wrap="square" rtlCol="0" anchor="t"/>
          <a:lstStyle/>
          <a:p>
            <a:pPr indent="0" marL="0">
              <a:buNone/>
            </a:pPr>
            <a:r>
              <a:rPr lang="en-US" sz="5600" b="1" dirty="0">
                <a:solidFill>
                  <a:srgbClr val="FFFFFF"/>
                </a:solidFill>
                <a:latin typeface="Calibri" pitchFamily="34" charset="0"/>
                <a:ea typeface="Calibri" pitchFamily="34" charset="-122"/>
                <a:cs typeface="Calibri" pitchFamily="34" charset="-120"/>
              </a:rPr>
              <a:t>Questions?</a:t>
            </a:r>
            <a:endParaRPr lang="en-US" sz="5600" dirty="0"/>
          </a:p>
        </p:txBody>
      </p:sp>
      <p:sp>
        <p:nvSpPr>
          <p:cNvPr id="176" name="Text 174"/>
          <p:cNvSpPr/>
          <p:nvPr/>
        </p:nvSpPr>
        <p:spPr>
          <a:xfrm>
            <a:off x="698500" y="5118100"/>
            <a:ext cx="5715000" cy="215900"/>
          </a:xfrm>
          <a:prstGeom prst="rect">
            <a:avLst/>
          </a:prstGeom>
          <a:noFill/>
          <a:ln/>
        </p:spPr>
        <p:txBody>
          <a:bodyPr wrap="square" rtlCol="0" anchor="ctr"/>
          <a:lstStyle/>
          <a:p>
            <a:pPr indent="0" marL="0">
              <a:buNone/>
            </a:pPr>
            <a:r>
              <a:rPr lang="en-US" sz="1200" dirty="0">
                <a:solidFill>
                  <a:srgbClr val="AFC6C8"/>
                </a:solidFill>
                <a:latin typeface="Calibri" pitchFamily="34" charset="0"/>
                <a:ea typeface="Calibri" pitchFamily="34" charset="-122"/>
                <a:cs typeface="Calibri" pitchFamily="34" charset="-120"/>
              </a:rPr>
              <a:t>Jaykumar Vinodbhai Chauhan  ·  34710280</a:t>
            </a:r>
            <a:endParaRPr lang="en-US" sz="1200" dirty="0"/>
          </a:p>
        </p:txBody>
      </p:sp>
      <p:sp>
        <p:nvSpPr>
          <p:cNvPr id="177" name="Text 175"/>
          <p:cNvSpPr/>
          <p:nvPr/>
        </p:nvSpPr>
        <p:spPr>
          <a:xfrm>
            <a:off x="698500" y="5346700"/>
            <a:ext cx="5715000" cy="190500"/>
          </a:xfrm>
          <a:prstGeom prst="rect">
            <a:avLst/>
          </a:prstGeom>
          <a:noFill/>
          <a:ln/>
        </p:spPr>
        <p:txBody>
          <a:bodyPr wrap="square" rtlCol="0" anchor="ctr"/>
          <a:lstStyle/>
          <a:p>
            <a:pPr indent="0" marL="0">
              <a:buNone/>
            </a:pPr>
            <a:r>
              <a:rPr lang="en-US" sz="1050" dirty="0">
                <a:solidFill>
                  <a:srgbClr val="6E9093"/>
                </a:solidFill>
                <a:latin typeface="Calibri" pitchFamily="34" charset="0"/>
                <a:ea typeface="Calibri" pitchFamily="34" charset="-122"/>
                <a:cs typeface="Calibri" pitchFamily="34" charset="-120"/>
              </a:rPr>
              <a:t>Supervisor: Dr Tianhai Tian  ·  School of Mathematics, Monash University</a:t>
            </a:r>
            <a:endParaRPr lang="en-US" sz="1050" dirty="0"/>
          </a:p>
        </p:txBody>
      </p:sp>
      <p:pic>
        <p:nvPicPr>
          <p:cNvPr id="178" name="Image 0" descr="/Users/jc/Desktop/PROJECT MTH5000/presentation/pptx_src/bg/monash-logo-white.png">    </p:cNvPr>
          <p:cNvPicPr>
            <a:picLocks noChangeAspect="1"/>
          </p:cNvPicPr>
          <p:nvPr/>
        </p:nvPicPr>
        <p:blipFill>
          <a:blip r:embed="rId2"/>
          <a:stretch>
            <a:fillRect/>
          </a:stretch>
        </p:blipFill>
        <p:spPr>
          <a:xfrm>
            <a:off x="9906000" y="5016500"/>
            <a:ext cx="1574800" cy="460375"/>
          </a:xfrm>
          <a:prstGeom prst="rect">
            <a:avLst/>
          </a:prstGeom>
        </p:spPr>
      </p:pic>
      <p:sp>
        <p:nvSpPr>
          <p:cNvPr id="25" name="Slide Number Placeholder 0"/>
          <p:cNvSpPr>
            <a:spLocks noGrp="1"/>
          </p:cNvSpPr>
          <p:nvPr>
            <p:ph type="sldNum" sz="quarter" idx="4294967295"/>
          </p:nvPr>
        </p:nvSpPr>
        <p:spPr>
          <a:xfrm>
            <a:off x="11049000" y="6426200"/>
            <a:ext cx="444500" cy="190500"/>
          </a:xfrm>
          <a:prstGeom prst="rect">
            <a:avLst/>
          </a:prstGeom>
          <a:extLst>
            <a:ext uri="{C572A759-6A51-4108-AA02-DFA0A04FC94B}">
              <ma14:wrappingTextBoxFlag xmlns:ma14="http://schemas.microsoft.com/office/mac/drawingml/2011/main" val="0"/>
            </a:ext>
          </a:extLst>
        </p:spPr>
        <p:txBody>
          <a:bodyPr/>
          <a:lstStyle>
            <a:lvl1pPr>
              <a:defRPr sz="1050">
                <a:solidFill>
                  <a:srgbClr val="7E9A9C"/>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2026-10-17T01:48:47Z</dcterms:created>
  <dcterms:modified xsi:type="dcterms:W3CDTF">2026-10-17T01:48:47Z</dcterms:modified>
</cp:coreProperties>
</file>